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MI</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er>
        <c:ser>
          <c:idx val="1"/>
          <c:order val="1"/>
          <c:tx>
            <c:strRef>
              <c:f>Sheet1!$C$1</c:f>
              <c:strCache>
                <c:ptCount val="1"/>
                <c:pt idx="0">
                  <c:v>MIR Conducted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er>
        <c:ser>
          <c:idx val="2"/>
          <c:order val="2"/>
          <c:tx>
            <c:strRef>
              <c:f>Sheet1!$D$1</c:f>
              <c:strCache>
                <c:ptCount val="1"/>
                <c:pt idx="0">
                  <c:v># of P2</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2.0</c:v>
                </c:pt>
                <c:pt idx="1">
                  <c:v>3.0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 of P1</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1.0</c:v>
                </c:pt>
                <c:pt idx="1">
                  <c:v>1.0</c:v>
                </c:pt>
                <c:pt idx="2">
                  <c:v>0.0</c:v>
                </c:pt>
                <c:pt idx="3">
                  <c:v>0.0</c:v>
                </c:pt>
              </c:numCache>
            </c:numRef>
          </c:val>
          <c:smooth val="0"/>
        </c:ser>
        <c:ser>
          <c:idx val="1"/>
          <c:order val="1"/>
          <c:tx>
            <c:strRef>
              <c:f>Sheet1!$C$1</c:f>
              <c:strCache>
                <c:ptCount val="1"/>
                <c:pt idx="0">
                  <c:v>100% Adherence t…</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100.0</c:v>
                </c:pt>
                <c:pt idx="1">
                  <c:v>100.0</c:v>
                </c:pt>
                <c:pt idx="2">
                  <c:v>100.0</c:v>
                </c:pt>
                <c:pt idx="3">
                  <c:v>100.0</c:v>
                </c:pt>
              </c:numCache>
            </c:numRef>
          </c:val>
          <c:smooth val="0"/>
        </c:ser>
        <c:ser>
          <c:idx val="2"/>
          <c:order val="2"/>
          <c:tx>
            <c:strRef>
              <c:f>Sheet1!$D$1</c:f>
              <c:strCache>
                <c:ptCount val="1"/>
                <c:pt idx="0">
                  <c:v>Accurate stakeho…</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100.0</c:v>
                </c:pt>
                <c:pt idx="1">
                  <c:v>100.0</c:v>
                </c:pt>
                <c:pt idx="2">
                  <c:v>100.0</c:v>
                </c:pt>
                <c:pt idx="3">
                  <c:v>100.0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Changes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48.0</c:v>
                </c:pt>
                <c:pt idx="1">
                  <c:v>52.0</c:v>
                </c:pt>
                <c:pt idx="2">
                  <c:v>45.0</c:v>
                </c:pt>
                <c:pt idx="3">
                  <c:v>50.0</c:v>
                </c:pt>
              </c:numCache>
            </c:numRef>
          </c:val>
        </c:ser>
        <c:ser>
          <c:idx val="1"/>
          <c:order val="1"/>
          <c:tx>
            <c:strRef>
              <c:f>Sheet1!$C$1</c:f>
              <c:strCache>
                <c:ptCount val="1"/>
                <c:pt idx="0">
                  <c:v>Emergency Changes</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2.0</c:v>
                </c:pt>
                <c:pt idx="1">
                  <c:v>1.0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Change Success R…</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100.0</c:v>
                </c:pt>
                <c:pt idx="1">
                  <c:v>99.0</c:v>
                </c:pt>
                <c:pt idx="2">
                  <c:v>100.0</c:v>
                </c:pt>
                <c:pt idx="3">
                  <c:v>100.0</c:v>
                </c:pt>
              </c:numCache>
            </c:numRef>
          </c:val>
          <c:smooth val="0"/>
        </c:ser>
        <c:ser>
          <c:idx val="1"/>
          <c:order val="1"/>
          <c:tx>
            <c:strRef>
              <c:f>Sheet1!$C$1</c:f>
              <c:strCache>
                <c:ptCount val="1"/>
                <c:pt idx="0">
                  <c:v>Change Causing MI</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2.1</c:v>
                </c:pt>
                <c:pt idx="1">
                  <c:v>1.9</c:v>
                </c:pt>
                <c:pt idx="2">
                  <c:v>0.0</c:v>
                </c:pt>
                <c:pt idx="3">
                  <c:v>0.0</c:v>
                </c:pt>
              </c:numCache>
            </c:numRef>
          </c:val>
          <c:smooth val="0"/>
        </c:ser>
        <c:ser>
          <c:idx val="2"/>
          <c:order val="2"/>
          <c:tx>
            <c:strRef>
              <c:f>Sheet1!$D$1</c:f>
              <c:strCache>
                <c:ptCount val="1"/>
                <c:pt idx="0">
                  <c:v>Failed Change Ra…</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0.0</c:v>
                </c:pt>
                <c:pt idx="1">
                  <c:v>0.5</c:v>
                </c:pt>
                <c:pt idx="2">
                  <c:v>0.0</c:v>
                </c:pt>
                <c:pt idx="3">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Problems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er>
        <c:ser>
          <c:idx val="1"/>
          <c:order val="1"/>
          <c:tx>
            <c:strRef>
              <c:f>Sheet1!$C$1</c:f>
              <c:strCache>
                <c:ptCount val="1"/>
                <c:pt idx="0">
                  <c:v>Problems Resolved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er>
        <c:ser>
          <c:idx val="2"/>
          <c:order val="2"/>
          <c:tx>
            <c:strRef>
              <c:f>Sheet1!$D$1</c:f>
              <c:strCache>
                <c:ptCount val="1"/>
                <c:pt idx="0">
                  <c:v>New Problems Rai…</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CIs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12480.0</c:v>
                </c:pt>
                <c:pt idx="1">
                  <c:v>12495.0</c:v>
                </c:pt>
                <c:pt idx="2">
                  <c:v>12510.0</c:v>
                </c:pt>
                <c:pt idx="3">
                  <c:v>12524.0</c:v>
                </c:pt>
              </c:numCache>
            </c:numRef>
          </c:val>
        </c:ser>
        <c:ser>
          <c:idx val="1"/>
          <c:order val="1"/>
          <c:tx>
            <c:strRef>
              <c:f>Sheet1!$C$1</c:f>
              <c:strCache>
                <c:ptCount val="1"/>
                <c:pt idx="0">
                  <c:v>CIs Verified Thi…</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145.0</c:v>
                </c:pt>
                <c:pt idx="1">
                  <c:v>132.0</c:v>
                </c:pt>
                <c:pt idx="2">
                  <c:v>158.0</c:v>
                </c:pt>
                <c:pt idx="3">
                  <c:v>141.0</c:v>
                </c:pt>
              </c:numCache>
            </c:numRef>
          </c:val>
        </c:ser>
        <c:ser>
          <c:idx val="2"/>
          <c:order val="2"/>
          <c:tx>
            <c:strRef>
              <c:f>Sheet1!$D$1</c:f>
              <c:strCache>
                <c:ptCount val="1"/>
                <c:pt idx="0">
                  <c:v>Orphan CIs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8.0</c:v>
                </c:pt>
                <c:pt idx="1">
                  <c:v>7.0</c:v>
                </c:pt>
                <c:pt idx="2">
                  <c:v>9.0</c:v>
                </c:pt>
                <c:pt idx="3">
                  <c:v>7.0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 Accuracy</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97.8</c:v>
                </c:pt>
                <c:pt idx="1">
                  <c:v>98.0</c:v>
                </c:pt>
                <c:pt idx="2">
                  <c:v>97.5</c:v>
                </c:pt>
                <c:pt idx="3">
                  <c:v>97.7</c:v>
                </c:pt>
              </c:numCache>
            </c:numRef>
          </c:val>
          <c:smooth val="0"/>
        </c:ser>
        <c:ser>
          <c:idx val="1"/>
          <c:order val="1"/>
          <c:tx>
            <c:strRef>
              <c:f>Sheet1!$C$1</c:f>
              <c:strCache>
                <c:ptCount val="1"/>
                <c:pt idx="0">
                  <c:v>Audit Compliance</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99.3</c:v>
                </c:pt>
                <c:pt idx="1">
                  <c:v>99.1</c:v>
                </c:pt>
                <c:pt idx="2">
                  <c:v>98.9</c:v>
                </c:pt>
                <c:pt idx="3">
                  <c:v>99.2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Received</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1842.0</c:v>
                </c:pt>
                <c:pt idx="1">
                  <c:v>1975.0</c:v>
                </c:pt>
                <c:pt idx="2">
                  <c:v>1723.0</c:v>
                </c:pt>
                <c:pt idx="3">
                  <c:v>1890.0</c:v>
                </c:pt>
              </c:numCache>
            </c:numRef>
          </c:val>
        </c:ser>
        <c:ser>
          <c:idx val="1"/>
          <c:order val="1"/>
          <c:tx>
            <c:strRef>
              <c:f>Sheet1!$C$1</c:f>
              <c:strCache>
                <c:ptCount val="1"/>
                <c:pt idx="0">
                  <c:v>Alerts Auto-Reso…</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1560.0</c:v>
                </c:pt>
                <c:pt idx="1">
                  <c:v>1680.0</c:v>
                </c:pt>
                <c:pt idx="2">
                  <c:v>1490.0</c:v>
                </c:pt>
                <c:pt idx="3">
                  <c:v>1610.0</c:v>
                </c:pt>
              </c:numCache>
            </c:numRef>
          </c:val>
        </c:ser>
        <c:ser>
          <c:idx val="2"/>
          <c:order val="2"/>
          <c:tx>
            <c:strRef>
              <c:f>Sheet1!$D$1</c:f>
              <c:strCache>
                <c:ptCount val="1"/>
                <c:pt idx="0">
                  <c:v>P1 Incidents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1.0</c:v>
                </c:pt>
                <c:pt idx="1">
                  <c:v>2.0</c:v>
                </c:pt>
                <c:pt idx="2">
                  <c:v>1.0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SLA Compliance</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97.1</c:v>
                </c:pt>
                <c:pt idx="1">
                  <c:v>96.8</c:v>
                </c:pt>
                <c:pt idx="2">
                  <c:v>97.2</c:v>
                </c:pt>
                <c:pt idx="3">
                  <c:v>97.4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Tickets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210.0</c:v>
                </c:pt>
                <c:pt idx="1">
                  <c:v>225.0</c:v>
                </c:pt>
                <c:pt idx="2">
                  <c:v>198.0</c:v>
                </c:pt>
                <c:pt idx="3">
                  <c:v>230.0</c:v>
                </c:pt>
              </c:numCache>
            </c:numRef>
          </c:val>
        </c:ser>
        <c:ser>
          <c:idx val="1"/>
          <c:order val="1"/>
          <c:tx>
            <c:strRef>
              <c:f>Sheet1!$C$1</c:f>
              <c:strCache>
                <c:ptCount val="1"/>
                <c:pt idx="0">
                  <c:v>Tickets Resolved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201.0</c:v>
                </c:pt>
                <c:pt idx="1">
                  <c:v>215.0</c:v>
                </c:pt>
                <c:pt idx="2">
                  <c:v>192.0</c:v>
                </c:pt>
                <c:pt idx="3">
                  <c:v>219.0</c:v>
                </c:pt>
              </c:numCache>
            </c:numRef>
          </c:val>
        </c:ser>
        <c:ser>
          <c:idx val="2"/>
          <c:order val="2"/>
          <c:tx>
            <c:strRef>
              <c:f>Sheet1!$D$1</c:f>
              <c:strCache>
                <c:ptCount val="1"/>
                <c:pt idx="0">
                  <c:v>Escalated Tickets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12.0</c:v>
                </c:pt>
                <c:pt idx="1">
                  <c:v>10.0</c:v>
                </c:pt>
                <c:pt idx="2">
                  <c:v>8.0</c:v>
                </c:pt>
                <c:pt idx="3">
                  <c:v>9.0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Resolution Rate</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95.7</c:v>
                </c:pt>
                <c:pt idx="1">
                  <c:v>95.6</c:v>
                </c:pt>
                <c:pt idx="2">
                  <c:v>97.0</c:v>
                </c:pt>
                <c:pt idx="3">
                  <c:v>95.2</c:v>
                </c:pt>
              </c:numCache>
            </c:numRef>
          </c:val>
          <c:smooth val="0"/>
        </c:ser>
        <c:ser>
          <c:idx val="1"/>
          <c:order val="1"/>
          <c:tx>
            <c:strRef>
              <c:f>Sheet1!$C$1</c:f>
              <c:strCache>
                <c:ptCount val="1"/>
                <c:pt idx="0">
                  <c:v>First Call Resol…</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81.0</c:v>
                </c:pt>
                <c:pt idx="1">
                  <c:v>82.0</c:v>
                </c:pt>
                <c:pt idx="2">
                  <c:v>83.0</c:v>
                </c:pt>
                <c:pt idx="3">
                  <c:v>84.0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 Received</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320.0</c:v>
                </c:pt>
                <c:pt idx="1">
                  <c:v>305.0</c:v>
                </c:pt>
                <c:pt idx="2">
                  <c:v>340.0</c:v>
                </c:pt>
                <c:pt idx="3">
                  <c:v>310.0</c:v>
                </c:pt>
              </c:numCache>
            </c:numRef>
          </c:val>
        </c:ser>
        <c:ser>
          <c:idx val="1"/>
          <c:order val="1"/>
          <c:tx>
            <c:strRef>
              <c:f>Sheet1!$C$1</c:f>
              <c:strCache>
                <c:ptCount val="1"/>
                <c:pt idx="0">
                  <c:v>Calls Resolved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295.0</c:v>
                </c:pt>
                <c:pt idx="1">
                  <c:v>280.0</c:v>
                </c:pt>
                <c:pt idx="2">
                  <c:v>315.0</c:v>
                </c:pt>
                <c:pt idx="3">
                  <c:v>288.0</c:v>
                </c:pt>
              </c:numCache>
            </c:numRef>
          </c:val>
        </c:ser>
        <c:ser>
          <c:idx val="2"/>
          <c:order val="2"/>
          <c:tx>
            <c:strRef>
              <c:f>Sheet1!$D$1</c:f>
              <c:strCache>
                <c:ptCount val="1"/>
                <c:pt idx="0">
                  <c:v>Abandoned Calls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18.0</c:v>
                </c:pt>
                <c:pt idx="1">
                  <c:v>22.0</c:v>
                </c:pt>
                <c:pt idx="2">
                  <c:v>15.0</c:v>
                </c:pt>
                <c:pt idx="3">
                  <c:v>14.0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FCR Rate</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82.2</c:v>
                </c:pt>
                <c:pt idx="1">
                  <c:v>81.8</c:v>
                </c:pt>
                <c:pt idx="2">
                  <c:v>82.6</c:v>
                </c:pt>
                <c:pt idx="3">
                  <c:v>82.9</c:v>
                </c:pt>
              </c:numCache>
            </c:numRef>
          </c:val>
          <c:smooth val="0"/>
        </c:ser>
        <c:ser>
          <c:idx val="1"/>
          <c:order val="1"/>
          <c:tx>
            <c:strRef>
              <c:f>Sheet1!$C$1</c:f>
              <c:strCache>
                <c:ptCount val="1"/>
                <c:pt idx="0">
                  <c:v>SLA Compliance</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96.2</c:v>
                </c:pt>
                <c:pt idx="1">
                  <c:v>95.8</c:v>
                </c:pt>
                <c:pt idx="2">
                  <c:v>97.1</c:v>
                </c:pt>
                <c:pt idx="3">
                  <c:v>96.5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MI</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er>
        <c:ser>
          <c:idx val="1"/>
          <c:order val="1"/>
          <c:tx>
            <c:strRef>
              <c:f>Sheet1!$C$1</c:f>
              <c:strCache>
                <c:ptCount val="1"/>
                <c:pt idx="0">
                  <c:v>MIR Conducted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er>
        <c:ser>
          <c:idx val="2"/>
          <c:order val="2"/>
          <c:tx>
            <c:strRef>
              <c:f>Sheet1!$D$1</c:f>
              <c:strCache>
                <c:ptCount val="1"/>
                <c:pt idx="0">
                  <c:v># of P2</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2.0</c:v>
                </c:pt>
                <c:pt idx="1">
                  <c:v>3.0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 of P1</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1.0</c:v>
                </c:pt>
                <c:pt idx="1">
                  <c:v>1.0</c:v>
                </c:pt>
                <c:pt idx="2">
                  <c:v>0.0</c:v>
                </c:pt>
                <c:pt idx="3">
                  <c:v>0.0</c:v>
                </c:pt>
              </c:numCache>
            </c:numRef>
          </c:val>
          <c:smooth val="0"/>
        </c:ser>
        <c:ser>
          <c:idx val="1"/>
          <c:order val="1"/>
          <c:tx>
            <c:strRef>
              <c:f>Sheet1!$C$1</c:f>
              <c:strCache>
                <c:ptCount val="1"/>
                <c:pt idx="0">
                  <c:v>100% Adherence t…</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100.0</c:v>
                </c:pt>
                <c:pt idx="1">
                  <c:v>100.0</c:v>
                </c:pt>
                <c:pt idx="2">
                  <c:v>100.0</c:v>
                </c:pt>
                <c:pt idx="3">
                  <c:v>100.0</c:v>
                </c:pt>
              </c:numCache>
            </c:numRef>
          </c:val>
          <c:smooth val="0"/>
        </c:ser>
        <c:ser>
          <c:idx val="2"/>
          <c:order val="2"/>
          <c:tx>
            <c:strRef>
              <c:f>Sheet1!$D$1</c:f>
              <c:strCache>
                <c:ptCount val="1"/>
                <c:pt idx="0">
                  <c:v>Accurate stakeho…</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100.0</c:v>
                </c:pt>
                <c:pt idx="1">
                  <c:v>100.0</c:v>
                </c:pt>
                <c:pt idx="2">
                  <c:v>100.0</c:v>
                </c:pt>
                <c:pt idx="3">
                  <c:v>100.0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Changes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48.0</c:v>
                </c:pt>
                <c:pt idx="1">
                  <c:v>52.0</c:v>
                </c:pt>
                <c:pt idx="2">
                  <c:v>45.0</c:v>
                </c:pt>
                <c:pt idx="3">
                  <c:v>50.0</c:v>
                </c:pt>
              </c:numCache>
            </c:numRef>
          </c:val>
        </c:ser>
        <c:ser>
          <c:idx val="1"/>
          <c:order val="1"/>
          <c:tx>
            <c:strRef>
              <c:f>Sheet1!$C$1</c:f>
              <c:strCache>
                <c:ptCount val="1"/>
                <c:pt idx="0">
                  <c:v>Emergency Changes</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2.0</c:v>
                </c:pt>
                <c:pt idx="1">
                  <c:v>1.0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Change Success R…</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100.0</c:v>
                </c:pt>
                <c:pt idx="1">
                  <c:v>99.0</c:v>
                </c:pt>
                <c:pt idx="2">
                  <c:v>100.0</c:v>
                </c:pt>
                <c:pt idx="3">
                  <c:v>100.0</c:v>
                </c:pt>
              </c:numCache>
            </c:numRef>
          </c:val>
          <c:smooth val="0"/>
        </c:ser>
        <c:ser>
          <c:idx val="1"/>
          <c:order val="1"/>
          <c:tx>
            <c:strRef>
              <c:f>Sheet1!$C$1</c:f>
              <c:strCache>
                <c:ptCount val="1"/>
                <c:pt idx="0">
                  <c:v>Change Causing MI</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2.1</c:v>
                </c:pt>
                <c:pt idx="1">
                  <c:v>1.9</c:v>
                </c:pt>
                <c:pt idx="2">
                  <c:v>0.0</c:v>
                </c:pt>
                <c:pt idx="3">
                  <c:v>0.0</c:v>
                </c:pt>
              </c:numCache>
            </c:numRef>
          </c:val>
          <c:smooth val="0"/>
        </c:ser>
        <c:ser>
          <c:idx val="2"/>
          <c:order val="2"/>
          <c:tx>
            <c:strRef>
              <c:f>Sheet1!$D$1</c:f>
              <c:strCache>
                <c:ptCount val="1"/>
                <c:pt idx="0">
                  <c:v>Failed Change Ra…</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0.0</c:v>
                </c:pt>
                <c:pt idx="1">
                  <c:v>0.5</c:v>
                </c:pt>
                <c:pt idx="2">
                  <c:v>0.0</c:v>
                </c:pt>
                <c:pt idx="3">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Problems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er>
        <c:ser>
          <c:idx val="1"/>
          <c:order val="1"/>
          <c:tx>
            <c:strRef>
              <c:f>Sheet1!$C$1</c:f>
              <c:strCache>
                <c:ptCount val="1"/>
                <c:pt idx="0">
                  <c:v>Problems Resolved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er>
        <c:ser>
          <c:idx val="2"/>
          <c:order val="2"/>
          <c:tx>
            <c:strRef>
              <c:f>Sheet1!$D$1</c:f>
              <c:strCache>
                <c:ptCount val="1"/>
                <c:pt idx="0">
                  <c:v>New Problems Rai…</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Received</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1842.0</c:v>
                </c:pt>
                <c:pt idx="1">
                  <c:v>1975.0</c:v>
                </c:pt>
                <c:pt idx="2">
                  <c:v>1723.0</c:v>
                </c:pt>
                <c:pt idx="3">
                  <c:v>1890.0</c:v>
                </c:pt>
              </c:numCache>
            </c:numRef>
          </c:val>
        </c:ser>
        <c:ser>
          <c:idx val="1"/>
          <c:order val="1"/>
          <c:tx>
            <c:strRef>
              <c:f>Sheet1!$C$1</c:f>
              <c:strCache>
                <c:ptCount val="1"/>
                <c:pt idx="0">
                  <c:v>Alerts Auto-Reso…</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1560.0</c:v>
                </c:pt>
                <c:pt idx="1">
                  <c:v>1680.0</c:v>
                </c:pt>
                <c:pt idx="2">
                  <c:v>1490.0</c:v>
                </c:pt>
                <c:pt idx="3">
                  <c:v>1610.0</c:v>
                </c:pt>
              </c:numCache>
            </c:numRef>
          </c:val>
        </c:ser>
        <c:ser>
          <c:idx val="2"/>
          <c:order val="2"/>
          <c:tx>
            <c:strRef>
              <c:f>Sheet1!$D$1</c:f>
              <c:strCache>
                <c:ptCount val="1"/>
                <c:pt idx="0">
                  <c:v>P1 Incidents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1.0</c:v>
                </c:pt>
                <c:pt idx="1">
                  <c:v>2.0</c:v>
                </c:pt>
                <c:pt idx="2">
                  <c:v>1.0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SLA Compliance</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97.1</c:v>
                </c:pt>
                <c:pt idx="1">
                  <c:v>96.8</c:v>
                </c:pt>
                <c:pt idx="2">
                  <c:v>97.2</c:v>
                </c:pt>
                <c:pt idx="3">
                  <c:v>97.4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Tickets</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210.0</c:v>
                </c:pt>
                <c:pt idx="1">
                  <c:v>225.0</c:v>
                </c:pt>
                <c:pt idx="2">
                  <c:v>198.0</c:v>
                </c:pt>
                <c:pt idx="3">
                  <c:v>230.0</c:v>
                </c:pt>
              </c:numCache>
            </c:numRef>
          </c:val>
        </c:ser>
        <c:ser>
          <c:idx val="1"/>
          <c:order val="1"/>
          <c:tx>
            <c:strRef>
              <c:f>Sheet1!$C$1</c:f>
              <c:strCache>
                <c:ptCount val="1"/>
                <c:pt idx="0">
                  <c:v>Tickets Resolved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201.0</c:v>
                </c:pt>
                <c:pt idx="1">
                  <c:v>215.0</c:v>
                </c:pt>
                <c:pt idx="2">
                  <c:v>192.0</c:v>
                </c:pt>
                <c:pt idx="3">
                  <c:v>219.0</c:v>
                </c:pt>
              </c:numCache>
            </c:numRef>
          </c:val>
        </c:ser>
        <c:ser>
          <c:idx val="2"/>
          <c:order val="2"/>
          <c:tx>
            <c:strRef>
              <c:f>Sheet1!$D$1</c:f>
              <c:strCache>
                <c:ptCount val="1"/>
                <c:pt idx="0">
                  <c:v>Escalated Tickets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12.0</c:v>
                </c:pt>
                <c:pt idx="1">
                  <c:v>10.0</c:v>
                </c:pt>
                <c:pt idx="2">
                  <c:v>8.0</c:v>
                </c:pt>
                <c:pt idx="3">
                  <c:v>9.0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Resolution Rate</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95.7</c:v>
                </c:pt>
                <c:pt idx="1">
                  <c:v>95.6</c:v>
                </c:pt>
                <c:pt idx="2">
                  <c:v>97.0</c:v>
                </c:pt>
                <c:pt idx="3">
                  <c:v>95.2</c:v>
                </c:pt>
              </c:numCache>
            </c:numRef>
          </c:val>
          <c:smooth val="0"/>
        </c:ser>
        <c:ser>
          <c:idx val="1"/>
          <c:order val="1"/>
          <c:tx>
            <c:strRef>
              <c:f>Sheet1!$C$1</c:f>
              <c:strCache>
                <c:ptCount val="1"/>
                <c:pt idx="0">
                  <c:v>First Call Resol…</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81.0</c:v>
                </c:pt>
                <c:pt idx="1">
                  <c:v>82.0</c:v>
                </c:pt>
                <c:pt idx="2">
                  <c:v>83.0</c:v>
                </c:pt>
                <c:pt idx="3">
                  <c:v>84.0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 Received</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320.0</c:v>
                </c:pt>
                <c:pt idx="1">
                  <c:v>305.0</c:v>
                </c:pt>
                <c:pt idx="2">
                  <c:v>340.0</c:v>
                </c:pt>
                <c:pt idx="3">
                  <c:v>310.0</c:v>
                </c:pt>
              </c:numCache>
            </c:numRef>
          </c:val>
        </c:ser>
        <c:ser>
          <c:idx val="1"/>
          <c:order val="1"/>
          <c:tx>
            <c:strRef>
              <c:f>Sheet1!$C$1</c:f>
              <c:strCache>
                <c:ptCount val="1"/>
                <c:pt idx="0">
                  <c:v>Calls Resolved</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295.0</c:v>
                </c:pt>
                <c:pt idx="1">
                  <c:v>280.0</c:v>
                </c:pt>
                <c:pt idx="2">
                  <c:v>315.0</c:v>
                </c:pt>
                <c:pt idx="3">
                  <c:v>288.0</c:v>
                </c:pt>
              </c:numCache>
            </c:numRef>
          </c:val>
        </c:ser>
        <c:ser>
          <c:idx val="2"/>
          <c:order val="2"/>
          <c:tx>
            <c:strRef>
              <c:f>Sheet1!$D$1</c:f>
              <c:strCache>
                <c:ptCount val="1"/>
                <c:pt idx="0">
                  <c:v>Abandoned Calls</c:v>
                </c:pt>
              </c:strCache>
            </c:strRef>
          </c:tx>
          <c:spPr>
            <a:solidFill>
              <a:srgbClr val="595757"/>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Sheet1!$D$2:$D$5</c:f>
              <c:numCache>
                <c:formatCode>General</c:formatCode>
                <c:ptCount val="4"/>
                <c:pt idx="0">
                  <c:v>18.0</c:v>
                </c:pt>
                <c:pt idx="1">
                  <c:v>22.0</c:v>
                </c:pt>
                <c:pt idx="2">
                  <c:v>15.0</c:v>
                </c:pt>
                <c:pt idx="3">
                  <c:v>14.0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FCR Rate</c:v>
                </c:pt>
              </c:strCache>
            </c:strRef>
          </c:tx>
          <c:spPr>
            <a:solidFill>
              <a:srgbClr val="CC0000"/>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Sheet1!$B$2:$B$5</c:f>
              <c:numCache>
                <c:formatCode>General</c:formatCode>
                <c:ptCount val="4"/>
                <c:pt idx="0">
                  <c:v>82.2</c:v>
                </c:pt>
                <c:pt idx="1">
                  <c:v>81.8</c:v>
                </c:pt>
                <c:pt idx="2">
                  <c:v>82.6</c:v>
                </c:pt>
                <c:pt idx="3">
                  <c:v>82.9</c:v>
                </c:pt>
              </c:numCache>
            </c:numRef>
          </c:val>
          <c:smooth val="0"/>
        </c:ser>
        <c:ser>
          <c:idx val="1"/>
          <c:order val="1"/>
          <c:tx>
            <c:strRef>
              <c:f>Sheet1!$C$1</c:f>
              <c:strCache>
                <c:ptCount val="1"/>
                <c:pt idx="0">
                  <c:v>SLA Compliance</c:v>
                </c:pt>
              </c:strCache>
            </c:strRef>
          </c:tx>
          <c:spPr>
            <a:solidFill>
              <a:srgbClr val="1F3864"/>
            </a:solidFill>
          </c:spPr>
          <c:dLbls>
            <c:showLegendKey val="0"/>
            <c:showVal val="1"/>
            <c:showCatName val="0"/>
            <c:showSerName val="0"/>
            <c:showPercent val="0"/>
            <c:showBubbleSize val="0"/>
            <c:showLeaderLines val="1"/>
          </c:dLbls>
          <c:cat>
            <c:strRef>
              <c:f>Sheet1!$A$2:$A$5</c:f>
              <c:strCache>
                <c:ptCount val="4"/>
                <c:pt idx="0">
                  <c:v>W1</c:v>
                </c:pt>
                <c:pt idx="1">
                  <c:v>W2</c:v>
                </c:pt>
                <c:pt idx="2">
                  <c:v>W3</c:v>
                </c:pt>
                <c:pt idx="3">
                  <c:v>W4</c:v>
                </c:pt>
              </c:strCache>
            </c:strRef>
          </c:cat>
          <c:val>
            <c:numRef>
              <c:f>Sheet1!$C$2:$C$5</c:f>
              <c:numCache>
                <c:formatCode>General</c:formatCode>
                <c:ptCount val="4"/>
                <c:pt idx="0">
                  <c:v>96.2</c:v>
                </c:pt>
                <c:pt idx="1">
                  <c:v>95.8</c:v>
                </c:pt>
                <c:pt idx="2">
                  <c:v>97.1</c:v>
                </c:pt>
                <c:pt idx="3">
                  <c:v>96.5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14.xml"/><Relationship Id="rId5" Type="http://schemas.openxmlformats.org/officeDocument/2006/relationships/chart" Target="../charts/char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16.xml"/><Relationship Id="rId5" Type="http://schemas.openxmlformats.org/officeDocument/2006/relationships/chart" Target="../charts/char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9.xml"/><Relationship Id="rId5" Type="http://schemas.openxmlformats.org/officeDocument/2006/relationships/chart" Target="../charts/char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 Id="rId4" Type="http://schemas.openxmlformats.org/officeDocument/2006/relationships/chart" Target="../charts/chart21.xml"/><Relationship Id="rId5" Type="http://schemas.openxmlformats.org/officeDocument/2006/relationships/chart" Target="../charts/char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chart" Target="../charts/chart23.xml"/><Relationship Id="rId5" Type="http://schemas.openxmlformats.org/officeDocument/2006/relationships/chart" Target="../charts/chart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CC0000"/>
                </a:solidFill>
              </a:defRPr>
            </a:pPr>
            <a:r>
              <a:t>ITSM Weekly Report — 2 May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595757"/>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MIM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≥99%</a:t>
            </a:r>
          </a:p>
          <a:p>
            <a:pPr>
              <a:spcBef>
                <a:spcPts val="0"/>
              </a:spcBef>
              <a:spcAft>
                <a:spcPts val="0"/>
              </a:spcAft>
            </a:pPr>
            <a:r>
              <a:rPr sz="650" b="1">
                <a:solidFill>
                  <a:srgbClr val="FFC000"/>
                </a:solidFill>
              </a:rPr>
              <a:t>■ Amber 95–98%</a:t>
            </a:r>
          </a:p>
          <a:p>
            <a:pPr>
              <a:spcBef>
                <a:spcPts val="0"/>
              </a:spcBef>
              <a:spcAft>
                <a:spcPts val="0"/>
              </a:spcAft>
            </a:pPr>
            <a:r>
              <a:rPr sz="650" b="1">
                <a:solidFill>
                  <a:srgbClr val="CC0000"/>
                </a:solidFill>
              </a:rPr>
              <a:t>■ Red  &lt;95%</a:t>
            </a:r>
          </a:p>
        </p:txBody>
      </p:sp>
      <p:sp>
        <p:nvSpPr>
          <p:cNvPr id="5" name="Rectangle 4"/>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7" name="Rectangle 6"/>
          <p:cNvSpPr/>
          <p:nvPr/>
        </p:nvSpPr>
        <p:spPr>
          <a:xfrm>
            <a:off x="0" y="978408"/>
            <a:ext cx="7315200" cy="91440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10" name="TextBox 9"/>
          <p:cNvSpPr txBox="1"/>
          <p:nvPr/>
        </p:nvSpPr>
        <p:spPr>
          <a:xfrm>
            <a:off x="128016" y="1316736"/>
            <a:ext cx="7059168" cy="548640"/>
          </a:xfrm>
          <a:prstGeom prst="rect">
            <a:avLst/>
          </a:prstGeom>
          <a:noFill/>
        </p:spPr>
        <p:txBody>
          <a:bodyPr wrap="square">
            <a:spAutoFit/>
          </a:bodyPr>
          <a:lstStyle/>
          <a:p>
            <a:pPr>
              <a:spcBef>
                <a:spcPts val="200"/>
              </a:spcBef>
              <a:spcAft>
                <a:spcPts val="100"/>
              </a:spcAft>
            </a:pPr>
            <a:r>
              <a:rPr sz="850" b="0">
                <a:solidFill>
                  <a:srgbClr val="3A3A3A"/>
                </a:solidFill>
              </a:rPr>
              <a:t>In Sprint </a:t>
            </a:r>
            <a:r>
              <a:rPr sz="850" b="1">
                <a:solidFill>
                  <a:srgbClr val="1F3864"/>
                </a:solidFill>
              </a:rPr>
              <a:t>14,</a:t>
            </a:r>
            <a:r>
              <a:rPr sz="850" b="0">
                <a:solidFill>
                  <a:srgbClr val="3A3A3A"/>
                </a:solidFill>
              </a:rPr>
              <a:t> the team demonstrated a robust performance with all MI reviews conducted and adherence to processes at or above target levels. Despite zero Priority </a:t>
            </a:r>
            <a:r>
              <a:rPr sz="850" b="1">
                <a:solidFill>
                  <a:srgbClr val="1F3864"/>
                </a:solidFill>
              </a:rPr>
              <a:t>1</a:t>
            </a:r>
            <a:r>
              <a:rPr sz="850" b="0">
                <a:solidFill>
                  <a:srgbClr val="3A3A3A"/>
                </a:solidFill>
              </a:rPr>
              <a:t> incidents this sprint, there were two such cases in P2 which are being addressed promptly.</a:t>
            </a:r>
          </a:p>
        </p:txBody>
      </p:sp>
      <p:sp>
        <p:nvSpPr>
          <p:cNvPr id="11" name="Rectangle 10"/>
          <p:cNvSpPr/>
          <p:nvPr/>
        </p:nvSpPr>
        <p:spPr>
          <a:xfrm>
            <a:off x="0" y="1984248"/>
            <a:ext cx="7315200" cy="877824"/>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98424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 y="202996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4" name="TextBox 13"/>
          <p:cNvSpPr txBox="1"/>
          <p:nvPr/>
        </p:nvSpPr>
        <p:spPr>
          <a:xfrm>
            <a:off x="128016" y="2322576"/>
            <a:ext cx="7059168" cy="512064"/>
          </a:xfrm>
          <a:prstGeom prst="rect">
            <a:avLst/>
          </a:prstGeom>
          <a:noFill/>
        </p:spPr>
        <p:txBody>
          <a:bodyPr wrap="square">
            <a:spAutoFit/>
          </a:bodyPr>
          <a:lstStyle/>
          <a:p>
            <a:pPr>
              <a:spcBef>
                <a:spcPts val="200"/>
              </a:spcBef>
              <a:spcAft>
                <a:spcPts val="100"/>
              </a:spcAft>
            </a:pPr>
            <a:r>
              <a:rPr sz="800" b="1">
                <a:solidFill>
                  <a:srgbClr val="1F3864"/>
                </a:solidFill>
              </a:rPr>
              <a:t>▸  </a:t>
            </a:r>
            <a:r>
              <a:rPr sz="800" b="1">
                <a:solidFill>
                  <a:srgbClr val="0D47A1"/>
                </a:solidFill>
              </a:rPr>
              <a:t>100%</a:t>
            </a:r>
            <a:r>
              <a:rPr sz="800" b="0">
                <a:solidFill>
                  <a:srgbClr val="1F3864"/>
                </a:solidFill>
              </a:rPr>
              <a:t> Adherence to the MIM process (&gt;</a:t>
            </a:r>
            <a:r>
              <a:rPr sz="800" b="1">
                <a:solidFill>
                  <a:srgbClr val="0D47A1"/>
                </a:solidFill>
              </a:rPr>
              <a:t>99%</a:t>
            </a:r>
            <a:r>
              <a:rPr sz="800" b="0">
                <a:solidFill>
                  <a:srgbClr val="1F3864"/>
                </a:solidFill>
              </a:rPr>
              <a:t>) achieved.</a:t>
            </a:r>
          </a:p>
          <a:p>
            <a:pPr>
              <a:spcBef>
                <a:spcPts val="200"/>
              </a:spcBef>
              <a:spcAft>
                <a:spcPts val="100"/>
              </a:spcAft>
            </a:pPr>
            <a:r>
              <a:rPr sz="800" b="1">
                <a:solidFill>
                  <a:srgbClr val="1F3864"/>
                </a:solidFill>
              </a:rPr>
              <a:t>▸  # P2 incidents resolved within SLA</a:t>
            </a:r>
          </a:p>
          <a:p>
            <a:pPr>
              <a:spcBef>
                <a:spcPts val="200"/>
              </a:spcBef>
              <a:spcAft>
                <a:spcPts val="100"/>
              </a:spcAft>
            </a:pPr>
            <a:r>
              <a:rPr sz="800" b="1">
                <a:solidFill>
                  <a:srgbClr val="1F3864"/>
                </a:solidFill>
              </a:rPr>
              <a:t>▸  Major Incident Review timeline met.</a:t>
            </a:r>
          </a:p>
        </p:txBody>
      </p:sp>
      <p:sp>
        <p:nvSpPr>
          <p:cNvPr id="15" name="Rectangle 14"/>
          <p:cNvSpPr/>
          <p:nvPr/>
        </p:nvSpPr>
        <p:spPr>
          <a:xfrm>
            <a:off x="0" y="2953512"/>
            <a:ext cx="3657600" cy="2953511"/>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2953512"/>
            <a:ext cx="3657600" cy="2953511"/>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953512"/>
            <a:ext cx="7315200" cy="2953511"/>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43884" y="2953512"/>
            <a:ext cx="27432" cy="2953511"/>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953512"/>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 y="3017520"/>
            <a:ext cx="3502152" cy="246888"/>
          </a:xfrm>
          <a:prstGeom prst="rect">
            <a:avLst/>
          </a:prstGeom>
          <a:noFill/>
        </p:spPr>
        <p:txBody>
          <a:bodyPr wrap="none">
            <a:spAutoFit/>
          </a:bodyPr>
          <a:lstStyle/>
          <a:p>
            <a:pPr>
              <a:defRPr b="1" sz="1050">
                <a:solidFill>
                  <a:srgbClr val="FFFFFF"/>
                </a:solidFill>
              </a:defRPr>
            </a:pPr>
            <a:r>
              <a:t>KEY ACHIEVEMENTS</a:t>
            </a:r>
          </a:p>
        </p:txBody>
      </p:sp>
      <p:sp>
        <p:nvSpPr>
          <p:cNvPr id="21" name="Rectangle 20"/>
          <p:cNvSpPr/>
          <p:nvPr/>
        </p:nvSpPr>
        <p:spPr>
          <a:xfrm>
            <a:off x="3657600" y="2953512"/>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3017520"/>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3" name="Rectangle 22"/>
          <p:cNvSpPr/>
          <p:nvPr/>
        </p:nvSpPr>
        <p:spPr>
          <a:xfrm>
            <a:off x="73152" y="3328415"/>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 y="3328415"/>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 y="3392423"/>
            <a:ext cx="3360420" cy="484632"/>
          </a:xfrm>
          <a:prstGeom prst="rect">
            <a:avLst/>
          </a:prstGeom>
          <a:noFill/>
        </p:spPr>
        <p:txBody>
          <a:bodyPr wrap="square">
            <a:spAutoFit/>
          </a:bodyPr>
          <a:lstStyle/>
          <a:p>
            <a:pPr>
              <a:spcBef>
                <a:spcPts val="200"/>
              </a:spcBef>
              <a:spcAft>
                <a:spcPts val="100"/>
              </a:spcAft>
            </a:pPr>
            <a:r>
              <a:rPr sz="800" b="1">
                <a:solidFill>
                  <a:srgbClr val="1A3A28"/>
                </a:solidFill>
              </a:rPr>
              <a:t>✓  </a:t>
            </a:r>
            <a:r>
              <a:rPr sz="800" b="1">
                <a:solidFill>
                  <a:srgbClr val="0A5030"/>
                </a:solidFill>
              </a:rPr>
              <a:t>100%</a:t>
            </a:r>
            <a:r>
              <a:rPr sz="800" b="0">
                <a:solidFill>
                  <a:srgbClr val="1A3A28"/>
                </a:solidFill>
              </a:rPr>
              <a:t> Adherence to the MIM process (&gt;</a:t>
            </a:r>
            <a:r>
              <a:rPr sz="800" b="1">
                <a:solidFill>
                  <a:srgbClr val="0A5030"/>
                </a:solidFill>
              </a:rPr>
              <a:t>99%</a:t>
            </a:r>
            <a:r>
              <a:rPr sz="800" b="0">
                <a:solidFill>
                  <a:srgbClr val="1A3A28"/>
                </a:solidFill>
              </a:rPr>
              <a:t>) achieved.</a:t>
            </a:r>
          </a:p>
        </p:txBody>
      </p:sp>
      <p:sp>
        <p:nvSpPr>
          <p:cNvPr id="26" name="Rectangle 25"/>
          <p:cNvSpPr/>
          <p:nvPr/>
        </p:nvSpPr>
        <p:spPr>
          <a:xfrm>
            <a:off x="73152" y="3986783"/>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 y="3986783"/>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 y="4050791"/>
            <a:ext cx="3360420" cy="484632"/>
          </a:xfrm>
          <a:prstGeom prst="rect">
            <a:avLst/>
          </a:prstGeom>
          <a:noFill/>
        </p:spPr>
        <p:txBody>
          <a:bodyPr wrap="square">
            <a:spAutoFit/>
          </a:bodyPr>
          <a:lstStyle/>
          <a:p>
            <a:pPr>
              <a:spcBef>
                <a:spcPts val="200"/>
              </a:spcBef>
              <a:spcAft>
                <a:spcPts val="100"/>
              </a:spcAft>
            </a:pPr>
            <a:r>
              <a:rPr sz="800" b="1">
                <a:solidFill>
                  <a:srgbClr val="1A3A28"/>
                </a:solidFill>
              </a:rPr>
              <a:t>✓  # P2 incidents resolved within SLA</a:t>
            </a:r>
          </a:p>
        </p:txBody>
      </p:sp>
      <p:sp>
        <p:nvSpPr>
          <p:cNvPr id="29" name="Rectangle 28"/>
          <p:cNvSpPr/>
          <p:nvPr/>
        </p:nvSpPr>
        <p:spPr>
          <a:xfrm>
            <a:off x="73152" y="4645151"/>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 y="4645151"/>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6596" y="4709159"/>
            <a:ext cx="3360420" cy="484632"/>
          </a:xfrm>
          <a:prstGeom prst="rect">
            <a:avLst/>
          </a:prstGeom>
          <a:noFill/>
        </p:spPr>
        <p:txBody>
          <a:bodyPr wrap="square">
            <a:spAutoFit/>
          </a:bodyPr>
          <a:lstStyle/>
          <a:p>
            <a:pPr>
              <a:spcBef>
                <a:spcPts val="200"/>
              </a:spcBef>
              <a:spcAft>
                <a:spcPts val="100"/>
              </a:spcAft>
            </a:pPr>
            <a:r>
              <a:rPr sz="800" b="1">
                <a:solidFill>
                  <a:srgbClr val="1A3A28"/>
                </a:solidFill>
              </a:rPr>
              <a:t>✓  Major Incident Review timeline met.</a:t>
            </a:r>
          </a:p>
        </p:txBody>
      </p:sp>
      <p:sp>
        <p:nvSpPr>
          <p:cNvPr id="32" name="Rectangle 31"/>
          <p:cNvSpPr/>
          <p:nvPr/>
        </p:nvSpPr>
        <p:spPr>
          <a:xfrm>
            <a:off x="3730752" y="3328415"/>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30752" y="3328415"/>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54196" y="3392423"/>
            <a:ext cx="3360420" cy="484632"/>
          </a:xfrm>
          <a:prstGeom prst="rect">
            <a:avLst/>
          </a:prstGeom>
          <a:noFill/>
        </p:spPr>
        <p:txBody>
          <a:bodyPr wrap="square">
            <a:spAutoFit/>
          </a:bodyPr>
          <a:lstStyle/>
          <a:p>
            <a:pPr>
              <a:spcBef>
                <a:spcPts val="200"/>
              </a:spcBef>
              <a:spcAft>
                <a:spcPts val="100"/>
              </a:spcAft>
            </a:pPr>
            <a:r>
              <a:rPr sz="800" b="1">
                <a:solidFill>
                  <a:srgbClr val="3A2810"/>
                </a:solidFill>
              </a:rPr>
              <a:t>→  Increase monitoring for Priority </a:t>
            </a:r>
            <a:r>
              <a:rPr sz="800" b="1">
                <a:solidFill>
                  <a:srgbClr val="8B4500"/>
                </a:solidFill>
              </a:rPr>
              <a:t>2</a:t>
            </a:r>
            <a:r>
              <a:rPr sz="800" b="0">
                <a:solidFill>
                  <a:srgbClr val="3A2810"/>
                </a:solidFill>
              </a:rPr>
              <a:t> incidents to prevent backlog and ensure SLA compliance continues at a high rate.</a:t>
            </a:r>
          </a:p>
        </p:txBody>
      </p:sp>
      <p:sp>
        <p:nvSpPr>
          <p:cNvPr id="35" name="Rectangle 34"/>
          <p:cNvSpPr/>
          <p:nvPr/>
        </p:nvSpPr>
        <p:spPr>
          <a:xfrm>
            <a:off x="3730752" y="3986783"/>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30752" y="3986783"/>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54196" y="4050791"/>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improving ACL communications based on ELT feedback.</a:t>
            </a:r>
          </a:p>
        </p:txBody>
      </p:sp>
      <p:sp>
        <p:nvSpPr>
          <p:cNvPr id="38" name="Rectangle 37"/>
          <p:cNvSpPr/>
          <p:nvPr/>
        </p:nvSpPr>
        <p:spPr>
          <a:xfrm>
            <a:off x="3730752" y="4645151"/>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730752" y="4645151"/>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54196" y="4709159"/>
            <a:ext cx="3360420" cy="484632"/>
          </a:xfrm>
          <a:prstGeom prst="rect">
            <a:avLst/>
          </a:prstGeom>
          <a:noFill/>
        </p:spPr>
        <p:txBody>
          <a:bodyPr wrap="square">
            <a:spAutoFit/>
          </a:bodyPr>
          <a:lstStyle/>
          <a:p>
            <a:pPr>
              <a:spcBef>
                <a:spcPts val="200"/>
              </a:spcBef>
              <a:spcAft>
                <a:spcPts val="100"/>
              </a:spcAft>
            </a:pPr>
            <a:r>
              <a:rPr sz="800" b="1">
                <a:solidFill>
                  <a:srgbClr val="3A2810"/>
                </a:solidFill>
              </a:rPr>
              <a:t>→  Maintain the high adherence rate to MIM processes for consistent performance</a:t>
            </a:r>
          </a:p>
        </p:txBody>
      </p:sp>
      <p:graphicFrame>
        <p:nvGraphicFramePr>
          <p:cNvPr id="41" name="Table 40"/>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MI</a:t>
                      </a:r>
                    </a:p>
                  </a:txBody>
                  <a:tcPr>
                    <a:solidFill>
                      <a:srgbClr val="FFFFFF"/>
                    </a:solidFill>
                  </a:tcPr>
                </a:tc>
                <a:tc>
                  <a:txBody>
                    <a:bodyPr wrap="square"/>
                    <a:lstStyle/>
                    <a:p>
                      <a:pPr>
                        <a:defRPr sz="550">
                          <a:solidFill>
                            <a:srgbClr val="333333"/>
                          </a:solidFill>
                        </a:defRPr>
                      </a:pPr>
                      <a:r>
                        <a:t>Total no. of Major Incidents reported in period</a:t>
                      </a:r>
                    </a:p>
                  </a:txBody>
                  <a:tcPr>
                    <a:solidFill>
                      <a:srgbClr val="FFFFFF"/>
                    </a:solidFill>
                  </a:tcPr>
                </a:tc>
                <a:tc>
                  <a:txBody>
                    <a:bodyPr wrap="square"/>
                    <a:lstStyle/>
                    <a:p>
                      <a:pPr>
                        <a:defRPr sz="550">
                          <a:solidFill>
                            <a:srgbClr val="333333"/>
                          </a:solidFill>
                        </a:defRPr>
                      </a:pPr>
                      <a:r>
                        <a:t>Includes P1 and P2 incidents raised in ServiceNow</a:t>
                      </a:r>
                    </a:p>
                  </a:txBody>
                  <a:tcPr>
                    <a:solidFill>
                      <a:srgbClr val="FFFFFF"/>
                    </a:solidFill>
                  </a:tcPr>
                </a:tc>
              </a:tr>
              <a:tr h="182880">
                <a:tc>
                  <a:txBody>
                    <a:bodyPr wrap="square"/>
                    <a:lstStyle/>
                    <a:p>
                      <a:pPr>
                        <a:defRPr sz="550" b="1">
                          <a:solidFill>
                            <a:srgbClr val="1F3864"/>
                          </a:solidFill>
                        </a:defRPr>
                      </a:pPr>
                      <a:r>
                        <a:t>MIR Conducted</a:t>
                      </a:r>
                    </a:p>
                  </a:txBody>
                  <a:tcPr>
                    <a:solidFill>
                      <a:srgbClr val="E9F0F8"/>
                    </a:solidFill>
                  </a:tcPr>
                </a:tc>
                <a:tc>
                  <a:txBody>
                    <a:bodyPr wrap="square"/>
                    <a:lstStyle/>
                    <a:p>
                      <a:pPr>
                        <a:defRPr sz="550">
                          <a:solidFill>
                            <a:srgbClr val="333333"/>
                          </a:solidFill>
                        </a:defRPr>
                      </a:pPr>
                      <a:r>
                        <a:t>Major Incident Review conducted after each P1/P2</a:t>
                      </a:r>
                    </a:p>
                  </a:txBody>
                  <a:tcPr>
                    <a:solidFill>
                      <a:srgbClr val="E9F0F8"/>
                    </a:solidFill>
                  </a:tcPr>
                </a:tc>
                <a:tc>
                  <a:txBody>
                    <a:bodyPr wrap="square"/>
                    <a:lstStyle/>
                    <a:p>
                      <a:pPr>
                        <a:defRPr sz="550">
                          <a:solidFill>
                            <a:srgbClr val="333333"/>
                          </a:solidFill>
                        </a:defRPr>
                      </a:pPr>
                      <a:r>
                        <a:t>Post-incident review to identify root cause and corrective actions</a:t>
                      </a:r>
                    </a:p>
                  </a:txBody>
                  <a:tcPr>
                    <a:solidFill>
                      <a:srgbClr val="E9F0F8"/>
                    </a:solidFill>
                  </a:tcPr>
                </a:tc>
              </a:tr>
              <a:tr h="182880">
                <a:tc>
                  <a:txBody>
                    <a:bodyPr wrap="square"/>
                    <a:lstStyle/>
                    <a:p>
                      <a:pPr>
                        <a:defRPr sz="550" b="1">
                          <a:solidFill>
                            <a:srgbClr val="1F3864"/>
                          </a:solidFill>
                        </a:defRPr>
                      </a:pPr>
                      <a:r>
                        <a:t># of P1</a:t>
                      </a:r>
                    </a:p>
                  </a:txBody>
                  <a:tcPr>
                    <a:solidFill>
                      <a:srgbClr val="FFFFFF"/>
                    </a:solidFill>
                  </a:tcPr>
                </a:tc>
                <a:tc>
                  <a:txBody>
                    <a:bodyPr wrap="square"/>
                    <a:lstStyle/>
                    <a:p>
                      <a:pPr>
                        <a:defRPr sz="550">
                          <a:solidFill>
                            <a:srgbClr val="333333"/>
                          </a:solidFill>
                        </a:defRPr>
                      </a:pPr>
                      <a:r>
                        <a:t>Number of Priority 1 incidents in the period</a:t>
                      </a:r>
                    </a:p>
                  </a:txBody>
                  <a:tcPr>
                    <a:solidFill>
                      <a:srgbClr val="FFFFFF"/>
                    </a:solidFill>
                  </a:tcPr>
                </a:tc>
                <a:tc>
                  <a:txBody>
                    <a:bodyPr wrap="square"/>
                    <a:lstStyle/>
                    <a:p>
                      <a:pPr>
                        <a:defRPr sz="550">
                          <a:solidFill>
                            <a:srgbClr val="333333"/>
                          </a:solidFill>
                        </a:defRPr>
                      </a:pPr>
                      <a:r>
                        <a:t>Critical incidents requiring immediate escalation to senior management</a:t>
                      </a:r>
                    </a:p>
                  </a:txBody>
                  <a:tcPr>
                    <a:solidFill>
                      <a:srgbClr val="FFFFFF"/>
                    </a:solidFill>
                  </a:tcPr>
                </a:tc>
              </a:tr>
              <a:tr h="182880">
                <a:tc>
                  <a:txBody>
                    <a:bodyPr wrap="square"/>
                    <a:lstStyle/>
                    <a:p>
                      <a:pPr>
                        <a:defRPr sz="550" b="1">
                          <a:solidFill>
                            <a:srgbClr val="1F3864"/>
                          </a:solidFill>
                        </a:defRPr>
                      </a:pPr>
                      <a:r>
                        <a:t># of P2</a:t>
                      </a:r>
                    </a:p>
                  </a:txBody>
                  <a:tcPr>
                    <a:solidFill>
                      <a:srgbClr val="E9F0F8"/>
                    </a:solidFill>
                  </a:tcPr>
                </a:tc>
                <a:tc>
                  <a:txBody>
                    <a:bodyPr wrap="square"/>
                    <a:lstStyle/>
                    <a:p>
                      <a:pPr>
                        <a:defRPr sz="550">
                          <a:solidFill>
                            <a:srgbClr val="333333"/>
                          </a:solidFill>
                        </a:defRPr>
                      </a:pPr>
                      <a:r>
                        <a:t>Number of Priority 2 incidents in the period</a:t>
                      </a:r>
                    </a:p>
                  </a:txBody>
                  <a:tcPr>
                    <a:solidFill>
                      <a:srgbClr val="E9F0F8"/>
                    </a:solidFill>
                  </a:tcPr>
                </a:tc>
                <a:tc>
                  <a:txBody>
                    <a:bodyPr wrap="square"/>
                    <a:lstStyle/>
                    <a:p>
                      <a:pPr>
                        <a:defRPr sz="550">
                          <a:solidFill>
                            <a:srgbClr val="333333"/>
                          </a:solidFill>
                        </a:defRPr>
                      </a:pPr>
                      <a:r>
                        <a:t>High priority incidents requiring prompt resolution within 8 hours</a:t>
                      </a:r>
                    </a:p>
                  </a:txBody>
                  <a:tcPr>
                    <a:solidFill>
                      <a:srgbClr val="E9F0F8"/>
                    </a:solidFill>
                  </a:tcPr>
                </a:tc>
              </a:tr>
            </a:tbl>
          </a:graphicData>
        </a:graphic>
      </p:graphicFrame>
      <p:graphicFrame>
        <p:nvGraphicFramePr>
          <p:cNvPr id="42" name="Table 41"/>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870639"/>
                <a:gridCol w="870639"/>
                <a:gridCol w="870639"/>
                <a:gridCol w="870639"/>
                <a:gridCol w="870639"/>
                <a:gridCol w="870639"/>
                <a:gridCol w="870639"/>
                <a:gridCol w="870639"/>
                <a:gridCol w="870639"/>
                <a:gridCol w="870639"/>
                <a:gridCol w="870639"/>
                <a:gridCol w="870639"/>
                <a:gridCol w="870639"/>
                <a:gridCol w="870639"/>
              </a:tblGrid>
              <a:tr h="182880">
                <a:tc>
                  <a:txBody>
                    <a:bodyPr wrap="square"/>
                    <a:lstStyle/>
                    <a:p>
                      <a:pPr algn="ctr">
                        <a:defRPr b="1" sz="550">
                          <a:solidFill>
                            <a:srgbClr val="FFFFFF"/>
                          </a:solidFill>
                        </a:defRPr>
                      </a:pPr>
                      <a:r>
                        <a:t>Sprint No</a:t>
                      </a:r>
                    </a:p>
                  </a:txBody>
                  <a:tcPr>
                    <a:solidFill>
                      <a:srgbClr val="CC0000"/>
                    </a:solidFill>
                  </a:tcPr>
                </a:tc>
                <a:tc>
                  <a:txBody>
                    <a:bodyPr wrap="square"/>
                    <a:lstStyle/>
                    <a:p>
                      <a:pPr algn="ctr">
                        <a:defRPr b="1" sz="550">
                          <a:solidFill>
                            <a:srgbClr val="FFFFFF"/>
                          </a:solidFill>
                        </a:defRPr>
                      </a:pPr>
                      <a:r>
                        <a:t>Total MI</a:t>
                      </a:r>
                    </a:p>
                  </a:txBody>
                  <a:tcPr>
                    <a:solidFill>
                      <a:srgbClr val="CC0000"/>
                    </a:solidFill>
                  </a:tcPr>
                </a:tc>
                <a:tc>
                  <a:txBody>
                    <a:bodyPr wrap="square"/>
                    <a:lstStyle/>
                    <a:p>
                      <a:pPr algn="ctr">
                        <a:defRPr b="1" sz="550">
                          <a:solidFill>
                            <a:srgbClr val="FFFFFF"/>
                          </a:solidFill>
                        </a:defRPr>
                      </a:pPr>
                      <a:r>
                        <a:t>MIR Conducted</a:t>
                      </a:r>
                    </a:p>
                  </a:txBody>
                  <a:tcPr>
                    <a:solidFill>
                      <a:srgbClr val="CC0000"/>
                    </a:solidFill>
                  </a:tcPr>
                </a:tc>
                <a:tc>
                  <a:txBody>
                    <a:bodyPr wrap="square"/>
                    <a:lstStyle/>
                    <a:p>
                      <a:pPr algn="ctr">
                        <a:defRPr b="1" sz="550">
                          <a:solidFill>
                            <a:srgbClr val="FFFFFF"/>
                          </a:solidFill>
                        </a:defRPr>
                      </a:pPr>
                      <a:r>
                        <a:t># of P1</a:t>
                      </a:r>
                    </a:p>
                  </a:txBody>
                  <a:tcPr>
                    <a:solidFill>
                      <a:srgbClr val="CC0000"/>
                    </a:solidFill>
                  </a:tcPr>
                </a:tc>
                <a:tc>
                  <a:txBody>
                    <a:bodyPr wrap="square"/>
                    <a:lstStyle/>
                    <a:p>
                      <a:pPr algn="ctr">
                        <a:defRPr b="1" sz="550">
                          <a:solidFill>
                            <a:srgbClr val="FFFFFF"/>
                          </a:solidFill>
                        </a:defRPr>
                      </a:pPr>
                      <a:r>
                        <a:t># of P2</a:t>
                      </a:r>
                    </a:p>
                  </a:txBody>
                  <a:tcPr>
                    <a:solidFill>
                      <a:srgbClr val="CC0000"/>
                    </a:solidFill>
                  </a:tcPr>
                </a:tc>
                <a:tc>
                  <a:txBody>
                    <a:bodyPr wrap="square"/>
                    <a:lstStyle/>
                    <a:p>
                      <a:pPr algn="ctr">
                        <a:defRPr b="1" sz="550">
                          <a:solidFill>
                            <a:srgbClr val="FFFFFF"/>
                          </a:solidFill>
                        </a:defRPr>
                      </a:pPr>
                      <a:r>
                        <a:t>100% Adherence to the MIM process</a:t>
                      </a:r>
                    </a:p>
                  </a:txBody>
                  <a:tcPr>
                    <a:solidFill>
                      <a:srgbClr val="CC0000"/>
                    </a:solidFill>
                  </a:tcPr>
                </a:tc>
                <a:tc>
                  <a:txBody>
                    <a:bodyPr wrap="square"/>
                    <a:lstStyle/>
                    <a:p>
                      <a:pPr algn="ctr">
                        <a:defRPr b="1" sz="550">
                          <a:solidFill>
                            <a:srgbClr val="FFFFFF"/>
                          </a:solidFill>
                        </a:defRPr>
                      </a:pPr>
                      <a:r>
                        <a:t>Accurate stakeholder communications</a:t>
                      </a:r>
                    </a:p>
                  </a:txBody>
                  <a:tcPr>
                    <a:solidFill>
                      <a:srgbClr val="CC0000"/>
                    </a:solidFill>
                  </a:tcPr>
                </a:tc>
                <a:tc>
                  <a:txBody>
                    <a:bodyPr wrap="square"/>
                    <a:lstStyle/>
                    <a:p>
                      <a:pPr algn="ctr">
                        <a:defRPr b="1" sz="550">
                          <a:solidFill>
                            <a:srgbClr val="FFFFFF"/>
                          </a:solidFill>
                        </a:defRPr>
                      </a:pPr>
                      <a:r>
                        <a:t>Consistency in the Service now fields</a:t>
                      </a:r>
                    </a:p>
                  </a:txBody>
                  <a:tcPr>
                    <a:solidFill>
                      <a:srgbClr val="CC0000"/>
                    </a:solidFill>
                  </a:tcPr>
                </a:tc>
                <a:tc>
                  <a:txBody>
                    <a:bodyPr wrap="square"/>
                    <a:lstStyle/>
                    <a:p>
                      <a:pPr algn="ctr">
                        <a:defRPr b="1" sz="550">
                          <a:solidFill>
                            <a:srgbClr val="FFFFFF"/>
                          </a:solidFill>
                        </a:defRPr>
                      </a:pPr>
                      <a:r>
                        <a:t>MIR Timeline</a:t>
                      </a:r>
                    </a:p>
                  </a:txBody>
                  <a:tcPr>
                    <a:solidFill>
                      <a:srgbClr val="CC0000"/>
                    </a:solidFill>
                  </a:tcPr>
                </a:tc>
                <a:tc>
                  <a:txBody>
                    <a:bodyPr wrap="square"/>
                    <a:lstStyle/>
                    <a:p>
                      <a:pPr algn="ctr">
                        <a:defRPr b="1" sz="550">
                          <a:solidFill>
                            <a:srgbClr val="FFFFFF"/>
                          </a:solidFill>
                        </a:defRPr>
                      </a:pPr>
                      <a:r>
                        <a:t>SLA compliance P1/P2</a:t>
                      </a:r>
                    </a:p>
                  </a:txBody>
                  <a:tcPr>
                    <a:solidFill>
                      <a:srgbClr val="CC0000"/>
                    </a:solidFill>
                  </a:tcPr>
                </a:tc>
                <a:tc>
                  <a:txBody>
                    <a:bodyPr wrap="square"/>
                    <a:lstStyle/>
                    <a:p>
                      <a:pPr algn="ctr">
                        <a:defRPr b="1" sz="550">
                          <a:solidFill>
                            <a:srgbClr val="FFFFFF"/>
                          </a:solidFill>
                        </a:defRPr>
                      </a:pPr>
                      <a:r>
                        <a:t>SMS within 20 min P1/P2</a:t>
                      </a:r>
                    </a:p>
                  </a:txBody>
                  <a:tcPr>
                    <a:solidFill>
                      <a:srgbClr val="CC0000"/>
                    </a:solidFill>
                  </a:tcPr>
                </a:tc>
                <a:tc>
                  <a:txBody>
                    <a:bodyPr wrap="square"/>
                    <a:lstStyle/>
                    <a:p>
                      <a:pPr algn="ctr">
                        <a:defRPr b="1" sz="550">
                          <a:solidFill>
                            <a:srgbClr val="FFFFFF"/>
                          </a:solidFill>
                        </a:defRPr>
                      </a:pPr>
                      <a:r>
                        <a:t>Email within 20 min engaged</a:t>
                      </a:r>
                    </a:p>
                  </a:txBody>
                  <a:tcPr>
                    <a:solidFill>
                      <a:srgbClr val="CC0000"/>
                    </a:solidFill>
                  </a:tcPr>
                </a:tc>
                <a:tc>
                  <a:txBody>
                    <a:bodyPr wrap="square"/>
                    <a:lstStyle/>
                    <a:p>
                      <a:pPr algn="ctr">
                        <a:defRPr b="1" sz="550">
                          <a:solidFill>
                            <a:srgbClr val="FFFFFF"/>
                          </a:solidFill>
                        </a:defRPr>
                      </a:pPr>
                      <a:r>
                        <a:t>MI whiteboard accuracy</a:t>
                      </a:r>
                    </a:p>
                  </a:txBody>
                  <a:tcPr>
                    <a:solidFill>
                      <a:srgbClr val="CC0000"/>
                    </a:solidFill>
                  </a:tcPr>
                </a:tc>
                <a:tc>
                  <a:txBody>
                    <a:bodyPr wrap="square"/>
                    <a:lstStyle/>
                    <a:p>
                      <a:pPr algn="ctr">
                        <a:defRPr b="1" sz="550">
                          <a:solidFill>
                            <a:srgbClr val="FFFFFF"/>
                          </a:solidFill>
                        </a:defRPr>
                      </a:pPr>
                      <a:r>
                        <a:t>Effective handover for RCA</a:t>
                      </a:r>
                    </a:p>
                  </a:txBody>
                  <a:tcPr>
                    <a:solidFill>
                      <a:srgbClr val="CC0000"/>
                    </a:solidFill>
                  </a:tcPr>
                </a:tc>
              </a:tr>
              <a:tr h="228600">
                <a:tc>
                  <a:txBody>
                    <a:bodyPr/>
                    <a:lstStyle/>
                    <a:p>
                      <a:pPr algn="ctr">
                        <a:defRPr sz="700" b="1">
                          <a:solidFill>
                            <a:srgbClr val="333333"/>
                          </a:solidFill>
                        </a:defRPr>
                      </a:pPr>
                      <a:r>
                        <a:t>Sprint 14</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333333"/>
                          </a:solidFill>
                        </a:defRPr>
                      </a:pPr>
                      <a:r>
                        <a:t>5</a:t>
                      </a:r>
                    </a:p>
                  </a:txBody>
                  <a:tcPr>
                    <a:solidFill>
                      <a:srgbClr val="F5F5F5"/>
                    </a:solidFill>
                  </a:tcPr>
                </a:tc>
                <a:tc>
                  <a:txBody>
                    <a:bodyPr/>
                    <a:lstStyle/>
                    <a:p>
                      <a:pPr algn="ctr">
                        <a:defRPr sz="700" b="1">
                          <a:solidFill>
                            <a:srgbClr val="333333"/>
                          </a:solidFill>
                        </a:defRPr>
                      </a:pPr>
                      <a:r>
                        <a:t>0</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r>
            </a:tbl>
          </a:graphicData>
        </a:graphic>
      </p:graphicFrame>
      <p:graphicFrame>
        <p:nvGraphicFramePr>
          <p:cNvPr id="43" name="Chart 42"/>
          <p:cNvGraphicFramePr>
            <a:graphicFrameLocks noGrp="1"/>
          </p:cNvGraphicFramePr>
          <p:nvPr/>
        </p:nvGraphicFramePr>
        <p:xfrm>
          <a:off x="7452360" y="978408"/>
          <a:ext cx="4526280" cy="2423160"/>
        </p:xfrm>
        <a:graphic>
          <a:graphicData uri="http://schemas.openxmlformats.org/drawingml/2006/chart">
            <c:chart xmlns:c="http://schemas.openxmlformats.org/drawingml/2006/chart" r:id="rId4"/>
          </a:graphicData>
        </a:graphic>
      </p:graphicFrame>
      <p:graphicFrame>
        <p:nvGraphicFramePr>
          <p:cNvPr id="44" name="Chart 43"/>
          <p:cNvGraphicFramePr>
            <a:graphicFrameLocks noGrp="1"/>
          </p:cNvGraphicFramePr>
          <p:nvPr/>
        </p:nvGraphicFramePr>
        <p:xfrm>
          <a:off x="7452360" y="3474720"/>
          <a:ext cx="4526280" cy="2423160"/>
        </p:xfrm>
        <a:graphic>
          <a:graphicData uri="http://schemas.openxmlformats.org/drawingml/2006/chart">
            <c:chart xmlns:c="http://schemas.openxmlformats.org/drawingml/2006/chart" r:id="rId5"/>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Change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≥99%</a:t>
            </a:r>
          </a:p>
          <a:p>
            <a:pPr>
              <a:spcBef>
                <a:spcPts val="0"/>
              </a:spcBef>
              <a:spcAft>
                <a:spcPts val="0"/>
              </a:spcAft>
            </a:pPr>
            <a:r>
              <a:rPr sz="650" b="1">
                <a:solidFill>
                  <a:srgbClr val="FFC000"/>
                </a:solidFill>
              </a:rPr>
              <a:t>■ Amber 95–98%</a:t>
            </a:r>
          </a:p>
          <a:p>
            <a:pPr>
              <a:spcBef>
                <a:spcPts val="0"/>
              </a:spcBef>
              <a:spcAft>
                <a:spcPts val="0"/>
              </a:spcAft>
            </a:pPr>
            <a:r>
              <a:rPr sz="650" b="1">
                <a:solidFill>
                  <a:srgbClr val="CC0000"/>
                </a:solidFill>
              </a:rPr>
              <a:t>■ Red  &lt;95%</a:t>
            </a:r>
          </a:p>
        </p:txBody>
      </p:sp>
      <p:sp>
        <p:nvSpPr>
          <p:cNvPr id="5" name="Rectangle 4"/>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7" name="Rectangle 6"/>
          <p:cNvSpPr/>
          <p:nvPr/>
        </p:nvSpPr>
        <p:spPr>
          <a:xfrm>
            <a:off x="0" y="978408"/>
            <a:ext cx="7315200" cy="1156716"/>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10" name="TextBox 9"/>
          <p:cNvSpPr txBox="1"/>
          <p:nvPr/>
        </p:nvSpPr>
        <p:spPr>
          <a:xfrm>
            <a:off x="128016" y="1316736"/>
            <a:ext cx="7059168" cy="790956"/>
          </a:xfrm>
          <a:prstGeom prst="rect">
            <a:avLst/>
          </a:prstGeom>
          <a:noFill/>
        </p:spPr>
        <p:txBody>
          <a:bodyPr wrap="square">
            <a:spAutoFit/>
          </a:bodyPr>
          <a:lstStyle/>
          <a:p>
            <a:pPr>
              <a:spcBef>
                <a:spcPts val="200"/>
              </a:spcBef>
              <a:spcAft>
                <a:spcPts val="100"/>
              </a:spcAft>
            </a:pPr>
            <a:r>
              <a:rPr sz="850" b="0">
                <a:solidFill>
                  <a:srgbClr val="3A3A3A"/>
                </a:solidFill>
              </a:rPr>
              <a:t>The IT Change Management team at MUFG demonstrated a strong performance this week, with all changes successfully implemented and the change success ratio consistently above </a:t>
            </a:r>
            <a:r>
              <a:rPr sz="850" b="1">
                <a:solidFill>
                  <a:srgbClr val="1F3864"/>
                </a:solidFill>
              </a:rPr>
              <a:t>99%</a:t>
            </a:r>
            <a:r>
              <a:rPr sz="850" b="0">
                <a:solidFill>
                  <a:srgbClr val="3A3A3A"/>
                </a:solidFill>
              </a:rPr>
              <a:t>. The total number of changes raised was high for Week </a:t>
            </a:r>
            <a:r>
              <a:rPr sz="850" b="1">
                <a:solidFill>
                  <a:srgbClr val="1F3864"/>
                </a:solidFill>
              </a:rPr>
              <a:t>4,</a:t>
            </a:r>
            <a:r>
              <a:rPr sz="850" b="0">
                <a:solidFill>
                  <a:srgbClr val="3A3A3A"/>
                </a:solidFill>
              </a:rPr>
              <a:t> but emergency requests were efficiently handled within tight timeframes. Despite an increase in unauthorized change rate to </a:t>
            </a:r>
            <a:r>
              <a:rPr sz="850" b="1">
                <a:solidFill>
                  <a:srgbClr val="1F3864"/>
                </a:solidFill>
              </a:rPr>
              <a:t>0.6%</a:t>
            </a:r>
            <a:r>
              <a:rPr sz="850" b="0">
                <a:solidFill>
                  <a:srgbClr val="3A3A3A"/>
                </a:solidFill>
              </a:rPr>
              <a:t>, no major incidents or rollbacks occurred.</a:t>
            </a:r>
          </a:p>
        </p:txBody>
      </p:sp>
      <p:sp>
        <p:nvSpPr>
          <p:cNvPr id="11" name="Rectangle 10"/>
          <p:cNvSpPr/>
          <p:nvPr/>
        </p:nvSpPr>
        <p:spPr>
          <a:xfrm>
            <a:off x="0" y="2226564"/>
            <a:ext cx="7315200" cy="1207007"/>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226564"/>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 y="2272284"/>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4" name="TextBox 13"/>
          <p:cNvSpPr txBox="1"/>
          <p:nvPr/>
        </p:nvSpPr>
        <p:spPr>
          <a:xfrm>
            <a:off x="128016" y="2564892"/>
            <a:ext cx="7059168" cy="841247"/>
          </a:xfrm>
          <a:prstGeom prst="rect">
            <a:avLst/>
          </a:prstGeom>
          <a:noFill/>
        </p:spPr>
        <p:txBody>
          <a:bodyPr wrap="square">
            <a:spAutoFit/>
          </a:bodyPr>
          <a:lstStyle/>
          <a:p>
            <a:pPr>
              <a:spcBef>
                <a:spcPts val="200"/>
              </a:spcBef>
              <a:spcAft>
                <a:spcPts val="100"/>
              </a:spcAft>
            </a:pPr>
            <a:r>
              <a:rPr sz="800" b="1">
                <a:solidFill>
                  <a:srgbClr val="1F3864"/>
                </a:solidFill>
              </a:rPr>
              <a:t>▸  Maintained a change success ratio of over </a:t>
            </a:r>
            <a:r>
              <a:rPr sz="800" b="1">
                <a:solidFill>
                  <a:srgbClr val="0D47A1"/>
                </a:solidFill>
              </a:rPr>
              <a:t>99%</a:t>
            </a:r>
            <a:r>
              <a:rPr sz="800" b="0">
                <a:solidFill>
                  <a:srgbClr val="1F3864"/>
                </a:solidFill>
              </a:rPr>
              <a:t> for the fourth consecutive week.</a:t>
            </a:r>
          </a:p>
          <a:p>
            <a:pPr>
              <a:spcBef>
                <a:spcPts val="200"/>
              </a:spcBef>
              <a:spcAft>
                <a:spcPts val="100"/>
              </a:spcAft>
            </a:pPr>
            <a:r>
              <a:rPr sz="800" b="1">
                <a:solidFill>
                  <a:srgbClr val="1F3864"/>
                </a:solidFill>
              </a:rPr>
              <a:t>▸  Handled emergency changes promptly, with two approved within an hour and another one in less than three hours as per standard protocols.</a:t>
            </a:r>
          </a:p>
          <a:p>
            <a:pPr>
              <a:spcBef>
                <a:spcPts val="200"/>
              </a:spcBef>
              <a:spcAft>
                <a:spcPts val="100"/>
              </a:spcAft>
            </a:pPr>
            <a:r>
              <a:rPr sz="800" b="1">
                <a:solidFill>
                  <a:srgbClr val="1F3864"/>
                </a:solidFill>
              </a:rPr>
              <a:t>▸  No major incidents or rollbacks occurred this week despite the rise in unauthorized change rate to </a:t>
            </a:r>
            <a:r>
              <a:rPr sz="800" b="1">
                <a:solidFill>
                  <a:srgbClr val="0D47A1"/>
                </a:solidFill>
              </a:rPr>
              <a:t>0.6%</a:t>
            </a:r>
            <a:r>
              <a:rPr sz="800" b="0">
                <a:solidFill>
                  <a:srgbClr val="1F3864"/>
                </a:solidFill>
              </a:rPr>
              <a:t>.</a:t>
            </a:r>
          </a:p>
        </p:txBody>
      </p:sp>
      <p:sp>
        <p:nvSpPr>
          <p:cNvPr id="15" name="Rectangle 14"/>
          <p:cNvSpPr/>
          <p:nvPr/>
        </p:nvSpPr>
        <p:spPr>
          <a:xfrm>
            <a:off x="0" y="3525012"/>
            <a:ext cx="3657600" cy="2382012"/>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3525012"/>
            <a:ext cx="3657600" cy="2382012"/>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525012"/>
            <a:ext cx="7315200" cy="23820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43884" y="3525012"/>
            <a:ext cx="27432" cy="23820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525012"/>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 y="3589020"/>
            <a:ext cx="3502152" cy="246888"/>
          </a:xfrm>
          <a:prstGeom prst="rect">
            <a:avLst/>
          </a:prstGeom>
          <a:noFill/>
        </p:spPr>
        <p:txBody>
          <a:bodyPr wrap="none">
            <a:spAutoFit/>
          </a:bodyPr>
          <a:lstStyle/>
          <a:p>
            <a:pPr>
              <a:defRPr b="1" sz="1050">
                <a:solidFill>
                  <a:srgbClr val="FFFFFF"/>
                </a:solidFill>
              </a:defRPr>
            </a:pPr>
            <a:r>
              <a:t>KEY ACHIEVEMENTS</a:t>
            </a:r>
          </a:p>
        </p:txBody>
      </p:sp>
      <p:sp>
        <p:nvSpPr>
          <p:cNvPr id="21" name="Rectangle 20"/>
          <p:cNvSpPr/>
          <p:nvPr/>
        </p:nvSpPr>
        <p:spPr>
          <a:xfrm>
            <a:off x="3657600" y="3525012"/>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3589020"/>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3" name="Rectangle 22"/>
          <p:cNvSpPr/>
          <p:nvPr/>
        </p:nvSpPr>
        <p:spPr>
          <a:xfrm>
            <a:off x="73152" y="3899916"/>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 y="3899916"/>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 y="3963924"/>
            <a:ext cx="3360420" cy="484632"/>
          </a:xfrm>
          <a:prstGeom prst="rect">
            <a:avLst/>
          </a:prstGeom>
          <a:noFill/>
        </p:spPr>
        <p:txBody>
          <a:bodyPr wrap="square">
            <a:spAutoFit/>
          </a:bodyPr>
          <a:lstStyle/>
          <a:p>
            <a:pPr>
              <a:spcBef>
                <a:spcPts val="200"/>
              </a:spcBef>
              <a:spcAft>
                <a:spcPts val="100"/>
              </a:spcAft>
            </a:pPr>
            <a:r>
              <a:rPr sz="800" b="1">
                <a:solidFill>
                  <a:srgbClr val="1A3A28"/>
                </a:solidFill>
              </a:rPr>
              <a:t>✓  Maintained a change success ratio of over </a:t>
            </a:r>
            <a:r>
              <a:rPr sz="800" b="1">
                <a:solidFill>
                  <a:srgbClr val="0A5030"/>
                </a:solidFill>
              </a:rPr>
              <a:t>99%</a:t>
            </a:r>
            <a:r>
              <a:rPr sz="800" b="0">
                <a:solidFill>
                  <a:srgbClr val="1A3A28"/>
                </a:solidFill>
              </a:rPr>
              <a:t> for the fourth consecutive week.</a:t>
            </a:r>
          </a:p>
        </p:txBody>
      </p:sp>
      <p:sp>
        <p:nvSpPr>
          <p:cNvPr id="26" name="Rectangle 25"/>
          <p:cNvSpPr/>
          <p:nvPr/>
        </p:nvSpPr>
        <p:spPr>
          <a:xfrm>
            <a:off x="73152" y="4558284"/>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 y="4558284"/>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 y="4622292"/>
            <a:ext cx="3360420" cy="484632"/>
          </a:xfrm>
          <a:prstGeom prst="rect">
            <a:avLst/>
          </a:prstGeom>
          <a:noFill/>
        </p:spPr>
        <p:txBody>
          <a:bodyPr wrap="square">
            <a:spAutoFit/>
          </a:bodyPr>
          <a:lstStyle/>
          <a:p>
            <a:pPr>
              <a:spcBef>
                <a:spcPts val="200"/>
              </a:spcBef>
              <a:spcAft>
                <a:spcPts val="100"/>
              </a:spcAft>
            </a:pPr>
            <a:r>
              <a:rPr sz="800" b="1">
                <a:solidFill>
                  <a:srgbClr val="1A3A28"/>
                </a:solidFill>
              </a:rPr>
              <a:t>✓  Handled emergency changes promptly, with two approved within an hour and another one in less than three hours as per standard protocols.</a:t>
            </a:r>
          </a:p>
        </p:txBody>
      </p:sp>
      <p:sp>
        <p:nvSpPr>
          <p:cNvPr id="29" name="Rectangle 28"/>
          <p:cNvSpPr/>
          <p:nvPr/>
        </p:nvSpPr>
        <p:spPr>
          <a:xfrm>
            <a:off x="73152" y="5216652"/>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 y="5216652"/>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6596" y="5280660"/>
            <a:ext cx="3360420" cy="484632"/>
          </a:xfrm>
          <a:prstGeom prst="rect">
            <a:avLst/>
          </a:prstGeom>
          <a:noFill/>
        </p:spPr>
        <p:txBody>
          <a:bodyPr wrap="square">
            <a:spAutoFit/>
          </a:bodyPr>
          <a:lstStyle/>
          <a:p>
            <a:pPr>
              <a:spcBef>
                <a:spcPts val="200"/>
              </a:spcBef>
              <a:spcAft>
                <a:spcPts val="100"/>
              </a:spcAft>
            </a:pPr>
            <a:r>
              <a:rPr sz="800" b="1">
                <a:solidFill>
                  <a:srgbClr val="1A3A28"/>
                </a:solidFill>
              </a:rPr>
              <a:t>✓  No major incidents or rollbacks occurred this week despite the rise in unauthorized change rate to </a:t>
            </a:r>
            <a:r>
              <a:rPr sz="800" b="1">
                <a:solidFill>
                  <a:srgbClr val="0A5030"/>
                </a:solidFill>
              </a:rPr>
              <a:t>0.6%</a:t>
            </a:r>
            <a:r>
              <a:rPr sz="800" b="0">
                <a:solidFill>
                  <a:srgbClr val="1A3A28"/>
                </a:solidFill>
              </a:rPr>
              <a:t>.</a:t>
            </a:r>
          </a:p>
        </p:txBody>
      </p:sp>
      <p:sp>
        <p:nvSpPr>
          <p:cNvPr id="32" name="Rectangle 31"/>
          <p:cNvSpPr/>
          <p:nvPr/>
        </p:nvSpPr>
        <p:spPr>
          <a:xfrm>
            <a:off x="3730752" y="3899916"/>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30752" y="3899916"/>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54196" y="3963924"/>
            <a:ext cx="3360420" cy="484632"/>
          </a:xfrm>
          <a:prstGeom prst="rect">
            <a:avLst/>
          </a:prstGeom>
          <a:noFill/>
        </p:spPr>
        <p:txBody>
          <a:bodyPr wrap="square">
            <a:spAutoFit/>
          </a:bodyPr>
          <a:lstStyle/>
          <a:p>
            <a:pPr>
              <a:spcBef>
                <a:spcPts val="200"/>
              </a:spcBef>
              <a:spcAft>
                <a:spcPts val="100"/>
              </a:spcAft>
            </a:pPr>
            <a:r>
              <a:rPr sz="800" b="1">
                <a:solidFill>
                  <a:srgbClr val="3A2810"/>
                </a:solidFill>
              </a:rPr>
              <a:t>→  Review and strengthen approval processes for changes, particularly focusing on reducing unauthorized changes which have increased slightly above target this week.</a:t>
            </a:r>
          </a:p>
        </p:txBody>
      </p:sp>
      <p:sp>
        <p:nvSpPr>
          <p:cNvPr id="35" name="Rectangle 34"/>
          <p:cNvSpPr/>
          <p:nvPr/>
        </p:nvSpPr>
        <p:spPr>
          <a:xfrm>
            <a:off x="3730752" y="4558284"/>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30752" y="4558284"/>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54196" y="4622292"/>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to refine emergency change protocols while ensuring that the number of such requests remains low as they are time-sensitive and potentially disruptive if not managed properly.</a:t>
            </a:r>
          </a:p>
        </p:txBody>
      </p:sp>
      <p:sp>
        <p:nvSpPr>
          <p:cNvPr id="38" name="Rectangle 37"/>
          <p:cNvSpPr/>
          <p:nvPr/>
        </p:nvSpPr>
        <p:spPr>
          <a:xfrm>
            <a:off x="3730752" y="5216652"/>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730752" y="5216652"/>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54196" y="5280660"/>
            <a:ext cx="3360420" cy="484632"/>
          </a:xfrm>
          <a:prstGeom prst="rect">
            <a:avLst/>
          </a:prstGeom>
          <a:noFill/>
        </p:spPr>
        <p:txBody>
          <a:bodyPr wrap="square">
            <a:spAutoFit/>
          </a:bodyPr>
          <a:lstStyle/>
          <a:p>
            <a:pPr>
              <a:spcBef>
                <a:spcPts val="200"/>
              </a:spcBef>
              <a:spcAft>
                <a:spcPts val="100"/>
              </a:spcAft>
            </a:pPr>
            <a:r>
              <a:rPr sz="800" b="1">
                <a:solidFill>
                  <a:srgbClr val="3A2810"/>
                </a:solidFill>
              </a:rPr>
              <a:t>→  Implement additional monitoring tools or procedures for detecting unauthorized changes early, aiming to bring this metric back below </a:t>
            </a:r>
            <a:r>
              <a:rPr sz="800" b="1">
                <a:solidFill>
                  <a:srgbClr val="8B4500"/>
                </a:solidFill>
              </a:rPr>
              <a:t>1%</a:t>
            </a:r>
            <a:r>
              <a:rPr sz="800" b="0">
                <a:solidFill>
                  <a:srgbClr val="3A2810"/>
                </a:solidFill>
              </a:rPr>
              <a:t> in future weeks.</a:t>
            </a:r>
          </a:p>
        </p:txBody>
      </p:sp>
      <p:graphicFrame>
        <p:nvGraphicFramePr>
          <p:cNvPr id="41" name="Table 40"/>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Changes</a:t>
                      </a:r>
                    </a:p>
                  </a:txBody>
                  <a:tcPr>
                    <a:solidFill>
                      <a:srgbClr val="FFFFFF"/>
                    </a:solidFill>
                  </a:tcPr>
                </a:tc>
                <a:tc>
                  <a:txBody>
                    <a:bodyPr wrap="square"/>
                    <a:lstStyle/>
                    <a:p>
                      <a:pPr>
                        <a:defRPr sz="550">
                          <a:solidFill>
                            <a:srgbClr val="333333"/>
                          </a:solidFill>
                        </a:defRPr>
                      </a:pPr>
                      <a:r>
                        <a:t>Total number of change requests raised in the period</a:t>
                      </a:r>
                    </a:p>
                  </a:txBody>
                  <a:tcPr>
                    <a:solidFill>
                      <a:srgbClr val="FFFFFF"/>
                    </a:solidFill>
                  </a:tcPr>
                </a:tc>
                <a:tc>
                  <a:txBody>
                    <a:bodyPr wrap="square"/>
                    <a:lstStyle/>
                    <a:p>
                      <a:pPr>
                        <a:defRPr sz="550">
                          <a:solidFill>
                            <a:srgbClr val="333333"/>
                          </a:solidFill>
                        </a:defRPr>
                      </a:pPr>
                      <a:r>
                        <a:t>Includes standard, normal and emergency change types</a:t>
                      </a:r>
                    </a:p>
                  </a:txBody>
                  <a:tcPr>
                    <a:solidFill>
                      <a:srgbClr val="FFFFFF"/>
                    </a:solidFill>
                  </a:tcPr>
                </a:tc>
              </a:tr>
              <a:tr h="182880">
                <a:tc>
                  <a:txBody>
                    <a:bodyPr wrap="square"/>
                    <a:lstStyle/>
                    <a:p>
                      <a:pPr>
                        <a:defRPr sz="550" b="1">
                          <a:solidFill>
                            <a:srgbClr val="1F3864"/>
                          </a:solidFill>
                        </a:defRPr>
                      </a:pPr>
                      <a:r>
                        <a:t>Emergency Changes</a:t>
                      </a:r>
                    </a:p>
                  </a:txBody>
                  <a:tcPr>
                    <a:solidFill>
                      <a:srgbClr val="E9F0F8"/>
                    </a:solidFill>
                  </a:tcPr>
                </a:tc>
                <a:tc>
                  <a:txBody>
                    <a:bodyPr wrap="square"/>
                    <a:lstStyle/>
                    <a:p>
                      <a:pPr>
                        <a:defRPr sz="550">
                          <a:solidFill>
                            <a:srgbClr val="333333"/>
                          </a:solidFill>
                        </a:defRPr>
                      </a:pPr>
                      <a:r>
                        <a:t>Number of emergency change requests raised</a:t>
                      </a:r>
                    </a:p>
                  </a:txBody>
                  <a:tcPr>
                    <a:solidFill>
                      <a:srgbClr val="E9F0F8"/>
                    </a:solidFill>
                  </a:tcPr>
                </a:tc>
                <a:tc>
                  <a:txBody>
                    <a:bodyPr wrap="square"/>
                    <a:lstStyle/>
                    <a:p>
                      <a:pPr>
                        <a:defRPr sz="550">
                          <a:solidFill>
                            <a:srgbClr val="333333"/>
                          </a:solidFill>
                        </a:defRPr>
                      </a:pPr>
                      <a:r>
                        <a:t>Changes bypassing standard CAB approval due to urgency</a:t>
                      </a:r>
                    </a:p>
                  </a:txBody>
                  <a:tcPr>
                    <a:solidFill>
                      <a:srgbClr val="E9F0F8"/>
                    </a:solidFill>
                  </a:tcPr>
                </a:tc>
              </a:tr>
              <a:tr h="182880">
                <a:tc>
                  <a:txBody>
                    <a:bodyPr wrap="square"/>
                    <a:lstStyle/>
                    <a:p>
                      <a:pPr>
                        <a:defRPr sz="550" b="1">
                          <a:solidFill>
                            <a:srgbClr val="1F3864"/>
                          </a:solidFill>
                        </a:defRPr>
                      </a:pPr>
                      <a:r>
                        <a:t>Change Success Ratio</a:t>
                      </a:r>
                    </a:p>
                  </a:txBody>
                  <a:tcPr>
                    <a:solidFill>
                      <a:srgbClr val="FFFFFF"/>
                    </a:solidFill>
                  </a:tcPr>
                </a:tc>
                <a:tc>
                  <a:txBody>
                    <a:bodyPr wrap="square"/>
                    <a:lstStyle/>
                    <a:p>
                      <a:pPr>
                        <a:defRPr sz="550">
                          <a:solidFill>
                            <a:srgbClr val="333333"/>
                          </a:solidFill>
                        </a:defRPr>
                      </a:pPr>
                      <a:r>
                        <a:t>Percentage of changes implemented successfully without incident</a:t>
                      </a:r>
                    </a:p>
                  </a:txBody>
                  <a:tcPr>
                    <a:solidFill>
                      <a:srgbClr val="FFFFFF"/>
                    </a:solidFill>
                  </a:tcPr>
                </a:tc>
                <a:tc>
                  <a:txBody>
                    <a:bodyPr wrap="square"/>
                    <a:lstStyle/>
                    <a:p>
                      <a:pPr>
                        <a:defRPr sz="550">
                          <a:solidFill>
                            <a:srgbClr val="333333"/>
                          </a:solidFill>
                        </a:defRPr>
                      </a:pPr>
                      <a:r>
                        <a:t>Change passes CAB, executes within planned window, no rollback</a:t>
                      </a:r>
                    </a:p>
                  </a:txBody>
                  <a:tcPr>
                    <a:solidFill>
                      <a:srgbClr val="FFFFFF"/>
                    </a:solidFill>
                  </a:tcPr>
                </a:tc>
              </a:tr>
              <a:tr h="182880">
                <a:tc>
                  <a:txBody>
                    <a:bodyPr wrap="square"/>
                    <a:lstStyle/>
                    <a:p>
                      <a:pPr>
                        <a:defRPr sz="550" b="1">
                          <a:solidFill>
                            <a:srgbClr val="1F3864"/>
                          </a:solidFill>
                        </a:defRPr>
                      </a:pPr>
                      <a:r>
                        <a:t>Change Causing MI</a:t>
                      </a:r>
                    </a:p>
                  </a:txBody>
                  <a:tcPr>
                    <a:solidFill>
                      <a:srgbClr val="E9F0F8"/>
                    </a:solidFill>
                  </a:tcPr>
                </a:tc>
                <a:tc>
                  <a:txBody>
                    <a:bodyPr wrap="square"/>
                    <a:lstStyle/>
                    <a:p>
                      <a:pPr>
                        <a:defRPr sz="550">
                          <a:solidFill>
                            <a:srgbClr val="333333"/>
                          </a:solidFill>
                        </a:defRPr>
                      </a:pPr>
                      <a:r>
                        <a:t>Percentage of changes that caused a Major Incident</a:t>
                      </a:r>
                    </a:p>
                  </a:txBody>
                  <a:tcPr>
                    <a:solidFill>
                      <a:srgbClr val="E9F0F8"/>
                    </a:solidFill>
                  </a:tcPr>
                </a:tc>
                <a:tc>
                  <a:txBody>
                    <a:bodyPr wrap="square"/>
                    <a:lstStyle/>
                    <a:p>
                      <a:pPr>
                        <a:defRPr sz="550">
                          <a:solidFill>
                            <a:srgbClr val="333333"/>
                          </a:solidFill>
                        </a:defRPr>
                      </a:pPr>
                      <a:r>
                        <a:t>Changes that directly triggered a P1 or P2 incident post-implementation</a:t>
                      </a:r>
                    </a:p>
                  </a:txBody>
                  <a:tcPr>
                    <a:solidFill>
                      <a:srgbClr val="E9F0F8"/>
                    </a:solidFill>
                  </a:tcPr>
                </a:tc>
              </a:tr>
            </a:tbl>
          </a:graphicData>
        </a:graphic>
      </p:graphicFrame>
      <p:graphicFrame>
        <p:nvGraphicFramePr>
          <p:cNvPr id="42" name="Table 41"/>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Changes</a:t>
                      </a:r>
                    </a:p>
                  </a:txBody>
                  <a:tcPr>
                    <a:solidFill>
                      <a:srgbClr val="CC0000"/>
                    </a:solidFill>
                  </a:tcPr>
                </a:tc>
                <a:tc>
                  <a:txBody>
                    <a:bodyPr wrap="square"/>
                    <a:lstStyle/>
                    <a:p>
                      <a:pPr algn="ctr">
                        <a:defRPr b="1" sz="550">
                          <a:solidFill>
                            <a:srgbClr val="FFFFFF"/>
                          </a:solidFill>
                        </a:defRPr>
                      </a:pPr>
                      <a:r>
                        <a:t>Emergency Changes</a:t>
                      </a:r>
                    </a:p>
                  </a:txBody>
                  <a:tcPr>
                    <a:solidFill>
                      <a:srgbClr val="CC0000"/>
                    </a:solidFill>
                  </a:tcPr>
                </a:tc>
                <a:tc>
                  <a:txBody>
                    <a:bodyPr wrap="square"/>
                    <a:lstStyle/>
                    <a:p>
                      <a:pPr algn="ctr">
                        <a:defRPr b="1" sz="550">
                          <a:solidFill>
                            <a:srgbClr val="FFFFFF"/>
                          </a:solidFill>
                        </a:defRPr>
                      </a:pPr>
                      <a:r>
                        <a:t>Change Success Ratio</a:t>
                      </a:r>
                    </a:p>
                  </a:txBody>
                  <a:tcPr>
                    <a:solidFill>
                      <a:srgbClr val="CC0000"/>
                    </a:solidFill>
                  </a:tcPr>
                </a:tc>
                <a:tc>
                  <a:txBody>
                    <a:bodyPr wrap="square"/>
                    <a:lstStyle/>
                    <a:p>
                      <a:pPr algn="ctr">
                        <a:defRPr b="1" sz="550">
                          <a:solidFill>
                            <a:srgbClr val="FFFFFF"/>
                          </a:solidFill>
                        </a:defRPr>
                      </a:pPr>
                      <a:r>
                        <a:t>Change Causing MI</a:t>
                      </a:r>
                    </a:p>
                  </a:txBody>
                  <a:tcPr>
                    <a:solidFill>
                      <a:srgbClr val="CC0000"/>
                    </a:solidFill>
                  </a:tcPr>
                </a:tc>
                <a:tc>
                  <a:txBody>
                    <a:bodyPr wrap="square"/>
                    <a:lstStyle/>
                    <a:p>
                      <a:pPr algn="ctr">
                        <a:defRPr b="1" sz="550">
                          <a:solidFill>
                            <a:srgbClr val="FFFFFF"/>
                          </a:solidFill>
                        </a:defRPr>
                      </a:pPr>
                      <a:r>
                        <a:t>Failed Change Ratio</a:t>
                      </a:r>
                    </a:p>
                  </a:txBody>
                  <a:tcPr>
                    <a:solidFill>
                      <a:srgbClr val="CC0000"/>
                    </a:solidFill>
                  </a:tcPr>
                </a:tc>
                <a:tc>
                  <a:txBody>
                    <a:bodyPr wrap="square"/>
                    <a:lstStyle/>
                    <a:p>
                      <a:pPr algn="ctr">
                        <a:defRPr b="1" sz="550">
                          <a:solidFill>
                            <a:srgbClr val="FFFFFF"/>
                          </a:solidFill>
                        </a:defRPr>
                      </a:pPr>
                      <a:r>
                        <a:t>Unauthorised Change rate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50</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0</a:t>
                      </a:r>
                    </a:p>
                  </a:txBody>
                  <a:tcPr>
                    <a:solidFill>
                      <a:srgbClr val="1A7348"/>
                    </a:solidFill>
                  </a:tcPr>
                </a:tc>
                <a:tc>
                  <a:txBody>
                    <a:bodyPr/>
                    <a:lstStyle/>
                    <a:p>
                      <a:pPr algn="ctr">
                        <a:defRPr sz="700" b="1">
                          <a:solidFill>
                            <a:srgbClr val="FFFFFF"/>
                          </a:solidFill>
                        </a:defRPr>
                      </a:pPr>
                      <a:r>
                        <a:t>0</a:t>
                      </a:r>
                    </a:p>
                  </a:txBody>
                  <a:tcPr>
                    <a:solidFill>
                      <a:srgbClr val="1A7348"/>
                    </a:solidFill>
                  </a:tcPr>
                </a:tc>
                <a:tc>
                  <a:txBody>
                    <a:bodyPr/>
                    <a:lstStyle/>
                    <a:p>
                      <a:pPr algn="ctr">
                        <a:defRPr sz="700" b="1">
                          <a:solidFill>
                            <a:srgbClr val="FFFFFF"/>
                          </a:solidFill>
                        </a:defRPr>
                      </a:pPr>
                      <a:r>
                        <a:t>1%</a:t>
                      </a:r>
                    </a:p>
                  </a:txBody>
                  <a:tcPr>
                    <a:solidFill>
                      <a:srgbClr val="1A7348"/>
                    </a:solidFill>
                  </a:tcPr>
                </a:tc>
              </a:tr>
            </a:tbl>
          </a:graphicData>
        </a:graphic>
      </p:graphicFrame>
      <p:graphicFrame>
        <p:nvGraphicFramePr>
          <p:cNvPr id="43" name="Chart 42"/>
          <p:cNvGraphicFramePr>
            <a:graphicFrameLocks noGrp="1"/>
          </p:cNvGraphicFramePr>
          <p:nvPr/>
        </p:nvGraphicFramePr>
        <p:xfrm>
          <a:off x="7452360" y="978408"/>
          <a:ext cx="4526280" cy="2423160"/>
        </p:xfrm>
        <a:graphic>
          <a:graphicData uri="http://schemas.openxmlformats.org/drawingml/2006/chart">
            <c:chart xmlns:c="http://schemas.openxmlformats.org/drawingml/2006/chart" r:id="rId4"/>
          </a:graphicData>
        </a:graphic>
      </p:graphicFrame>
      <p:graphicFrame>
        <p:nvGraphicFramePr>
          <p:cNvPr id="44" name="Chart 43"/>
          <p:cNvGraphicFramePr>
            <a:graphicFrameLocks noGrp="1"/>
          </p:cNvGraphicFramePr>
          <p:nvPr/>
        </p:nvGraphicFramePr>
        <p:xfrm>
          <a:off x="7452360" y="3474720"/>
          <a:ext cx="4526280" cy="2423160"/>
        </p:xfrm>
        <a:graphic>
          <a:graphicData uri="http://schemas.openxmlformats.org/drawingml/2006/chart">
            <c:chart xmlns:c="http://schemas.openxmlformats.org/drawingml/2006/chart" r:id="rId5"/>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Problem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≥95%</a:t>
            </a:r>
          </a:p>
          <a:p>
            <a:pPr>
              <a:spcBef>
                <a:spcPts val="0"/>
              </a:spcBef>
              <a:spcAft>
                <a:spcPts val="0"/>
              </a:spcAft>
            </a:pPr>
            <a:r>
              <a:rPr sz="650" b="1">
                <a:solidFill>
                  <a:srgbClr val="FFC000"/>
                </a:solidFill>
              </a:rPr>
              <a:t>■ Amber 90–94%</a:t>
            </a:r>
          </a:p>
          <a:p>
            <a:pPr>
              <a:spcBef>
                <a:spcPts val="0"/>
              </a:spcBef>
              <a:spcAft>
                <a:spcPts val="0"/>
              </a:spcAft>
            </a:pPr>
            <a:r>
              <a:rPr sz="650" b="1">
                <a:solidFill>
                  <a:srgbClr val="CC0000"/>
                </a:solidFill>
              </a:rPr>
              <a:t>■ Red  &lt;90%</a:t>
            </a:r>
          </a:p>
        </p:txBody>
      </p:sp>
      <p:sp>
        <p:nvSpPr>
          <p:cNvPr id="5" name="Rectangle 4"/>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7" name="Rectangle 6"/>
          <p:cNvSpPr/>
          <p:nvPr/>
        </p:nvSpPr>
        <p:spPr>
          <a:xfrm>
            <a:off x="0" y="978408"/>
            <a:ext cx="7315200" cy="100584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10" name="TextBox 9"/>
          <p:cNvSpPr txBox="1"/>
          <p:nvPr/>
        </p:nvSpPr>
        <p:spPr>
          <a:xfrm>
            <a:off x="128016" y="1316736"/>
            <a:ext cx="7059168" cy="640080"/>
          </a:xfrm>
          <a:prstGeom prst="rect">
            <a:avLst/>
          </a:prstGeom>
          <a:noFill/>
        </p:spPr>
        <p:txBody>
          <a:bodyPr wrap="square">
            <a:spAutoFit/>
          </a:bodyPr>
          <a:lstStyle/>
          <a:p>
            <a:pPr>
              <a:spcBef>
                <a:spcPts val="200"/>
              </a:spcBef>
              <a:spcAft>
                <a:spcPts val="100"/>
              </a:spcAft>
            </a:pPr>
            <a:r>
              <a:rPr sz="850" b="0">
                <a:solidFill>
                  <a:srgbClr val="3A3A3A"/>
                </a:solidFill>
              </a:rPr>
              <a:t>The Problem team has </a:t>
            </a:r>
            <a:r>
              <a:rPr sz="850" b="1">
                <a:solidFill>
                  <a:srgbClr val="1F3864"/>
                </a:solidFill>
              </a:rPr>
              <a:t>4</a:t>
            </a:r>
            <a:r>
              <a:rPr sz="850" b="0">
                <a:solidFill>
                  <a:srgbClr val="3A3A3A"/>
                </a:solidFill>
              </a:rPr>
              <a:t>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sp>
        <p:nvSpPr>
          <p:cNvPr id="11" name="Rectangle 10"/>
          <p:cNvSpPr/>
          <p:nvPr/>
        </p:nvSpPr>
        <p:spPr>
          <a:xfrm>
            <a:off x="0" y="2075688"/>
            <a:ext cx="7315200" cy="713231"/>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07568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 y="212140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4" name="TextBox 13"/>
          <p:cNvSpPr txBox="1"/>
          <p:nvPr/>
        </p:nvSpPr>
        <p:spPr>
          <a:xfrm>
            <a:off x="128016" y="2414016"/>
            <a:ext cx="7059168" cy="347471"/>
          </a:xfrm>
          <a:prstGeom prst="rect">
            <a:avLst/>
          </a:prstGeom>
          <a:noFill/>
        </p:spPr>
        <p:txBody>
          <a:bodyPr wrap="square">
            <a:spAutoFit/>
          </a:bodyPr>
          <a:lstStyle/>
          <a:p>
            <a:pPr>
              <a:spcBef>
                <a:spcPts val="200"/>
              </a:spcBef>
              <a:spcAft>
                <a:spcPts val="100"/>
              </a:spcAft>
            </a:pPr>
            <a:r>
              <a:rPr sz="800" b="1">
                <a:solidFill>
                  <a:srgbClr val="1F3864"/>
                </a:solidFill>
              </a:rPr>
              <a:t>▸  Problem data was processed successfully.</a:t>
            </a:r>
          </a:p>
          <a:p>
            <a:pPr>
              <a:spcBef>
                <a:spcPts val="200"/>
              </a:spcBef>
              <a:spcAft>
                <a:spcPts val="100"/>
              </a:spcAft>
            </a:pPr>
            <a:r>
              <a:rPr sz="800" b="1">
                <a:solidFill>
                  <a:srgbClr val="1F3864"/>
                </a:solidFill>
              </a:rPr>
              <a:t>▸  Automated KPI snapshot generated for this period.</a:t>
            </a:r>
          </a:p>
        </p:txBody>
      </p:sp>
      <p:sp>
        <p:nvSpPr>
          <p:cNvPr id="15" name="Rectangle 14"/>
          <p:cNvSpPr/>
          <p:nvPr/>
        </p:nvSpPr>
        <p:spPr>
          <a:xfrm>
            <a:off x="0" y="2880360"/>
            <a:ext cx="3657600" cy="3026664"/>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2880360"/>
            <a:ext cx="3657600" cy="3026664"/>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880360"/>
            <a:ext cx="7315200" cy="3026664"/>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43884" y="2880360"/>
            <a:ext cx="27432" cy="3026664"/>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880360"/>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 y="2944368"/>
            <a:ext cx="3502152" cy="246888"/>
          </a:xfrm>
          <a:prstGeom prst="rect">
            <a:avLst/>
          </a:prstGeom>
          <a:noFill/>
        </p:spPr>
        <p:txBody>
          <a:bodyPr wrap="none">
            <a:spAutoFit/>
          </a:bodyPr>
          <a:lstStyle/>
          <a:p>
            <a:pPr>
              <a:defRPr b="1" sz="1050">
                <a:solidFill>
                  <a:srgbClr val="FFFFFF"/>
                </a:solidFill>
              </a:defRPr>
            </a:pPr>
            <a:r>
              <a:t>KEY ACHIEVEMENTS</a:t>
            </a:r>
          </a:p>
        </p:txBody>
      </p:sp>
      <p:sp>
        <p:nvSpPr>
          <p:cNvPr id="21" name="Rectangle 20"/>
          <p:cNvSpPr/>
          <p:nvPr/>
        </p:nvSpPr>
        <p:spPr>
          <a:xfrm>
            <a:off x="3657600" y="2880360"/>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2944368"/>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3" name="Rectangle 22"/>
          <p:cNvSpPr/>
          <p:nvPr/>
        </p:nvSpPr>
        <p:spPr>
          <a:xfrm>
            <a:off x="73152" y="3255264"/>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 y="3255264"/>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 y="3319272"/>
            <a:ext cx="3360420" cy="484632"/>
          </a:xfrm>
          <a:prstGeom prst="rect">
            <a:avLst/>
          </a:prstGeom>
          <a:noFill/>
        </p:spPr>
        <p:txBody>
          <a:bodyPr wrap="square">
            <a:spAutoFit/>
          </a:bodyPr>
          <a:lstStyle/>
          <a:p>
            <a:pPr>
              <a:spcBef>
                <a:spcPts val="200"/>
              </a:spcBef>
              <a:spcAft>
                <a:spcPts val="100"/>
              </a:spcAft>
            </a:pPr>
            <a:r>
              <a:rPr sz="800" b="1">
                <a:solidFill>
                  <a:srgbClr val="1A3A28"/>
                </a:solidFill>
              </a:rPr>
              <a:t>✓  Problem data was processed successfully.</a:t>
            </a:r>
          </a:p>
        </p:txBody>
      </p:sp>
      <p:sp>
        <p:nvSpPr>
          <p:cNvPr id="26" name="Rectangle 25"/>
          <p:cNvSpPr/>
          <p:nvPr/>
        </p:nvSpPr>
        <p:spPr>
          <a:xfrm>
            <a:off x="73152" y="3913632"/>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 y="3913632"/>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 y="3977640"/>
            <a:ext cx="3360420" cy="484632"/>
          </a:xfrm>
          <a:prstGeom prst="rect">
            <a:avLst/>
          </a:prstGeom>
          <a:noFill/>
        </p:spPr>
        <p:txBody>
          <a:bodyPr wrap="square">
            <a:spAutoFit/>
          </a:bodyPr>
          <a:lstStyle/>
          <a:p>
            <a:pPr>
              <a:spcBef>
                <a:spcPts val="200"/>
              </a:spcBef>
              <a:spcAft>
                <a:spcPts val="100"/>
              </a:spcAft>
            </a:pPr>
            <a:r>
              <a:rPr sz="800" b="1">
                <a:solidFill>
                  <a:srgbClr val="1A3A28"/>
                </a:solidFill>
              </a:rPr>
              <a:t>✓  Automated KPI snapshot generated for this period.</a:t>
            </a:r>
          </a:p>
        </p:txBody>
      </p:sp>
      <p:sp>
        <p:nvSpPr>
          <p:cNvPr id="29" name="Rectangle 28"/>
          <p:cNvSpPr/>
          <p:nvPr/>
        </p:nvSpPr>
        <p:spPr>
          <a:xfrm>
            <a:off x="3730752" y="3255264"/>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30752" y="3255264"/>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54196" y="3319272"/>
            <a:ext cx="3360420" cy="484632"/>
          </a:xfrm>
          <a:prstGeom prst="rect">
            <a:avLst/>
          </a:prstGeom>
          <a:noFill/>
        </p:spPr>
        <p:txBody>
          <a:bodyPr wrap="square">
            <a:spAutoFit/>
          </a:bodyPr>
          <a:lstStyle/>
          <a:p>
            <a:pPr>
              <a:spcBef>
                <a:spcPts val="200"/>
              </a:spcBef>
              <a:spcAft>
                <a:spcPts val="100"/>
              </a:spcAft>
            </a:pPr>
            <a:r>
              <a:rPr sz="800" b="1">
                <a:solidFill>
                  <a:srgbClr val="3A2810"/>
                </a:solidFill>
              </a:rPr>
              <a:t>→  AI analysis unavailable. Rule-based summary was applied.</a:t>
            </a:r>
          </a:p>
        </p:txBody>
      </p:sp>
      <p:sp>
        <p:nvSpPr>
          <p:cNvPr id="32" name="Rectangle 31"/>
          <p:cNvSpPr/>
          <p:nvPr/>
        </p:nvSpPr>
        <p:spPr>
          <a:xfrm>
            <a:off x="3730752" y="3913632"/>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30752" y="3913632"/>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54196" y="3977640"/>
            <a:ext cx="3360420" cy="484632"/>
          </a:xfrm>
          <a:prstGeom prst="rect">
            <a:avLst/>
          </a:prstGeom>
          <a:noFill/>
        </p:spPr>
        <p:txBody>
          <a:bodyPr wrap="square">
            <a:spAutoFit/>
          </a:bodyPr>
          <a:lstStyle/>
          <a:p>
            <a:pPr>
              <a:spcBef>
                <a:spcPts val="200"/>
              </a:spcBef>
              <a:spcAft>
                <a:spcPts val="100"/>
              </a:spcAft>
            </a:pPr>
            <a:r>
              <a:rPr sz="800" b="1">
                <a:solidFill>
                  <a:srgbClr val="3A2810"/>
                </a:solidFill>
              </a:rPr>
              <a:t>→  Review low-performing KPIs and assign action owners.</a:t>
            </a:r>
          </a:p>
        </p:txBody>
      </p:sp>
      <p:graphicFrame>
        <p:nvGraphicFramePr>
          <p:cNvPr id="35" name="Table 34"/>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Open Problems</a:t>
                      </a:r>
                    </a:p>
                  </a:txBody>
                  <a:tcPr>
                    <a:solidFill>
                      <a:srgbClr val="FFFFFF"/>
                    </a:solidFill>
                  </a:tcPr>
                </a:tc>
                <a:tc>
                  <a:txBody>
                    <a:bodyPr wrap="square"/>
                    <a:lstStyle/>
                    <a:p>
                      <a:pPr>
                        <a:defRPr sz="550">
                          <a:solidFill>
                            <a:srgbClr val="333333"/>
                          </a:solidFill>
                        </a:defRPr>
                      </a:pPr>
                      <a:r>
                        <a:t>Total number of open problem records in ServiceNow</a:t>
                      </a:r>
                    </a:p>
                  </a:txBody>
                  <a:tcPr>
                    <a:solidFill>
                      <a:srgbClr val="FFFFFF"/>
                    </a:solidFill>
                  </a:tcPr>
                </a:tc>
                <a:tc>
                  <a:txBody>
                    <a:bodyPr wrap="square"/>
                    <a:lstStyle/>
                    <a:p>
                      <a:pPr>
                        <a:defRPr sz="550">
                          <a:solidFill>
                            <a:srgbClr val="333333"/>
                          </a:solidFill>
                        </a:defRPr>
                      </a:pPr>
                      <a:r>
                        <a:t>All active problem records regardless of priority or age</a:t>
                      </a:r>
                    </a:p>
                  </a:txBody>
                  <a:tcPr>
                    <a:solidFill>
                      <a:srgbClr val="FFFFFF"/>
                    </a:solidFill>
                  </a:tcPr>
                </a:tc>
              </a:tr>
              <a:tr h="182880">
                <a:tc>
                  <a:txBody>
                    <a:bodyPr wrap="square"/>
                    <a:lstStyle/>
                    <a:p>
                      <a:pPr>
                        <a:defRPr sz="550" b="1">
                          <a:solidFill>
                            <a:srgbClr val="1F3864"/>
                          </a:solidFill>
                        </a:defRPr>
                      </a:pPr>
                      <a:r>
                        <a:t>Problems Resolved</a:t>
                      </a:r>
                    </a:p>
                  </a:txBody>
                  <a:tcPr>
                    <a:solidFill>
                      <a:srgbClr val="E9F0F8"/>
                    </a:solidFill>
                  </a:tcPr>
                </a:tc>
                <a:tc>
                  <a:txBody>
                    <a:bodyPr wrap="square"/>
                    <a:lstStyle/>
                    <a:p>
                      <a:pPr>
                        <a:defRPr sz="550">
                          <a:solidFill>
                            <a:srgbClr val="333333"/>
                          </a:solidFill>
                        </a:defRPr>
                      </a:pPr>
                      <a:r>
                        <a:t>Number of problems closed during the reporting period</a:t>
                      </a:r>
                    </a:p>
                  </a:txBody>
                  <a:tcPr>
                    <a:solidFill>
                      <a:srgbClr val="E9F0F8"/>
                    </a:solidFill>
                  </a:tcPr>
                </a:tc>
                <a:tc>
                  <a:txBody>
                    <a:bodyPr wrap="square"/>
                    <a:lstStyle/>
                    <a:p>
                      <a:pPr>
                        <a:defRPr sz="550">
                          <a:solidFill>
                            <a:srgbClr val="333333"/>
                          </a:solidFill>
                        </a:defRPr>
                      </a:pPr>
                      <a:r>
                        <a:t>Problems moved to resolved or closed status this week</a:t>
                      </a:r>
                    </a:p>
                  </a:txBody>
                  <a:tcPr>
                    <a:solidFill>
                      <a:srgbClr val="E9F0F8"/>
                    </a:solidFill>
                  </a:tcPr>
                </a:tc>
              </a:tr>
              <a:tr h="182880">
                <a:tc>
                  <a:txBody>
                    <a:bodyPr wrap="square"/>
                    <a:lstStyle/>
                    <a:p>
                      <a:pPr>
                        <a:defRPr sz="550" b="1">
                          <a:solidFill>
                            <a:srgbClr val="1F3864"/>
                          </a:solidFill>
                        </a:defRPr>
                      </a:pPr>
                      <a:r>
                        <a:t>New Problems Raised</a:t>
                      </a:r>
                    </a:p>
                  </a:txBody>
                  <a:tcPr>
                    <a:solidFill>
                      <a:srgbClr val="FFFFFF"/>
                    </a:solidFill>
                  </a:tcPr>
                </a:tc>
                <a:tc>
                  <a:txBody>
                    <a:bodyPr wrap="square"/>
                    <a:lstStyle/>
                    <a:p>
                      <a:pPr>
                        <a:defRPr sz="550">
                          <a:solidFill>
                            <a:srgbClr val="333333"/>
                          </a:solidFill>
                        </a:defRPr>
                      </a:pPr>
                      <a:r>
                        <a:t>Number of new problem records opened this period</a:t>
                      </a:r>
                    </a:p>
                  </a:txBody>
                  <a:tcPr>
                    <a:solidFill>
                      <a:srgbClr val="FFFFFF"/>
                    </a:solidFill>
                  </a:tcPr>
                </a:tc>
                <a:tc>
                  <a:txBody>
                    <a:bodyPr wrap="square"/>
                    <a:lstStyle/>
                    <a:p>
                      <a:pPr>
                        <a:defRPr sz="550">
                          <a:solidFill>
                            <a:srgbClr val="333333"/>
                          </a:solidFill>
                        </a:defRPr>
                      </a:pPr>
                      <a:r>
                        <a:t>Problems raised from incident trends or proactive analysis</a:t>
                      </a:r>
                    </a:p>
                  </a:txBody>
                  <a:tcPr>
                    <a:solidFill>
                      <a:srgbClr val="FFFFFF"/>
                    </a:solidFill>
                  </a:tcPr>
                </a:tc>
              </a:tr>
              <a:tr h="182880">
                <a:tc>
                  <a:txBody>
                    <a:bodyPr wrap="square"/>
                    <a:lstStyle/>
                    <a:p>
                      <a:pPr>
                        <a:defRPr sz="550" b="1">
                          <a:solidFill>
                            <a:srgbClr val="1F3864"/>
                          </a:solidFill>
                        </a:defRPr>
                      </a:pPr>
                      <a:r>
                        <a:t>Avg Resolution Days</a:t>
                      </a:r>
                    </a:p>
                  </a:txBody>
                  <a:tcPr>
                    <a:solidFill>
                      <a:srgbClr val="E9F0F8"/>
                    </a:solidFill>
                  </a:tcPr>
                </a:tc>
                <a:tc>
                  <a:txBody>
                    <a:bodyPr wrap="square"/>
                    <a:lstStyle/>
                    <a:p>
                      <a:pPr>
                        <a:defRPr sz="550">
                          <a:solidFill>
                            <a:srgbClr val="333333"/>
                          </a:solidFill>
                        </a:defRPr>
                      </a:pPr>
                      <a:r>
                        <a:t>Average calendar days from problem creation to closure</a:t>
                      </a:r>
                    </a:p>
                  </a:txBody>
                  <a:tcPr>
                    <a:solidFill>
                      <a:srgbClr val="E9F0F8"/>
                    </a:solidFill>
                  </a:tcPr>
                </a:tc>
                <a:tc>
                  <a:txBody>
                    <a:bodyPr wrap="square"/>
                    <a:lstStyle/>
                    <a:p>
                      <a:pPr>
                        <a:defRPr sz="550">
                          <a:solidFill>
                            <a:srgbClr val="333333"/>
                          </a:solidFill>
                        </a:defRPr>
                      </a:pPr>
                      <a:r>
                        <a:t>Measured from problem record creation date to closure date</a:t>
                      </a:r>
                    </a:p>
                  </a:txBody>
                  <a:tcPr>
                    <a:solidFill>
                      <a:srgbClr val="E9F0F8"/>
                    </a:solidFill>
                  </a:tcPr>
                </a:tc>
              </a:tr>
            </a:tbl>
          </a:graphicData>
        </a:graphic>
      </p:graphicFrame>
      <p:graphicFrame>
        <p:nvGraphicFramePr>
          <p:cNvPr id="36" name="Table 35"/>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Open Problems</a:t>
                      </a:r>
                    </a:p>
                  </a:txBody>
                  <a:tcPr>
                    <a:solidFill>
                      <a:srgbClr val="CC0000"/>
                    </a:solidFill>
                  </a:tcPr>
                </a:tc>
                <a:tc>
                  <a:txBody>
                    <a:bodyPr wrap="square"/>
                    <a:lstStyle/>
                    <a:p>
                      <a:pPr algn="ctr">
                        <a:defRPr b="1" sz="550">
                          <a:solidFill>
                            <a:srgbClr val="FFFFFF"/>
                          </a:solidFill>
                        </a:defRPr>
                      </a:pPr>
                      <a:r>
                        <a:t>Problems Resolved</a:t>
                      </a:r>
                    </a:p>
                  </a:txBody>
                  <a:tcPr>
                    <a:solidFill>
                      <a:srgbClr val="CC0000"/>
                    </a:solidFill>
                  </a:tcPr>
                </a:tc>
                <a:tc>
                  <a:txBody>
                    <a:bodyPr wrap="square"/>
                    <a:lstStyle/>
                    <a:p>
                      <a:pPr algn="ctr">
                        <a:defRPr b="1" sz="550">
                          <a:solidFill>
                            <a:srgbClr val="FFFFFF"/>
                          </a:solidFill>
                        </a:defRPr>
                      </a:pPr>
                      <a:r>
                        <a:t>New Problems Raised</a:t>
                      </a:r>
                    </a:p>
                  </a:txBody>
                  <a:tcPr>
                    <a:solidFill>
                      <a:srgbClr val="CC0000"/>
                    </a:solidFill>
                  </a:tcPr>
                </a:tc>
                <a:tc>
                  <a:txBody>
                    <a:bodyPr wrap="square"/>
                    <a:lstStyle/>
                    <a:p>
                      <a:pPr algn="ctr">
                        <a:defRPr b="1" sz="550">
                          <a:solidFill>
                            <a:srgbClr val="FFFFFF"/>
                          </a:solidFill>
                        </a:defRPr>
                      </a:pPr>
                      <a:r>
                        <a:t>Avg Resolution Days</a:t>
                      </a:r>
                    </a:p>
                  </a:txBody>
                  <a:tcPr>
                    <a:solidFill>
                      <a:srgbClr val="CC0000"/>
                    </a:solidFill>
                  </a:tcPr>
                </a:tc>
                <a:tc>
                  <a:txBody>
                    <a:bodyPr wrap="square"/>
                    <a:lstStyle/>
                    <a:p>
                      <a:pPr algn="ctr">
                        <a:defRPr b="1" sz="550">
                          <a:solidFill>
                            <a:srgbClr val="FFFFFF"/>
                          </a:solidFill>
                        </a:defRPr>
                      </a:pPr>
                      <a:r>
                        <a:t>Recurring Issues</a:t>
                      </a:r>
                    </a:p>
                  </a:txBody>
                  <a:tcPr>
                    <a:solidFill>
                      <a:srgbClr val="CC0000"/>
                    </a:solidFill>
                  </a:tcPr>
                </a:tc>
                <a:tc>
                  <a:txBody>
                    <a:bodyPr wrap="square"/>
                    <a:lstStyle/>
                    <a:p>
                      <a:pPr algn="ctr">
                        <a:defRPr b="1" sz="550">
                          <a:solidFill>
                            <a:srgbClr val="FFFFFF"/>
                          </a:solidFill>
                        </a:defRPr>
                      </a:pPr>
                      <a:r>
                        <a:t>Problems Aged &gt;30 days</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11</a:t>
                      </a:r>
                    </a:p>
                  </a:txBody>
                  <a:tcPr>
                    <a:solidFill>
                      <a:srgbClr val="F5F5F5"/>
                    </a:solidFill>
                  </a:tcPr>
                </a:tc>
                <a:tc>
                  <a:txBody>
                    <a:bodyPr/>
                    <a:lstStyle/>
                    <a:p>
                      <a:pPr algn="ctr">
                        <a:defRPr sz="700" b="1">
                          <a:solidFill>
                            <a:srgbClr val="333333"/>
                          </a:solidFill>
                        </a:defRPr>
                      </a:pPr>
                      <a:r>
                        <a:t>8</a:t>
                      </a:r>
                    </a:p>
                  </a:txBody>
                  <a:tcPr>
                    <a:solidFill>
                      <a:srgbClr val="F5F5F5"/>
                    </a:solidFill>
                  </a:tcPr>
                </a:tc>
                <a:tc>
                  <a:txBody>
                    <a:bodyPr/>
                    <a:lstStyle/>
                    <a:p>
                      <a:pPr algn="ctr">
                        <a:defRPr sz="700" b="1">
                          <a:solidFill>
                            <a:srgbClr val="333333"/>
                          </a:solidFill>
                        </a:defRPr>
                      </a:pPr>
                      <a:r>
                        <a:t>3</a:t>
                      </a:r>
                    </a:p>
                  </a:txBody>
                  <a:tcPr>
                    <a:solidFill>
                      <a:srgbClr val="F5F5F5"/>
                    </a:solidFill>
                  </a:tcPr>
                </a:tc>
                <a:tc>
                  <a:txBody>
                    <a:bodyPr/>
                    <a:lstStyle/>
                    <a:p>
                      <a:pPr algn="ctr">
                        <a:defRPr sz="700" b="1">
                          <a:solidFill>
                            <a:srgbClr val="FFFFFF"/>
                          </a:solidFill>
                        </a:defRPr>
                      </a:pPr>
                      <a:r>
                        <a:t>4.2</a:t>
                      </a:r>
                    </a:p>
                  </a:txBody>
                  <a:tcPr>
                    <a:solidFill>
                      <a:srgbClr val="1A7348"/>
                    </a:solidFill>
                  </a:tcPr>
                </a:tc>
                <a:tc>
                  <a:txBody>
                    <a:bodyPr/>
                    <a:lstStyle/>
                    <a:p>
                      <a:pPr algn="ctr">
                        <a:defRPr sz="700" b="1">
                          <a:solidFill>
                            <a:srgbClr val="FFFFFF"/>
                          </a:solidFill>
                        </a:defRPr>
                      </a:pPr>
                      <a:r>
                        <a:t>2</a:t>
                      </a:r>
                    </a:p>
                  </a:txBody>
                  <a:tcPr>
                    <a:solidFill>
                      <a:srgbClr val="1A7348"/>
                    </a:solidFill>
                  </a:tcPr>
                </a:tc>
                <a:tc>
                  <a:txBody>
                    <a:bodyPr/>
                    <a:lstStyle/>
                    <a:p>
                      <a:pPr algn="ctr">
                        <a:defRPr sz="700" b="1">
                          <a:solidFill>
                            <a:srgbClr val="FFFFFF"/>
                          </a:solidFill>
                        </a:defRPr>
                      </a:pPr>
                      <a:r>
                        <a:t>2</a:t>
                      </a:r>
                    </a:p>
                  </a:txBody>
                  <a:tcPr>
                    <a:solidFill>
                      <a:srgbClr val="1A7348"/>
                    </a:solidFill>
                  </a:tcPr>
                </a:tc>
              </a:tr>
            </a:tbl>
          </a:graphicData>
        </a:graphic>
      </p:graphicFrame>
      <p:graphicFrame>
        <p:nvGraphicFramePr>
          <p:cNvPr id="37" name="Chart 36"/>
          <p:cNvGraphicFramePr>
            <a:graphicFrameLocks noGrp="1"/>
          </p:cNvGraphicFramePr>
          <p:nvPr/>
        </p:nvGraphicFramePr>
        <p:xfrm>
          <a:off x="7452360" y="2208276"/>
          <a:ext cx="4526280" cy="245973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CMDB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≥95%</a:t>
            </a:r>
          </a:p>
          <a:p>
            <a:pPr>
              <a:spcBef>
                <a:spcPts val="0"/>
              </a:spcBef>
              <a:spcAft>
                <a:spcPts val="0"/>
              </a:spcAft>
            </a:pPr>
            <a:r>
              <a:rPr sz="650" b="1">
                <a:solidFill>
                  <a:srgbClr val="FFC000"/>
                </a:solidFill>
              </a:rPr>
              <a:t>■ Amber 90–94%</a:t>
            </a:r>
          </a:p>
          <a:p>
            <a:pPr>
              <a:spcBef>
                <a:spcPts val="0"/>
              </a:spcBef>
              <a:spcAft>
                <a:spcPts val="0"/>
              </a:spcAft>
            </a:pPr>
            <a:r>
              <a:rPr sz="650" b="1">
                <a:solidFill>
                  <a:srgbClr val="CC0000"/>
                </a:solidFill>
              </a:rPr>
              <a:t>■ Red  &lt;90%</a:t>
            </a:r>
          </a:p>
        </p:txBody>
      </p:sp>
      <p:sp>
        <p:nvSpPr>
          <p:cNvPr id="5" name="Rectangle 4"/>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graphicFrame>
        <p:nvGraphicFramePr>
          <p:cNvPr id="7" name="Table 6"/>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CIs</a:t>
                      </a:r>
                    </a:p>
                  </a:txBody>
                  <a:tcPr>
                    <a:solidFill>
                      <a:srgbClr val="CC0000"/>
                    </a:solidFill>
                  </a:tcPr>
                </a:tc>
                <a:tc>
                  <a:txBody>
                    <a:bodyPr wrap="square"/>
                    <a:lstStyle/>
                    <a:p>
                      <a:pPr algn="ctr">
                        <a:defRPr b="1" sz="550">
                          <a:solidFill>
                            <a:srgbClr val="FFFFFF"/>
                          </a:solidFill>
                        </a:defRPr>
                      </a:pPr>
                      <a:r>
                        <a:t>CIs Verified This Week</a:t>
                      </a:r>
                    </a:p>
                  </a:txBody>
                  <a:tcPr>
                    <a:solidFill>
                      <a:srgbClr val="CC0000"/>
                    </a:solidFill>
                  </a:tcPr>
                </a:tc>
                <a:tc>
                  <a:txBody>
                    <a:bodyPr wrap="square"/>
                    <a:lstStyle/>
                    <a:p>
                      <a:pPr algn="ctr">
                        <a:defRPr b="1" sz="550">
                          <a:solidFill>
                            <a:srgbClr val="FFFFFF"/>
                          </a:solidFill>
                        </a:defRPr>
                      </a:pPr>
                      <a:r>
                        <a:t>CI Accuracy</a:t>
                      </a:r>
                    </a:p>
                  </a:txBody>
                  <a:tcPr>
                    <a:solidFill>
                      <a:srgbClr val="CC0000"/>
                    </a:solidFill>
                  </a:tcPr>
                </a:tc>
                <a:tc>
                  <a:txBody>
                    <a:bodyPr wrap="square"/>
                    <a:lstStyle/>
                    <a:p>
                      <a:pPr algn="ctr">
                        <a:defRPr b="1" sz="550">
                          <a:solidFill>
                            <a:srgbClr val="FFFFFF"/>
                          </a:solidFill>
                        </a:defRPr>
                      </a:pPr>
                      <a:r>
                        <a:t>Orphan CIs</a:t>
                      </a:r>
                    </a:p>
                  </a:txBody>
                  <a:tcPr>
                    <a:solidFill>
                      <a:srgbClr val="CC0000"/>
                    </a:solidFill>
                  </a:tcPr>
                </a:tc>
                <a:tc>
                  <a:txBody>
                    <a:bodyPr wrap="square"/>
                    <a:lstStyle/>
                    <a:p>
                      <a:pPr algn="ctr">
                        <a:defRPr b="1" sz="550">
                          <a:solidFill>
                            <a:srgbClr val="FFFFFF"/>
                          </a:solidFill>
                        </a:defRPr>
                      </a:pPr>
                      <a:r>
                        <a:t>Stale Records</a:t>
                      </a:r>
                    </a:p>
                  </a:txBody>
                  <a:tcPr>
                    <a:solidFill>
                      <a:srgbClr val="CC0000"/>
                    </a:solidFill>
                  </a:tcPr>
                </a:tc>
                <a:tc>
                  <a:txBody>
                    <a:bodyPr wrap="square"/>
                    <a:lstStyle/>
                    <a:p>
                      <a:pPr algn="ctr">
                        <a:defRPr b="1" sz="550">
                          <a:solidFill>
                            <a:srgbClr val="FFFFFF"/>
                          </a:solidFill>
                        </a:defRPr>
                      </a:pPr>
                      <a:r>
                        <a:t>Audit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12524</a:t>
                      </a:r>
                    </a:p>
                  </a:txBody>
                  <a:tcPr>
                    <a:solidFill>
                      <a:srgbClr val="F5F5F5"/>
                    </a:solidFill>
                  </a:tcPr>
                </a:tc>
                <a:tc>
                  <a:txBody>
                    <a:bodyPr/>
                    <a:lstStyle/>
                    <a:p>
                      <a:pPr algn="ctr">
                        <a:defRPr sz="700" b="1">
                          <a:solidFill>
                            <a:srgbClr val="333333"/>
                          </a:solidFill>
                        </a:defRPr>
                      </a:pPr>
                      <a:r>
                        <a:t>141</a:t>
                      </a:r>
                    </a:p>
                  </a:txBody>
                  <a:tcPr>
                    <a:solidFill>
                      <a:srgbClr val="F5F5F5"/>
                    </a:solidFill>
                  </a:tcPr>
                </a:tc>
                <a:tc>
                  <a:txBody>
                    <a:bodyPr/>
                    <a:lstStyle/>
                    <a:p>
                      <a:pPr algn="ctr">
                        <a:defRPr sz="700" b="1">
                          <a:solidFill>
                            <a:srgbClr val="FFFFFF"/>
                          </a:solidFill>
                        </a:defRPr>
                      </a:pPr>
                      <a:r>
                        <a:t>98%</a:t>
                      </a:r>
                    </a:p>
                  </a:txBody>
                  <a:tcPr>
                    <a:solidFill>
                      <a:srgbClr val="1A7348"/>
                    </a:solidFill>
                  </a:tcPr>
                </a:tc>
                <a:tc>
                  <a:txBody>
                    <a:bodyPr/>
                    <a:lstStyle/>
                    <a:p>
                      <a:pPr algn="ctr">
                        <a:defRPr sz="700" b="1">
                          <a:solidFill>
                            <a:srgbClr val="FFFFFF"/>
                          </a:solidFill>
                        </a:defRPr>
                      </a:pPr>
                      <a:r>
                        <a:t>7</a:t>
                      </a:r>
                    </a:p>
                  </a:txBody>
                  <a:tcPr>
                    <a:solidFill>
                      <a:srgbClr val="1A7348"/>
                    </a:solidFill>
                  </a:tcPr>
                </a:tc>
                <a:tc>
                  <a:txBody>
                    <a:bodyPr/>
                    <a:lstStyle/>
                    <a:p>
                      <a:pPr algn="ctr">
                        <a:defRPr sz="700" b="1">
                          <a:solidFill>
                            <a:srgbClr val="FFFFFF"/>
                          </a:solidFill>
                        </a:defRPr>
                      </a:pPr>
                      <a:r>
                        <a:t>12</a:t>
                      </a:r>
                    </a:p>
                  </a:txBody>
                  <a:tcPr>
                    <a:solidFill>
                      <a:srgbClr val="1A7348"/>
                    </a:solidFill>
                  </a:tcPr>
                </a:tc>
                <a:tc>
                  <a:txBody>
                    <a:bodyPr/>
                    <a:lstStyle/>
                    <a:p>
                      <a:pPr algn="ctr">
                        <a:defRPr sz="700" b="1">
                          <a:solidFill>
                            <a:srgbClr val="FFFFFF"/>
                          </a:solidFill>
                        </a:defRPr>
                      </a:pPr>
                      <a:r>
                        <a:t>99%</a:t>
                      </a:r>
                    </a:p>
                  </a:txBody>
                  <a:tcPr>
                    <a:solidFill>
                      <a:srgbClr val="1A7348"/>
                    </a:solidFill>
                  </a:tcPr>
                </a:tc>
              </a:tr>
            </a:tbl>
          </a:graphicData>
        </a:graphic>
      </p:graphicFrame>
      <p:sp>
        <p:nvSpPr>
          <p:cNvPr id="8" name="Rectangle 7"/>
          <p:cNvSpPr/>
          <p:nvPr/>
        </p:nvSpPr>
        <p:spPr>
          <a:xfrm>
            <a:off x="0" y="978408"/>
            <a:ext cx="4062984" cy="3017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 y="1042416"/>
            <a:ext cx="3925823" cy="210312"/>
          </a:xfrm>
          <a:prstGeom prst="rect">
            <a:avLst/>
          </a:prstGeom>
          <a:noFill/>
        </p:spPr>
        <p:txBody>
          <a:bodyPr wrap="none">
            <a:spAutoFit/>
          </a:bodyPr>
          <a:lstStyle/>
          <a:p>
            <a:pPr>
              <a:defRPr b="1" sz="1200">
                <a:solidFill>
                  <a:srgbClr val="FFFFFF"/>
                </a:solidFill>
              </a:defRPr>
            </a:pPr>
            <a:r>
              <a:t>CMDB</a:t>
            </a:r>
          </a:p>
        </p:txBody>
      </p:sp>
      <p:sp>
        <p:nvSpPr>
          <p:cNvPr id="10" name="Rectangle 9"/>
          <p:cNvSpPr/>
          <p:nvPr/>
        </p:nvSpPr>
        <p:spPr>
          <a:xfrm>
            <a:off x="0" y="1280160"/>
            <a:ext cx="4062984" cy="1322832"/>
          </a:xfrm>
          <a:prstGeom prst="rect">
            <a:avLst/>
          </a:prstGeom>
          <a:solidFill>
            <a:srgbClr val="EDFB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280160"/>
            <a:ext cx="4062984" cy="246888"/>
          </a:xfrm>
          <a:prstGeom prst="rect">
            <a:avLst/>
          </a:prstGeom>
          <a:solidFill>
            <a:srgbClr val="2E4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 y="1325880"/>
            <a:ext cx="3925823" cy="182880"/>
          </a:xfrm>
          <a:prstGeom prst="rect">
            <a:avLst/>
          </a:prstGeom>
          <a:noFill/>
        </p:spPr>
        <p:txBody>
          <a:bodyPr wrap="none">
            <a:spAutoFit/>
          </a:bodyPr>
          <a:lstStyle/>
          <a:p>
            <a:pPr>
              <a:defRPr b="1" sz="850">
                <a:solidFill>
                  <a:srgbClr val="FFFFFF"/>
                </a:solidFill>
              </a:defRPr>
            </a:pPr>
            <a:r>
              <a:t>ACHIEVEMENTS</a:t>
            </a:r>
          </a:p>
        </p:txBody>
      </p:sp>
      <p:sp>
        <p:nvSpPr>
          <p:cNvPr id="13" name="TextBox 12"/>
          <p:cNvSpPr txBox="1"/>
          <p:nvPr/>
        </p:nvSpPr>
        <p:spPr>
          <a:xfrm>
            <a:off x="109728" y="1591056"/>
            <a:ext cx="3861816" cy="984503"/>
          </a:xfrm>
          <a:prstGeom prst="rect">
            <a:avLst/>
          </a:prstGeom>
          <a:noFill/>
        </p:spPr>
        <p:txBody>
          <a:bodyPr wrap="square">
            <a:spAutoFit/>
          </a:bodyPr>
          <a:lstStyle/>
          <a:p>
            <a:pPr>
              <a:spcBef>
                <a:spcPts val="200"/>
              </a:spcBef>
              <a:spcAft>
                <a:spcPts val="100"/>
              </a:spcAft>
            </a:pPr>
            <a:r>
              <a:rPr sz="750" b="1">
                <a:solidFill>
                  <a:srgbClr val="222222"/>
                </a:solidFill>
              </a:rPr>
              <a:t>▸  Quarterly CMDB audit passed with </a:t>
            </a:r>
            <a:r>
              <a:rPr sz="750" b="1">
                <a:solidFill>
                  <a:srgbClr val="1F3864"/>
                </a:solidFill>
              </a:rPr>
              <a:t>97.7%</a:t>
            </a:r>
            <a:r>
              <a:rPr sz="750" b="0">
                <a:solidFill>
                  <a:srgbClr val="222222"/>
                </a:solidFill>
              </a:rPr>
              <a:t> accuracy</a:t>
            </a:r>
          </a:p>
          <a:p>
            <a:pPr>
              <a:spcBef>
                <a:spcPts val="200"/>
              </a:spcBef>
              <a:spcAft>
                <a:spcPts val="100"/>
              </a:spcAft>
            </a:pPr>
            <a:r>
              <a:rPr sz="750" b="1">
                <a:solidFill>
                  <a:srgbClr val="222222"/>
                </a:solidFill>
              </a:rPr>
              <a:t>▸  </a:t>
            </a:r>
            <a:r>
              <a:rPr sz="750" b="1">
                <a:solidFill>
                  <a:srgbClr val="1F3864"/>
                </a:solidFill>
              </a:rPr>
              <a:t>7</a:t>
            </a:r>
            <a:r>
              <a:rPr sz="750" b="0">
                <a:solidFill>
                  <a:srgbClr val="222222"/>
                </a:solidFill>
              </a:rPr>
              <a:t> orphan CIs resolved this week</a:t>
            </a:r>
          </a:p>
          <a:p>
            <a:pPr>
              <a:spcBef>
                <a:spcPts val="200"/>
              </a:spcBef>
              <a:spcAft>
                <a:spcPts val="100"/>
              </a:spcAft>
            </a:pPr>
            <a:r>
              <a:rPr sz="750" b="1">
                <a:solidFill>
                  <a:srgbClr val="222222"/>
                </a:solidFill>
              </a:rPr>
              <a:t>▸  Azure VM CI class successfully onboarded</a:t>
            </a:r>
          </a:p>
        </p:txBody>
      </p:sp>
      <p:sp>
        <p:nvSpPr>
          <p:cNvPr id="14" name="Rectangle 13"/>
          <p:cNvSpPr/>
          <p:nvPr/>
        </p:nvSpPr>
        <p:spPr>
          <a:xfrm>
            <a:off x="0" y="2602992"/>
            <a:ext cx="4062984" cy="1322832"/>
          </a:xfrm>
          <a:prstGeom prst="rect">
            <a:avLst/>
          </a:prstGeom>
          <a:solidFill>
            <a:srgbClr val="FF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602992"/>
            <a:ext cx="4062984" cy="246888"/>
          </a:xfrm>
          <a:prstGeom prst="rect">
            <a:avLst/>
          </a:prstGeom>
          <a:solidFill>
            <a:srgbClr val="2E4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 y="2648712"/>
            <a:ext cx="3925823" cy="182880"/>
          </a:xfrm>
          <a:prstGeom prst="rect">
            <a:avLst/>
          </a:prstGeom>
          <a:noFill/>
        </p:spPr>
        <p:txBody>
          <a:bodyPr wrap="none">
            <a:spAutoFit/>
          </a:bodyPr>
          <a:lstStyle/>
          <a:p>
            <a:pPr>
              <a:defRPr b="1" sz="850">
                <a:solidFill>
                  <a:srgbClr val="FFFFFF"/>
                </a:solidFill>
              </a:defRPr>
            </a:pPr>
            <a:r>
              <a:t>CONCERNS</a:t>
            </a:r>
          </a:p>
        </p:txBody>
      </p:sp>
      <p:sp>
        <p:nvSpPr>
          <p:cNvPr id="17" name="TextBox 16"/>
          <p:cNvSpPr txBox="1"/>
          <p:nvPr/>
        </p:nvSpPr>
        <p:spPr>
          <a:xfrm>
            <a:off x="109728" y="2913888"/>
            <a:ext cx="3861816" cy="984503"/>
          </a:xfrm>
          <a:prstGeom prst="rect">
            <a:avLst/>
          </a:prstGeom>
          <a:noFill/>
        </p:spPr>
        <p:txBody>
          <a:bodyPr wrap="square">
            <a:spAutoFit/>
          </a:bodyPr>
          <a:lstStyle/>
          <a:p>
            <a:pPr>
              <a:spcBef>
                <a:spcPts val="200"/>
              </a:spcBef>
              <a:spcAft>
                <a:spcPts val="100"/>
              </a:spcAft>
            </a:pPr>
            <a:r>
              <a:rPr sz="750" b="1">
                <a:solidFill>
                  <a:srgbClr val="222222"/>
                </a:solidFill>
              </a:rPr>
              <a:t>▸  </a:t>
            </a:r>
            <a:r>
              <a:rPr sz="750" b="1">
                <a:solidFill>
                  <a:srgbClr val="1F3864"/>
                </a:solidFill>
              </a:rPr>
              <a:t>15</a:t>
            </a:r>
            <a:r>
              <a:rPr sz="750" b="0">
                <a:solidFill>
                  <a:srgbClr val="222222"/>
                </a:solidFill>
              </a:rPr>
              <a:t> stale records still pending owner review</a:t>
            </a:r>
          </a:p>
          <a:p>
            <a:pPr>
              <a:spcBef>
                <a:spcPts val="200"/>
              </a:spcBef>
              <a:spcAft>
                <a:spcPts val="100"/>
              </a:spcAft>
            </a:pPr>
            <a:r>
              <a:rPr sz="750" b="1">
                <a:solidFill>
                  <a:srgbClr val="222222"/>
                </a:solidFill>
              </a:rPr>
              <a:t>▸  CI reconciliation delayed for </a:t>
            </a:r>
            <a:r>
              <a:rPr sz="750" b="1">
                <a:solidFill>
                  <a:srgbClr val="1F3864"/>
                </a:solidFill>
              </a:rPr>
              <a:t>2</a:t>
            </a:r>
            <a:r>
              <a:rPr sz="750" b="0">
                <a:solidFill>
                  <a:srgbClr val="222222"/>
                </a:solidFill>
              </a:rPr>
              <a:t> business services</a:t>
            </a:r>
          </a:p>
        </p:txBody>
      </p:sp>
      <p:sp>
        <p:nvSpPr>
          <p:cNvPr id="18" name="Rectangle 17"/>
          <p:cNvSpPr/>
          <p:nvPr/>
        </p:nvSpPr>
        <p:spPr>
          <a:xfrm>
            <a:off x="0" y="3925823"/>
            <a:ext cx="4062984" cy="1322832"/>
          </a:xfrm>
          <a:prstGeom prst="rect">
            <a:avLst/>
          </a:prstGeom>
          <a:solidFill>
            <a:srgbClr val="F0F5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925823"/>
            <a:ext cx="4062984" cy="246888"/>
          </a:xfrm>
          <a:prstGeom prst="rect">
            <a:avLst/>
          </a:prstGeom>
          <a:solidFill>
            <a:srgbClr val="2E4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 y="3971543"/>
            <a:ext cx="3925823" cy="182880"/>
          </a:xfrm>
          <a:prstGeom prst="rect">
            <a:avLst/>
          </a:prstGeom>
          <a:noFill/>
        </p:spPr>
        <p:txBody>
          <a:bodyPr wrap="none">
            <a:spAutoFit/>
          </a:bodyPr>
          <a:lstStyle/>
          <a:p>
            <a:pPr>
              <a:defRPr b="1" sz="850">
                <a:solidFill>
                  <a:srgbClr val="FFFFFF"/>
                </a:solidFill>
              </a:defRPr>
            </a:pPr>
            <a:r>
              <a:t>NEXT WEEK FOCUS</a:t>
            </a:r>
          </a:p>
        </p:txBody>
      </p:sp>
      <p:sp>
        <p:nvSpPr>
          <p:cNvPr id="21" name="TextBox 20"/>
          <p:cNvSpPr txBox="1"/>
          <p:nvPr/>
        </p:nvSpPr>
        <p:spPr>
          <a:xfrm>
            <a:off x="109728" y="4236720"/>
            <a:ext cx="3861816" cy="984503"/>
          </a:xfrm>
          <a:prstGeom prst="rect">
            <a:avLst/>
          </a:prstGeom>
          <a:noFill/>
        </p:spPr>
        <p:txBody>
          <a:bodyPr wrap="square">
            <a:spAutoFit/>
          </a:bodyPr>
          <a:lstStyle/>
          <a:p>
            <a:pPr>
              <a:spcBef>
                <a:spcPts val="200"/>
              </a:spcBef>
              <a:spcAft>
                <a:spcPts val="100"/>
              </a:spcAft>
            </a:pPr>
            <a:r>
              <a:rPr sz="750" b="1">
                <a:solidFill>
                  <a:srgbClr val="222222"/>
                </a:solidFill>
              </a:rPr>
              <a:t>▸  Complete Azure VM reconciliation</a:t>
            </a:r>
          </a:p>
          <a:p>
            <a:pPr>
              <a:spcBef>
                <a:spcPts val="200"/>
              </a:spcBef>
              <a:spcAft>
                <a:spcPts val="100"/>
              </a:spcAft>
            </a:pPr>
            <a:r>
              <a:rPr sz="750" b="1">
                <a:solidFill>
                  <a:srgbClr val="222222"/>
                </a:solidFill>
              </a:rPr>
              <a:t>▸  Onboard Network team CI class to CMDB</a:t>
            </a:r>
          </a:p>
        </p:txBody>
      </p:sp>
      <p:sp>
        <p:nvSpPr>
          <p:cNvPr id="22" name="Rectangle 21"/>
          <p:cNvSpPr/>
          <p:nvPr/>
        </p:nvSpPr>
        <p:spPr>
          <a:xfrm>
            <a:off x="4062984" y="978408"/>
            <a:ext cx="4062984" cy="301752"/>
          </a:xfrm>
          <a:prstGeom prst="rect">
            <a:avLst/>
          </a:prstGeom>
          <a:solidFill>
            <a:srgbClr val="0F6E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72712" y="1042416"/>
            <a:ext cx="3925823" cy="210312"/>
          </a:xfrm>
          <a:prstGeom prst="rect">
            <a:avLst/>
          </a:prstGeom>
          <a:noFill/>
        </p:spPr>
        <p:txBody>
          <a:bodyPr wrap="none">
            <a:spAutoFit/>
          </a:bodyPr>
          <a:lstStyle/>
          <a:p>
            <a:pPr>
              <a:defRPr b="1" sz="1200">
                <a:solidFill>
                  <a:srgbClr val="FFFFFF"/>
                </a:solidFill>
              </a:defRPr>
            </a:pPr>
            <a:r>
              <a:t>HAM</a:t>
            </a:r>
          </a:p>
        </p:txBody>
      </p:sp>
      <p:sp>
        <p:nvSpPr>
          <p:cNvPr id="24" name="Rectangle 23"/>
          <p:cNvSpPr/>
          <p:nvPr/>
        </p:nvSpPr>
        <p:spPr>
          <a:xfrm>
            <a:off x="4062984" y="1280160"/>
            <a:ext cx="4062984" cy="1322832"/>
          </a:xfrm>
          <a:prstGeom prst="rect">
            <a:avLst/>
          </a:prstGeom>
          <a:solidFill>
            <a:srgbClr val="EDFB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062984" y="1280160"/>
            <a:ext cx="4062984" cy="246888"/>
          </a:xfrm>
          <a:prstGeom prst="rect">
            <a:avLst/>
          </a:prstGeom>
          <a:solidFill>
            <a:srgbClr val="178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2712" y="1325880"/>
            <a:ext cx="3925823" cy="182880"/>
          </a:xfrm>
          <a:prstGeom prst="rect">
            <a:avLst/>
          </a:prstGeom>
          <a:noFill/>
        </p:spPr>
        <p:txBody>
          <a:bodyPr wrap="none">
            <a:spAutoFit/>
          </a:bodyPr>
          <a:lstStyle/>
          <a:p>
            <a:pPr>
              <a:defRPr b="1" sz="850">
                <a:solidFill>
                  <a:srgbClr val="FFFFFF"/>
                </a:solidFill>
              </a:defRPr>
            </a:pPr>
            <a:r>
              <a:t>ACHIEVEMENTS</a:t>
            </a:r>
          </a:p>
        </p:txBody>
      </p:sp>
      <p:sp>
        <p:nvSpPr>
          <p:cNvPr id="27" name="TextBox 26"/>
          <p:cNvSpPr txBox="1"/>
          <p:nvPr/>
        </p:nvSpPr>
        <p:spPr>
          <a:xfrm>
            <a:off x="4172712" y="1591056"/>
            <a:ext cx="3861816" cy="984503"/>
          </a:xfrm>
          <a:prstGeom prst="rect">
            <a:avLst/>
          </a:prstGeom>
          <a:noFill/>
        </p:spPr>
        <p:txBody>
          <a:bodyPr wrap="square">
            <a:spAutoFit/>
          </a:bodyPr>
          <a:lstStyle/>
          <a:p>
            <a:pPr>
              <a:spcBef>
                <a:spcPts val="200"/>
              </a:spcBef>
              <a:spcAft>
                <a:spcPts val="100"/>
              </a:spcAft>
            </a:pPr>
            <a:r>
              <a:rPr sz="750" b="1">
                <a:solidFill>
                  <a:srgbClr val="222222"/>
                </a:solidFill>
              </a:rPr>
              <a:t>▸  Hardware asset register fully updated for the quarter</a:t>
            </a:r>
          </a:p>
          <a:p>
            <a:pPr>
              <a:spcBef>
                <a:spcPts val="200"/>
              </a:spcBef>
              <a:spcAft>
                <a:spcPts val="100"/>
              </a:spcAft>
            </a:pPr>
            <a:r>
              <a:rPr sz="750" b="1">
                <a:solidFill>
                  <a:srgbClr val="222222"/>
                </a:solidFill>
              </a:rPr>
              <a:t>▸  </a:t>
            </a:r>
            <a:r>
              <a:rPr sz="750" b="1">
                <a:solidFill>
                  <a:srgbClr val="0F6E56"/>
                </a:solidFill>
              </a:rPr>
              <a:t>4</a:t>
            </a:r>
            <a:r>
              <a:rPr sz="750" b="0">
                <a:solidFill>
                  <a:srgbClr val="222222"/>
                </a:solidFill>
              </a:rPr>
              <a:t> end-of-life servers decommissioned and removed from register</a:t>
            </a:r>
          </a:p>
        </p:txBody>
      </p:sp>
      <p:sp>
        <p:nvSpPr>
          <p:cNvPr id="28" name="Rectangle 27"/>
          <p:cNvSpPr/>
          <p:nvPr/>
        </p:nvSpPr>
        <p:spPr>
          <a:xfrm>
            <a:off x="4062984" y="2602992"/>
            <a:ext cx="4062984" cy="1322832"/>
          </a:xfrm>
          <a:prstGeom prst="rect">
            <a:avLst/>
          </a:prstGeom>
          <a:solidFill>
            <a:srgbClr val="FF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2984" y="2602992"/>
            <a:ext cx="4062984" cy="246888"/>
          </a:xfrm>
          <a:prstGeom prst="rect">
            <a:avLst/>
          </a:prstGeom>
          <a:solidFill>
            <a:srgbClr val="178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72712" y="2648712"/>
            <a:ext cx="3925823" cy="182880"/>
          </a:xfrm>
          <a:prstGeom prst="rect">
            <a:avLst/>
          </a:prstGeom>
          <a:noFill/>
        </p:spPr>
        <p:txBody>
          <a:bodyPr wrap="none">
            <a:spAutoFit/>
          </a:bodyPr>
          <a:lstStyle/>
          <a:p>
            <a:pPr>
              <a:defRPr b="1" sz="850">
                <a:solidFill>
                  <a:srgbClr val="FFFFFF"/>
                </a:solidFill>
              </a:defRPr>
            </a:pPr>
            <a:r>
              <a:t>CONCERNS</a:t>
            </a:r>
          </a:p>
        </p:txBody>
      </p:sp>
      <p:sp>
        <p:nvSpPr>
          <p:cNvPr id="31" name="TextBox 30"/>
          <p:cNvSpPr txBox="1"/>
          <p:nvPr/>
        </p:nvSpPr>
        <p:spPr>
          <a:xfrm>
            <a:off x="4172712" y="2913888"/>
            <a:ext cx="3861816" cy="984503"/>
          </a:xfrm>
          <a:prstGeom prst="rect">
            <a:avLst/>
          </a:prstGeom>
          <a:noFill/>
        </p:spPr>
        <p:txBody>
          <a:bodyPr wrap="square">
            <a:spAutoFit/>
          </a:bodyPr>
          <a:lstStyle/>
          <a:p>
            <a:pPr>
              <a:spcBef>
                <a:spcPts val="200"/>
              </a:spcBef>
              <a:spcAft>
                <a:spcPts val="100"/>
              </a:spcAft>
            </a:pPr>
            <a:r>
              <a:rPr sz="750" b="1">
                <a:solidFill>
                  <a:srgbClr val="222222"/>
                </a:solidFill>
              </a:rPr>
              <a:t>▸  </a:t>
            </a:r>
            <a:r>
              <a:rPr sz="750" b="1">
                <a:solidFill>
                  <a:srgbClr val="0F6E56"/>
                </a:solidFill>
              </a:rPr>
              <a:t>6</a:t>
            </a:r>
            <a:r>
              <a:rPr sz="750" b="0">
                <a:solidFill>
                  <a:srgbClr val="222222"/>
                </a:solidFill>
              </a:rPr>
              <a:t> active assets without valid vendor support contracts</a:t>
            </a:r>
          </a:p>
          <a:p>
            <a:pPr>
              <a:spcBef>
                <a:spcPts val="200"/>
              </a:spcBef>
              <a:spcAft>
                <a:spcPts val="100"/>
              </a:spcAft>
            </a:pPr>
            <a:r>
              <a:rPr sz="750" b="1">
                <a:solidFill>
                  <a:srgbClr val="222222"/>
                </a:solidFill>
              </a:rPr>
              <a:t>▸  </a:t>
            </a:r>
            <a:r>
              <a:rPr sz="750" b="1">
                <a:solidFill>
                  <a:srgbClr val="0F6E56"/>
                </a:solidFill>
              </a:rPr>
              <a:t>3</a:t>
            </a:r>
            <a:r>
              <a:rPr sz="750" b="0">
                <a:solidFill>
                  <a:srgbClr val="222222"/>
                </a:solidFill>
              </a:rPr>
              <a:t> assets missing location tags</a:t>
            </a:r>
          </a:p>
        </p:txBody>
      </p:sp>
      <p:sp>
        <p:nvSpPr>
          <p:cNvPr id="32" name="Rectangle 31"/>
          <p:cNvSpPr/>
          <p:nvPr/>
        </p:nvSpPr>
        <p:spPr>
          <a:xfrm>
            <a:off x="4062984" y="3925823"/>
            <a:ext cx="4062984" cy="1322832"/>
          </a:xfrm>
          <a:prstGeom prst="rect">
            <a:avLst/>
          </a:prstGeom>
          <a:solidFill>
            <a:srgbClr val="F0F5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62984" y="3925823"/>
            <a:ext cx="4062984" cy="246888"/>
          </a:xfrm>
          <a:prstGeom prst="rect">
            <a:avLst/>
          </a:prstGeom>
          <a:solidFill>
            <a:srgbClr val="178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72712" y="3971543"/>
            <a:ext cx="3925823" cy="182880"/>
          </a:xfrm>
          <a:prstGeom prst="rect">
            <a:avLst/>
          </a:prstGeom>
          <a:noFill/>
        </p:spPr>
        <p:txBody>
          <a:bodyPr wrap="none">
            <a:spAutoFit/>
          </a:bodyPr>
          <a:lstStyle/>
          <a:p>
            <a:pPr>
              <a:defRPr b="1" sz="850">
                <a:solidFill>
                  <a:srgbClr val="FFFFFF"/>
                </a:solidFill>
              </a:defRPr>
            </a:pPr>
            <a:r>
              <a:t>NEXT WEEK FOCUS</a:t>
            </a:r>
          </a:p>
        </p:txBody>
      </p:sp>
      <p:sp>
        <p:nvSpPr>
          <p:cNvPr id="35" name="TextBox 34"/>
          <p:cNvSpPr txBox="1"/>
          <p:nvPr/>
        </p:nvSpPr>
        <p:spPr>
          <a:xfrm>
            <a:off x="4172712" y="4236720"/>
            <a:ext cx="3861816" cy="984503"/>
          </a:xfrm>
          <a:prstGeom prst="rect">
            <a:avLst/>
          </a:prstGeom>
          <a:noFill/>
        </p:spPr>
        <p:txBody>
          <a:bodyPr wrap="square">
            <a:spAutoFit/>
          </a:bodyPr>
          <a:lstStyle/>
          <a:p>
            <a:pPr>
              <a:spcBef>
                <a:spcPts val="200"/>
              </a:spcBef>
              <a:spcAft>
                <a:spcPts val="100"/>
              </a:spcAft>
            </a:pPr>
            <a:r>
              <a:rPr sz="750" b="1">
                <a:solidFill>
                  <a:srgbClr val="222222"/>
                </a:solidFill>
              </a:rPr>
              <a:t>▸  Complete EoL review for remaining server estate</a:t>
            </a:r>
          </a:p>
          <a:p>
            <a:pPr>
              <a:spcBef>
                <a:spcPts val="200"/>
              </a:spcBef>
              <a:spcAft>
                <a:spcPts val="100"/>
              </a:spcAft>
            </a:pPr>
            <a:r>
              <a:rPr sz="750" b="1">
                <a:solidFill>
                  <a:srgbClr val="222222"/>
                </a:solidFill>
              </a:rPr>
              <a:t>▸  Update procurement tracker with </a:t>
            </a:r>
            <a:r>
              <a:rPr sz="750" b="1">
                <a:solidFill>
                  <a:srgbClr val="0F6E56"/>
                </a:solidFill>
              </a:rPr>
              <a:t>2026</a:t>
            </a:r>
            <a:r>
              <a:rPr sz="750" b="0">
                <a:solidFill>
                  <a:srgbClr val="222222"/>
                </a:solidFill>
              </a:rPr>
              <a:t> renewals</a:t>
            </a:r>
          </a:p>
        </p:txBody>
      </p:sp>
      <p:sp>
        <p:nvSpPr>
          <p:cNvPr id="36" name="Rectangle 35"/>
          <p:cNvSpPr/>
          <p:nvPr/>
        </p:nvSpPr>
        <p:spPr>
          <a:xfrm>
            <a:off x="8125968" y="978408"/>
            <a:ext cx="4062984" cy="301752"/>
          </a:xfrm>
          <a:prstGeom prst="rect">
            <a:avLst/>
          </a:prstGeom>
          <a:solidFill>
            <a:srgbClr val="8B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35695" y="1042416"/>
            <a:ext cx="3925823" cy="210312"/>
          </a:xfrm>
          <a:prstGeom prst="rect">
            <a:avLst/>
          </a:prstGeom>
          <a:noFill/>
        </p:spPr>
        <p:txBody>
          <a:bodyPr wrap="none">
            <a:spAutoFit/>
          </a:bodyPr>
          <a:lstStyle/>
          <a:p>
            <a:pPr>
              <a:defRPr b="1" sz="1200">
                <a:solidFill>
                  <a:srgbClr val="FFFFFF"/>
                </a:solidFill>
              </a:defRPr>
            </a:pPr>
            <a:r>
              <a:t>SAM</a:t>
            </a:r>
          </a:p>
        </p:txBody>
      </p:sp>
      <p:sp>
        <p:nvSpPr>
          <p:cNvPr id="38" name="Rectangle 37"/>
          <p:cNvSpPr/>
          <p:nvPr/>
        </p:nvSpPr>
        <p:spPr>
          <a:xfrm>
            <a:off x="8125968" y="1280160"/>
            <a:ext cx="4062984" cy="1322832"/>
          </a:xfrm>
          <a:prstGeom prst="rect">
            <a:avLst/>
          </a:prstGeom>
          <a:solidFill>
            <a:srgbClr val="FDF9E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25968" y="1280160"/>
            <a:ext cx="4062984" cy="246888"/>
          </a:xfrm>
          <a:prstGeom prst="rect">
            <a:avLst/>
          </a:prstGeom>
          <a:solidFill>
            <a:srgbClr val="AA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35695" y="1325880"/>
            <a:ext cx="3925823" cy="182880"/>
          </a:xfrm>
          <a:prstGeom prst="rect">
            <a:avLst/>
          </a:prstGeom>
          <a:noFill/>
        </p:spPr>
        <p:txBody>
          <a:bodyPr wrap="none">
            <a:spAutoFit/>
          </a:bodyPr>
          <a:lstStyle/>
          <a:p>
            <a:pPr>
              <a:defRPr b="1" sz="850">
                <a:solidFill>
                  <a:srgbClr val="FFFFFF"/>
                </a:solidFill>
              </a:defRPr>
            </a:pPr>
            <a:r>
              <a:t>ACHIEVEMENTS</a:t>
            </a:r>
          </a:p>
        </p:txBody>
      </p:sp>
      <p:sp>
        <p:nvSpPr>
          <p:cNvPr id="41" name="TextBox 40"/>
          <p:cNvSpPr txBox="1"/>
          <p:nvPr/>
        </p:nvSpPr>
        <p:spPr>
          <a:xfrm>
            <a:off x="8235695" y="1591056"/>
            <a:ext cx="3861816" cy="984503"/>
          </a:xfrm>
          <a:prstGeom prst="rect">
            <a:avLst/>
          </a:prstGeom>
          <a:noFill/>
        </p:spPr>
        <p:txBody>
          <a:bodyPr wrap="square">
            <a:spAutoFit/>
          </a:bodyPr>
          <a:lstStyle/>
          <a:p>
            <a:pPr>
              <a:spcBef>
                <a:spcPts val="200"/>
              </a:spcBef>
              <a:spcAft>
                <a:spcPts val="100"/>
              </a:spcAft>
            </a:pPr>
            <a:r>
              <a:rPr sz="750" b="1">
                <a:solidFill>
                  <a:srgbClr val="222222"/>
                </a:solidFill>
              </a:rPr>
              <a:t>▸  Software license compliance at </a:t>
            </a:r>
            <a:r>
              <a:rPr sz="750" b="1">
                <a:solidFill>
                  <a:srgbClr val="8B4500"/>
                </a:solidFill>
              </a:rPr>
              <a:t>97%</a:t>
            </a:r>
          </a:p>
          <a:p>
            <a:pPr>
              <a:spcBef>
                <a:spcPts val="200"/>
              </a:spcBef>
              <a:spcAft>
                <a:spcPts val="100"/>
              </a:spcAft>
            </a:pPr>
            <a:r>
              <a:rPr sz="750" b="1">
                <a:solidFill>
                  <a:srgbClr val="222222"/>
                </a:solidFill>
              </a:rPr>
              <a:t>▸  </a:t>
            </a:r>
            <a:r>
              <a:rPr sz="750" b="1">
                <a:solidFill>
                  <a:srgbClr val="8B4500"/>
                </a:solidFill>
              </a:rPr>
              <a:t>2</a:t>
            </a:r>
            <a:r>
              <a:rPr sz="750" b="0">
                <a:solidFill>
                  <a:srgbClr val="222222"/>
                </a:solidFill>
              </a:rPr>
              <a:t> unused Oracle license sets reclaimed saving £</a:t>
            </a:r>
            <a:r>
              <a:rPr sz="750" b="1">
                <a:solidFill>
                  <a:srgbClr val="8B4500"/>
                </a:solidFill>
              </a:rPr>
              <a:t>18</a:t>
            </a:r>
            <a:r>
              <a:rPr sz="750" b="0">
                <a:solidFill>
                  <a:srgbClr val="222222"/>
                </a:solidFill>
              </a:rPr>
              <a:t>k annually</a:t>
            </a:r>
          </a:p>
        </p:txBody>
      </p:sp>
      <p:sp>
        <p:nvSpPr>
          <p:cNvPr id="42" name="Rectangle 41"/>
          <p:cNvSpPr/>
          <p:nvPr/>
        </p:nvSpPr>
        <p:spPr>
          <a:xfrm>
            <a:off x="8125968" y="2602992"/>
            <a:ext cx="4062984" cy="1322832"/>
          </a:xfrm>
          <a:prstGeom prst="rect">
            <a:avLst/>
          </a:prstGeom>
          <a:solidFill>
            <a:srgbClr val="FF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25968" y="2602992"/>
            <a:ext cx="4062984" cy="246888"/>
          </a:xfrm>
          <a:prstGeom prst="rect">
            <a:avLst/>
          </a:prstGeom>
          <a:solidFill>
            <a:srgbClr val="AA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35695" y="2648712"/>
            <a:ext cx="3925823" cy="182880"/>
          </a:xfrm>
          <a:prstGeom prst="rect">
            <a:avLst/>
          </a:prstGeom>
          <a:noFill/>
        </p:spPr>
        <p:txBody>
          <a:bodyPr wrap="none">
            <a:spAutoFit/>
          </a:bodyPr>
          <a:lstStyle/>
          <a:p>
            <a:pPr>
              <a:defRPr b="1" sz="850">
                <a:solidFill>
                  <a:srgbClr val="FFFFFF"/>
                </a:solidFill>
              </a:defRPr>
            </a:pPr>
            <a:r>
              <a:t>CONCERNS</a:t>
            </a:r>
          </a:p>
        </p:txBody>
      </p:sp>
      <p:sp>
        <p:nvSpPr>
          <p:cNvPr id="45" name="TextBox 44"/>
          <p:cNvSpPr txBox="1"/>
          <p:nvPr/>
        </p:nvSpPr>
        <p:spPr>
          <a:xfrm>
            <a:off x="8235695" y="2913888"/>
            <a:ext cx="3861816" cy="984503"/>
          </a:xfrm>
          <a:prstGeom prst="rect">
            <a:avLst/>
          </a:prstGeom>
          <a:noFill/>
        </p:spPr>
        <p:txBody>
          <a:bodyPr wrap="square">
            <a:spAutoFit/>
          </a:bodyPr>
          <a:lstStyle/>
          <a:p>
            <a:pPr>
              <a:spcBef>
                <a:spcPts val="200"/>
              </a:spcBef>
              <a:spcAft>
                <a:spcPts val="100"/>
              </a:spcAft>
            </a:pPr>
            <a:r>
              <a:rPr sz="750" b="1">
                <a:solidFill>
                  <a:srgbClr val="222222"/>
                </a:solidFill>
              </a:rPr>
              <a:t>▸  Adobe Creative Cloud audit pending since last quarter</a:t>
            </a:r>
          </a:p>
          <a:p>
            <a:pPr>
              <a:spcBef>
                <a:spcPts val="200"/>
              </a:spcBef>
              <a:spcAft>
                <a:spcPts val="100"/>
              </a:spcAft>
            </a:pPr>
            <a:r>
              <a:rPr sz="750" b="1">
                <a:solidFill>
                  <a:srgbClr val="222222"/>
                </a:solidFill>
              </a:rPr>
              <a:t>▸  AWS reserved instance reconciliation overdue</a:t>
            </a:r>
          </a:p>
        </p:txBody>
      </p:sp>
      <p:sp>
        <p:nvSpPr>
          <p:cNvPr id="46" name="Rectangle 45"/>
          <p:cNvSpPr/>
          <p:nvPr/>
        </p:nvSpPr>
        <p:spPr>
          <a:xfrm>
            <a:off x="8125968" y="3925823"/>
            <a:ext cx="4062984" cy="1322832"/>
          </a:xfrm>
          <a:prstGeom prst="rect">
            <a:avLst/>
          </a:prstGeom>
          <a:solidFill>
            <a:srgbClr val="F5F0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25968" y="3925823"/>
            <a:ext cx="4062984" cy="246888"/>
          </a:xfrm>
          <a:prstGeom prst="rect">
            <a:avLst/>
          </a:prstGeom>
          <a:solidFill>
            <a:srgbClr val="AA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35695" y="3971543"/>
            <a:ext cx="3925823" cy="182880"/>
          </a:xfrm>
          <a:prstGeom prst="rect">
            <a:avLst/>
          </a:prstGeom>
          <a:noFill/>
        </p:spPr>
        <p:txBody>
          <a:bodyPr wrap="none">
            <a:spAutoFit/>
          </a:bodyPr>
          <a:lstStyle/>
          <a:p>
            <a:pPr>
              <a:defRPr b="1" sz="850">
                <a:solidFill>
                  <a:srgbClr val="FFFFFF"/>
                </a:solidFill>
              </a:defRPr>
            </a:pPr>
            <a:r>
              <a:t>NEXT WEEK FOCUS</a:t>
            </a:r>
          </a:p>
        </p:txBody>
      </p:sp>
      <p:sp>
        <p:nvSpPr>
          <p:cNvPr id="49" name="TextBox 48"/>
          <p:cNvSpPr txBox="1"/>
          <p:nvPr/>
        </p:nvSpPr>
        <p:spPr>
          <a:xfrm>
            <a:off x="8235695" y="4236720"/>
            <a:ext cx="3861816" cy="984503"/>
          </a:xfrm>
          <a:prstGeom prst="rect">
            <a:avLst/>
          </a:prstGeom>
          <a:noFill/>
        </p:spPr>
        <p:txBody>
          <a:bodyPr wrap="square">
            <a:spAutoFit/>
          </a:bodyPr>
          <a:lstStyle/>
          <a:p>
            <a:pPr>
              <a:spcBef>
                <a:spcPts val="200"/>
              </a:spcBef>
              <a:spcAft>
                <a:spcPts val="100"/>
              </a:spcAft>
            </a:pPr>
            <a:r>
              <a:rPr sz="750" b="1">
                <a:solidFill>
                  <a:srgbClr val="222222"/>
                </a:solidFill>
              </a:rPr>
              <a:t>▸  Submit Adobe audit results to procurement by Friday</a:t>
            </a:r>
          </a:p>
          <a:p>
            <a:pPr>
              <a:spcBef>
                <a:spcPts val="200"/>
              </a:spcBef>
              <a:spcAft>
                <a:spcPts val="100"/>
              </a:spcAft>
            </a:pPr>
            <a:r>
              <a:rPr sz="750" b="1">
                <a:solidFill>
                  <a:srgbClr val="222222"/>
                </a:solidFill>
              </a:rPr>
              <a:t>▸  Complete AWS reserved instance review</a:t>
            </a:r>
          </a:p>
        </p:txBody>
      </p:sp>
      <p:sp>
        <p:nvSpPr>
          <p:cNvPr id="50" name="Rectangle 49"/>
          <p:cNvSpPr/>
          <p:nvPr/>
        </p:nvSpPr>
        <p:spPr>
          <a:xfrm>
            <a:off x="0" y="5321808"/>
            <a:ext cx="12188952" cy="621792"/>
          </a:xfrm>
          <a:prstGeom prst="rect">
            <a:avLst/>
          </a:prstGeom>
          <a:solidFill>
            <a:srgbClr val="F2F5FA"/>
          </a:solidFill>
          <a:ln w="952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5321808"/>
            <a:ext cx="12188952"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8016" y="5358384"/>
            <a:ext cx="5486400" cy="201168"/>
          </a:xfrm>
          <a:prstGeom prst="rect">
            <a:avLst/>
          </a:prstGeom>
          <a:noFill/>
        </p:spPr>
        <p:txBody>
          <a:bodyPr wrap="none">
            <a:spAutoFit/>
          </a:bodyPr>
          <a:lstStyle/>
          <a:p>
            <a:pPr>
              <a:defRPr b="1" sz="900">
                <a:solidFill>
                  <a:srgbClr val="FFFFFF"/>
                </a:solidFill>
              </a:defRPr>
            </a:pPr>
            <a:r>
              <a:t>TIMELINE  &amp;  KEY UPDATES</a:t>
            </a:r>
          </a:p>
        </p:txBody>
      </p:sp>
      <p:sp>
        <p:nvSpPr>
          <p:cNvPr id="53" name="TextBox 52"/>
          <p:cNvSpPr txBox="1"/>
          <p:nvPr/>
        </p:nvSpPr>
        <p:spPr>
          <a:xfrm>
            <a:off x="128016" y="5596128"/>
            <a:ext cx="11932920" cy="310896"/>
          </a:xfrm>
          <a:prstGeom prst="rect">
            <a:avLst/>
          </a:prstGeom>
          <a:noFill/>
        </p:spPr>
        <p:txBody>
          <a:bodyPr wrap="square">
            <a:spAutoFit/>
          </a:bodyPr>
          <a:lstStyle/>
          <a:p>
            <a:pPr>
              <a:defRPr sz="850">
                <a:solidFill>
                  <a:srgbClr val="222222"/>
                </a:solidFill>
              </a:defRPr>
            </a:pPr>
            <a:r>
              <a:t>Week 1: CMDB audit kickoff — baseline accuracy 97.5% | Week 2: HAM EoL review initiated — 12 servers flagged | Week 3: SAM license reclaim completed — 2 Oracle sets returned | Week 4: Quarterly audit report submitted to CIO; CMDB accuracy 97.7%</a:t>
            </a:r>
          </a:p>
        </p:txBody>
      </p:sp>
      <p:graphicFrame>
        <p:nvGraphicFramePr>
          <p:cNvPr id="54" name="Table 53"/>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CIs</a:t>
                      </a:r>
                    </a:p>
                  </a:txBody>
                  <a:tcPr>
                    <a:solidFill>
                      <a:srgbClr val="FFFFFF"/>
                    </a:solidFill>
                  </a:tcPr>
                </a:tc>
                <a:tc>
                  <a:txBody>
                    <a:bodyPr wrap="square"/>
                    <a:lstStyle/>
                    <a:p>
                      <a:pPr>
                        <a:defRPr sz="550">
                          <a:solidFill>
                            <a:srgbClr val="333333"/>
                          </a:solidFill>
                        </a:defRPr>
                      </a:pPr>
                      <a:r>
                        <a:t>Total number of Configuration Items in ServiceNow CMDB</a:t>
                      </a:r>
                    </a:p>
                  </a:txBody>
                  <a:tcPr>
                    <a:solidFill>
                      <a:srgbClr val="FFFFFF"/>
                    </a:solidFill>
                  </a:tcPr>
                </a:tc>
                <a:tc>
                  <a:txBody>
                    <a:bodyPr wrap="square"/>
                    <a:lstStyle/>
                    <a:p>
                      <a:pPr>
                        <a:defRPr sz="550">
                          <a:solidFill>
                            <a:srgbClr val="333333"/>
                          </a:solidFill>
                        </a:defRPr>
                      </a:pPr>
                      <a:r>
                        <a:t>All active CI records across all classes and environments</a:t>
                      </a:r>
                    </a:p>
                  </a:txBody>
                  <a:tcPr>
                    <a:solidFill>
                      <a:srgbClr val="FFFFFF"/>
                    </a:solidFill>
                  </a:tcPr>
                </a:tc>
              </a:tr>
              <a:tr h="182880">
                <a:tc>
                  <a:txBody>
                    <a:bodyPr wrap="square"/>
                    <a:lstStyle/>
                    <a:p>
                      <a:pPr>
                        <a:defRPr sz="550" b="1">
                          <a:solidFill>
                            <a:srgbClr val="1F3864"/>
                          </a:solidFill>
                        </a:defRPr>
                      </a:pPr>
                      <a:r>
                        <a:t>CIs Verified This Week</a:t>
                      </a:r>
                    </a:p>
                  </a:txBody>
                  <a:tcPr>
                    <a:solidFill>
                      <a:srgbClr val="E9F0F8"/>
                    </a:solidFill>
                  </a:tcPr>
                </a:tc>
                <a:tc>
                  <a:txBody>
                    <a:bodyPr wrap="square"/>
                    <a:lstStyle/>
                    <a:p>
                      <a:pPr>
                        <a:defRPr sz="550">
                          <a:solidFill>
                            <a:srgbClr val="333333"/>
                          </a:solidFill>
                        </a:defRPr>
                      </a:pPr>
                      <a:r>
                        <a:t>Number of CIs verified and validated during the reporting period</a:t>
                      </a:r>
                    </a:p>
                  </a:txBody>
                  <a:tcPr>
                    <a:solidFill>
                      <a:srgbClr val="E9F0F8"/>
                    </a:solidFill>
                  </a:tcPr>
                </a:tc>
                <a:tc>
                  <a:txBody>
                    <a:bodyPr wrap="square"/>
                    <a:lstStyle/>
                    <a:p>
                      <a:pPr>
                        <a:defRPr sz="550">
                          <a:solidFill>
                            <a:srgbClr val="333333"/>
                          </a:solidFill>
                        </a:defRPr>
                      </a:pPr>
                      <a:r>
                        <a:t>CIs reviewed by CI owners and confirmed as accurate</a:t>
                      </a:r>
                    </a:p>
                  </a:txBody>
                  <a:tcPr>
                    <a:solidFill>
                      <a:srgbClr val="E9F0F8"/>
                    </a:solidFill>
                  </a:tcPr>
                </a:tc>
              </a:tr>
              <a:tr h="182880">
                <a:tc>
                  <a:txBody>
                    <a:bodyPr wrap="square"/>
                    <a:lstStyle/>
                    <a:p>
                      <a:pPr>
                        <a:defRPr sz="550" b="1">
                          <a:solidFill>
                            <a:srgbClr val="1F3864"/>
                          </a:solidFill>
                        </a:defRPr>
                      </a:pPr>
                      <a:r>
                        <a:t>CI Accuracy</a:t>
                      </a:r>
                    </a:p>
                  </a:txBody>
                  <a:tcPr>
                    <a:solidFill>
                      <a:srgbClr val="FFFFFF"/>
                    </a:solidFill>
                  </a:tcPr>
                </a:tc>
                <a:tc>
                  <a:txBody>
                    <a:bodyPr wrap="square"/>
                    <a:lstStyle/>
                    <a:p>
                      <a:pPr>
                        <a:defRPr sz="550">
                          <a:solidFill>
                            <a:srgbClr val="333333"/>
                          </a:solidFill>
                        </a:defRPr>
                      </a:pPr>
                      <a:r>
                        <a:t>Percentage of CIs with accurate and up-to-date attribute data</a:t>
                      </a:r>
                    </a:p>
                  </a:txBody>
                  <a:tcPr>
                    <a:solidFill>
                      <a:srgbClr val="FFFFFF"/>
                    </a:solidFill>
                  </a:tcPr>
                </a:tc>
                <a:tc>
                  <a:txBody>
                    <a:bodyPr wrap="square"/>
                    <a:lstStyle/>
                    <a:p>
                      <a:pPr>
                        <a:defRPr sz="550">
                          <a:solidFill>
                            <a:srgbClr val="333333"/>
                          </a:solidFill>
                        </a:defRPr>
                      </a:pPr>
                      <a:r>
                        <a:t>Verified through quarterly CMDB audit and weekly spot checks</a:t>
                      </a:r>
                    </a:p>
                  </a:txBody>
                  <a:tcPr>
                    <a:solidFill>
                      <a:srgbClr val="FFFFFF"/>
                    </a:solidFill>
                  </a:tcPr>
                </a:tc>
              </a:tr>
              <a:tr h="182880">
                <a:tc>
                  <a:txBody>
                    <a:bodyPr wrap="square"/>
                    <a:lstStyle/>
                    <a:p>
                      <a:pPr>
                        <a:defRPr sz="550" b="1">
                          <a:solidFill>
                            <a:srgbClr val="1F3864"/>
                          </a:solidFill>
                        </a:defRPr>
                      </a:pPr>
                      <a:r>
                        <a:t>Orphan CIs</a:t>
                      </a:r>
                    </a:p>
                  </a:txBody>
                  <a:tcPr>
                    <a:solidFill>
                      <a:srgbClr val="E9F0F8"/>
                    </a:solidFill>
                  </a:tcPr>
                </a:tc>
                <a:tc>
                  <a:txBody>
                    <a:bodyPr wrap="square"/>
                    <a:lstStyle/>
                    <a:p>
                      <a:pPr>
                        <a:defRPr sz="550">
                          <a:solidFill>
                            <a:srgbClr val="333333"/>
                          </a:solidFill>
                        </a:defRPr>
                      </a:pPr>
                      <a:r>
                        <a:t>Number of CIs with no parent relationship or service linkage</a:t>
                      </a:r>
                    </a:p>
                  </a:txBody>
                  <a:tcPr>
                    <a:solidFill>
                      <a:srgbClr val="E9F0F8"/>
                    </a:solidFill>
                  </a:tcPr>
                </a:tc>
                <a:tc>
                  <a:txBody>
                    <a:bodyPr wrap="square"/>
                    <a:lstStyle/>
                    <a:p>
                      <a:pPr>
                        <a:defRPr sz="550">
                          <a:solidFill>
                            <a:srgbClr val="333333"/>
                          </a:solidFill>
                        </a:defRPr>
                      </a:pPr>
                      <a:r>
                        <a:t>CIs not linked to any business service or application in CMDB</a:t>
                      </a:r>
                    </a:p>
                  </a:txBody>
                  <a:tcPr>
                    <a:solidFill>
                      <a:srgbClr val="E9F0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NOC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≥95%</a:t>
            </a:r>
          </a:p>
          <a:p>
            <a:pPr>
              <a:spcBef>
                <a:spcPts val="0"/>
              </a:spcBef>
              <a:spcAft>
                <a:spcPts val="0"/>
              </a:spcAft>
            </a:pPr>
            <a:r>
              <a:rPr sz="650" b="1">
                <a:solidFill>
                  <a:srgbClr val="FFC000"/>
                </a:solidFill>
              </a:rPr>
              <a:t>■ Amber 90–94%</a:t>
            </a:r>
          </a:p>
          <a:p>
            <a:pPr>
              <a:spcBef>
                <a:spcPts val="0"/>
              </a:spcBef>
              <a:spcAft>
                <a:spcPts val="0"/>
              </a:spcAft>
            </a:pPr>
            <a:r>
              <a:rPr sz="650" b="1">
                <a:solidFill>
                  <a:srgbClr val="CC0000"/>
                </a:solidFill>
              </a:rPr>
              <a:t>■ Red  &lt;90%</a:t>
            </a:r>
          </a:p>
        </p:txBody>
      </p:sp>
      <p:sp>
        <p:nvSpPr>
          <p:cNvPr id="5" name="Rectangle 4"/>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7" name="Rectangle 6"/>
          <p:cNvSpPr/>
          <p:nvPr/>
        </p:nvSpPr>
        <p:spPr>
          <a:xfrm>
            <a:off x="0" y="978408"/>
            <a:ext cx="7315200" cy="1156716"/>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10" name="TextBox 9"/>
          <p:cNvSpPr txBox="1"/>
          <p:nvPr/>
        </p:nvSpPr>
        <p:spPr>
          <a:xfrm>
            <a:off x="128016" y="1316736"/>
            <a:ext cx="7059168" cy="790956"/>
          </a:xfrm>
          <a:prstGeom prst="rect">
            <a:avLst/>
          </a:prstGeom>
          <a:noFill/>
        </p:spPr>
        <p:txBody>
          <a:bodyPr wrap="square">
            <a:spAutoFit/>
          </a:bodyPr>
          <a:lstStyle/>
          <a:p>
            <a:pPr>
              <a:spcBef>
                <a:spcPts val="200"/>
              </a:spcBef>
              <a:spcAft>
                <a:spcPts val="100"/>
              </a:spcAft>
            </a:pPr>
            <a:r>
              <a:rPr sz="850" b="0">
                <a:solidFill>
                  <a:srgbClr val="3A3A3A"/>
                </a:solidFill>
              </a:rPr>
              <a:t>The IT Operations team at MUFG has shown commendable performance this week, with a slight uptick in Alerts Received and P1 Incidents managed while maintaining an impressive SLA Compliance rate of over </a:t>
            </a:r>
            <a:r>
              <a:rPr sz="850" b="1">
                <a:solidFill>
                  <a:srgbClr val="1F3864"/>
                </a:solidFill>
              </a:rPr>
              <a:t>97%</a:t>
            </a:r>
            <a:r>
              <a:rPr sz="850" b="0">
                <a:solidFill>
                  <a:srgbClr val="3A3A3A"/>
                </a:solidFill>
              </a:rPr>
              <a:t>. The auto-resolution rate stands strong at </a:t>
            </a:r>
            <a:r>
              <a:rPr sz="850" b="1">
                <a:solidFill>
                  <a:srgbClr val="1F3864"/>
                </a:solidFill>
              </a:rPr>
              <a:t>85%</a:t>
            </a:r>
            <a:r>
              <a:rPr sz="850" b="0">
                <a:solidFill>
                  <a:srgbClr val="3A3A3A"/>
                </a:solidFill>
              </a:rPr>
              <a:t>, contributing to the low MTTR Hours. This success is partly due to deploying a new runbook for DB alert cluster, which has been effective in managing Priority incidents.</a:t>
            </a:r>
          </a:p>
        </p:txBody>
      </p:sp>
      <p:sp>
        <p:nvSpPr>
          <p:cNvPr id="11" name="Rectangle 10"/>
          <p:cNvSpPr/>
          <p:nvPr/>
        </p:nvSpPr>
        <p:spPr>
          <a:xfrm>
            <a:off x="0" y="2226564"/>
            <a:ext cx="7315200" cy="1463040"/>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226564"/>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 y="2272284"/>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4" name="TextBox 13"/>
          <p:cNvSpPr txBox="1"/>
          <p:nvPr/>
        </p:nvSpPr>
        <p:spPr>
          <a:xfrm>
            <a:off x="128016" y="2564892"/>
            <a:ext cx="7059168" cy="1097280"/>
          </a:xfrm>
          <a:prstGeom prst="rect">
            <a:avLst/>
          </a:prstGeom>
          <a:noFill/>
        </p:spPr>
        <p:txBody>
          <a:bodyPr wrap="square">
            <a:spAutoFit/>
          </a:bodyPr>
          <a:lstStyle/>
          <a:p>
            <a:pPr>
              <a:spcBef>
                <a:spcPts val="200"/>
              </a:spcBef>
              <a:spcAft>
                <a:spcPts val="100"/>
              </a:spcAft>
            </a:pPr>
            <a:r>
              <a:rPr sz="800" b="1">
                <a:solidFill>
                  <a:srgbClr val="1F3864"/>
                </a:solidFill>
              </a:rPr>
              <a:t>▸  The team managed to handle an increase in Alerts Received from Week </a:t>
            </a:r>
            <a:r>
              <a:rPr sz="800" b="1">
                <a:solidFill>
                  <a:srgbClr val="0D47A1"/>
                </a:solidFill>
              </a:rPr>
              <a:t>3</a:t>
            </a:r>
            <a:r>
              <a:rPr sz="800" b="0">
                <a:solidFill>
                  <a:srgbClr val="1F3864"/>
                </a:solidFill>
              </a:rPr>
              <a:t>'s </a:t>
            </a:r>
            <a:r>
              <a:rPr sz="800" b="1">
                <a:solidFill>
                  <a:srgbClr val="0D47A1"/>
                </a:solidFill>
              </a:rPr>
              <a:t>1490</a:t>
            </a:r>
            <a:r>
              <a:rPr sz="800" b="0">
                <a:solidFill>
                  <a:srgbClr val="1F3864"/>
                </a:solidFill>
              </a:rPr>
              <a:t> to this week's total of </a:t>
            </a:r>
            <a:r>
              <a:rPr sz="800" b="1">
                <a:solidFill>
                  <a:srgbClr val="0D47A1"/>
                </a:solidFill>
              </a:rPr>
              <a:t>1890</a:t>
            </a:r>
            <a:r>
              <a:rPr sz="800" b="0">
                <a:solidFill>
                  <a:srgbClr val="1F3864"/>
                </a:solidFill>
              </a:rPr>
              <a:t>.</a:t>
            </a:r>
          </a:p>
          <a:p>
            <a:pPr>
              <a:spcBef>
                <a:spcPts val="200"/>
              </a:spcBef>
              <a:spcAft>
                <a:spcPts val="100"/>
              </a:spcAft>
            </a:pPr>
            <a:r>
              <a:rPr sz="800" b="1">
                <a:solidFill>
                  <a:srgbClr val="1F3864"/>
                </a:solidFill>
              </a:rPr>
              <a:t>▸  With a consistent auto-resolution rate at </a:t>
            </a:r>
            <a:r>
              <a:rPr sz="800" b="1">
                <a:solidFill>
                  <a:srgbClr val="0D47A1"/>
                </a:solidFill>
              </a:rPr>
              <a:t>85%</a:t>
            </a:r>
            <a:r>
              <a:rPr sz="800" b="0">
                <a:solidFill>
                  <a:srgbClr val="1F3864"/>
                </a:solidFill>
              </a:rPr>
              <a:t>, the team effectively resolved alerts without NOC intervention, contributing to maintaining SLA Compliance above target levels.</a:t>
            </a:r>
          </a:p>
          <a:p>
            <a:pPr>
              <a:spcBef>
                <a:spcPts val="200"/>
              </a:spcBef>
              <a:spcAft>
                <a:spcPts val="100"/>
              </a:spcAft>
            </a:pPr>
            <a:r>
              <a:rPr sz="800" b="1">
                <a:solidFill>
                  <a:srgbClr val="1F3864"/>
                </a:solidFill>
              </a:rPr>
              <a:t>▸  The deployment of a new runbook for DB alert cluster has been instrumental in managing Priority incidents efficiently.</a:t>
            </a:r>
          </a:p>
        </p:txBody>
      </p:sp>
      <p:sp>
        <p:nvSpPr>
          <p:cNvPr id="15" name="Rectangle 14"/>
          <p:cNvSpPr/>
          <p:nvPr/>
        </p:nvSpPr>
        <p:spPr>
          <a:xfrm>
            <a:off x="0" y="3781044"/>
            <a:ext cx="3657600" cy="2125980"/>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3781044"/>
            <a:ext cx="3657600" cy="2125980"/>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781044"/>
            <a:ext cx="7315200" cy="2125980"/>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43884" y="3781044"/>
            <a:ext cx="27432" cy="2125980"/>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781044"/>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 y="3845052"/>
            <a:ext cx="3502152" cy="246888"/>
          </a:xfrm>
          <a:prstGeom prst="rect">
            <a:avLst/>
          </a:prstGeom>
          <a:noFill/>
        </p:spPr>
        <p:txBody>
          <a:bodyPr wrap="none">
            <a:spAutoFit/>
          </a:bodyPr>
          <a:lstStyle/>
          <a:p>
            <a:pPr>
              <a:defRPr b="1" sz="1050">
                <a:solidFill>
                  <a:srgbClr val="FFFFFF"/>
                </a:solidFill>
              </a:defRPr>
            </a:pPr>
            <a:r>
              <a:t>KEY ACHIEVEMENTS</a:t>
            </a:r>
          </a:p>
        </p:txBody>
      </p:sp>
      <p:sp>
        <p:nvSpPr>
          <p:cNvPr id="21" name="Rectangle 20"/>
          <p:cNvSpPr/>
          <p:nvPr/>
        </p:nvSpPr>
        <p:spPr>
          <a:xfrm>
            <a:off x="3657600" y="3781044"/>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3845052"/>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3" name="Rectangle 22"/>
          <p:cNvSpPr/>
          <p:nvPr/>
        </p:nvSpPr>
        <p:spPr>
          <a:xfrm>
            <a:off x="73152" y="415594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 y="415594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 y="4219956"/>
            <a:ext cx="3360420" cy="484632"/>
          </a:xfrm>
          <a:prstGeom prst="rect">
            <a:avLst/>
          </a:prstGeom>
          <a:noFill/>
        </p:spPr>
        <p:txBody>
          <a:bodyPr wrap="square">
            <a:spAutoFit/>
          </a:bodyPr>
          <a:lstStyle/>
          <a:p>
            <a:pPr>
              <a:spcBef>
                <a:spcPts val="200"/>
              </a:spcBef>
              <a:spcAft>
                <a:spcPts val="100"/>
              </a:spcAft>
            </a:pPr>
            <a:r>
              <a:rPr sz="800" b="1">
                <a:solidFill>
                  <a:srgbClr val="1A3A28"/>
                </a:solidFill>
              </a:rPr>
              <a:t>✓  The team managed to handle an increase in Alerts Received from Week </a:t>
            </a:r>
            <a:r>
              <a:rPr sz="800" b="1">
                <a:solidFill>
                  <a:srgbClr val="0A5030"/>
                </a:solidFill>
              </a:rPr>
              <a:t>3</a:t>
            </a:r>
            <a:r>
              <a:rPr sz="800" b="0">
                <a:solidFill>
                  <a:srgbClr val="1A3A28"/>
                </a:solidFill>
              </a:rPr>
              <a:t>'s </a:t>
            </a:r>
            <a:r>
              <a:rPr sz="800" b="1">
                <a:solidFill>
                  <a:srgbClr val="0A5030"/>
                </a:solidFill>
              </a:rPr>
              <a:t>1490</a:t>
            </a:r>
            <a:r>
              <a:rPr sz="800" b="0">
                <a:solidFill>
                  <a:srgbClr val="1A3A28"/>
                </a:solidFill>
              </a:rPr>
              <a:t> to this week's total of </a:t>
            </a:r>
            <a:r>
              <a:rPr sz="800" b="1">
                <a:solidFill>
                  <a:srgbClr val="0A5030"/>
                </a:solidFill>
              </a:rPr>
              <a:t>1890</a:t>
            </a:r>
            <a:r>
              <a:rPr sz="800" b="0">
                <a:solidFill>
                  <a:srgbClr val="1A3A28"/>
                </a:solidFill>
              </a:rPr>
              <a:t>.</a:t>
            </a:r>
          </a:p>
        </p:txBody>
      </p:sp>
      <p:sp>
        <p:nvSpPr>
          <p:cNvPr id="26" name="Rectangle 25"/>
          <p:cNvSpPr/>
          <p:nvPr/>
        </p:nvSpPr>
        <p:spPr>
          <a:xfrm>
            <a:off x="73152" y="4814316"/>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 y="4814316"/>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 y="4878324"/>
            <a:ext cx="3360420" cy="484632"/>
          </a:xfrm>
          <a:prstGeom prst="rect">
            <a:avLst/>
          </a:prstGeom>
          <a:noFill/>
        </p:spPr>
        <p:txBody>
          <a:bodyPr wrap="square">
            <a:spAutoFit/>
          </a:bodyPr>
          <a:lstStyle/>
          <a:p>
            <a:pPr>
              <a:spcBef>
                <a:spcPts val="200"/>
              </a:spcBef>
              <a:spcAft>
                <a:spcPts val="100"/>
              </a:spcAft>
            </a:pPr>
            <a:r>
              <a:rPr sz="800" b="1">
                <a:solidFill>
                  <a:srgbClr val="1A3A28"/>
                </a:solidFill>
              </a:rPr>
              <a:t>✓  With a consistent auto-resolution rate at </a:t>
            </a:r>
            <a:r>
              <a:rPr sz="800" b="1">
                <a:solidFill>
                  <a:srgbClr val="0A5030"/>
                </a:solidFill>
              </a:rPr>
              <a:t>85%</a:t>
            </a:r>
            <a:r>
              <a:rPr sz="800" b="0">
                <a:solidFill>
                  <a:srgbClr val="1A3A28"/>
                </a:solidFill>
              </a:rPr>
              <a:t>, the team effectively resolved alerts without NOC intervention, contributing to maintaining SLA Compliance above target levels.</a:t>
            </a:r>
          </a:p>
        </p:txBody>
      </p:sp>
      <p:sp>
        <p:nvSpPr>
          <p:cNvPr id="29" name="Rectangle 28"/>
          <p:cNvSpPr/>
          <p:nvPr/>
        </p:nvSpPr>
        <p:spPr>
          <a:xfrm>
            <a:off x="3730752" y="415594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30752" y="415594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54196" y="4219956"/>
            <a:ext cx="3360420" cy="484632"/>
          </a:xfrm>
          <a:prstGeom prst="rect">
            <a:avLst/>
          </a:prstGeom>
          <a:noFill/>
        </p:spPr>
        <p:txBody>
          <a:bodyPr wrap="square">
            <a:spAutoFit/>
          </a:bodyPr>
          <a:lstStyle/>
          <a:p>
            <a:pPr>
              <a:spcBef>
                <a:spcPts val="200"/>
              </a:spcBef>
              <a:spcAft>
                <a:spcPts val="100"/>
              </a:spcAft>
            </a:pPr>
            <a:r>
              <a:rPr sz="800" b="1">
                <a:solidFill>
                  <a:srgbClr val="3A2810"/>
                </a:solidFill>
              </a:rPr>
              <a:t>→  To further improve the auto-resolution rate and reduce Alerts Received, consider optimizing current incident management processes or implementing additional automation where feasible.</a:t>
            </a:r>
          </a:p>
        </p:txBody>
      </p:sp>
      <p:sp>
        <p:nvSpPr>
          <p:cNvPr id="32" name="Rectangle 31"/>
          <p:cNvSpPr/>
          <p:nvPr/>
        </p:nvSpPr>
        <p:spPr>
          <a:xfrm>
            <a:off x="3730752" y="4814316"/>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30752" y="4814316"/>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54196" y="4878324"/>
            <a:ext cx="3360420" cy="484632"/>
          </a:xfrm>
          <a:prstGeom prst="rect">
            <a:avLst/>
          </a:prstGeom>
          <a:noFill/>
        </p:spPr>
        <p:txBody>
          <a:bodyPr wrap="square">
            <a:spAutoFit/>
          </a:bodyPr>
          <a:lstStyle/>
          <a:p>
            <a:pPr>
              <a:spcBef>
                <a:spcPts val="200"/>
              </a:spcBef>
              <a:spcAft>
                <a:spcPts val="100"/>
              </a:spcAft>
            </a:pPr>
            <a:r>
              <a:rPr sz="800" b="1">
                <a:solidFill>
                  <a:srgbClr val="3A2810"/>
                </a:solidFill>
              </a:rPr>
              <a:t>→  Given that P1 Incidents are critical to customer experience, prioritize continuous improvement in handling these incidents with minimal MTTR Hours while aiming for zero tolerance on SLA Compliance breaches.</a:t>
            </a:r>
          </a:p>
        </p:txBody>
      </p:sp>
      <p:graphicFrame>
        <p:nvGraphicFramePr>
          <p:cNvPr id="35" name="Table 34"/>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Alerts Received</a:t>
                      </a:r>
                    </a:p>
                  </a:txBody>
                  <a:tcPr>
                    <a:solidFill>
                      <a:srgbClr val="FFFFFF"/>
                    </a:solidFill>
                  </a:tcPr>
                </a:tc>
                <a:tc>
                  <a:txBody>
                    <a:bodyPr wrap="square"/>
                    <a:lstStyle/>
                    <a:p>
                      <a:pPr>
                        <a:defRPr sz="550">
                          <a:solidFill>
                            <a:srgbClr val="333333"/>
                          </a:solidFill>
                        </a:defRPr>
                      </a:pPr>
                      <a:r>
                        <a:t>Total number of monitoring alerts received by NOC team</a:t>
                      </a:r>
                    </a:p>
                  </a:txBody>
                  <a:tcPr>
                    <a:solidFill>
                      <a:srgbClr val="FFFFFF"/>
                    </a:solidFill>
                  </a:tcPr>
                </a:tc>
                <a:tc>
                  <a:txBody>
                    <a:bodyPr wrap="square"/>
                    <a:lstStyle/>
                    <a:p>
                      <a:pPr>
                        <a:defRPr sz="550">
                          <a:solidFill>
                            <a:srgbClr val="333333"/>
                          </a:solidFill>
                        </a:defRPr>
                      </a:pPr>
                      <a:r>
                        <a:t>Includes all severity levels from all monitored infrastructure</a:t>
                      </a:r>
                    </a:p>
                  </a:txBody>
                  <a:tcPr>
                    <a:solidFill>
                      <a:srgbClr val="FFFFFF"/>
                    </a:solidFill>
                  </a:tcPr>
                </a:tc>
              </a:tr>
              <a:tr h="182880">
                <a:tc>
                  <a:txBody>
                    <a:bodyPr wrap="square"/>
                    <a:lstStyle/>
                    <a:p>
                      <a:pPr>
                        <a:defRPr sz="550" b="1">
                          <a:solidFill>
                            <a:srgbClr val="1F3864"/>
                          </a:solidFill>
                        </a:defRPr>
                      </a:pPr>
                      <a:r>
                        <a:t>Alerts Auto-Resolved</a:t>
                      </a:r>
                    </a:p>
                  </a:txBody>
                  <a:tcPr>
                    <a:solidFill>
                      <a:srgbClr val="E9F0F8"/>
                    </a:solidFill>
                  </a:tcPr>
                </a:tc>
                <a:tc>
                  <a:txBody>
                    <a:bodyPr wrap="square"/>
                    <a:lstStyle/>
                    <a:p>
                      <a:pPr>
                        <a:defRPr sz="550">
                          <a:solidFill>
                            <a:srgbClr val="333333"/>
                          </a:solidFill>
                        </a:defRPr>
                      </a:pPr>
                      <a:r>
                        <a:t>Number of alerts automatically resolved without NOC intervention</a:t>
                      </a:r>
                    </a:p>
                  </a:txBody>
                  <a:tcPr>
                    <a:solidFill>
                      <a:srgbClr val="E9F0F8"/>
                    </a:solidFill>
                  </a:tcPr>
                </a:tc>
                <a:tc>
                  <a:txBody>
                    <a:bodyPr wrap="square"/>
                    <a:lstStyle/>
                    <a:p>
                      <a:pPr>
                        <a:defRPr sz="550">
                          <a:solidFill>
                            <a:srgbClr val="333333"/>
                          </a:solidFill>
                        </a:defRPr>
                      </a:pPr>
                      <a:r>
                        <a:t>Auto-remediation scripts and rules resolving alerts without manual action</a:t>
                      </a:r>
                    </a:p>
                  </a:txBody>
                  <a:tcPr>
                    <a:solidFill>
                      <a:srgbClr val="E9F0F8"/>
                    </a:solidFill>
                  </a:tcPr>
                </a:tc>
              </a:tr>
              <a:tr h="182880">
                <a:tc>
                  <a:txBody>
                    <a:bodyPr wrap="square"/>
                    <a:lstStyle/>
                    <a:p>
                      <a:pPr>
                        <a:defRPr sz="550" b="1">
                          <a:solidFill>
                            <a:srgbClr val="1F3864"/>
                          </a:solidFill>
                        </a:defRPr>
                      </a:pPr>
                      <a:r>
                        <a:t>P1 Incidents</a:t>
                      </a:r>
                    </a:p>
                  </a:txBody>
                  <a:tcPr>
                    <a:solidFill>
                      <a:srgbClr val="FFFFFF"/>
                    </a:solidFill>
                  </a:tcPr>
                </a:tc>
                <a:tc>
                  <a:txBody>
                    <a:bodyPr wrap="square"/>
                    <a:lstStyle/>
                    <a:p>
                      <a:pPr>
                        <a:defRPr sz="550">
                          <a:solidFill>
                            <a:srgbClr val="333333"/>
                          </a:solidFill>
                        </a:defRPr>
                      </a:pPr>
                      <a:r>
                        <a:t>Number of Priority 1 incidents detected and managed by NOC</a:t>
                      </a:r>
                    </a:p>
                  </a:txBody>
                  <a:tcPr>
                    <a:solidFill>
                      <a:srgbClr val="FFFFFF"/>
                    </a:solidFill>
                  </a:tcPr>
                </a:tc>
                <a:tc>
                  <a:txBody>
                    <a:bodyPr wrap="square"/>
                    <a:lstStyle/>
                    <a:p>
                      <a:pPr>
                        <a:defRPr sz="550">
                          <a:solidFill>
                            <a:srgbClr val="333333"/>
                          </a:solidFill>
                        </a:defRPr>
                      </a:pPr>
                      <a:r>
                        <a:t>Critical outages requiring immediate NOC escalation to MIM team</a:t>
                      </a:r>
                    </a:p>
                  </a:txBody>
                  <a:tcPr>
                    <a:solidFill>
                      <a:srgbClr val="FFFFFF"/>
                    </a:solidFill>
                  </a:tcPr>
                </a:tc>
              </a:tr>
              <a:tr h="182880">
                <a:tc>
                  <a:txBody>
                    <a:bodyPr wrap="square"/>
                    <a:lstStyle/>
                    <a:p>
                      <a:pPr>
                        <a:defRPr sz="550" b="1">
                          <a:solidFill>
                            <a:srgbClr val="1F3864"/>
                          </a:solidFill>
                        </a:defRPr>
                      </a:pPr>
                      <a:r>
                        <a:t>P2 Incidents</a:t>
                      </a:r>
                    </a:p>
                  </a:txBody>
                  <a:tcPr>
                    <a:solidFill>
                      <a:srgbClr val="E9F0F8"/>
                    </a:solidFill>
                  </a:tcPr>
                </a:tc>
                <a:tc>
                  <a:txBody>
                    <a:bodyPr wrap="square"/>
                    <a:lstStyle/>
                    <a:p>
                      <a:pPr>
                        <a:defRPr sz="550">
                          <a:solidFill>
                            <a:srgbClr val="333333"/>
                          </a:solidFill>
                        </a:defRPr>
                      </a:pPr>
                      <a:r>
                        <a:t>Number of Priority 2 incidents detected and managed by NOC</a:t>
                      </a:r>
                    </a:p>
                  </a:txBody>
                  <a:tcPr>
                    <a:solidFill>
                      <a:srgbClr val="E9F0F8"/>
                    </a:solidFill>
                  </a:tcPr>
                </a:tc>
                <a:tc>
                  <a:txBody>
                    <a:bodyPr wrap="square"/>
                    <a:lstStyle/>
                    <a:p>
                      <a:pPr>
                        <a:defRPr sz="550">
                          <a:solidFill>
                            <a:srgbClr val="333333"/>
                          </a:solidFill>
                        </a:defRPr>
                      </a:pPr>
                      <a:r>
                        <a:t>High severity alerts requiring prompt NOC investigation and response</a:t>
                      </a:r>
                    </a:p>
                  </a:txBody>
                  <a:tcPr>
                    <a:solidFill>
                      <a:srgbClr val="E9F0F8"/>
                    </a:solidFill>
                  </a:tcPr>
                </a:tc>
              </a:tr>
            </a:tbl>
          </a:graphicData>
        </a:graphic>
      </p:graphicFrame>
      <p:graphicFrame>
        <p:nvGraphicFramePr>
          <p:cNvPr id="36" name="Table 35"/>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Alerts Received</a:t>
                      </a:r>
                    </a:p>
                  </a:txBody>
                  <a:tcPr>
                    <a:solidFill>
                      <a:srgbClr val="CC0000"/>
                    </a:solidFill>
                  </a:tcPr>
                </a:tc>
                <a:tc>
                  <a:txBody>
                    <a:bodyPr wrap="square"/>
                    <a:lstStyle/>
                    <a:p>
                      <a:pPr algn="ctr">
                        <a:defRPr b="1" sz="550">
                          <a:solidFill>
                            <a:srgbClr val="FFFFFF"/>
                          </a:solidFill>
                        </a:defRPr>
                      </a:pPr>
                      <a:r>
                        <a:t>Alerts Auto-Resolved</a:t>
                      </a:r>
                    </a:p>
                  </a:txBody>
                  <a:tcPr>
                    <a:solidFill>
                      <a:srgbClr val="CC0000"/>
                    </a:solidFill>
                  </a:tcPr>
                </a:tc>
                <a:tc>
                  <a:txBody>
                    <a:bodyPr wrap="square"/>
                    <a:lstStyle/>
                    <a:p>
                      <a:pPr algn="ctr">
                        <a:defRPr b="1" sz="550">
                          <a:solidFill>
                            <a:srgbClr val="FFFFFF"/>
                          </a:solidFill>
                        </a:defRPr>
                      </a:pPr>
                      <a:r>
                        <a:t>P1 Incidents</a:t>
                      </a:r>
                    </a:p>
                  </a:txBody>
                  <a:tcPr>
                    <a:solidFill>
                      <a:srgbClr val="CC0000"/>
                    </a:solidFill>
                  </a:tcPr>
                </a:tc>
                <a:tc>
                  <a:txBody>
                    <a:bodyPr wrap="square"/>
                    <a:lstStyle/>
                    <a:p>
                      <a:pPr algn="ctr">
                        <a:defRPr b="1" sz="550">
                          <a:solidFill>
                            <a:srgbClr val="FFFFFF"/>
                          </a:solidFill>
                        </a:defRPr>
                      </a:pPr>
                      <a:r>
                        <a:t>P2 Incidents</a:t>
                      </a:r>
                    </a:p>
                  </a:txBody>
                  <a:tcPr>
                    <a:solidFill>
                      <a:srgbClr val="CC0000"/>
                    </a:solidFill>
                  </a:tcPr>
                </a:tc>
                <a:tc>
                  <a:txBody>
                    <a:bodyPr wrap="square"/>
                    <a:lstStyle/>
                    <a:p>
                      <a:pPr algn="ctr">
                        <a:defRPr b="1" sz="550">
                          <a:solidFill>
                            <a:srgbClr val="FFFFFF"/>
                          </a:solidFill>
                        </a:defRPr>
                      </a:pPr>
                      <a:r>
                        <a:t>MTTR Hours</a:t>
                      </a:r>
                    </a:p>
                  </a:txBody>
                  <a:tcPr>
                    <a:solidFill>
                      <a:srgbClr val="CC0000"/>
                    </a:solidFill>
                  </a:tcPr>
                </a:tc>
                <a:tc>
                  <a:txBody>
                    <a:bodyPr wrap="square"/>
                    <a:lstStyle/>
                    <a:p>
                      <a:pPr algn="ctr">
                        <a:defRPr b="1" sz="550">
                          <a:solidFill>
                            <a:srgbClr val="FFFFFF"/>
                          </a:solidFill>
                        </a:defRPr>
                      </a:pPr>
                      <a:r>
                        <a:t>SLA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1890</a:t>
                      </a:r>
                    </a:p>
                  </a:txBody>
                  <a:tcPr>
                    <a:solidFill>
                      <a:srgbClr val="F5F5F5"/>
                    </a:solidFill>
                  </a:tcPr>
                </a:tc>
                <a:tc>
                  <a:txBody>
                    <a:bodyPr/>
                    <a:lstStyle/>
                    <a:p>
                      <a:pPr algn="ctr">
                        <a:defRPr sz="700" b="1">
                          <a:solidFill>
                            <a:srgbClr val="333333"/>
                          </a:solidFill>
                        </a:defRPr>
                      </a:pPr>
                      <a:r>
                        <a:t>1610</a:t>
                      </a:r>
                    </a:p>
                  </a:txBody>
                  <a:tcPr>
                    <a:solidFill>
                      <a:srgbClr val="F5F5F5"/>
                    </a:solidFill>
                  </a:tcPr>
                </a:tc>
                <a:tc>
                  <a:txBody>
                    <a:bodyPr/>
                    <a:lstStyle/>
                    <a:p>
                      <a:pPr algn="ctr">
                        <a:defRPr sz="700" b="1">
                          <a:solidFill>
                            <a:srgbClr val="FFFFFF"/>
                          </a:solidFill>
                        </a:defRPr>
                      </a:pPr>
                      <a:r>
                        <a:t>2</a:t>
                      </a:r>
                    </a:p>
                  </a:txBody>
                  <a:tcPr>
                    <a:solidFill>
                      <a:srgbClr val="1A7348"/>
                    </a:solidFill>
                  </a:tcPr>
                </a:tc>
                <a:tc>
                  <a:txBody>
                    <a:bodyPr/>
                    <a:lstStyle/>
                    <a:p>
                      <a:pPr algn="ctr">
                        <a:defRPr sz="700" b="1">
                          <a:solidFill>
                            <a:srgbClr val="FFFFFF"/>
                          </a:solidFill>
                        </a:defRPr>
                      </a:pPr>
                      <a:r>
                        <a:t>5</a:t>
                      </a:r>
                    </a:p>
                  </a:txBody>
                  <a:tcPr>
                    <a:solidFill>
                      <a:srgbClr val="1A7348"/>
                    </a:solidFill>
                  </a:tcPr>
                </a:tc>
                <a:tc>
                  <a:txBody>
                    <a:bodyPr/>
                    <a:lstStyle/>
                    <a:p>
                      <a:pPr algn="ctr">
                        <a:defRPr sz="700" b="1">
                          <a:solidFill>
                            <a:srgbClr val="FFFFFF"/>
                          </a:solidFill>
                        </a:defRPr>
                      </a:pPr>
                      <a:r>
                        <a:t>1.7</a:t>
                      </a:r>
                    </a:p>
                  </a:txBody>
                  <a:tcPr>
                    <a:solidFill>
                      <a:srgbClr val="1A7348"/>
                    </a:solidFill>
                  </a:tcPr>
                </a:tc>
                <a:tc>
                  <a:txBody>
                    <a:bodyPr/>
                    <a:lstStyle/>
                    <a:p>
                      <a:pPr algn="ctr">
                        <a:defRPr sz="700" b="1">
                          <a:solidFill>
                            <a:srgbClr val="FFFFFF"/>
                          </a:solidFill>
                        </a:defRPr>
                      </a:pPr>
                      <a:r>
                        <a:t>97%</a:t>
                      </a:r>
                    </a:p>
                  </a:txBody>
                  <a:tcPr>
                    <a:solidFill>
                      <a:srgbClr val="1A7348"/>
                    </a:solidFill>
                  </a:tcPr>
                </a:tc>
              </a:tr>
            </a:tbl>
          </a:graphicData>
        </a:graphic>
      </p:graphicFrame>
      <p:graphicFrame>
        <p:nvGraphicFramePr>
          <p:cNvPr id="37" name="Chart 36"/>
          <p:cNvGraphicFramePr>
            <a:graphicFrameLocks noGrp="1"/>
          </p:cNvGraphicFramePr>
          <p:nvPr/>
        </p:nvGraphicFramePr>
        <p:xfrm>
          <a:off x="7452360" y="978408"/>
          <a:ext cx="4526280" cy="2423160"/>
        </p:xfrm>
        <a:graphic>
          <a:graphicData uri="http://schemas.openxmlformats.org/drawingml/2006/chart">
            <c:chart xmlns:c="http://schemas.openxmlformats.org/drawingml/2006/chart" r:id="rId4"/>
          </a:graphicData>
        </a:graphic>
      </p:graphicFrame>
      <p:graphicFrame>
        <p:nvGraphicFramePr>
          <p:cNvPr id="38" name="Chart 37"/>
          <p:cNvGraphicFramePr>
            <a:graphicFrameLocks noGrp="1"/>
          </p:cNvGraphicFramePr>
          <p:nvPr/>
        </p:nvGraphicFramePr>
        <p:xfrm>
          <a:off x="7452360" y="3474720"/>
          <a:ext cx="4526280" cy="2423160"/>
        </p:xfrm>
        <a:graphic>
          <a:graphicData uri="http://schemas.openxmlformats.org/drawingml/2006/chart">
            <c:chart xmlns:c="http://schemas.openxmlformats.org/drawingml/2006/chart" r:id="rId5"/>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ServiceNow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≥95%</a:t>
            </a:r>
          </a:p>
          <a:p>
            <a:pPr>
              <a:spcBef>
                <a:spcPts val="0"/>
              </a:spcBef>
              <a:spcAft>
                <a:spcPts val="0"/>
              </a:spcAft>
            </a:pPr>
            <a:r>
              <a:rPr sz="650" b="1">
                <a:solidFill>
                  <a:srgbClr val="FFC000"/>
                </a:solidFill>
              </a:rPr>
              <a:t>■ Amber 90–94%</a:t>
            </a:r>
          </a:p>
          <a:p>
            <a:pPr>
              <a:spcBef>
                <a:spcPts val="0"/>
              </a:spcBef>
              <a:spcAft>
                <a:spcPts val="0"/>
              </a:spcAft>
            </a:pPr>
            <a:r>
              <a:rPr sz="650" b="1">
                <a:solidFill>
                  <a:srgbClr val="CC0000"/>
                </a:solidFill>
              </a:rPr>
              <a:t>■ Red  &lt;90%</a:t>
            </a:r>
          </a:p>
        </p:txBody>
      </p:sp>
      <p:sp>
        <p:nvSpPr>
          <p:cNvPr id="5" name="Rectangle 4"/>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7" name="Rectangle 6"/>
          <p:cNvSpPr/>
          <p:nvPr/>
        </p:nvSpPr>
        <p:spPr>
          <a:xfrm>
            <a:off x="0" y="978408"/>
            <a:ext cx="7315200" cy="1156716"/>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10" name="TextBox 9"/>
          <p:cNvSpPr txBox="1"/>
          <p:nvPr/>
        </p:nvSpPr>
        <p:spPr>
          <a:xfrm>
            <a:off x="128016" y="1316736"/>
            <a:ext cx="7059168" cy="790956"/>
          </a:xfrm>
          <a:prstGeom prst="rect">
            <a:avLst/>
          </a:prstGeom>
          <a:noFill/>
        </p:spPr>
        <p:txBody>
          <a:bodyPr wrap="square">
            <a:spAutoFit/>
          </a:bodyPr>
          <a:lstStyle/>
          <a:p>
            <a:pPr>
              <a:spcBef>
                <a:spcPts val="200"/>
              </a:spcBef>
              <a:spcAft>
                <a:spcPts val="100"/>
              </a:spcAft>
            </a:pPr>
            <a:r>
              <a:rPr sz="850" b="0">
                <a:solidFill>
                  <a:srgbClr val="3A3A3A"/>
                </a:solidFill>
              </a:rPr>
              <a:t>The ServiceNow ITSM team maintained a high level of performance this week, with the resolution rate remaining above our target at </a:t>
            </a:r>
            <a:r>
              <a:rPr sz="850" b="1">
                <a:solidFill>
                  <a:srgbClr val="1F3864"/>
                </a:solidFill>
              </a:rPr>
              <a:t>95.2%</a:t>
            </a:r>
            <a:r>
              <a:rPr sz="850" b="0">
                <a:solidFill>
                  <a:srgbClr val="3A3A3A"/>
                </a:solidFill>
              </a:rPr>
              <a:t> and First Call Resolution consistently meeting or exceeding expectations at </a:t>
            </a:r>
            <a:r>
              <a:rPr sz="850" b="1">
                <a:solidFill>
                  <a:srgbClr val="1F3864"/>
                </a:solidFill>
              </a:rPr>
              <a:t>84%</a:t>
            </a:r>
            <a:r>
              <a:rPr sz="850" b="0">
                <a:solidFill>
                  <a:srgbClr val="3A3A3A"/>
                </a:solidFill>
              </a:rPr>
              <a:t>. The total tickets increased to </a:t>
            </a:r>
            <a:r>
              <a:rPr sz="850" b="1">
                <a:solidFill>
                  <a:srgbClr val="1F3864"/>
                </a:solidFill>
              </a:rPr>
              <a:t>230</a:t>
            </a:r>
            <a:r>
              <a:rPr sz="850" b="0">
                <a:solidFill>
                  <a:srgbClr val="3A3A3A"/>
                </a:solidFill>
              </a:rPr>
              <a:t> from </a:t>
            </a:r>
            <a:r>
              <a:rPr sz="850" b="1">
                <a:solidFill>
                  <a:srgbClr val="1F3864"/>
                </a:solidFill>
              </a:rPr>
              <a:t>198</a:t>
            </a:r>
            <a:r>
              <a:rPr sz="850" b="0">
                <a:solidFill>
                  <a:srgbClr val="3A3A3A"/>
                </a:solidFill>
              </a:rPr>
              <a:t> in Week </a:t>
            </a:r>
            <a:r>
              <a:rPr sz="850" b="1">
                <a:solidFill>
                  <a:srgbClr val="1F3864"/>
                </a:solidFill>
              </a:rPr>
              <a:t>3,</a:t>
            </a:r>
            <a:r>
              <a:rPr sz="850" b="0">
                <a:solidFill>
                  <a:srgbClr val="3A3A3A"/>
                </a:solidFill>
              </a:rPr>
              <a:t> while escalated tickets saw a slight increase of </a:t>
            </a:r>
            <a:r>
              <a:rPr sz="850" b="1">
                <a:solidFill>
                  <a:srgbClr val="1F3864"/>
                </a:solidFill>
              </a:rPr>
              <a:t>9</a:t>
            </a:r>
            <a:r>
              <a:rPr sz="850" b="0">
                <a:solidFill>
                  <a:srgbClr val="3A3A3A"/>
                </a:solidFill>
              </a:rPr>
              <a:t> this week compared to the previous low point.</a:t>
            </a:r>
          </a:p>
        </p:txBody>
      </p:sp>
      <p:sp>
        <p:nvSpPr>
          <p:cNvPr id="11" name="Rectangle 10"/>
          <p:cNvSpPr/>
          <p:nvPr/>
        </p:nvSpPr>
        <p:spPr>
          <a:xfrm>
            <a:off x="0" y="2226564"/>
            <a:ext cx="7315200" cy="877824"/>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226564"/>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 y="2272284"/>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4" name="TextBox 13"/>
          <p:cNvSpPr txBox="1"/>
          <p:nvPr/>
        </p:nvSpPr>
        <p:spPr>
          <a:xfrm>
            <a:off x="128016" y="2564892"/>
            <a:ext cx="7059168" cy="512064"/>
          </a:xfrm>
          <a:prstGeom prst="rect">
            <a:avLst/>
          </a:prstGeom>
          <a:noFill/>
        </p:spPr>
        <p:txBody>
          <a:bodyPr wrap="square">
            <a:spAutoFit/>
          </a:bodyPr>
          <a:lstStyle/>
          <a:p>
            <a:pPr>
              <a:spcBef>
                <a:spcPts val="200"/>
              </a:spcBef>
              <a:spcAft>
                <a:spcPts val="100"/>
              </a:spcAft>
            </a:pPr>
            <a:r>
              <a:rPr sz="800" b="1">
                <a:solidFill>
                  <a:srgbClr val="1F3864"/>
                </a:solidFill>
              </a:rPr>
              <a:t>▸  Week </a:t>
            </a:r>
            <a:r>
              <a:rPr sz="800" b="1">
                <a:solidFill>
                  <a:srgbClr val="0D47A1"/>
                </a:solidFill>
              </a:rPr>
              <a:t>4</a:t>
            </a:r>
          </a:p>
          <a:p>
            <a:pPr>
              <a:spcBef>
                <a:spcPts val="200"/>
              </a:spcBef>
              <a:spcAft>
                <a:spcPts val="100"/>
              </a:spcAft>
            </a:pPr>
            <a:r>
              <a:rPr sz="800" b="1">
                <a:solidFill>
                  <a:srgbClr val="1F3864"/>
                </a:solidFill>
              </a:rPr>
              <a:t>▸  Week </a:t>
            </a:r>
            <a:r>
              <a:rPr sz="800" b="1">
                <a:solidFill>
                  <a:srgbClr val="0D47A1"/>
                </a:solidFill>
              </a:rPr>
              <a:t>4</a:t>
            </a:r>
          </a:p>
          <a:p>
            <a:pPr>
              <a:spcBef>
                <a:spcPts val="200"/>
              </a:spcBef>
              <a:spcAft>
                <a:spcPts val="100"/>
              </a:spcAft>
            </a:pPr>
            <a:r>
              <a:rPr sz="800" b="1">
                <a:solidFill>
                  <a:srgbClr val="1F3864"/>
                </a:solidFill>
              </a:rPr>
              <a:t>▸  Week </a:t>
            </a:r>
            <a:r>
              <a:rPr sz="800" b="1">
                <a:solidFill>
                  <a:srgbClr val="0D47A1"/>
                </a:solidFill>
              </a:rPr>
              <a:t>4</a:t>
            </a:r>
          </a:p>
        </p:txBody>
      </p:sp>
      <p:sp>
        <p:nvSpPr>
          <p:cNvPr id="15" name="Rectangle 14"/>
          <p:cNvSpPr/>
          <p:nvPr/>
        </p:nvSpPr>
        <p:spPr>
          <a:xfrm>
            <a:off x="0" y="3195828"/>
            <a:ext cx="3657600" cy="2711196"/>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3195828"/>
            <a:ext cx="3657600" cy="2711196"/>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195828"/>
            <a:ext cx="7315200" cy="271119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43884" y="3195828"/>
            <a:ext cx="27432" cy="271119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195828"/>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 y="3259836"/>
            <a:ext cx="3502152" cy="246888"/>
          </a:xfrm>
          <a:prstGeom prst="rect">
            <a:avLst/>
          </a:prstGeom>
          <a:noFill/>
        </p:spPr>
        <p:txBody>
          <a:bodyPr wrap="none">
            <a:spAutoFit/>
          </a:bodyPr>
          <a:lstStyle/>
          <a:p>
            <a:pPr>
              <a:defRPr b="1" sz="1050">
                <a:solidFill>
                  <a:srgbClr val="FFFFFF"/>
                </a:solidFill>
              </a:defRPr>
            </a:pPr>
            <a:r>
              <a:t>KEY ACHIEVEMENTS</a:t>
            </a:r>
          </a:p>
        </p:txBody>
      </p:sp>
      <p:sp>
        <p:nvSpPr>
          <p:cNvPr id="21" name="Rectangle 20"/>
          <p:cNvSpPr/>
          <p:nvPr/>
        </p:nvSpPr>
        <p:spPr>
          <a:xfrm>
            <a:off x="3657600" y="3195828"/>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3259836"/>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3" name="Rectangle 22"/>
          <p:cNvSpPr/>
          <p:nvPr/>
        </p:nvSpPr>
        <p:spPr>
          <a:xfrm>
            <a:off x="73152" y="3570732"/>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 y="3570732"/>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 y="3634740"/>
            <a:ext cx="3360420" cy="484632"/>
          </a:xfrm>
          <a:prstGeom prst="rect">
            <a:avLst/>
          </a:prstGeom>
          <a:noFill/>
        </p:spPr>
        <p:txBody>
          <a:bodyPr wrap="square">
            <a:spAutoFit/>
          </a:bodyPr>
          <a:lstStyle/>
          <a:p>
            <a:pPr>
              <a:spcBef>
                <a:spcPts val="200"/>
              </a:spcBef>
              <a:spcAft>
                <a:spcPts val="100"/>
              </a:spcAft>
            </a:pPr>
            <a:r>
              <a:rPr sz="800" b="1">
                <a:solidFill>
                  <a:srgbClr val="1A3A28"/>
                </a:solidFill>
              </a:rPr>
              <a:t>✓  Week </a:t>
            </a:r>
            <a:r>
              <a:rPr sz="800" b="1">
                <a:solidFill>
                  <a:srgbClr val="0A5030"/>
                </a:solidFill>
              </a:rPr>
              <a:t>4</a:t>
            </a:r>
          </a:p>
        </p:txBody>
      </p:sp>
      <p:sp>
        <p:nvSpPr>
          <p:cNvPr id="26" name="Rectangle 25"/>
          <p:cNvSpPr/>
          <p:nvPr/>
        </p:nvSpPr>
        <p:spPr>
          <a:xfrm>
            <a:off x="73152" y="4229100"/>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 y="4229100"/>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 y="4293108"/>
            <a:ext cx="3360420" cy="484632"/>
          </a:xfrm>
          <a:prstGeom prst="rect">
            <a:avLst/>
          </a:prstGeom>
          <a:noFill/>
        </p:spPr>
        <p:txBody>
          <a:bodyPr wrap="square">
            <a:spAutoFit/>
          </a:bodyPr>
          <a:lstStyle/>
          <a:p>
            <a:pPr>
              <a:spcBef>
                <a:spcPts val="200"/>
              </a:spcBef>
              <a:spcAft>
                <a:spcPts val="100"/>
              </a:spcAft>
            </a:pPr>
            <a:r>
              <a:rPr sz="800" b="1">
                <a:solidFill>
                  <a:srgbClr val="1A3A28"/>
                </a:solidFill>
              </a:rPr>
              <a:t>✓  Week </a:t>
            </a:r>
            <a:r>
              <a:rPr sz="800" b="1">
                <a:solidFill>
                  <a:srgbClr val="0A5030"/>
                </a:solidFill>
              </a:rPr>
              <a:t>4</a:t>
            </a:r>
          </a:p>
        </p:txBody>
      </p:sp>
      <p:sp>
        <p:nvSpPr>
          <p:cNvPr id="29" name="Rectangle 28"/>
          <p:cNvSpPr/>
          <p:nvPr/>
        </p:nvSpPr>
        <p:spPr>
          <a:xfrm>
            <a:off x="73152" y="488746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 y="488746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6596" y="4951476"/>
            <a:ext cx="3360420" cy="484632"/>
          </a:xfrm>
          <a:prstGeom prst="rect">
            <a:avLst/>
          </a:prstGeom>
          <a:noFill/>
        </p:spPr>
        <p:txBody>
          <a:bodyPr wrap="square">
            <a:spAutoFit/>
          </a:bodyPr>
          <a:lstStyle/>
          <a:p>
            <a:pPr>
              <a:spcBef>
                <a:spcPts val="200"/>
              </a:spcBef>
              <a:spcAft>
                <a:spcPts val="100"/>
              </a:spcAft>
            </a:pPr>
            <a:r>
              <a:rPr sz="800" b="1">
                <a:solidFill>
                  <a:srgbClr val="1A3A28"/>
                </a:solidFill>
              </a:rPr>
              <a:t>✓  Week </a:t>
            </a:r>
            <a:r>
              <a:rPr sz="800" b="1">
                <a:solidFill>
                  <a:srgbClr val="0A5030"/>
                </a:solidFill>
              </a:rPr>
              <a:t>4</a:t>
            </a:r>
          </a:p>
        </p:txBody>
      </p:sp>
      <p:sp>
        <p:nvSpPr>
          <p:cNvPr id="32" name="Rectangle 31"/>
          <p:cNvSpPr/>
          <p:nvPr/>
        </p:nvSpPr>
        <p:spPr>
          <a:xfrm>
            <a:off x="3730752" y="3570732"/>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30752" y="3570732"/>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54196" y="3634740"/>
            <a:ext cx="3360420" cy="484632"/>
          </a:xfrm>
          <a:prstGeom prst="rect">
            <a:avLst/>
          </a:prstGeom>
          <a:noFill/>
        </p:spPr>
        <p:txBody>
          <a:bodyPr wrap="square">
            <a:spAutoFit/>
          </a:bodyPr>
          <a:lstStyle/>
          <a:p>
            <a:pPr>
              <a:spcBef>
                <a:spcPts val="200"/>
              </a:spcBef>
              <a:spcAft>
                <a:spcPts val="100"/>
              </a:spcAft>
            </a:pPr>
            <a:r>
              <a:rPr sz="800" b="1">
                <a:solidFill>
                  <a:srgbClr val="3A2810"/>
                </a:solidFill>
              </a:rPr>
              <a:t>→  Maintain high First Call Resolution rate and aim for further reduction in escalated tickets.</a:t>
            </a:r>
          </a:p>
        </p:txBody>
      </p:sp>
      <p:sp>
        <p:nvSpPr>
          <p:cNvPr id="35" name="Rectangle 34"/>
          <p:cNvSpPr/>
          <p:nvPr/>
        </p:nvSpPr>
        <p:spPr>
          <a:xfrm>
            <a:off x="3730752" y="4229100"/>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30752" y="4229100"/>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54196" y="4293108"/>
            <a:ext cx="3360420" cy="484632"/>
          </a:xfrm>
          <a:prstGeom prst="rect">
            <a:avLst/>
          </a:prstGeom>
          <a:noFill/>
        </p:spPr>
        <p:txBody>
          <a:bodyPr wrap="square">
            <a:spAutoFit/>
          </a:bodyPr>
          <a:lstStyle/>
          <a:p>
            <a:pPr>
              <a:spcBef>
                <a:spcPts val="200"/>
              </a:spcBef>
              <a:spcAft>
                <a:spcPts val="100"/>
              </a:spcAft>
            </a:pPr>
            <a:r>
              <a:rPr sz="800" b="1">
                <a:solidFill>
                  <a:srgbClr val="3A2810"/>
                </a:solidFill>
              </a:rPr>
              <a:t>→  Investigate the cause of increased ticket volume to better manage future spikes.</a:t>
            </a:r>
          </a:p>
        </p:txBody>
      </p:sp>
      <p:sp>
        <p:nvSpPr>
          <p:cNvPr id="38" name="Rectangle 37"/>
          <p:cNvSpPr/>
          <p:nvPr/>
        </p:nvSpPr>
        <p:spPr>
          <a:xfrm>
            <a:off x="3730752" y="488746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730752" y="488746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54196" y="4951476"/>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monitoring CSAT scores closely, especially following any significant changes or updates within IT services.</a:t>
            </a:r>
          </a:p>
        </p:txBody>
      </p:sp>
      <p:graphicFrame>
        <p:nvGraphicFramePr>
          <p:cNvPr id="41" name="Table 40"/>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Tickets</a:t>
                      </a:r>
                    </a:p>
                  </a:txBody>
                  <a:tcPr>
                    <a:solidFill>
                      <a:srgbClr val="FFFFFF"/>
                    </a:solidFill>
                  </a:tcPr>
                </a:tc>
                <a:tc>
                  <a:txBody>
                    <a:bodyPr wrap="square"/>
                    <a:lstStyle/>
                    <a:p>
                      <a:pPr>
                        <a:defRPr sz="550">
                          <a:solidFill>
                            <a:srgbClr val="333333"/>
                          </a:solidFill>
                        </a:defRPr>
                      </a:pPr>
                      <a:r>
                        <a:t>Total service requests and incidents logged in ServiceNow</a:t>
                      </a:r>
                    </a:p>
                  </a:txBody>
                  <a:tcPr>
                    <a:solidFill>
                      <a:srgbClr val="FFFFFF"/>
                    </a:solidFill>
                  </a:tcPr>
                </a:tc>
                <a:tc>
                  <a:txBody>
                    <a:bodyPr wrap="square"/>
                    <a:lstStyle/>
                    <a:p>
                      <a:pPr>
                        <a:defRPr sz="550">
                          <a:solidFill>
                            <a:srgbClr val="333333"/>
                          </a:solidFill>
                        </a:defRPr>
                      </a:pPr>
                      <a:r>
                        <a:t>Includes all request types and categories processed through the platform</a:t>
                      </a:r>
                    </a:p>
                  </a:txBody>
                  <a:tcPr>
                    <a:solidFill>
                      <a:srgbClr val="FFFFFF"/>
                    </a:solidFill>
                  </a:tcPr>
                </a:tc>
              </a:tr>
              <a:tr h="182880">
                <a:tc>
                  <a:txBody>
                    <a:bodyPr wrap="square"/>
                    <a:lstStyle/>
                    <a:p>
                      <a:pPr>
                        <a:defRPr sz="550" b="1">
                          <a:solidFill>
                            <a:srgbClr val="1F3864"/>
                          </a:solidFill>
                        </a:defRPr>
                      </a:pPr>
                      <a:r>
                        <a:t>Tickets Resolved</a:t>
                      </a:r>
                    </a:p>
                  </a:txBody>
                  <a:tcPr>
                    <a:solidFill>
                      <a:srgbClr val="E9F0F8"/>
                    </a:solidFill>
                  </a:tcPr>
                </a:tc>
                <a:tc>
                  <a:txBody>
                    <a:bodyPr wrap="square"/>
                    <a:lstStyle/>
                    <a:p>
                      <a:pPr>
                        <a:defRPr sz="550">
                          <a:solidFill>
                            <a:srgbClr val="333333"/>
                          </a:solidFill>
                        </a:defRPr>
                      </a:pPr>
                      <a:r>
                        <a:t>Number of tickets moved to resolved status in the period</a:t>
                      </a:r>
                    </a:p>
                  </a:txBody>
                  <a:tcPr>
                    <a:solidFill>
                      <a:srgbClr val="E9F0F8"/>
                    </a:solidFill>
                  </a:tcPr>
                </a:tc>
                <a:tc>
                  <a:txBody>
                    <a:bodyPr wrap="square"/>
                    <a:lstStyle/>
                    <a:p>
                      <a:pPr>
                        <a:defRPr sz="550">
                          <a:solidFill>
                            <a:srgbClr val="333333"/>
                          </a:solidFill>
                        </a:defRPr>
                      </a:pPr>
                      <a:r>
                        <a:t>Resolved tickets pending user confirmation closure after 5 days</a:t>
                      </a:r>
                    </a:p>
                  </a:txBody>
                  <a:tcPr>
                    <a:solidFill>
                      <a:srgbClr val="E9F0F8"/>
                    </a:solidFill>
                  </a:tcPr>
                </a:tc>
              </a:tr>
              <a:tr h="182880">
                <a:tc>
                  <a:txBody>
                    <a:bodyPr wrap="square"/>
                    <a:lstStyle/>
                    <a:p>
                      <a:pPr>
                        <a:defRPr sz="550" b="1">
                          <a:solidFill>
                            <a:srgbClr val="1F3864"/>
                          </a:solidFill>
                        </a:defRPr>
                      </a:pPr>
                      <a:r>
                        <a:t>Escalated Tickets</a:t>
                      </a:r>
                    </a:p>
                  </a:txBody>
                  <a:tcPr>
                    <a:solidFill>
                      <a:srgbClr val="FFFFFF"/>
                    </a:solidFill>
                  </a:tcPr>
                </a:tc>
                <a:tc>
                  <a:txBody>
                    <a:bodyPr wrap="square"/>
                    <a:lstStyle/>
                    <a:p>
                      <a:pPr>
                        <a:defRPr sz="550">
                          <a:solidFill>
                            <a:srgbClr val="333333"/>
                          </a:solidFill>
                        </a:defRPr>
                      </a:pPr>
                      <a:r>
                        <a:t>Number of tickets escalated to L2 or L3 support teams</a:t>
                      </a:r>
                    </a:p>
                  </a:txBody>
                  <a:tcPr>
                    <a:solidFill>
                      <a:srgbClr val="FFFFFF"/>
                    </a:solidFill>
                  </a:tcPr>
                </a:tc>
                <a:tc>
                  <a:txBody>
                    <a:bodyPr wrap="square"/>
                    <a:lstStyle/>
                    <a:p>
                      <a:pPr>
                        <a:defRPr sz="550">
                          <a:solidFill>
                            <a:srgbClr val="333333"/>
                          </a:solidFill>
                        </a:defRPr>
                      </a:pPr>
                      <a:r>
                        <a:t>Tickets that could not be resolved by first-line ServiceNow team</a:t>
                      </a:r>
                    </a:p>
                  </a:txBody>
                  <a:tcPr>
                    <a:solidFill>
                      <a:srgbClr val="FFFFFF"/>
                    </a:solidFill>
                  </a:tcPr>
                </a:tc>
              </a:tr>
              <a:tr h="182880">
                <a:tc>
                  <a:txBody>
                    <a:bodyPr wrap="square"/>
                    <a:lstStyle/>
                    <a:p>
                      <a:pPr>
                        <a:defRPr sz="550" b="1">
                          <a:solidFill>
                            <a:srgbClr val="1F3864"/>
                          </a:solidFill>
                        </a:defRPr>
                      </a:pPr>
                      <a:r>
                        <a:t>Resolution Rate</a:t>
                      </a:r>
                    </a:p>
                  </a:txBody>
                  <a:tcPr>
                    <a:solidFill>
                      <a:srgbClr val="E9F0F8"/>
                    </a:solidFill>
                  </a:tcPr>
                </a:tc>
                <a:tc>
                  <a:txBody>
                    <a:bodyPr wrap="square"/>
                    <a:lstStyle/>
                    <a:p>
                      <a:pPr>
                        <a:defRPr sz="550">
                          <a:solidFill>
                            <a:srgbClr val="333333"/>
                          </a:solidFill>
                        </a:defRPr>
                      </a:pPr>
                      <a:r>
                        <a:t>Percentage of tickets resolved within agreed SLA target</a:t>
                      </a:r>
                    </a:p>
                  </a:txBody>
                  <a:tcPr>
                    <a:solidFill>
                      <a:srgbClr val="E9F0F8"/>
                    </a:solidFill>
                  </a:tcPr>
                </a:tc>
                <a:tc>
                  <a:txBody>
                    <a:bodyPr wrap="square"/>
                    <a:lstStyle/>
                    <a:p>
                      <a:pPr>
                        <a:defRPr sz="550">
                          <a:solidFill>
                            <a:srgbClr val="333333"/>
                          </a:solidFill>
                        </a:defRPr>
                      </a:pPr>
                      <a:r>
                        <a:t>Calculated against resolution time targets by ticket category</a:t>
                      </a:r>
                    </a:p>
                  </a:txBody>
                  <a:tcPr>
                    <a:solidFill>
                      <a:srgbClr val="E9F0F8"/>
                    </a:solidFill>
                  </a:tcPr>
                </a:tc>
              </a:tr>
            </a:tbl>
          </a:graphicData>
        </a:graphic>
      </p:graphicFrame>
      <p:graphicFrame>
        <p:nvGraphicFramePr>
          <p:cNvPr id="42" name="Table 41"/>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Tickets</a:t>
                      </a:r>
                    </a:p>
                  </a:txBody>
                  <a:tcPr>
                    <a:solidFill>
                      <a:srgbClr val="CC0000"/>
                    </a:solidFill>
                  </a:tcPr>
                </a:tc>
                <a:tc>
                  <a:txBody>
                    <a:bodyPr wrap="square"/>
                    <a:lstStyle/>
                    <a:p>
                      <a:pPr algn="ctr">
                        <a:defRPr b="1" sz="550">
                          <a:solidFill>
                            <a:srgbClr val="FFFFFF"/>
                          </a:solidFill>
                        </a:defRPr>
                      </a:pPr>
                      <a:r>
                        <a:t>Tickets Resolved</a:t>
                      </a:r>
                    </a:p>
                  </a:txBody>
                  <a:tcPr>
                    <a:solidFill>
                      <a:srgbClr val="CC0000"/>
                    </a:solidFill>
                  </a:tcPr>
                </a:tc>
                <a:tc>
                  <a:txBody>
                    <a:bodyPr wrap="square"/>
                    <a:lstStyle/>
                    <a:p>
                      <a:pPr algn="ctr">
                        <a:defRPr b="1" sz="550">
                          <a:solidFill>
                            <a:srgbClr val="FFFFFF"/>
                          </a:solidFill>
                        </a:defRPr>
                      </a:pPr>
                      <a:r>
                        <a:t>Escalated Tickets</a:t>
                      </a:r>
                    </a:p>
                  </a:txBody>
                  <a:tcPr>
                    <a:solidFill>
                      <a:srgbClr val="CC0000"/>
                    </a:solidFill>
                  </a:tcPr>
                </a:tc>
                <a:tc>
                  <a:txBody>
                    <a:bodyPr wrap="square"/>
                    <a:lstStyle/>
                    <a:p>
                      <a:pPr algn="ctr">
                        <a:defRPr b="1" sz="550">
                          <a:solidFill>
                            <a:srgbClr val="FFFFFF"/>
                          </a:solidFill>
                        </a:defRPr>
                      </a:pPr>
                      <a:r>
                        <a:t>Resolution Rate</a:t>
                      </a:r>
                    </a:p>
                  </a:txBody>
                  <a:tcPr>
                    <a:solidFill>
                      <a:srgbClr val="CC0000"/>
                    </a:solidFill>
                  </a:tcPr>
                </a:tc>
                <a:tc>
                  <a:txBody>
                    <a:bodyPr wrap="square"/>
                    <a:lstStyle/>
                    <a:p>
                      <a:pPr algn="ctr">
                        <a:defRPr b="1" sz="550">
                          <a:solidFill>
                            <a:srgbClr val="FFFFFF"/>
                          </a:solidFill>
                        </a:defRPr>
                      </a:pPr>
                      <a:r>
                        <a:t>CSAT Score</a:t>
                      </a:r>
                    </a:p>
                  </a:txBody>
                  <a:tcPr>
                    <a:solidFill>
                      <a:srgbClr val="CC0000"/>
                    </a:solidFill>
                  </a:tcPr>
                </a:tc>
                <a:tc>
                  <a:txBody>
                    <a:bodyPr wrap="square"/>
                    <a:lstStyle/>
                    <a:p>
                      <a:pPr algn="ctr">
                        <a:defRPr b="1" sz="550">
                          <a:solidFill>
                            <a:srgbClr val="FFFFFF"/>
                          </a:solidFill>
                        </a:defRPr>
                      </a:pPr>
                      <a:r>
                        <a:t>First Call Resolution</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230</a:t>
                      </a:r>
                    </a:p>
                  </a:txBody>
                  <a:tcPr>
                    <a:solidFill>
                      <a:srgbClr val="F5F5F5"/>
                    </a:solidFill>
                  </a:tcPr>
                </a:tc>
                <a:tc>
                  <a:txBody>
                    <a:bodyPr/>
                    <a:lstStyle/>
                    <a:p>
                      <a:pPr algn="ctr">
                        <a:defRPr sz="700" b="1">
                          <a:solidFill>
                            <a:srgbClr val="333333"/>
                          </a:solidFill>
                        </a:defRPr>
                      </a:pPr>
                      <a:r>
                        <a:t>219</a:t>
                      </a:r>
                    </a:p>
                  </a:txBody>
                  <a:tcPr>
                    <a:solidFill>
                      <a:srgbClr val="F5F5F5"/>
                    </a:solidFill>
                  </a:tcPr>
                </a:tc>
                <a:tc>
                  <a:txBody>
                    <a:bodyPr/>
                    <a:lstStyle/>
                    <a:p>
                      <a:pPr algn="ctr">
                        <a:defRPr sz="700" b="1">
                          <a:solidFill>
                            <a:srgbClr val="333333"/>
                          </a:solidFill>
                        </a:defRPr>
                      </a:pPr>
                      <a:r>
                        <a:t>9</a:t>
                      </a:r>
                    </a:p>
                  </a:txBody>
                  <a:tcPr>
                    <a:solidFill>
                      <a:srgbClr val="F5F5F5"/>
                    </a:solidFill>
                  </a:tcPr>
                </a:tc>
                <a:tc>
                  <a:txBody>
                    <a:bodyPr/>
                    <a:lstStyle/>
                    <a:p>
                      <a:pPr algn="ctr">
                        <a:defRPr sz="700" b="1">
                          <a:solidFill>
                            <a:srgbClr val="FFFFFF"/>
                          </a:solidFill>
                        </a:defRPr>
                      </a:pPr>
                      <a:r>
                        <a:t>95%</a:t>
                      </a:r>
                    </a:p>
                  </a:txBody>
                  <a:tcPr>
                    <a:solidFill>
                      <a:srgbClr val="1A7348"/>
                    </a:solidFill>
                  </a:tcPr>
                </a:tc>
                <a:tc>
                  <a:txBody>
                    <a:bodyPr/>
                    <a:lstStyle/>
                    <a:p>
                      <a:pPr algn="ctr">
                        <a:defRPr sz="700" b="1">
                          <a:solidFill>
                            <a:srgbClr val="333333"/>
                          </a:solidFill>
                        </a:defRPr>
                      </a:pPr>
                      <a:r>
                        <a:t>4.4</a:t>
                      </a:r>
                    </a:p>
                  </a:txBody>
                  <a:tcPr>
                    <a:solidFill>
                      <a:srgbClr val="F5F5F5"/>
                    </a:solidFill>
                  </a:tcPr>
                </a:tc>
                <a:tc>
                  <a:txBody>
                    <a:bodyPr/>
                    <a:lstStyle/>
                    <a:p>
                      <a:pPr algn="ctr">
                        <a:defRPr sz="700" b="1">
                          <a:solidFill>
                            <a:srgbClr val="FFFFFF"/>
                          </a:solidFill>
                        </a:defRPr>
                      </a:pPr>
                      <a:r>
                        <a:t>84%</a:t>
                      </a:r>
                    </a:p>
                  </a:txBody>
                  <a:tcPr>
                    <a:solidFill>
                      <a:srgbClr val="1A7348"/>
                    </a:solidFill>
                  </a:tcPr>
                </a:tc>
              </a:tr>
            </a:tbl>
          </a:graphicData>
        </a:graphic>
      </p:graphicFrame>
      <p:graphicFrame>
        <p:nvGraphicFramePr>
          <p:cNvPr id="43" name="Chart 42"/>
          <p:cNvGraphicFramePr>
            <a:graphicFrameLocks noGrp="1"/>
          </p:cNvGraphicFramePr>
          <p:nvPr/>
        </p:nvGraphicFramePr>
        <p:xfrm>
          <a:off x="7452360" y="978408"/>
          <a:ext cx="4526280" cy="2423160"/>
        </p:xfrm>
        <a:graphic>
          <a:graphicData uri="http://schemas.openxmlformats.org/drawingml/2006/chart">
            <c:chart xmlns:c="http://schemas.openxmlformats.org/drawingml/2006/chart" r:id="rId4"/>
          </a:graphicData>
        </a:graphic>
      </p:graphicFrame>
      <p:graphicFrame>
        <p:nvGraphicFramePr>
          <p:cNvPr id="44" name="Chart 43"/>
          <p:cNvGraphicFramePr>
            <a:graphicFrameLocks noGrp="1"/>
          </p:cNvGraphicFramePr>
          <p:nvPr/>
        </p:nvGraphicFramePr>
        <p:xfrm>
          <a:off x="7452360" y="3474720"/>
          <a:ext cx="4526280" cy="2423160"/>
        </p:xfrm>
        <a:graphic>
          <a:graphicData uri="http://schemas.openxmlformats.org/drawingml/2006/chart">
            <c:chart xmlns:c="http://schemas.openxmlformats.org/drawingml/2006/chart" r:id="rId5"/>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7498079" cy="493776"/>
          </a:xfrm>
          <a:prstGeom prst="rect">
            <a:avLst/>
          </a:prstGeom>
          <a:noFill/>
        </p:spPr>
        <p:txBody>
          <a:bodyPr wrap="none">
            <a:spAutoFit/>
          </a:bodyPr>
          <a:lstStyle/>
          <a:p>
            <a:pPr>
              <a:defRPr sz="1400" b="1">
                <a:solidFill>
                  <a:srgbClr val="FFFFFF"/>
                </a:solidFill>
              </a:defRPr>
            </a:pPr>
            <a:r>
              <a:t>Service Desk  |  2 May 2026</a:t>
            </a:r>
          </a:p>
        </p:txBody>
      </p:sp>
      <p:sp>
        <p:nvSpPr>
          <p:cNvPr id="4" name="TextBox 3"/>
          <p:cNvSpPr txBox="1"/>
          <p:nvPr/>
        </p:nvSpPr>
        <p:spPr>
          <a:xfrm>
            <a:off x="7772400" y="82296"/>
            <a:ext cx="2331720" cy="438912"/>
          </a:xfrm>
          <a:prstGeom prst="rect">
            <a:avLst/>
          </a:prstGeom>
          <a:noFill/>
        </p:spPr>
        <p:txBody>
          <a:bodyPr wrap="none">
            <a:spAutoFit/>
          </a:bodyPr>
          <a:lstStyle/>
          <a:p>
            <a:pPr>
              <a:spcBef>
                <a:spcPts val="0"/>
              </a:spcBef>
              <a:spcAft>
                <a:spcPts val="0"/>
              </a:spcAft>
            </a:pPr>
            <a:r>
              <a:rPr sz="650" b="1">
                <a:solidFill>
                  <a:srgbClr val="1A7348"/>
                </a:solidFill>
              </a:rPr>
              <a:t>■ Green ≥95%</a:t>
            </a:r>
          </a:p>
          <a:p>
            <a:pPr>
              <a:spcBef>
                <a:spcPts val="0"/>
              </a:spcBef>
              <a:spcAft>
                <a:spcPts val="0"/>
              </a:spcAft>
            </a:pPr>
            <a:r>
              <a:rPr sz="650" b="1">
                <a:solidFill>
                  <a:srgbClr val="FFC000"/>
                </a:solidFill>
              </a:rPr>
              <a:t>■ Amber 90–94%</a:t>
            </a:r>
          </a:p>
          <a:p>
            <a:pPr>
              <a:spcBef>
                <a:spcPts val="0"/>
              </a:spcBef>
              <a:spcAft>
                <a:spcPts val="0"/>
              </a:spcAft>
            </a:pPr>
            <a:r>
              <a:rPr sz="650" b="1">
                <a:solidFill>
                  <a:srgbClr val="CC0000"/>
                </a:solidFill>
              </a:rPr>
              <a:t>■ Red  &lt;90%</a:t>
            </a:r>
          </a:p>
        </p:txBody>
      </p:sp>
      <p:sp>
        <p:nvSpPr>
          <p:cNvPr id="5" name="Rectangle 4"/>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7" name="Rectangle 6"/>
          <p:cNvSpPr/>
          <p:nvPr/>
        </p:nvSpPr>
        <p:spPr>
          <a:xfrm>
            <a:off x="0" y="978408"/>
            <a:ext cx="7315200" cy="100584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10" name="TextBox 9"/>
          <p:cNvSpPr txBox="1"/>
          <p:nvPr/>
        </p:nvSpPr>
        <p:spPr>
          <a:xfrm>
            <a:off x="128016" y="1316736"/>
            <a:ext cx="7059168" cy="640080"/>
          </a:xfrm>
          <a:prstGeom prst="rect">
            <a:avLst/>
          </a:prstGeom>
          <a:noFill/>
        </p:spPr>
        <p:txBody>
          <a:bodyPr wrap="square">
            <a:spAutoFit/>
          </a:bodyPr>
          <a:lstStyle/>
          <a:p>
            <a:pPr>
              <a:spcBef>
                <a:spcPts val="200"/>
              </a:spcBef>
              <a:spcAft>
                <a:spcPts val="100"/>
              </a:spcAft>
            </a:pPr>
            <a:r>
              <a:rPr sz="850" b="0">
                <a:solidFill>
                  <a:srgbClr val="3A3A3A"/>
                </a:solidFill>
              </a:rPr>
              <a:t>The Service Desk team maintained a high level of performance this week, with an FCR rate slightly above our target at </a:t>
            </a:r>
            <a:r>
              <a:rPr sz="850" b="1">
                <a:solidFill>
                  <a:srgbClr val="1F3864"/>
                </a:solidFill>
              </a:rPr>
              <a:t>82.9%</a:t>
            </a:r>
            <a:r>
              <a:rPr sz="850" b="0">
                <a:solidFill>
                  <a:srgbClr val="3A3A3A"/>
                </a:solidFill>
              </a:rPr>
              <a:t> and SLA compliance exceeding expectations at </a:t>
            </a:r>
            <a:r>
              <a:rPr sz="850" b="1">
                <a:solidFill>
                  <a:srgbClr val="1F3864"/>
                </a:solidFill>
              </a:rPr>
              <a:t>96.5%</a:t>
            </a:r>
            <a:r>
              <a:rPr sz="850" b="0">
                <a:solidFill>
                  <a:srgbClr val="3A3A3A"/>
                </a:solidFill>
              </a:rPr>
              <a:t>. The average handle time was efficiently reduced to below the set goal of under </a:t>
            </a:r>
            <a:r>
              <a:rPr sz="850" b="1">
                <a:solidFill>
                  <a:srgbClr val="1F3864"/>
                </a:solidFill>
              </a:rPr>
              <a:t>10</a:t>
            </a:r>
            <a:r>
              <a:rPr sz="850" b="0">
                <a:solidFill>
                  <a:srgbClr val="3A3A3A"/>
                </a:solidFill>
              </a:rPr>
              <a:t> minutes, averaging just over </a:t>
            </a:r>
            <a:r>
              <a:rPr sz="850" b="1">
                <a:solidFill>
                  <a:srgbClr val="1F3864"/>
                </a:solidFill>
              </a:rPr>
              <a:t>8</a:t>
            </a:r>
            <a:r>
              <a:rPr sz="850" b="0">
                <a:solidFill>
                  <a:srgbClr val="3A3A3A"/>
                </a:solidFill>
              </a:rPr>
              <a:t> minutes per call.</a:t>
            </a:r>
          </a:p>
        </p:txBody>
      </p:sp>
      <p:sp>
        <p:nvSpPr>
          <p:cNvPr id="11" name="Rectangle 10"/>
          <p:cNvSpPr/>
          <p:nvPr/>
        </p:nvSpPr>
        <p:spPr>
          <a:xfrm>
            <a:off x="0" y="2075688"/>
            <a:ext cx="7315200" cy="1463040"/>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07568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 y="212140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4" name="TextBox 13"/>
          <p:cNvSpPr txBox="1"/>
          <p:nvPr/>
        </p:nvSpPr>
        <p:spPr>
          <a:xfrm>
            <a:off x="128016" y="2414016"/>
            <a:ext cx="7059168" cy="1097280"/>
          </a:xfrm>
          <a:prstGeom prst="rect">
            <a:avLst/>
          </a:prstGeom>
          <a:noFill/>
        </p:spPr>
        <p:txBody>
          <a:bodyPr wrap="square">
            <a:spAutoFit/>
          </a:bodyPr>
          <a:lstStyle/>
          <a:p>
            <a:pPr>
              <a:spcBef>
                <a:spcPts val="200"/>
              </a:spcBef>
              <a:spcAft>
                <a:spcPts val="100"/>
              </a:spcAft>
            </a:pPr>
            <a:r>
              <a:rPr sz="800" b="1">
                <a:solidFill>
                  <a:srgbClr val="1F3864"/>
                </a:solidFill>
              </a:rPr>
              <a:t>▸  Reduced average handle time to under the target of less than </a:t>
            </a:r>
            <a:r>
              <a:rPr sz="800" b="1">
                <a:solidFill>
                  <a:srgbClr val="0D47A1"/>
                </a:solidFill>
              </a:rPr>
              <a:t>10</a:t>
            </a:r>
            <a:r>
              <a:rPr sz="800" b="0">
                <a:solidFill>
                  <a:srgbClr val="1F3864"/>
                </a:solidFill>
              </a:rPr>
              <a:t> minutes, averaging at just over </a:t>
            </a:r>
            <a:r>
              <a:rPr sz="800" b="1">
                <a:solidFill>
                  <a:srgbClr val="0D47A1"/>
                </a:solidFill>
              </a:rPr>
              <a:t>8</a:t>
            </a:r>
            <a:r>
              <a:rPr sz="800" b="0">
                <a:solidFill>
                  <a:srgbClr val="1F3864"/>
                </a:solidFill>
              </a:rPr>
              <a:t> minutes per call.</a:t>
            </a:r>
          </a:p>
          <a:p>
            <a:pPr>
              <a:spcBef>
                <a:spcPts val="200"/>
              </a:spcBef>
              <a:spcAft>
                <a:spcPts val="100"/>
              </a:spcAft>
            </a:pPr>
            <a:r>
              <a:rPr sz="800" b="1">
                <a:solidFill>
                  <a:srgbClr val="1F3864"/>
                </a:solidFill>
              </a:rPr>
              <a:t>▸  Published </a:t>
            </a:r>
            <a:r>
              <a:rPr sz="800" b="1">
                <a:solidFill>
                  <a:srgbClr val="0D47A1"/>
                </a:solidFill>
              </a:rPr>
              <a:t>12</a:t>
            </a:r>
            <a:r>
              <a:rPr sz="800" b="0">
                <a:solidFill>
                  <a:srgbClr val="1F3864"/>
                </a:solidFill>
              </a:rPr>
              <a:t> new knowledge articles which likely contributed to resolving calls more efficiently and improving FCR rate.</a:t>
            </a:r>
          </a:p>
          <a:p>
            <a:pPr>
              <a:spcBef>
                <a:spcPts val="200"/>
              </a:spcBef>
              <a:spcAft>
                <a:spcPts val="100"/>
              </a:spcAft>
            </a:pPr>
            <a:r>
              <a:rPr sz="800" b="1">
                <a:solidFill>
                  <a:srgbClr val="1F3864"/>
                </a:solidFill>
              </a:rPr>
              <a:t>▸  Maintained an SLA compliance of above our target at </a:t>
            </a:r>
            <a:r>
              <a:rPr sz="800" b="1">
                <a:solidFill>
                  <a:srgbClr val="0D47A1"/>
                </a:solidFill>
              </a:rPr>
              <a:t>96.5%</a:t>
            </a:r>
            <a:r>
              <a:rPr sz="800" b="0">
                <a:solidFill>
                  <a:srgbClr val="1F3864"/>
                </a:solidFill>
              </a:rPr>
              <a:t> despite a slight increase in abandoned calls, with only </a:t>
            </a:r>
            <a:r>
              <a:rPr sz="800" b="1">
                <a:solidFill>
                  <a:srgbClr val="0D47A1"/>
                </a:solidFill>
              </a:rPr>
              <a:t>14</a:t>
            </a:r>
            <a:r>
              <a:rPr sz="800" b="0">
                <a:solidFill>
                  <a:srgbClr val="1F3864"/>
                </a:solidFill>
              </a:rPr>
              <a:t> occurrences this week compared to the previous weeks' averages.</a:t>
            </a:r>
          </a:p>
        </p:txBody>
      </p:sp>
      <p:sp>
        <p:nvSpPr>
          <p:cNvPr id="15" name="Rectangle 14"/>
          <p:cNvSpPr/>
          <p:nvPr/>
        </p:nvSpPr>
        <p:spPr>
          <a:xfrm>
            <a:off x="0" y="3630168"/>
            <a:ext cx="3657600" cy="2276856"/>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3630168"/>
            <a:ext cx="3657600" cy="2276856"/>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30168"/>
            <a:ext cx="7315200" cy="2276856"/>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43884" y="3630168"/>
            <a:ext cx="27432" cy="227685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630168"/>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 y="3694176"/>
            <a:ext cx="3502152" cy="246888"/>
          </a:xfrm>
          <a:prstGeom prst="rect">
            <a:avLst/>
          </a:prstGeom>
          <a:noFill/>
        </p:spPr>
        <p:txBody>
          <a:bodyPr wrap="none">
            <a:spAutoFit/>
          </a:bodyPr>
          <a:lstStyle/>
          <a:p>
            <a:pPr>
              <a:defRPr b="1" sz="1050">
                <a:solidFill>
                  <a:srgbClr val="FFFFFF"/>
                </a:solidFill>
              </a:defRPr>
            </a:pPr>
            <a:r>
              <a:t>KEY ACHIEVEMENTS</a:t>
            </a:r>
          </a:p>
        </p:txBody>
      </p:sp>
      <p:sp>
        <p:nvSpPr>
          <p:cNvPr id="21" name="Rectangle 20"/>
          <p:cNvSpPr/>
          <p:nvPr/>
        </p:nvSpPr>
        <p:spPr>
          <a:xfrm>
            <a:off x="3657600" y="3630168"/>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3694176"/>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3" name="Rectangle 22"/>
          <p:cNvSpPr/>
          <p:nvPr/>
        </p:nvSpPr>
        <p:spPr>
          <a:xfrm>
            <a:off x="73152" y="4005072"/>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 y="4005072"/>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 y="4069080"/>
            <a:ext cx="3360420" cy="484632"/>
          </a:xfrm>
          <a:prstGeom prst="rect">
            <a:avLst/>
          </a:prstGeom>
          <a:noFill/>
        </p:spPr>
        <p:txBody>
          <a:bodyPr wrap="square">
            <a:spAutoFit/>
          </a:bodyPr>
          <a:lstStyle/>
          <a:p>
            <a:pPr>
              <a:spcBef>
                <a:spcPts val="200"/>
              </a:spcBef>
              <a:spcAft>
                <a:spcPts val="100"/>
              </a:spcAft>
            </a:pPr>
            <a:r>
              <a:rPr sz="800" b="1">
                <a:solidFill>
                  <a:srgbClr val="1A3A28"/>
                </a:solidFill>
              </a:rPr>
              <a:t>✓  Reduced average handle time to under the target of less than </a:t>
            </a:r>
            <a:r>
              <a:rPr sz="800" b="1">
                <a:solidFill>
                  <a:srgbClr val="0A5030"/>
                </a:solidFill>
              </a:rPr>
              <a:t>10</a:t>
            </a:r>
            <a:r>
              <a:rPr sz="800" b="0">
                <a:solidFill>
                  <a:srgbClr val="1A3A28"/>
                </a:solidFill>
              </a:rPr>
              <a:t> minutes, averaging at just over </a:t>
            </a:r>
            <a:r>
              <a:rPr sz="800" b="1">
                <a:solidFill>
                  <a:srgbClr val="0A5030"/>
                </a:solidFill>
              </a:rPr>
              <a:t>8</a:t>
            </a:r>
            <a:r>
              <a:rPr sz="800" b="0">
                <a:solidFill>
                  <a:srgbClr val="1A3A28"/>
                </a:solidFill>
              </a:rPr>
              <a:t> minutes per call.</a:t>
            </a:r>
          </a:p>
        </p:txBody>
      </p:sp>
      <p:sp>
        <p:nvSpPr>
          <p:cNvPr id="26" name="Rectangle 25"/>
          <p:cNvSpPr/>
          <p:nvPr/>
        </p:nvSpPr>
        <p:spPr>
          <a:xfrm>
            <a:off x="73152" y="4663440"/>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 y="4663440"/>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 y="4727448"/>
            <a:ext cx="3360420" cy="484632"/>
          </a:xfrm>
          <a:prstGeom prst="rect">
            <a:avLst/>
          </a:prstGeom>
          <a:noFill/>
        </p:spPr>
        <p:txBody>
          <a:bodyPr wrap="square">
            <a:spAutoFit/>
          </a:bodyPr>
          <a:lstStyle/>
          <a:p>
            <a:pPr>
              <a:spcBef>
                <a:spcPts val="200"/>
              </a:spcBef>
              <a:spcAft>
                <a:spcPts val="100"/>
              </a:spcAft>
            </a:pPr>
            <a:r>
              <a:rPr sz="800" b="1">
                <a:solidFill>
                  <a:srgbClr val="1A3A28"/>
                </a:solidFill>
              </a:rPr>
              <a:t>✓  Published </a:t>
            </a:r>
            <a:r>
              <a:rPr sz="800" b="1">
                <a:solidFill>
                  <a:srgbClr val="0A5030"/>
                </a:solidFill>
              </a:rPr>
              <a:t>12</a:t>
            </a:r>
            <a:r>
              <a:rPr sz="800" b="0">
                <a:solidFill>
                  <a:srgbClr val="1A3A28"/>
                </a:solidFill>
              </a:rPr>
              <a:t> new knowledge articles which likely contributed to resolving calls more efficiently and improving FCR rate.</a:t>
            </a:r>
          </a:p>
        </p:txBody>
      </p:sp>
      <p:sp>
        <p:nvSpPr>
          <p:cNvPr id="29" name="Rectangle 28"/>
          <p:cNvSpPr/>
          <p:nvPr/>
        </p:nvSpPr>
        <p:spPr>
          <a:xfrm>
            <a:off x="3730752" y="4005072"/>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30752" y="4005072"/>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54196" y="4069080"/>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monitoring and reducing abandonment rates while maintaining high FCR and SLA compliance levels.</a:t>
            </a:r>
          </a:p>
        </p:txBody>
      </p:sp>
      <p:sp>
        <p:nvSpPr>
          <p:cNvPr id="32" name="Rectangle 31"/>
          <p:cNvSpPr/>
          <p:nvPr/>
        </p:nvSpPr>
        <p:spPr>
          <a:xfrm>
            <a:off x="3730752" y="4663440"/>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30752" y="4663440"/>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54196" y="4727448"/>
            <a:ext cx="3360420" cy="484632"/>
          </a:xfrm>
          <a:prstGeom prst="rect">
            <a:avLst/>
          </a:prstGeom>
          <a:noFill/>
        </p:spPr>
        <p:txBody>
          <a:bodyPr wrap="square">
            <a:spAutoFit/>
          </a:bodyPr>
          <a:lstStyle/>
          <a:p>
            <a:pPr>
              <a:spcBef>
                <a:spcPts val="200"/>
              </a:spcBef>
              <a:spcAft>
                <a:spcPts val="100"/>
              </a:spcAft>
            </a:pPr>
            <a:r>
              <a:rPr sz="800" b="1">
                <a:solidFill>
                  <a:srgbClr val="3A2810"/>
                </a:solidFill>
              </a:rPr>
              <a:t>→  Evaluate the impact of knowledge articles published this week to understand their effectiveness in call resolutions, aiming for continuous improvement.</a:t>
            </a:r>
          </a:p>
        </p:txBody>
      </p:sp>
      <p:graphicFrame>
        <p:nvGraphicFramePr>
          <p:cNvPr id="35" name="Table 34"/>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Calls Received</a:t>
                      </a:r>
                    </a:p>
                  </a:txBody>
                  <a:tcPr>
                    <a:solidFill>
                      <a:srgbClr val="FFFFFF"/>
                    </a:solidFill>
                  </a:tcPr>
                </a:tc>
                <a:tc>
                  <a:txBody>
                    <a:bodyPr wrap="square"/>
                    <a:lstStyle/>
                    <a:p>
                      <a:pPr>
                        <a:defRPr sz="550">
                          <a:solidFill>
                            <a:srgbClr val="333333"/>
                          </a:solidFill>
                        </a:defRPr>
                      </a:pPr>
                      <a:r>
                        <a:t>Total inbound contacts handled by Service Desk in the period</a:t>
                      </a:r>
                    </a:p>
                  </a:txBody>
                  <a:tcPr>
                    <a:solidFill>
                      <a:srgbClr val="FFFFFF"/>
                    </a:solidFill>
                  </a:tcPr>
                </a:tc>
                <a:tc>
                  <a:txBody>
                    <a:bodyPr wrap="square"/>
                    <a:lstStyle/>
                    <a:p>
                      <a:pPr>
                        <a:defRPr sz="550">
                          <a:solidFill>
                            <a:srgbClr val="333333"/>
                          </a:solidFill>
                        </a:defRPr>
                      </a:pPr>
                      <a:r>
                        <a:t>Includes voice calls, chat sessions and email contacts</a:t>
                      </a:r>
                    </a:p>
                  </a:txBody>
                  <a:tcPr>
                    <a:solidFill>
                      <a:srgbClr val="FFFFFF"/>
                    </a:solidFill>
                  </a:tcPr>
                </a:tc>
              </a:tr>
              <a:tr h="182880">
                <a:tc>
                  <a:txBody>
                    <a:bodyPr wrap="square"/>
                    <a:lstStyle/>
                    <a:p>
                      <a:pPr>
                        <a:defRPr sz="550" b="1">
                          <a:solidFill>
                            <a:srgbClr val="1F3864"/>
                          </a:solidFill>
                        </a:defRPr>
                      </a:pPr>
                      <a:r>
                        <a:t>Calls Resolved</a:t>
                      </a:r>
                    </a:p>
                  </a:txBody>
                  <a:tcPr>
                    <a:solidFill>
                      <a:srgbClr val="E9F0F8"/>
                    </a:solidFill>
                  </a:tcPr>
                </a:tc>
                <a:tc>
                  <a:txBody>
                    <a:bodyPr wrap="square"/>
                    <a:lstStyle/>
                    <a:p>
                      <a:pPr>
                        <a:defRPr sz="550">
                          <a:solidFill>
                            <a:srgbClr val="333333"/>
                          </a:solidFill>
                        </a:defRPr>
                      </a:pPr>
                      <a:r>
                        <a:t>Total contacts resolved by first-line Service Desk agents</a:t>
                      </a:r>
                    </a:p>
                  </a:txBody>
                  <a:tcPr>
                    <a:solidFill>
                      <a:srgbClr val="E9F0F8"/>
                    </a:solidFill>
                  </a:tcPr>
                </a:tc>
                <a:tc>
                  <a:txBody>
                    <a:bodyPr wrap="square"/>
                    <a:lstStyle/>
                    <a:p>
                      <a:pPr>
                        <a:defRPr sz="550">
                          <a:solidFill>
                            <a:srgbClr val="333333"/>
                          </a:solidFill>
                        </a:defRPr>
                      </a:pPr>
                      <a:r>
                        <a:t>Direct resolution without L2/L3 escalation required</a:t>
                      </a:r>
                    </a:p>
                  </a:txBody>
                  <a:tcPr>
                    <a:solidFill>
                      <a:srgbClr val="E9F0F8"/>
                    </a:solidFill>
                  </a:tcPr>
                </a:tc>
              </a:tr>
              <a:tr h="182880">
                <a:tc>
                  <a:txBody>
                    <a:bodyPr wrap="square"/>
                    <a:lstStyle/>
                    <a:p>
                      <a:pPr>
                        <a:defRPr sz="550" b="1">
                          <a:solidFill>
                            <a:srgbClr val="1F3864"/>
                          </a:solidFill>
                        </a:defRPr>
                      </a:pPr>
                      <a:r>
                        <a:t>Abandoned Calls</a:t>
                      </a:r>
                    </a:p>
                  </a:txBody>
                  <a:tcPr>
                    <a:solidFill>
                      <a:srgbClr val="FFFFFF"/>
                    </a:solidFill>
                  </a:tcPr>
                </a:tc>
                <a:tc>
                  <a:txBody>
                    <a:bodyPr wrap="square"/>
                    <a:lstStyle/>
                    <a:p>
                      <a:pPr>
                        <a:defRPr sz="550">
                          <a:solidFill>
                            <a:srgbClr val="333333"/>
                          </a:solidFill>
                        </a:defRPr>
                      </a:pPr>
                      <a:r>
                        <a:t>Number of contacts abandoned before being answered by an agent</a:t>
                      </a:r>
                    </a:p>
                  </a:txBody>
                  <a:tcPr>
                    <a:solidFill>
                      <a:srgbClr val="FFFFFF"/>
                    </a:solidFill>
                  </a:tcPr>
                </a:tc>
                <a:tc>
                  <a:txBody>
                    <a:bodyPr wrap="square"/>
                    <a:lstStyle/>
                    <a:p>
                      <a:pPr>
                        <a:defRPr sz="550">
                          <a:solidFill>
                            <a:srgbClr val="333333"/>
                          </a:solidFill>
                        </a:defRPr>
                      </a:pPr>
                      <a:r>
                        <a:t>Key measure of queue management and staffing adequacy</a:t>
                      </a:r>
                    </a:p>
                  </a:txBody>
                  <a:tcPr>
                    <a:solidFill>
                      <a:srgbClr val="FFFFFF"/>
                    </a:solidFill>
                  </a:tcPr>
                </a:tc>
              </a:tr>
              <a:tr h="182880">
                <a:tc>
                  <a:txBody>
                    <a:bodyPr wrap="square"/>
                    <a:lstStyle/>
                    <a:p>
                      <a:pPr>
                        <a:defRPr sz="550" b="1">
                          <a:solidFill>
                            <a:srgbClr val="1F3864"/>
                          </a:solidFill>
                        </a:defRPr>
                      </a:pPr>
                      <a:r>
                        <a:t>FCR Rate</a:t>
                      </a:r>
                    </a:p>
                  </a:txBody>
                  <a:tcPr>
                    <a:solidFill>
                      <a:srgbClr val="E9F0F8"/>
                    </a:solidFill>
                  </a:tcPr>
                </a:tc>
                <a:tc>
                  <a:txBody>
                    <a:bodyPr wrap="square"/>
                    <a:lstStyle/>
                    <a:p>
                      <a:pPr>
                        <a:defRPr sz="550">
                          <a:solidFill>
                            <a:srgbClr val="333333"/>
                          </a:solidFill>
                        </a:defRPr>
                      </a:pPr>
                      <a:r>
                        <a:t>Percentage of contacts resolved on first contact without escalation</a:t>
                      </a:r>
                    </a:p>
                  </a:txBody>
                  <a:tcPr>
                    <a:solidFill>
                      <a:srgbClr val="E9F0F8"/>
                    </a:solidFill>
                  </a:tcPr>
                </a:tc>
                <a:tc>
                  <a:txBody>
                    <a:bodyPr wrap="square"/>
                    <a:lstStyle/>
                    <a:p>
                      <a:pPr>
                        <a:defRPr sz="550">
                          <a:solidFill>
                            <a:srgbClr val="333333"/>
                          </a:solidFill>
                        </a:defRPr>
                      </a:pPr>
                      <a:r>
                        <a:t>Primary measure of Service Desk effectiveness and knowledge quality</a:t>
                      </a:r>
                    </a:p>
                  </a:txBody>
                  <a:tcPr>
                    <a:solidFill>
                      <a:srgbClr val="E9F0F8"/>
                    </a:solidFill>
                  </a:tcPr>
                </a:tc>
              </a:tr>
            </a:tbl>
          </a:graphicData>
        </a:graphic>
      </p:graphicFrame>
      <p:graphicFrame>
        <p:nvGraphicFramePr>
          <p:cNvPr id="36" name="Table 35"/>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Calls Received</a:t>
                      </a:r>
                    </a:p>
                  </a:txBody>
                  <a:tcPr>
                    <a:solidFill>
                      <a:srgbClr val="CC0000"/>
                    </a:solidFill>
                  </a:tcPr>
                </a:tc>
                <a:tc>
                  <a:txBody>
                    <a:bodyPr wrap="square"/>
                    <a:lstStyle/>
                    <a:p>
                      <a:pPr algn="ctr">
                        <a:defRPr b="1" sz="550">
                          <a:solidFill>
                            <a:srgbClr val="FFFFFF"/>
                          </a:solidFill>
                        </a:defRPr>
                      </a:pPr>
                      <a:r>
                        <a:t>Calls Resolved</a:t>
                      </a:r>
                    </a:p>
                  </a:txBody>
                  <a:tcPr>
                    <a:solidFill>
                      <a:srgbClr val="CC0000"/>
                    </a:solidFill>
                  </a:tcPr>
                </a:tc>
                <a:tc>
                  <a:txBody>
                    <a:bodyPr wrap="square"/>
                    <a:lstStyle/>
                    <a:p>
                      <a:pPr algn="ctr">
                        <a:defRPr b="1" sz="550">
                          <a:solidFill>
                            <a:srgbClr val="FFFFFF"/>
                          </a:solidFill>
                        </a:defRPr>
                      </a:pPr>
                      <a:r>
                        <a:t>Abandoned Calls</a:t>
                      </a:r>
                    </a:p>
                  </a:txBody>
                  <a:tcPr>
                    <a:solidFill>
                      <a:srgbClr val="CC0000"/>
                    </a:solidFill>
                  </a:tcPr>
                </a:tc>
                <a:tc>
                  <a:txBody>
                    <a:bodyPr wrap="square"/>
                    <a:lstStyle/>
                    <a:p>
                      <a:pPr algn="ctr">
                        <a:defRPr b="1" sz="550">
                          <a:solidFill>
                            <a:srgbClr val="FFFFFF"/>
                          </a:solidFill>
                        </a:defRPr>
                      </a:pPr>
                      <a:r>
                        <a:t>FCR Rate</a:t>
                      </a:r>
                    </a:p>
                  </a:txBody>
                  <a:tcPr>
                    <a:solidFill>
                      <a:srgbClr val="CC0000"/>
                    </a:solidFill>
                  </a:tcPr>
                </a:tc>
                <a:tc>
                  <a:txBody>
                    <a:bodyPr wrap="square"/>
                    <a:lstStyle/>
                    <a:p>
                      <a:pPr algn="ctr">
                        <a:defRPr b="1" sz="550">
                          <a:solidFill>
                            <a:srgbClr val="FFFFFF"/>
                          </a:solidFill>
                        </a:defRPr>
                      </a:pPr>
                      <a:r>
                        <a:t>Avg Handle Time Mins</a:t>
                      </a:r>
                    </a:p>
                  </a:txBody>
                  <a:tcPr>
                    <a:solidFill>
                      <a:srgbClr val="CC0000"/>
                    </a:solidFill>
                  </a:tcPr>
                </a:tc>
                <a:tc>
                  <a:txBody>
                    <a:bodyPr wrap="square"/>
                    <a:lstStyle/>
                    <a:p>
                      <a:pPr algn="ctr">
                        <a:defRPr b="1" sz="550">
                          <a:solidFill>
                            <a:srgbClr val="FFFFFF"/>
                          </a:solidFill>
                        </a:defRPr>
                      </a:pPr>
                      <a:r>
                        <a:t>SLA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310</a:t>
                      </a:r>
                    </a:p>
                  </a:txBody>
                  <a:tcPr>
                    <a:solidFill>
                      <a:srgbClr val="F5F5F5"/>
                    </a:solidFill>
                  </a:tcPr>
                </a:tc>
                <a:tc>
                  <a:txBody>
                    <a:bodyPr/>
                    <a:lstStyle/>
                    <a:p>
                      <a:pPr algn="ctr">
                        <a:defRPr sz="700" b="1">
                          <a:solidFill>
                            <a:srgbClr val="333333"/>
                          </a:solidFill>
                        </a:defRPr>
                      </a:pPr>
                      <a:r>
                        <a:t>288</a:t>
                      </a:r>
                    </a:p>
                  </a:txBody>
                  <a:tcPr>
                    <a:solidFill>
                      <a:srgbClr val="F5F5F5"/>
                    </a:solidFill>
                  </a:tcPr>
                </a:tc>
                <a:tc>
                  <a:txBody>
                    <a:bodyPr/>
                    <a:lstStyle/>
                    <a:p>
                      <a:pPr algn="ctr">
                        <a:defRPr sz="700" b="1">
                          <a:solidFill>
                            <a:srgbClr val="333333"/>
                          </a:solidFill>
                        </a:defRPr>
                      </a:pPr>
                      <a:r>
                        <a:t>14</a:t>
                      </a:r>
                    </a:p>
                  </a:txBody>
                  <a:tcPr>
                    <a:solidFill>
                      <a:srgbClr val="F5F5F5"/>
                    </a:solidFill>
                  </a:tcPr>
                </a:tc>
                <a:tc>
                  <a:txBody>
                    <a:bodyPr/>
                    <a:lstStyle/>
                    <a:p>
                      <a:pPr algn="ctr">
                        <a:defRPr sz="700" b="1">
                          <a:solidFill>
                            <a:srgbClr val="FFFFFF"/>
                          </a:solidFill>
                        </a:defRPr>
                      </a:pPr>
                      <a:r>
                        <a:t>83%</a:t>
                      </a:r>
                    </a:p>
                  </a:txBody>
                  <a:tcPr>
                    <a:solidFill>
                      <a:srgbClr val="1A7348"/>
                    </a:solidFill>
                  </a:tcPr>
                </a:tc>
                <a:tc>
                  <a:txBody>
                    <a:bodyPr/>
                    <a:lstStyle/>
                    <a:p>
                      <a:pPr algn="ctr">
                        <a:defRPr sz="700" b="1">
                          <a:solidFill>
                            <a:srgbClr val="FFFFFF"/>
                          </a:solidFill>
                        </a:defRPr>
                      </a:pPr>
                      <a:r>
                        <a:t>8.4</a:t>
                      </a:r>
                    </a:p>
                  </a:txBody>
                  <a:tcPr>
                    <a:solidFill>
                      <a:srgbClr val="1A7348"/>
                    </a:solidFill>
                  </a:tcPr>
                </a:tc>
                <a:tc>
                  <a:txBody>
                    <a:bodyPr/>
                    <a:lstStyle/>
                    <a:p>
                      <a:pPr algn="ctr">
                        <a:defRPr sz="700" b="1">
                          <a:solidFill>
                            <a:srgbClr val="FFFFFF"/>
                          </a:solidFill>
                        </a:defRPr>
                      </a:pPr>
                      <a:r>
                        <a:t>96%</a:t>
                      </a:r>
                    </a:p>
                  </a:txBody>
                  <a:tcPr>
                    <a:solidFill>
                      <a:srgbClr val="1A7348"/>
                    </a:solidFill>
                  </a:tcPr>
                </a:tc>
              </a:tr>
            </a:tbl>
          </a:graphicData>
        </a:graphic>
      </p:graphicFrame>
      <p:graphicFrame>
        <p:nvGraphicFramePr>
          <p:cNvPr id="37" name="Chart 36"/>
          <p:cNvGraphicFramePr>
            <a:graphicFrameLocks noGrp="1"/>
          </p:cNvGraphicFramePr>
          <p:nvPr/>
        </p:nvGraphicFramePr>
        <p:xfrm>
          <a:off x="7452360" y="978408"/>
          <a:ext cx="4526280" cy="2423160"/>
        </p:xfrm>
        <a:graphic>
          <a:graphicData uri="http://schemas.openxmlformats.org/drawingml/2006/chart">
            <c:chart xmlns:c="http://schemas.openxmlformats.org/drawingml/2006/chart" r:id="rId4"/>
          </a:graphicData>
        </a:graphic>
      </p:graphicFrame>
      <p:graphicFrame>
        <p:nvGraphicFramePr>
          <p:cNvPr id="38" name="Chart 37"/>
          <p:cNvGraphicFramePr>
            <a:graphicFrameLocks noGrp="1"/>
          </p:cNvGraphicFramePr>
          <p:nvPr/>
        </p:nvGraphicFramePr>
        <p:xfrm>
          <a:off x="7452360" y="3474720"/>
          <a:ext cx="4526280" cy="2423160"/>
        </p:xfrm>
        <a:graphic>
          <a:graphicData uri="http://schemas.openxmlformats.org/drawingml/2006/chart">
            <c:chart xmlns:c="http://schemas.openxmlformats.org/drawingml/2006/chart" r:id="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