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MI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MIR Conducted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4.0</c:v>
                </c:pt>
                <c:pt idx="2">
                  <c:v>3.0</c:v>
                </c:pt>
                <c:pt idx="3">
                  <c:v>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# of P2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3.0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 of P1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100% Adherence t…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Accurate stakeho…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Changes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48.0</c:v>
                </c:pt>
                <c:pt idx="1">
                  <c:v>52.0</c:v>
                </c:pt>
                <c:pt idx="2">
                  <c:v>45.0</c:v>
                </c:pt>
                <c:pt idx="3">
                  <c:v>50.0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Emergency Changes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2.0</c:v>
                </c:pt>
                <c:pt idx="1">
                  <c:v>1.0</c:v>
                </c:pt>
                <c:pt idx="2">
                  <c:v>3.0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Success R…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100.0</c:v>
                </c:pt>
                <c:pt idx="1">
                  <c:v>99.0</c:v>
                </c:pt>
                <c:pt idx="2">
                  <c:v>100.0</c:v>
                </c:pt>
                <c:pt idx="3">
                  <c:v>100.0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Change Causing MI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2.1</c:v>
                </c:pt>
                <c:pt idx="1">
                  <c:v>1.9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Failed Change Ra…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0.5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Problems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15.0</c:v>
                </c:pt>
                <c:pt idx="2">
                  <c:v>12.0</c:v>
                </c:pt>
                <c:pt idx="3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Problems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8.0</c:v>
                </c:pt>
                <c:pt idx="1">
                  <c:v>9.0</c:v>
                </c:pt>
                <c:pt idx="2">
                  <c:v>8.0</c:v>
                </c:pt>
                <c:pt idx="3">
                  <c:v>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Problems Rai…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5.0</c:v>
                </c:pt>
                <c:pt idx="1">
                  <c:v>4.0</c:v>
                </c:pt>
                <c:pt idx="2">
                  <c:v>3.0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Alerts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1842.0</c:v>
                </c:pt>
                <c:pt idx="1">
                  <c:v>1975.0</c:v>
                </c:pt>
                <c:pt idx="2">
                  <c:v>1723.0</c:v>
                </c:pt>
                <c:pt idx="3">
                  <c:v>1890.0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Alerts Auto-Reso…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1560.0</c:v>
                </c:pt>
                <c:pt idx="1">
                  <c:v>1680.0</c:v>
                </c:pt>
                <c:pt idx="2">
                  <c:v>1490.0</c:v>
                </c:pt>
                <c:pt idx="3">
                  <c:v>1610.0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P1 Incidents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Compliance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97.1</c:v>
                </c:pt>
                <c:pt idx="1">
                  <c:v>96.8</c:v>
                </c:pt>
                <c:pt idx="2">
                  <c:v>97.2</c:v>
                </c:pt>
                <c:pt idx="3">
                  <c:v>97.4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Tickets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210.0</c:v>
                </c:pt>
                <c:pt idx="1">
                  <c:v>225.0</c:v>
                </c:pt>
                <c:pt idx="2">
                  <c:v>198.0</c:v>
                </c:pt>
                <c:pt idx="3">
                  <c:v>230.0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Tickets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201.0</c:v>
                </c:pt>
                <c:pt idx="1">
                  <c:v>215.0</c:v>
                </c:pt>
                <c:pt idx="2">
                  <c:v>192.0</c:v>
                </c:pt>
                <c:pt idx="3">
                  <c:v>219.0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Escalated Tickets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12.0</c:v>
                </c:pt>
                <c:pt idx="1">
                  <c:v>10.0</c:v>
                </c:pt>
                <c:pt idx="2">
                  <c:v>8.0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Resolution Rate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95.7</c:v>
                </c:pt>
                <c:pt idx="1">
                  <c:v>95.6</c:v>
                </c:pt>
                <c:pt idx="2">
                  <c:v>97.0</c:v>
                </c:pt>
                <c:pt idx="3">
                  <c:v>95.2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First Call Resol…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81.0</c:v>
                </c:pt>
                <c:pt idx="1">
                  <c:v>82.0</c:v>
                </c:pt>
                <c:pt idx="2">
                  <c:v>83.0</c:v>
                </c:pt>
                <c:pt idx="3">
                  <c:v>84.0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 Received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320.0</c:v>
                </c:pt>
                <c:pt idx="1">
                  <c:v>305.0</c:v>
                </c:pt>
                <c:pt idx="2">
                  <c:v>340.0</c:v>
                </c:pt>
                <c:pt idx="3">
                  <c:v>310.0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Calls Resolved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295.0</c:v>
                </c:pt>
                <c:pt idx="1">
                  <c:v>280.0</c:v>
                </c:pt>
                <c:pt idx="2">
                  <c:v>315.0</c:v>
                </c:pt>
                <c:pt idx="3">
                  <c:v>288.0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Abandoned Calls</c:v>
                </c:pt>
              </c:strCache>
            </c:strRef>
          </c:tx>
          <c:spPr>
            <a:solidFill>
              <a:srgbClr val="595757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18.0</c:v>
                </c:pt>
                <c:pt idx="1">
                  <c:v>22.0</c:v>
                </c:pt>
                <c:pt idx="2">
                  <c:v>15.0</c:v>
                </c:pt>
                <c:pt idx="3">
                  <c:v>14.0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FCR Rate</c:v>
                </c:pt>
              </c:strCache>
            </c:strRef>
          </c:tx>
          <c:spPr>
            <a:solidFill>
              <a:srgbClr val="CC0000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82.2</c:v>
                </c:pt>
                <c:pt idx="1">
                  <c:v>81.8</c:v>
                </c:pt>
                <c:pt idx="2">
                  <c:v>82.6</c:v>
                </c:pt>
                <c:pt idx="3">
                  <c:v>82.9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SLA Compliance</c:v>
                </c:pt>
              </c:strCache>
            </c:strRef>
          </c:tx>
          <c:spPr>
            <a:solidFill>
              <a:srgbClr val="1F3864"/>
            </a:solidFill>
          </c:spPr>
          <c:dLbls>
            <c:txPr>
              <a:bodyPr/>
              <a:lstStyle/>
              <a:p>
                <a:pPr>
                  <a:defRPr sz="6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96.2</c:v>
                </c:pt>
                <c:pt idx="1">
                  <c:v>95.8</c:v>
                </c:pt>
                <c:pt idx="2">
                  <c:v>97.1</c:v>
                </c:pt>
                <c:pt idx="3">
                  <c:v>96.5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05840"/>
            <a:ext cx="121889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20" b="1">
                <a:solidFill>
                  <a:srgbClr val="CC0000"/>
                </a:solidFill>
              </a:defRPr>
            </a:pPr>
            <a:r>
              <a:t>ITSM Weekly Report — 7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889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96">
                <a:solidFill>
                  <a:srgbClr val="595757"/>
                </a:solidFill>
              </a:defRPr>
            </a:pPr>
            <a:r>
              <a:t>Auto-generated | 7 groups | AI-powered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36">
                <a:solidFill>
                  <a:srgbClr val="333333"/>
                </a:solidFill>
              </a:defRPr>
            </a:pPr>
            <a:r>
              <a:t>Generated by ITSM Automation Agent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MIM  |  7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≥99%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95 – 98%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&lt;95%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Zero P1s this sprint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MIR timeline </a:t>
            </a:r>
            <a:r>
              <a:rPr sz="1100" b="1">
                <a:solidFill>
                  <a:srgbClr val="0D47A1"/>
                </a:solidFill>
              </a:rPr>
              <a:t>100%</a:t>
            </a:r>
            <a:r>
              <a:rPr sz="1100" b="0">
                <a:solidFill>
                  <a:srgbClr val="1F3864"/>
                </a:solidFill>
              </a:rPr>
              <a:t> met across all incidents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ACL communications improved following ELT feedback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Continue P1 prevention measures and runbook reviews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Review ACL communication templates for ELT standards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SLA compliance dipped to </a:t>
            </a:r>
            <a:r>
              <a:rPr sz="1100" b="1">
                <a:solidFill>
                  <a:srgbClr val="0D47A1"/>
                </a:solidFill>
              </a:rPr>
              <a:t>97%</a:t>
            </a:r>
            <a:r>
              <a:rPr sz="1100" b="0">
                <a:solidFill>
                  <a:srgbClr val="1F3864"/>
                </a:solidFill>
              </a:rPr>
              <a:t> in Sprint </a:t>
            </a:r>
            <a:r>
              <a:rPr sz="1100" b="1">
                <a:solidFill>
                  <a:srgbClr val="0D47A1"/>
                </a:solidFill>
              </a:rPr>
              <a:t>13,</a:t>
            </a:r>
            <a:r>
              <a:rPr sz="1100" b="0">
                <a:solidFill>
                  <a:srgbClr val="1F3864"/>
                </a:solidFill>
              </a:rPr>
              <a:t> monitoring closely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Total 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no. of Major Incidents reported in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Includes P1 and P2 incidents raised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MIR Conducted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Major Incident Review conducted after each P1/P2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Post-incident review to identify root cause and corrective actions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# of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1 incidents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Critical incidents requiring immediate escalation to senior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# of P2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2 incidents in the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High priority incidents requiring prompt resolution within 8 hours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  <a:gridCol w="870639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Sprint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MI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MIR Conducted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# of P1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# of P2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100% Adherence to the MIM process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Accurate stakeholder communications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Consistency in the Service now fields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MIR Timeline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SLA compliance P1/P2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SMS within 20 min P1/P2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Email within 20 min engaged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MI whiteboard accuracy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Effective handover for RCA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Sprint 14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452360" y="1298448"/>
          <a:ext cx="4526280" cy="22631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452360" y="3634740"/>
          <a:ext cx="4526280" cy="22631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Change  |  7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≥99%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95 – 98%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&lt;95%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All changes implemented within approved window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Zero P1 impact from changes this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 emergency changes approved within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 hrs of request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Review change approval workflows for emergency category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Enhance CAB pre-screening for high-risk changes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Unauthorised change rate at </a:t>
            </a:r>
            <a:r>
              <a:rPr sz="1100" b="1">
                <a:solidFill>
                  <a:srgbClr val="0D47A1"/>
                </a:solidFill>
              </a:rPr>
              <a:t>0.6%</a:t>
            </a:r>
            <a:r>
              <a:rPr sz="1100" b="0">
                <a:solidFill>
                  <a:srgbClr val="1F3864"/>
                </a:solidFill>
              </a:rPr>
              <a:t>, approaching </a:t>
            </a:r>
            <a:r>
              <a:rPr sz="1100" b="1">
                <a:solidFill>
                  <a:srgbClr val="0D47A1"/>
                </a:solidFill>
              </a:rPr>
              <a:t>1%</a:t>
            </a:r>
            <a:r>
              <a:rPr sz="1100" b="0">
                <a:solidFill>
                  <a:srgbClr val="1F3864"/>
                </a:solidFill>
              </a:rPr>
              <a:t> threshold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Total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number of change requests raised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Includes standard, normal and emergency change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Emergency Changes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emergency change requests raised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Changes bypassing standard CAB approval due to urgency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Change Success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Percentage of changes implemented successfully without incident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Change passes CAB, executes within planned window, no rollback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Change Causing MI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Percentage of changes that caused a Major Incident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Changes that directly triggered a P1 or P2 incident post-implementation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Changes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Emergency Changes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Change Success Ratio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Change Causing MI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Failed Change Ratio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Unauthorised Change rate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452360" y="1298448"/>
          <a:ext cx="4526280" cy="22631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452360" y="3634740"/>
          <a:ext cx="4526280" cy="22631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Problem  |  7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Closed </a:t>
            </a:r>
            <a:r>
              <a:rPr sz="1100" b="1">
                <a:solidFill>
                  <a:srgbClr val="0D47A1"/>
                </a:solidFill>
              </a:rPr>
              <a:t>3</a:t>
            </a:r>
            <a:r>
              <a:rPr sz="1100" b="0">
                <a:solidFill>
                  <a:srgbClr val="1F3864"/>
                </a:solidFill>
              </a:rPr>
              <a:t> aged problems this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RCA submitted for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 P1 incidents on time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Proactive monitoring added for top </a:t>
            </a:r>
            <a:r>
              <a:rPr sz="1100" b="1">
                <a:solidFill>
                  <a:srgbClr val="0D47A1"/>
                </a:solidFill>
              </a:rPr>
              <a:t>5</a:t>
            </a:r>
            <a:r>
              <a:rPr sz="1100" b="0">
                <a:solidFill>
                  <a:srgbClr val="1F3864"/>
                </a:solidFill>
              </a:rPr>
              <a:t> recurring incidents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Escalate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 remaining aged problems to senior management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Conduct root cause analysis workshop for recurring issues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Avg resolution days increased to </a:t>
            </a:r>
            <a:r>
              <a:rPr sz="1100" b="1">
                <a:solidFill>
                  <a:srgbClr val="0D47A1"/>
                </a:solidFill>
              </a:rPr>
              <a:t>4.2</a:t>
            </a:r>
            <a:r>
              <a:rPr sz="1100" b="0">
                <a:solidFill>
                  <a:srgbClr val="1F3864"/>
                </a:solidFill>
              </a:rPr>
              <a:t>, approaching </a:t>
            </a:r>
            <a:r>
              <a:rPr sz="1100" b="1">
                <a:solidFill>
                  <a:srgbClr val="0D47A1"/>
                </a:solidFill>
              </a:rPr>
              <a:t>5</a:t>
            </a:r>
            <a:r>
              <a:rPr sz="1100" b="0">
                <a:solidFill>
                  <a:srgbClr val="1F3864"/>
                </a:solidFill>
              </a:rPr>
              <a:t>-day target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 recurring issues need additional root cause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Open Problems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number of open problem records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All active problem records regardless of priority or 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Problems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problems closed during the reporting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Problems moved to resolved or closed status this week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New Problems Raised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new problem records opened this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Problems raised from incident trends or proactive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Avg Resolution Days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Average calendar days from problem creation to closure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Measured from problem record creation date to closure date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Open Problems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Problems Resolved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New Problems Raised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Avg Resolution Days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Recurring Issues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Problems Aged &gt;30 days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4.2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452360" y="2448306"/>
          <a:ext cx="4526280" cy="22997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Asset and Configuration Management  |  7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CIs Verified This Week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Stale Records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Audit Compliance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12524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141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99%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1298448"/>
            <a:ext cx="4062984" cy="3017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" y="136245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CMDB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1600200"/>
            <a:ext cx="4062984" cy="1216152"/>
          </a:xfrm>
          <a:prstGeom prst="rect">
            <a:avLst/>
          </a:prstGeom>
          <a:solidFill>
            <a:srgbClr val="EDFBF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600200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164592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" y="1911095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Quarterly CMDB audit passed with </a:t>
            </a:r>
            <a:r>
              <a:rPr sz="750" b="1">
                <a:solidFill>
                  <a:srgbClr val="1F3864"/>
                </a:solidFill>
              </a:rPr>
              <a:t>97.7%</a:t>
            </a:r>
            <a:r>
              <a:rPr sz="750" b="0">
                <a:solidFill>
                  <a:srgbClr val="222222"/>
                </a:solidFill>
              </a:rPr>
              <a:t> accuracy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1F3864"/>
                </a:solidFill>
              </a:rPr>
              <a:t>7</a:t>
            </a:r>
            <a:r>
              <a:rPr sz="750" b="0">
                <a:solidFill>
                  <a:srgbClr val="222222"/>
                </a:solidFill>
              </a:rPr>
              <a:t> orphan CIs resolved this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Azure VM CI class successfully onboarded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816352"/>
            <a:ext cx="4062984" cy="121615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816352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" y="286207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" y="3127248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1F3864"/>
                </a:solidFill>
              </a:rPr>
              <a:t>15</a:t>
            </a:r>
            <a:r>
              <a:rPr sz="750" b="0">
                <a:solidFill>
                  <a:srgbClr val="222222"/>
                </a:solidFill>
              </a:rPr>
              <a:t> stale records still pending owner review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CI reconciliation delayed for </a:t>
            </a:r>
            <a:r>
              <a:rPr sz="750" b="1">
                <a:solidFill>
                  <a:srgbClr val="1F3864"/>
                </a:solidFill>
              </a:rPr>
              <a:t>2</a:t>
            </a:r>
            <a:r>
              <a:rPr sz="750" b="0">
                <a:solidFill>
                  <a:srgbClr val="222222"/>
                </a:solidFill>
              </a:rPr>
              <a:t> business services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032504"/>
            <a:ext cx="4062984" cy="121615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032504"/>
            <a:ext cx="4062984" cy="246888"/>
          </a:xfrm>
          <a:prstGeom prst="rect">
            <a:avLst/>
          </a:prstGeom>
          <a:solidFill>
            <a:srgbClr val="2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" y="4078224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" y="4343400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Azure VM reconciliation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Onboard Network team CI class to CMDB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2984" y="1298448"/>
            <a:ext cx="4062984" cy="301752"/>
          </a:xfrm>
          <a:prstGeom prst="rect">
            <a:avLst/>
          </a:prstGeom>
          <a:solidFill>
            <a:srgbClr val="0F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72712" y="136245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HAM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62984" y="1600200"/>
            <a:ext cx="4062984" cy="1216152"/>
          </a:xfrm>
          <a:prstGeom prst="rect">
            <a:avLst/>
          </a:prstGeom>
          <a:solidFill>
            <a:srgbClr val="EDFBF3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62984" y="1600200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72712" y="164592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2712" y="1911095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Hardware asset register fully updated for the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4</a:t>
            </a:r>
            <a:r>
              <a:rPr sz="750" b="0">
                <a:solidFill>
                  <a:srgbClr val="222222"/>
                </a:solidFill>
              </a:rPr>
              <a:t> end-of-life servers decommissioned and removed from register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2984" y="2816352"/>
            <a:ext cx="4062984" cy="121615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62984" y="2816352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72712" y="286207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72712" y="3127248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6</a:t>
            </a:r>
            <a:r>
              <a:rPr sz="750" b="0">
                <a:solidFill>
                  <a:srgbClr val="222222"/>
                </a:solidFill>
              </a:rPr>
              <a:t> active assets without valid vendor support contracts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0F6E56"/>
                </a:solidFill>
              </a:rPr>
              <a:t>3</a:t>
            </a:r>
            <a:r>
              <a:rPr sz="750" b="0">
                <a:solidFill>
                  <a:srgbClr val="222222"/>
                </a:solidFill>
              </a:rPr>
              <a:t> assets missing location tags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62984" y="4032504"/>
            <a:ext cx="4062984" cy="121615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62984" y="4032504"/>
            <a:ext cx="4062984" cy="246888"/>
          </a:xfrm>
          <a:prstGeom prst="rect">
            <a:avLst/>
          </a:prstGeom>
          <a:solidFill>
            <a:srgbClr val="178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72712" y="4078224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72712" y="4343400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EoL review for remaining server estate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Update procurement tracker with </a:t>
            </a:r>
            <a:r>
              <a:rPr sz="750" b="1">
                <a:solidFill>
                  <a:srgbClr val="0F6E56"/>
                </a:solidFill>
              </a:rPr>
              <a:t>2026</a:t>
            </a:r>
            <a:r>
              <a:rPr sz="750" b="0">
                <a:solidFill>
                  <a:srgbClr val="222222"/>
                </a:solidFill>
              </a:rPr>
              <a:t> renewals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5968" y="1298448"/>
            <a:ext cx="4062984" cy="301752"/>
          </a:xfrm>
          <a:prstGeom prst="rect">
            <a:avLst/>
          </a:prstGeom>
          <a:solidFill>
            <a:srgbClr val="8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35695" y="1362456"/>
            <a:ext cx="3925823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SAM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25968" y="1600200"/>
            <a:ext cx="4062984" cy="1216152"/>
          </a:xfrm>
          <a:prstGeom prst="rect">
            <a:avLst/>
          </a:prstGeom>
          <a:solidFill>
            <a:srgbClr val="FDF9E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25968" y="1600200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35695" y="1645920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ACHIEVEMENTS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35695" y="1911095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Software license compliance at </a:t>
            </a:r>
            <a:r>
              <a:rPr sz="750" b="1">
                <a:solidFill>
                  <a:srgbClr val="8B4500"/>
                </a:solidFill>
              </a:rPr>
              <a:t>97%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</a:t>
            </a:r>
            <a:r>
              <a:rPr sz="750" b="1">
                <a:solidFill>
                  <a:srgbClr val="8B4500"/>
                </a:solidFill>
              </a:rPr>
              <a:t>2</a:t>
            </a:r>
            <a:r>
              <a:rPr sz="750" b="0">
                <a:solidFill>
                  <a:srgbClr val="222222"/>
                </a:solidFill>
              </a:rPr>
              <a:t> unused Oracle license sets reclaimed saving £</a:t>
            </a:r>
            <a:r>
              <a:rPr sz="750" b="1">
                <a:solidFill>
                  <a:srgbClr val="8B4500"/>
                </a:solidFill>
              </a:rPr>
              <a:t>18</a:t>
            </a:r>
            <a:r>
              <a:rPr sz="750" b="0">
                <a:solidFill>
                  <a:srgbClr val="222222"/>
                </a:solidFill>
              </a:rPr>
              <a:t>k annually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25968" y="2816352"/>
            <a:ext cx="4062984" cy="1216152"/>
          </a:xfrm>
          <a:prstGeom prst="rect">
            <a:avLst/>
          </a:prstGeom>
          <a:solidFill>
            <a:srgbClr val="FFF0F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25968" y="2816352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35695" y="2862072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35695" y="3127248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Adobe Creative Cloud audit pending since last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AWS reserved instance reconciliation overdue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25968" y="4032504"/>
            <a:ext cx="4062984" cy="1216152"/>
          </a:xfrm>
          <a:prstGeom prst="rect">
            <a:avLst/>
          </a:prstGeom>
          <a:solidFill>
            <a:srgbClr val="F5F0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25968" y="4032504"/>
            <a:ext cx="4062984" cy="246888"/>
          </a:xfrm>
          <a:prstGeom prst="rect">
            <a:avLst/>
          </a:prstGeom>
          <a:solidFill>
            <a:srgbClr val="AA5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35695" y="4078224"/>
            <a:ext cx="392582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85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5695" y="4343400"/>
            <a:ext cx="3861816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Submit Adobe audit results to procurement by Friday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750" b="1">
                <a:solidFill>
                  <a:srgbClr val="222222"/>
                </a:solidFill>
              </a:rPr>
              <a:t>▸  Complete AWS reserved instance review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5321808"/>
            <a:ext cx="12188952" cy="621792"/>
          </a:xfrm>
          <a:prstGeom prst="rect">
            <a:avLst/>
          </a:prstGeom>
          <a:solidFill>
            <a:srgbClr val="F2F5FA"/>
          </a:solidFill>
          <a:ln w="952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5321808"/>
            <a:ext cx="12188952" cy="24688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28016" y="5358384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00">
                <a:solidFill>
                  <a:srgbClr val="FFFFFF"/>
                </a:solidFill>
              </a:defRPr>
            </a:pPr>
            <a:r>
              <a:t>TIMELINE  &amp;  KEY UPDATES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" y="5596128"/>
            <a:ext cx="11932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222222"/>
                </a:solidFill>
              </a:defRPr>
            </a:pPr>
            <a:r>
              <a:t>Week 1: CMDB audit kickoff — baseline accuracy 97.5% | Week 2: HAM EoL review initiated — 12 servers flagged | Week 3: SAM license reclaim completed — 2 Oracle sets returned | Week 4: Quarterly audit report submitted to CIO; CMDB accuracy 97.7%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Total CIs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number of Configuration Items in ServiceNow CMDB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All active CI records across all classes and environments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CIs Verified This Week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CIs verified and validated during the reporting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CIs reviewed by CI owners and confirmed as accurate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CI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Percentage of CIs with accurate and up-to-date attribute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Verified through quarterly CMDB audit and weekly spot checks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Orphan CIs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CIs with no parent relationship or service linkage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CIs not linked to any business service or application in CMDB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NOC  |  7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Auto-resolution rate reached </a:t>
            </a:r>
            <a:r>
              <a:rPr sz="1100" b="1">
                <a:solidFill>
                  <a:srgbClr val="0D47A1"/>
                </a:solidFill>
              </a:rPr>
              <a:t>85%</a:t>
            </a:r>
            <a:r>
              <a:rPr sz="1100" b="0">
                <a:solidFill>
                  <a:srgbClr val="1F3864"/>
                </a:solidFill>
              </a:rPr>
              <a:t>, highest this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P1 incidents resolved in avg </a:t>
            </a:r>
            <a:r>
              <a:rPr sz="1100" b="1">
                <a:solidFill>
                  <a:srgbClr val="0D47A1"/>
                </a:solidFill>
              </a:rPr>
              <a:t>1.4</a:t>
            </a:r>
            <a:r>
              <a:rPr sz="1100" b="0">
                <a:solidFill>
                  <a:srgbClr val="1F3864"/>
                </a:solidFill>
              </a:rPr>
              <a:t> hrs, well within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-hr target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New runbook deployed for DB alert cluster reducing false positives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Expand auto-remediation scripts to cover network alert category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Review P2 escalation path to reduce MTTR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 P1 incidents detected this week, trend needs monitoring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MTTR at </a:t>
            </a:r>
            <a:r>
              <a:rPr sz="1100" b="1">
                <a:solidFill>
                  <a:srgbClr val="0D47A1"/>
                </a:solidFill>
              </a:rPr>
              <a:t>1.7</a:t>
            </a:r>
            <a:r>
              <a:rPr sz="1100" b="0">
                <a:solidFill>
                  <a:srgbClr val="1F3864"/>
                </a:solidFill>
              </a:rPr>
              <a:t> hrs for P2 incidents, slightly above </a:t>
            </a:r>
            <a:r>
              <a:rPr sz="1100" b="1">
                <a:solidFill>
                  <a:srgbClr val="0D47A1"/>
                </a:solidFill>
              </a:rPr>
              <a:t>2</a:t>
            </a:r>
            <a:r>
              <a:rPr sz="1100" b="0">
                <a:solidFill>
                  <a:srgbClr val="1F3864"/>
                </a:solidFill>
              </a:rPr>
              <a:t>-hr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Alerts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number of monitoring alerts received by NOC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Includes all severity levels from all monitored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Alerts Auto-Resolved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alerts automatically resolved without NOC intervention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Auto-remediation scripts and rules resolving alerts without manual action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P1 Incidents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1 incidents detected and managed by NOC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Critical outages requiring immediate NOC escalation to MIM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P2 Incidents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Priority 2 incidents detected and managed by NOC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High severity alerts requiring prompt NOC investigation and response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Alerts Received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Alerts Auto-Resolved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P1 Incidents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P2 Incidents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MTTR Hours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SLA Compliance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1890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1610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97%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452360" y="1298448"/>
          <a:ext cx="4526280" cy="22631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452360" y="3634740"/>
          <a:ext cx="4526280" cy="22631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ServiceNow  |  7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CSAT improved to </a:t>
            </a:r>
            <a:r>
              <a:rPr sz="1100" b="1">
                <a:solidFill>
                  <a:srgbClr val="0D47A1"/>
                </a:solidFill>
              </a:rPr>
              <a:t>4.4</a:t>
            </a:r>
            <a:r>
              <a:rPr sz="1100" b="0">
                <a:solidFill>
                  <a:srgbClr val="1F3864"/>
                </a:solidFill>
              </a:rPr>
              <a:t> out of </a:t>
            </a:r>
            <a:r>
              <a:rPr sz="1100" b="1">
                <a:solidFill>
                  <a:srgbClr val="0D47A1"/>
                </a:solidFill>
              </a:rPr>
              <a:t>5,</a:t>
            </a:r>
            <a:r>
              <a:rPr sz="1100" b="0">
                <a:solidFill>
                  <a:srgbClr val="1F3864"/>
                </a:solidFill>
              </a:rPr>
              <a:t> best score this quarter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FCR consistently above </a:t>
            </a:r>
            <a:r>
              <a:rPr sz="1100" b="1">
                <a:solidFill>
                  <a:srgbClr val="0D47A1"/>
                </a:solidFill>
              </a:rPr>
              <a:t>84%</a:t>
            </a:r>
            <a:r>
              <a:rPr sz="1100" b="0">
                <a:solidFill>
                  <a:srgbClr val="1F3864"/>
                </a:solidFill>
              </a:rPr>
              <a:t> for third consecutive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Escalations reduced </a:t>
            </a:r>
            <a:r>
              <a:rPr sz="1100" b="1">
                <a:solidFill>
                  <a:srgbClr val="0D47A1"/>
                </a:solidFill>
              </a:rPr>
              <a:t>25%</a:t>
            </a:r>
            <a:r>
              <a:rPr sz="1100" b="0">
                <a:solidFill>
                  <a:srgbClr val="1F3864"/>
                </a:solidFill>
              </a:rPr>
              <a:t> versus prior week through knowledge base improvements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Investigate root cause of borderline resolution rate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Publish </a:t>
            </a:r>
            <a:r>
              <a:rPr sz="1100" b="1">
                <a:solidFill>
                  <a:srgbClr val="0D47A1"/>
                </a:solidFill>
              </a:rPr>
              <a:t>10</a:t>
            </a:r>
            <a:r>
              <a:rPr sz="1100" b="0">
                <a:solidFill>
                  <a:srgbClr val="1F3864"/>
                </a:solidFill>
              </a:rPr>
              <a:t> additional knowledge articles for common request types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Resolution rate at </a:t>
            </a:r>
            <a:r>
              <a:rPr sz="1100" b="1">
                <a:solidFill>
                  <a:srgbClr val="0D47A1"/>
                </a:solidFill>
              </a:rPr>
              <a:t>95.2%</a:t>
            </a:r>
            <a:r>
              <a:rPr sz="1100" b="0">
                <a:solidFill>
                  <a:srgbClr val="1F3864"/>
                </a:solidFill>
              </a:rPr>
              <a:t>, borderline against </a:t>
            </a:r>
            <a:r>
              <a:rPr sz="1100" b="1">
                <a:solidFill>
                  <a:srgbClr val="0D47A1"/>
                </a:solidFill>
              </a:rPr>
              <a:t>95%</a:t>
            </a:r>
            <a:r>
              <a:rPr sz="1100" b="0">
                <a:solidFill>
                  <a:srgbClr val="1F3864"/>
                </a:solidFill>
              </a:rPr>
              <a:t> 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Total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service requests and incidents logged in ServiceNow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Includes all request types and categories processed through the platform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Tickets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tickets moved to resolved status in the period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Resolved tickets pending user confirmation closure after 5 days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Escalated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tickets escalated to L2 or L3 support teams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Tickets that could not be resolved by first-line ServiceNow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Resolution 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Percentage of tickets resolved within agreed SLA target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Calculated against resolution time targets by ticket category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Total Tickets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Tickets Resolved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Escalated Tickets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Resolution Rate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CSAT Score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First Call Resolution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219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4.4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452360" y="1298448"/>
          <a:ext cx="4526280" cy="22631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452360" y="3634740"/>
          <a:ext cx="4526280" cy="22631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7498079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Service Desk  |  7 May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82296"/>
            <a:ext cx="23774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82127" y="128016"/>
            <a:ext cx="2212848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A7348"/>
                </a:solidFill>
              </a:rPr>
              <a:t>■  Green  ≥95%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A000"/>
                </a:solidFill>
              </a:rPr>
              <a:t>■  Amber  90 – 94%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CC0000"/>
                </a:solidFill>
              </a:rPr>
              <a:t>■  Red    &lt;90%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solidFill>
            <a:srgbClr val="1A7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0" y="82296"/>
            <a:ext cx="17373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Overall: GREEN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755648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029967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Handle time reduced to </a:t>
            </a:r>
            <a:r>
              <a:rPr sz="1100" b="1">
                <a:solidFill>
                  <a:srgbClr val="0D47A1"/>
                </a:solidFill>
              </a:rPr>
              <a:t>8.4</a:t>
            </a:r>
            <a:r>
              <a:rPr sz="1100" b="0">
                <a:solidFill>
                  <a:srgbClr val="1F3864"/>
                </a:solidFill>
              </a:rPr>
              <a:t> mins against </a:t>
            </a:r>
            <a:r>
              <a:rPr sz="1100" b="1">
                <a:solidFill>
                  <a:srgbClr val="0D47A1"/>
                </a:solidFill>
              </a:rPr>
              <a:t>10</a:t>
            </a:r>
            <a:r>
              <a:rPr sz="1100" b="0">
                <a:solidFill>
                  <a:srgbClr val="1F3864"/>
                </a:solidFill>
              </a:rPr>
              <a:t>-min target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</a:t>
            </a:r>
            <a:r>
              <a:rPr sz="1100" b="1">
                <a:solidFill>
                  <a:srgbClr val="0D47A1"/>
                </a:solidFill>
              </a:rPr>
              <a:t>12</a:t>
            </a:r>
            <a:r>
              <a:rPr sz="1100" b="0">
                <a:solidFill>
                  <a:srgbClr val="1F3864"/>
                </a:solidFill>
              </a:rPr>
              <a:t> new knowledge articles published this week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Abandoned calls at </a:t>
            </a:r>
            <a:r>
              <a:rPr sz="1100" b="1">
                <a:solidFill>
                  <a:srgbClr val="0D47A1"/>
                </a:solidFill>
              </a:rPr>
              <a:t>14,</a:t>
            </a:r>
            <a:r>
              <a:rPr sz="1100" b="0">
                <a:solidFill>
                  <a:srgbClr val="1F3864"/>
                </a:solidFill>
              </a:rPr>
              <a:t> lowest point this month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3121152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3395471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Deploy new chatbot for tier-</a:t>
            </a:r>
            <a:r>
              <a:rPr sz="1100" b="1">
                <a:solidFill>
                  <a:srgbClr val="0D47A1"/>
                </a:solidFill>
              </a:rPr>
              <a:t>1</a:t>
            </a:r>
            <a:r>
              <a:rPr sz="1100" b="0">
                <a:solidFill>
                  <a:srgbClr val="1F3864"/>
                </a:solidFill>
              </a:rPr>
              <a:t> queries to improve FCR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✓  Review call routing rules to reduce abandonment rate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4486656"/>
            <a:ext cx="7315200" cy="1365504"/>
          </a:xfrm>
          <a:prstGeom prst="rect">
            <a:avLst/>
          </a:prstGeom>
          <a:solidFill>
            <a:srgbClr val="E4EDF9"/>
          </a:solidFill>
          <a:ln w="127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" y="4760975"/>
            <a:ext cx="7086600" cy="1045464"/>
          </a:xfrm>
          <a:prstGeom prst="rect">
            <a:avLst/>
          </a:prstGeom>
          <a:noFill/>
          <a:ln w="12700">
            <a:solidFill>
              <a:srgbClr val="1F3864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FCR at </a:t>
            </a:r>
            <a:r>
              <a:rPr sz="1100" b="1">
                <a:solidFill>
                  <a:srgbClr val="0D47A1"/>
                </a:solidFill>
              </a:rPr>
              <a:t>82.9%</a:t>
            </a:r>
            <a:r>
              <a:rPr sz="1100" b="0">
                <a:solidFill>
                  <a:srgbClr val="1F3864"/>
                </a:solidFill>
              </a:rPr>
              <a:t>, slightly below internal </a:t>
            </a:r>
            <a:r>
              <a:rPr sz="1100" b="1">
                <a:solidFill>
                  <a:srgbClr val="0D47A1"/>
                </a:solidFill>
              </a:rPr>
              <a:t>85%</a:t>
            </a:r>
            <a:r>
              <a:rPr sz="1100" b="0">
                <a:solidFill>
                  <a:srgbClr val="1F3864"/>
                </a:solidFill>
              </a:rPr>
              <a:t> target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F3864"/>
                </a:solidFill>
              </a:rPr>
              <a:t>▸  Abandoned calls still above sub-</a:t>
            </a:r>
            <a:r>
              <a:rPr sz="1100" b="1">
                <a:solidFill>
                  <a:srgbClr val="0D47A1"/>
                </a:solidFill>
              </a:rPr>
              <a:t>10</a:t>
            </a:r>
            <a:r>
              <a:rPr sz="1100" b="0">
                <a:solidFill>
                  <a:srgbClr val="1F3864"/>
                </a:solidFill>
              </a:rPr>
              <a:t> goal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755648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" y="1801368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3121152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" y="3166871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NEXT WEEK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486656"/>
            <a:ext cx="73152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" y="4532375"/>
            <a:ext cx="7132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FFFFFF"/>
                </a:solidFill>
              </a:defRPr>
            </a:pPr>
            <a:r>
              <a:t>CONCERNS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0" y="5943600"/>
          <a:ext cx="1218895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4690872"/>
              </a:tblGrid>
              <a:tr h="1828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KPI / Metric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Details / Sub-Definition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Calls Received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inbound contacts handled by Service Desk in the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Includes voice calls, chat sessions and email contacts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Calls Resolved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Total contacts resolved by first-line Service Desk agents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Direct resolution without L2/L3 escalation required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Abandoned Calls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Number of contacts abandoned before being answered by an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Key measure of queue management and staffing adequacy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>
                        <a:defRPr sz="800" b="1">
                          <a:solidFill>
                            <a:srgbClr val="1F3864"/>
                          </a:solidFill>
                        </a:defRPr>
                      </a:pPr>
                      <a:r>
                        <a:t>FCR Rate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Percentage of contacts resolved on first contact without escalation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Primary measure of Service Desk effectiveness and knowledge quality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0" y="566928"/>
          <a:ext cx="12188946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278"/>
                <a:gridCol w="1741278"/>
                <a:gridCol w="1741278"/>
                <a:gridCol w="1741278"/>
                <a:gridCol w="1741278"/>
                <a:gridCol w="1741278"/>
                <a:gridCol w="1741278"/>
              </a:tblGrid>
              <a:tr h="320040"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Week No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Calls Received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Calls Resolved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Abandoned Calls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FCR Rate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Avg Handle Time Mins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SLA Compliance</a:t>
                      </a:r>
                    </a:p>
                  </a:txBody>
                  <a:tcPr marT="45720" marB="45720" marL="45720" marR="45720">
                    <a:solidFill>
                      <a:srgbClr val="CC000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Week 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310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288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marT="45720" marB="45720" marL="45720" marR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83%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8.4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96%</a:t>
                      </a:r>
                    </a:p>
                  </a:txBody>
                  <a:tcPr marT="45720" marB="45720" marL="45720" marR="45720">
                    <a:solidFill>
                      <a:srgbClr val="1A734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7452360" y="1298448"/>
          <a:ext cx="4526280" cy="22631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452360" y="3634740"/>
          <a:ext cx="4526280" cy="22631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