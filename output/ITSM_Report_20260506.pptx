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 MI</c:v>
                </c:pt>
              </c:strCache>
            </c:strRef>
          </c:tx>
          <c:spPr>
            <a:solidFill>
              <a:srgbClr val="CC0000"/>
            </a:solidFill>
          </c:spPr>
          <c:dLbls>
            <c:txPr>
              <a:bodyPr/>
              <a:lstStyle/>
              <a:p>
                <a:pPr>
                  <a:defRPr sz="6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3.0</c:v>
                </c:pt>
                <c:pt idx="1">
                  <c:v>4.0</c:v>
                </c:pt>
                <c:pt idx="2">
                  <c:v>3.0</c:v>
                </c:pt>
                <c:pt idx="3">
                  <c:v>2.0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MIR Conducted</c:v>
                </c:pt>
              </c:strCache>
            </c:strRef>
          </c:tx>
          <c:spPr>
            <a:solidFill>
              <a:srgbClr val="1F3864"/>
            </a:solidFill>
          </c:spPr>
          <c:dLbls>
            <c:txPr>
              <a:bodyPr/>
              <a:lstStyle/>
              <a:p>
                <a:pPr>
                  <a:defRPr sz="6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3.0</c:v>
                </c:pt>
                <c:pt idx="1">
                  <c:v>4.0</c:v>
                </c:pt>
                <c:pt idx="2">
                  <c:v>3.0</c:v>
                </c:pt>
                <c:pt idx="3">
                  <c:v>5.0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# of P2</c:v>
                </c:pt>
              </c:strCache>
            </c:strRef>
          </c:tx>
          <c:spPr>
            <a:solidFill>
              <a:srgbClr val="595757"/>
            </a:solidFill>
          </c:spPr>
          <c:dLbls>
            <c:txPr>
              <a:bodyPr/>
              <a:lstStyle/>
              <a:p>
                <a:pPr>
                  <a:defRPr sz="6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2.0</c:v>
                </c:pt>
                <c:pt idx="1">
                  <c:v>3.0</c:v>
                </c:pt>
                <c:pt idx="2">
                  <c:v>3.0</c:v>
                </c:pt>
                <c:pt idx="3">
                  <c:v>2.0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# of P1</c:v>
                </c:pt>
              </c:strCache>
            </c:strRef>
          </c:tx>
          <c:spPr>
            <a:solidFill>
              <a:srgbClr val="CC0000"/>
            </a:solidFill>
          </c:spPr>
          <c:dLbls>
            <c:txPr>
              <a:bodyPr/>
              <a:lstStyle/>
              <a:p>
                <a:pPr>
                  <a:defRPr sz="6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1.0</c:v>
                </c:pt>
                <c:pt idx="1">
                  <c:v>1.0</c:v>
                </c:pt>
                <c:pt idx="2">
                  <c:v>0.0</c:v>
                </c:pt>
                <c:pt idx="3">
                  <c:v>0.0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100% Adherence t…</c:v>
                </c:pt>
              </c:strCache>
            </c:strRef>
          </c:tx>
          <c:spPr>
            <a:solidFill>
              <a:srgbClr val="1F3864"/>
            </a:solidFill>
          </c:spPr>
          <c:dLbls>
            <c:txPr>
              <a:bodyPr/>
              <a:lstStyle/>
              <a:p>
                <a:pPr>
                  <a:defRPr sz="6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100.0</c:v>
                </c:pt>
                <c:pt idx="1">
                  <c:v>100.0</c:v>
                </c:pt>
                <c:pt idx="2">
                  <c:v>100.0</c:v>
                </c:pt>
                <c:pt idx="3">
                  <c:v>100.0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Accurate stakeho…</c:v>
                </c:pt>
              </c:strCache>
            </c:strRef>
          </c:tx>
          <c:spPr>
            <a:solidFill>
              <a:srgbClr val="595757"/>
            </a:solidFill>
          </c:spPr>
          <c:dLbls>
            <c:txPr>
              <a:bodyPr/>
              <a:lstStyle/>
              <a:p>
                <a:pPr>
                  <a:defRPr sz="6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100.0</c:v>
                </c:pt>
                <c:pt idx="1">
                  <c:v>100.0</c:v>
                </c:pt>
                <c:pt idx="2">
                  <c:v>100.0</c:v>
                </c:pt>
                <c:pt idx="3">
                  <c:v>100.0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/>
        <c:axPos val="l"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 Changes</c:v>
                </c:pt>
              </c:strCache>
            </c:strRef>
          </c:tx>
          <c:spPr>
            <a:solidFill>
              <a:srgbClr val="CC0000"/>
            </a:solidFill>
          </c:spPr>
          <c:dLbls>
            <c:txPr>
              <a:bodyPr/>
              <a:lstStyle/>
              <a:p>
                <a:pPr>
                  <a:defRPr sz="6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48.0</c:v>
                </c:pt>
                <c:pt idx="1">
                  <c:v>52.0</c:v>
                </c:pt>
                <c:pt idx="2">
                  <c:v>45.0</c:v>
                </c:pt>
                <c:pt idx="3">
                  <c:v>50.0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Emergency Changes</c:v>
                </c:pt>
              </c:strCache>
            </c:strRef>
          </c:tx>
          <c:spPr>
            <a:solidFill>
              <a:srgbClr val="1F3864"/>
            </a:solidFill>
          </c:spPr>
          <c:dLbls>
            <c:txPr>
              <a:bodyPr/>
              <a:lstStyle/>
              <a:p>
                <a:pPr>
                  <a:defRPr sz="6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2.0</c:v>
                </c:pt>
                <c:pt idx="1">
                  <c:v>1.0</c:v>
                </c:pt>
                <c:pt idx="2">
                  <c:v>3.0</c:v>
                </c:pt>
                <c:pt idx="3">
                  <c:v>2.0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Change Success R…</c:v>
                </c:pt>
              </c:strCache>
            </c:strRef>
          </c:tx>
          <c:spPr>
            <a:solidFill>
              <a:srgbClr val="CC0000"/>
            </a:solidFill>
          </c:spPr>
          <c:dLbls>
            <c:txPr>
              <a:bodyPr/>
              <a:lstStyle/>
              <a:p>
                <a:pPr>
                  <a:defRPr sz="6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100.0</c:v>
                </c:pt>
                <c:pt idx="1">
                  <c:v>99.0</c:v>
                </c:pt>
                <c:pt idx="2">
                  <c:v>100.0</c:v>
                </c:pt>
                <c:pt idx="3">
                  <c:v>100.0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Change Causing MI</c:v>
                </c:pt>
              </c:strCache>
            </c:strRef>
          </c:tx>
          <c:spPr>
            <a:solidFill>
              <a:srgbClr val="1F3864"/>
            </a:solidFill>
          </c:spPr>
          <c:dLbls>
            <c:txPr>
              <a:bodyPr/>
              <a:lstStyle/>
              <a:p>
                <a:pPr>
                  <a:defRPr sz="6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2.1</c:v>
                </c:pt>
                <c:pt idx="1">
                  <c:v>1.9</c:v>
                </c:pt>
                <c:pt idx="2">
                  <c:v>0.0</c:v>
                </c:pt>
                <c:pt idx="3">
                  <c:v>0.0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Failed Change Ra…</c:v>
                </c:pt>
              </c:strCache>
            </c:strRef>
          </c:tx>
          <c:spPr>
            <a:solidFill>
              <a:srgbClr val="595757"/>
            </a:solidFill>
          </c:spPr>
          <c:dLbls>
            <c:txPr>
              <a:bodyPr/>
              <a:lstStyle/>
              <a:p>
                <a:pPr>
                  <a:defRPr sz="6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0.0</c:v>
                </c:pt>
                <c:pt idx="1">
                  <c:v>0.5</c:v>
                </c:pt>
                <c:pt idx="2">
                  <c:v>0.0</c:v>
                </c:pt>
                <c:pt idx="3">
                  <c:v>0.0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/>
        <c:axPos val="l"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Open Problems</c:v>
                </c:pt>
              </c:strCache>
            </c:strRef>
          </c:tx>
          <c:spPr>
            <a:solidFill>
              <a:srgbClr val="CC0000"/>
            </a:solidFill>
          </c:spPr>
          <c:dLbls>
            <c:txPr>
              <a:bodyPr/>
              <a:lstStyle/>
              <a:p>
                <a:pPr>
                  <a:defRPr sz="6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18.0</c:v>
                </c:pt>
                <c:pt idx="1">
                  <c:v>15.0</c:v>
                </c:pt>
                <c:pt idx="2">
                  <c:v>12.0</c:v>
                </c:pt>
                <c:pt idx="3">
                  <c:v>11.0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Problems Resolved</c:v>
                </c:pt>
              </c:strCache>
            </c:strRef>
          </c:tx>
          <c:spPr>
            <a:solidFill>
              <a:srgbClr val="1F3864"/>
            </a:solidFill>
          </c:spPr>
          <c:dLbls>
            <c:txPr>
              <a:bodyPr/>
              <a:lstStyle/>
              <a:p>
                <a:pPr>
                  <a:defRPr sz="6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8.0</c:v>
                </c:pt>
                <c:pt idx="1">
                  <c:v>9.0</c:v>
                </c:pt>
                <c:pt idx="2">
                  <c:v>8.0</c:v>
                </c:pt>
                <c:pt idx="3">
                  <c:v>8.0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New Problems Rai…</c:v>
                </c:pt>
              </c:strCache>
            </c:strRef>
          </c:tx>
          <c:spPr>
            <a:solidFill>
              <a:srgbClr val="595757"/>
            </a:solidFill>
          </c:spPr>
          <c:dLbls>
            <c:txPr>
              <a:bodyPr/>
              <a:lstStyle/>
              <a:p>
                <a:pPr>
                  <a:defRPr sz="6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5.0</c:v>
                </c:pt>
                <c:pt idx="1">
                  <c:v>4.0</c:v>
                </c:pt>
                <c:pt idx="2">
                  <c:v>3.0</c:v>
                </c:pt>
                <c:pt idx="3">
                  <c:v>3.0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Alerts Received</c:v>
                </c:pt>
              </c:strCache>
            </c:strRef>
          </c:tx>
          <c:spPr>
            <a:solidFill>
              <a:srgbClr val="CC0000"/>
            </a:solidFill>
          </c:spPr>
          <c:dLbls>
            <c:txPr>
              <a:bodyPr/>
              <a:lstStyle/>
              <a:p>
                <a:pPr>
                  <a:defRPr sz="6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1842.0</c:v>
                </c:pt>
                <c:pt idx="1">
                  <c:v>1975.0</c:v>
                </c:pt>
                <c:pt idx="2">
                  <c:v>1723.0</c:v>
                </c:pt>
                <c:pt idx="3">
                  <c:v>1890.0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Alerts Auto-Reso…</c:v>
                </c:pt>
              </c:strCache>
            </c:strRef>
          </c:tx>
          <c:spPr>
            <a:solidFill>
              <a:srgbClr val="1F3864"/>
            </a:solidFill>
          </c:spPr>
          <c:dLbls>
            <c:txPr>
              <a:bodyPr/>
              <a:lstStyle/>
              <a:p>
                <a:pPr>
                  <a:defRPr sz="6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1560.0</c:v>
                </c:pt>
                <c:pt idx="1">
                  <c:v>1680.0</c:v>
                </c:pt>
                <c:pt idx="2">
                  <c:v>1490.0</c:v>
                </c:pt>
                <c:pt idx="3">
                  <c:v>1610.0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P1 Incidents</c:v>
                </c:pt>
              </c:strCache>
            </c:strRef>
          </c:tx>
          <c:spPr>
            <a:solidFill>
              <a:srgbClr val="595757"/>
            </a:solidFill>
          </c:spPr>
          <c:dLbls>
            <c:txPr>
              <a:bodyPr/>
              <a:lstStyle/>
              <a:p>
                <a:pPr>
                  <a:defRPr sz="6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1.0</c:v>
                </c:pt>
                <c:pt idx="1">
                  <c:v>2.0</c:v>
                </c:pt>
                <c:pt idx="2">
                  <c:v>1.0</c:v>
                </c:pt>
                <c:pt idx="3">
                  <c:v>2.0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SLA Compliance</c:v>
                </c:pt>
              </c:strCache>
            </c:strRef>
          </c:tx>
          <c:spPr>
            <a:solidFill>
              <a:srgbClr val="CC0000"/>
            </a:solidFill>
          </c:spPr>
          <c:dLbls>
            <c:txPr>
              <a:bodyPr/>
              <a:lstStyle/>
              <a:p>
                <a:pPr>
                  <a:defRPr sz="6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97.1</c:v>
                </c:pt>
                <c:pt idx="1">
                  <c:v>96.8</c:v>
                </c:pt>
                <c:pt idx="2">
                  <c:v>97.2</c:v>
                </c:pt>
                <c:pt idx="3">
                  <c:v>97.4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/>
        <c:axPos val="l"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 Tickets</c:v>
                </c:pt>
              </c:strCache>
            </c:strRef>
          </c:tx>
          <c:spPr>
            <a:solidFill>
              <a:srgbClr val="CC0000"/>
            </a:solidFill>
          </c:spPr>
          <c:dLbls>
            <c:txPr>
              <a:bodyPr/>
              <a:lstStyle/>
              <a:p>
                <a:pPr>
                  <a:defRPr sz="6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210.0</c:v>
                </c:pt>
                <c:pt idx="1">
                  <c:v>225.0</c:v>
                </c:pt>
                <c:pt idx="2">
                  <c:v>198.0</c:v>
                </c:pt>
                <c:pt idx="3">
                  <c:v>230.0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Tickets Resolved</c:v>
                </c:pt>
              </c:strCache>
            </c:strRef>
          </c:tx>
          <c:spPr>
            <a:solidFill>
              <a:srgbClr val="1F3864"/>
            </a:solidFill>
          </c:spPr>
          <c:dLbls>
            <c:txPr>
              <a:bodyPr/>
              <a:lstStyle/>
              <a:p>
                <a:pPr>
                  <a:defRPr sz="6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201.0</c:v>
                </c:pt>
                <c:pt idx="1">
                  <c:v>215.0</c:v>
                </c:pt>
                <c:pt idx="2">
                  <c:v>192.0</c:v>
                </c:pt>
                <c:pt idx="3">
                  <c:v>219.0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Escalated Tickets</c:v>
                </c:pt>
              </c:strCache>
            </c:strRef>
          </c:tx>
          <c:spPr>
            <a:solidFill>
              <a:srgbClr val="595757"/>
            </a:solidFill>
          </c:spPr>
          <c:dLbls>
            <c:txPr>
              <a:bodyPr/>
              <a:lstStyle/>
              <a:p>
                <a:pPr>
                  <a:defRPr sz="6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12.0</c:v>
                </c:pt>
                <c:pt idx="1">
                  <c:v>10.0</c:v>
                </c:pt>
                <c:pt idx="2">
                  <c:v>8.0</c:v>
                </c:pt>
                <c:pt idx="3">
                  <c:v>9.0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Resolution Rate</c:v>
                </c:pt>
              </c:strCache>
            </c:strRef>
          </c:tx>
          <c:spPr>
            <a:solidFill>
              <a:srgbClr val="CC0000"/>
            </a:solidFill>
          </c:spPr>
          <c:dLbls>
            <c:txPr>
              <a:bodyPr/>
              <a:lstStyle/>
              <a:p>
                <a:pPr>
                  <a:defRPr sz="6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95.7</c:v>
                </c:pt>
                <c:pt idx="1">
                  <c:v>95.6</c:v>
                </c:pt>
                <c:pt idx="2">
                  <c:v>97.0</c:v>
                </c:pt>
                <c:pt idx="3">
                  <c:v>95.2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First Call Resol…</c:v>
                </c:pt>
              </c:strCache>
            </c:strRef>
          </c:tx>
          <c:spPr>
            <a:solidFill>
              <a:srgbClr val="1F3864"/>
            </a:solidFill>
          </c:spPr>
          <c:dLbls>
            <c:txPr>
              <a:bodyPr/>
              <a:lstStyle/>
              <a:p>
                <a:pPr>
                  <a:defRPr sz="6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81.0</c:v>
                </c:pt>
                <c:pt idx="1">
                  <c:v>82.0</c:v>
                </c:pt>
                <c:pt idx="2">
                  <c:v>83.0</c:v>
                </c:pt>
                <c:pt idx="3">
                  <c:v>84.0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/>
        <c:axPos val="l"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Calls Received</c:v>
                </c:pt>
              </c:strCache>
            </c:strRef>
          </c:tx>
          <c:spPr>
            <a:solidFill>
              <a:srgbClr val="CC0000"/>
            </a:solidFill>
          </c:spPr>
          <c:dLbls>
            <c:txPr>
              <a:bodyPr/>
              <a:lstStyle/>
              <a:p>
                <a:pPr>
                  <a:defRPr sz="6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320.0</c:v>
                </c:pt>
                <c:pt idx="1">
                  <c:v>305.0</c:v>
                </c:pt>
                <c:pt idx="2">
                  <c:v>340.0</c:v>
                </c:pt>
                <c:pt idx="3">
                  <c:v>310.0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Calls Resolved</c:v>
                </c:pt>
              </c:strCache>
            </c:strRef>
          </c:tx>
          <c:spPr>
            <a:solidFill>
              <a:srgbClr val="1F3864"/>
            </a:solidFill>
          </c:spPr>
          <c:dLbls>
            <c:txPr>
              <a:bodyPr/>
              <a:lstStyle/>
              <a:p>
                <a:pPr>
                  <a:defRPr sz="6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295.0</c:v>
                </c:pt>
                <c:pt idx="1">
                  <c:v>280.0</c:v>
                </c:pt>
                <c:pt idx="2">
                  <c:v>315.0</c:v>
                </c:pt>
                <c:pt idx="3">
                  <c:v>288.0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Abandoned Calls</c:v>
                </c:pt>
              </c:strCache>
            </c:strRef>
          </c:tx>
          <c:spPr>
            <a:solidFill>
              <a:srgbClr val="595757"/>
            </a:solidFill>
          </c:spPr>
          <c:dLbls>
            <c:txPr>
              <a:bodyPr/>
              <a:lstStyle/>
              <a:p>
                <a:pPr>
                  <a:defRPr sz="6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18.0</c:v>
                </c:pt>
                <c:pt idx="1">
                  <c:v>22.0</c:v>
                </c:pt>
                <c:pt idx="2">
                  <c:v>15.0</c:v>
                </c:pt>
                <c:pt idx="3">
                  <c:v>14.0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FCR Rate</c:v>
                </c:pt>
              </c:strCache>
            </c:strRef>
          </c:tx>
          <c:spPr>
            <a:solidFill>
              <a:srgbClr val="CC0000"/>
            </a:solidFill>
          </c:spPr>
          <c:dLbls>
            <c:txPr>
              <a:bodyPr/>
              <a:lstStyle/>
              <a:p>
                <a:pPr>
                  <a:defRPr sz="6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82.2</c:v>
                </c:pt>
                <c:pt idx="1">
                  <c:v>81.8</c:v>
                </c:pt>
                <c:pt idx="2">
                  <c:v>82.6</c:v>
                </c:pt>
                <c:pt idx="3">
                  <c:v>82.9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SLA Compliance</c:v>
                </c:pt>
              </c:strCache>
            </c:strRef>
          </c:tx>
          <c:spPr>
            <a:solidFill>
              <a:srgbClr val="1F3864"/>
            </a:solidFill>
          </c:spPr>
          <c:dLbls>
            <c:txPr>
              <a:bodyPr/>
              <a:lstStyle/>
              <a:p>
                <a:pPr>
                  <a:defRPr sz="6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96.2</c:v>
                </c:pt>
                <c:pt idx="1">
                  <c:v>95.8</c:v>
                </c:pt>
                <c:pt idx="2">
                  <c:v>97.1</c:v>
                </c:pt>
                <c:pt idx="3">
                  <c:v>96.5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/>
        <c:axPos val="l"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Relationship Id="rId3" Type="http://schemas.openxmlformats.org/officeDocument/2006/relationships/chart" Target="../charts/char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Relationship Id="rId3" Type="http://schemas.openxmlformats.org/officeDocument/2006/relationships/chart" Target="../charts/chart9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0.xml"/><Relationship Id="rId3" Type="http://schemas.openxmlformats.org/officeDocument/2006/relationships/chart" Target="../charts/chart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005840"/>
            <a:ext cx="121889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20" b="1">
                <a:solidFill>
                  <a:srgbClr val="CC0000"/>
                </a:solidFill>
              </a:defRPr>
            </a:pPr>
            <a:r>
              <a:t>ITSM Weekly Report — 6 May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889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96">
                <a:solidFill>
                  <a:srgbClr val="595757"/>
                </a:solidFill>
              </a:defRPr>
            </a:pPr>
            <a:r>
              <a:t>Auto-generated | 7 groups | AI-powered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6309360"/>
            <a:ext cx="121889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36">
                <a:solidFill>
                  <a:srgbClr val="333333"/>
                </a:solidFill>
              </a:defRPr>
            </a:pPr>
            <a:r>
              <a:t>Generated by ITSM Automation Agent |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7498079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MIM  |  6 May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0" y="82296"/>
            <a:ext cx="23774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82127" y="128016"/>
            <a:ext cx="2212848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1A7348"/>
                </a:solidFill>
              </a:rPr>
              <a:t>■  Green  ≥99%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A000"/>
                </a:solidFill>
              </a:rPr>
              <a:t>■  Amber  95 – 98%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CC0000"/>
                </a:solidFill>
              </a:rPr>
              <a:t>■  Red    &lt;95%</a:t>
            </a:r>
          </a:p>
        </p:txBody>
      </p:sp>
      <p:sp>
        <p:nvSpPr>
          <p:cNvPr id="6" name="Rectangle 5"/>
          <p:cNvSpPr/>
          <p:nvPr/>
        </p:nvSpPr>
        <p:spPr>
          <a:xfrm>
            <a:off x="10332720" y="82296"/>
            <a:ext cx="1737360" cy="393192"/>
          </a:xfrm>
          <a:prstGeom prst="rect">
            <a:avLst/>
          </a:prstGeom>
          <a:solidFill>
            <a:srgbClr val="1A7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82296"/>
            <a:ext cx="173736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Overall: GREEN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298448"/>
            <a:ext cx="7315200" cy="2011680"/>
          </a:xfrm>
          <a:prstGeom prst="rect">
            <a:avLst/>
          </a:prstGeom>
          <a:solidFill>
            <a:srgbClr val="E4EDF9"/>
          </a:solidFill>
          <a:ln w="127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298448"/>
            <a:ext cx="7315200" cy="31089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" y="1353312"/>
            <a:ext cx="715060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FFFFFF"/>
                </a:solidFill>
              </a:defRPr>
            </a:pPr>
            <a:r>
              <a:t>KEY ACHIEVEMENTS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" y="1673352"/>
            <a:ext cx="7168896" cy="576072"/>
          </a:xfrm>
          <a:prstGeom prst="rect">
            <a:avLst/>
          </a:prstGeom>
          <a:solidFill>
            <a:srgbClr val="FFFFFF"/>
          </a:solidFill>
          <a:ln w="9525">
            <a:solidFill>
              <a:srgbClr val="B0C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" y="1673352"/>
            <a:ext cx="59436" cy="57607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6596" y="1737360"/>
            <a:ext cx="701802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800" b="1">
                <a:solidFill>
                  <a:srgbClr val="1F3864"/>
                </a:solidFill>
              </a:rPr>
              <a:t>✓  Zero P1s this sprint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" y="2313432"/>
            <a:ext cx="7168896" cy="576072"/>
          </a:xfrm>
          <a:prstGeom prst="rect">
            <a:avLst/>
          </a:prstGeom>
          <a:solidFill>
            <a:srgbClr val="FFFFFF"/>
          </a:solidFill>
          <a:ln w="9525">
            <a:solidFill>
              <a:srgbClr val="B0C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" y="2313432"/>
            <a:ext cx="59436" cy="57607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96596" y="2377440"/>
            <a:ext cx="701802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800" b="1">
                <a:solidFill>
                  <a:srgbClr val="1F3864"/>
                </a:solidFill>
              </a:rPr>
              <a:t>✓  MIR timeline </a:t>
            </a:r>
            <a:r>
              <a:rPr sz="800" b="1">
                <a:solidFill>
                  <a:srgbClr val="0D47A1"/>
                </a:solidFill>
              </a:rPr>
              <a:t>100%</a:t>
            </a:r>
            <a:r>
              <a:rPr sz="800" b="0">
                <a:solidFill>
                  <a:srgbClr val="1F3864"/>
                </a:solidFill>
              </a:rPr>
              <a:t> met across all incidents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3401568"/>
            <a:ext cx="7315200" cy="1655064"/>
          </a:xfrm>
          <a:prstGeom prst="rect">
            <a:avLst/>
          </a:prstGeom>
          <a:solidFill>
            <a:srgbClr val="E4EDF9"/>
          </a:solidFill>
          <a:ln w="127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3401568"/>
            <a:ext cx="7315200" cy="31089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8016" y="3456432"/>
            <a:ext cx="715060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FFFFFF"/>
                </a:solidFill>
              </a:defRPr>
            </a:pPr>
            <a:r>
              <a:t>NEXT WEEK FOCUS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" y="3776472"/>
            <a:ext cx="7168896" cy="576072"/>
          </a:xfrm>
          <a:prstGeom prst="rect">
            <a:avLst/>
          </a:prstGeom>
          <a:solidFill>
            <a:srgbClr val="FFFFFF"/>
          </a:solidFill>
          <a:ln w="9525">
            <a:solidFill>
              <a:srgbClr val="B0C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" y="3776472"/>
            <a:ext cx="59436" cy="57607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96596" y="3840480"/>
            <a:ext cx="701802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800" b="1">
                <a:solidFill>
                  <a:srgbClr val="1F3864"/>
                </a:solidFill>
              </a:rPr>
              <a:t>✓  Continue P1 prevention measures and runbook reviews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" y="4416552"/>
            <a:ext cx="7168896" cy="576072"/>
          </a:xfrm>
          <a:prstGeom prst="rect">
            <a:avLst/>
          </a:prstGeom>
          <a:solidFill>
            <a:srgbClr val="FFFFFF"/>
          </a:solidFill>
          <a:ln w="9525">
            <a:solidFill>
              <a:srgbClr val="B0C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" y="4416552"/>
            <a:ext cx="59436" cy="57607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96596" y="4480560"/>
            <a:ext cx="701802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800" b="1">
                <a:solidFill>
                  <a:srgbClr val="1F3864"/>
                </a:solidFill>
              </a:rPr>
              <a:t>✓  Review ACL communication templates for ELT standards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5148072"/>
            <a:ext cx="7315200" cy="795527"/>
          </a:xfrm>
          <a:prstGeom prst="rect">
            <a:avLst/>
          </a:prstGeom>
          <a:solidFill>
            <a:srgbClr val="E4EDF9"/>
          </a:solidFill>
          <a:ln w="127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5148072"/>
            <a:ext cx="7315200" cy="31089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8016" y="5202936"/>
            <a:ext cx="715060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FFFFFF"/>
                </a:solidFill>
              </a:defRPr>
            </a:pPr>
            <a:r>
              <a:t>CONCERNS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0" y="5943600"/>
          <a:ext cx="12188952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4937760"/>
                <a:gridCol w="4690872"/>
              </a:tblGrid>
              <a:tr h="182880">
                <a:tc>
                  <a:txBody>
                    <a:bodyPr/>
                    <a:lstStyle/>
                    <a:p>
                      <a:pPr>
                        <a:defRPr b="1" sz="600">
                          <a:solidFill>
                            <a:srgbClr val="FFFFFF"/>
                          </a:solidFill>
                        </a:defRPr>
                      </a:pPr>
                      <a:r>
                        <a:t>KPI / Metric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600">
                          <a:solidFill>
                            <a:srgbClr val="FFFFFF"/>
                          </a:solidFill>
                        </a:defRPr>
                      </a:pPr>
                      <a:r>
                        <a:t>Definition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600">
                          <a:solidFill>
                            <a:srgbClr val="FFFFFF"/>
                          </a:solidFill>
                        </a:defRPr>
                      </a:pPr>
                      <a:r>
                        <a:t>Details / Sub-Definition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>
                        <a:defRPr sz="550" b="1">
                          <a:solidFill>
                            <a:srgbClr val="1F3864"/>
                          </a:solidFill>
                        </a:defRPr>
                      </a:pPr>
                      <a:r>
                        <a:t>Total MI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Total no. of Major Incidents reported in period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Includes P1 and P2 incidents raised in ServiceNow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>
                        <a:defRPr sz="550" b="1">
                          <a:solidFill>
                            <a:srgbClr val="1F3864"/>
                          </a:solidFill>
                        </a:defRPr>
                      </a:pPr>
                      <a:r>
                        <a:t>MIR Conducted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Major Incident Review conducted after each P1/P2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Post-incident review to identify root cause and corrective actions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>
                        <a:defRPr sz="550" b="1">
                          <a:solidFill>
                            <a:srgbClr val="1F3864"/>
                          </a:solidFill>
                        </a:defRPr>
                      </a:pPr>
                      <a:r>
                        <a:t># of P1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Number of Priority 1 incidents in the period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Critical incidents requiring immediate escalation to senior management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>
                        <a:defRPr sz="550" b="1">
                          <a:solidFill>
                            <a:srgbClr val="1F3864"/>
                          </a:solidFill>
                        </a:defRPr>
                      </a:pPr>
                      <a:r>
                        <a:t># of P2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Number of Priority 2 incidents in the period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High priority incidents requiring prompt resolution within 8 hours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0" y="566928"/>
          <a:ext cx="12188946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639"/>
                <a:gridCol w="870639"/>
                <a:gridCol w="870639"/>
                <a:gridCol w="870639"/>
                <a:gridCol w="870639"/>
                <a:gridCol w="870639"/>
                <a:gridCol w="870639"/>
                <a:gridCol w="870639"/>
                <a:gridCol w="870639"/>
                <a:gridCol w="870639"/>
                <a:gridCol w="870639"/>
                <a:gridCol w="870639"/>
                <a:gridCol w="870639"/>
                <a:gridCol w="870639"/>
              </a:tblGrid>
              <a:tr h="320040"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Sprint No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Total MI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MIR Conducted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# of P1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# of P2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100% Adherence to the MIM process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Accurate stakeholder communications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Consistency in the Service now fields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MIR Timeline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SLA compliance P1/P2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SMS within 20 min P1/P2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Email within 20 min engaged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MI whiteboard accuracy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Effective handover for RCA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333333"/>
                          </a:solidFill>
                        </a:defRPr>
                      </a:pPr>
                      <a:r>
                        <a:t>Sprint 14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333333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333333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333333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333333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1A73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1A73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1A73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1A73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1A73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1A73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1A73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1A73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1A734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" name="Chart 30"/>
          <p:cNvGraphicFramePr>
            <a:graphicFrameLocks noGrp="1"/>
          </p:cNvGraphicFramePr>
          <p:nvPr/>
        </p:nvGraphicFramePr>
        <p:xfrm>
          <a:off x="7452360" y="1298448"/>
          <a:ext cx="4526280" cy="22631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32" name="Chart 31"/>
          <p:cNvGraphicFramePr>
            <a:graphicFrameLocks noGrp="1"/>
          </p:cNvGraphicFramePr>
          <p:nvPr/>
        </p:nvGraphicFramePr>
        <p:xfrm>
          <a:off x="7452360" y="3634740"/>
          <a:ext cx="4526280" cy="22631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7498079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Change  |  6 May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0" y="82296"/>
            <a:ext cx="23774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82127" y="128016"/>
            <a:ext cx="2212848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1A7348"/>
                </a:solidFill>
              </a:rPr>
              <a:t>■  Green  ≥99%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A000"/>
                </a:solidFill>
              </a:rPr>
              <a:t>■  Amber  95 – 98%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CC0000"/>
                </a:solidFill>
              </a:rPr>
              <a:t>■  Red    &lt;95%</a:t>
            </a:r>
          </a:p>
        </p:txBody>
      </p:sp>
      <p:sp>
        <p:nvSpPr>
          <p:cNvPr id="6" name="Rectangle 5"/>
          <p:cNvSpPr/>
          <p:nvPr/>
        </p:nvSpPr>
        <p:spPr>
          <a:xfrm>
            <a:off x="10332720" y="82296"/>
            <a:ext cx="1737360" cy="393192"/>
          </a:xfrm>
          <a:prstGeom prst="rect">
            <a:avLst/>
          </a:prstGeom>
          <a:solidFill>
            <a:srgbClr val="1A7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82296"/>
            <a:ext cx="173736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Overall: GREEN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298448"/>
            <a:ext cx="7315200" cy="2011680"/>
          </a:xfrm>
          <a:prstGeom prst="rect">
            <a:avLst/>
          </a:prstGeom>
          <a:solidFill>
            <a:srgbClr val="E4EDF9"/>
          </a:solidFill>
          <a:ln w="127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298448"/>
            <a:ext cx="7315200" cy="31089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" y="1353312"/>
            <a:ext cx="715060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FFFFFF"/>
                </a:solidFill>
              </a:defRPr>
            </a:pPr>
            <a:r>
              <a:t>KEY ACHIEVEMENTS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" y="1673352"/>
            <a:ext cx="7168896" cy="576072"/>
          </a:xfrm>
          <a:prstGeom prst="rect">
            <a:avLst/>
          </a:prstGeom>
          <a:solidFill>
            <a:srgbClr val="FFFFFF"/>
          </a:solidFill>
          <a:ln w="9525">
            <a:solidFill>
              <a:srgbClr val="B0C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" y="1673352"/>
            <a:ext cx="59436" cy="57607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6596" y="1737360"/>
            <a:ext cx="701802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800" b="1">
                <a:solidFill>
                  <a:srgbClr val="1F3864"/>
                </a:solidFill>
              </a:rPr>
              <a:t>✓  All changes implemented within approved window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" y="2313432"/>
            <a:ext cx="7168896" cy="576072"/>
          </a:xfrm>
          <a:prstGeom prst="rect">
            <a:avLst/>
          </a:prstGeom>
          <a:solidFill>
            <a:srgbClr val="FFFFFF"/>
          </a:solidFill>
          <a:ln w="9525">
            <a:solidFill>
              <a:srgbClr val="B0C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" y="2313432"/>
            <a:ext cx="59436" cy="57607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96596" y="2377440"/>
            <a:ext cx="701802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800" b="1">
                <a:solidFill>
                  <a:srgbClr val="1F3864"/>
                </a:solidFill>
              </a:rPr>
              <a:t>✓  Zero P1 impact from changes this week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3401568"/>
            <a:ext cx="7315200" cy="1655064"/>
          </a:xfrm>
          <a:prstGeom prst="rect">
            <a:avLst/>
          </a:prstGeom>
          <a:solidFill>
            <a:srgbClr val="E4EDF9"/>
          </a:solidFill>
          <a:ln w="127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3401568"/>
            <a:ext cx="7315200" cy="31089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8016" y="3456432"/>
            <a:ext cx="715060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FFFFFF"/>
                </a:solidFill>
              </a:defRPr>
            </a:pPr>
            <a:r>
              <a:t>NEXT WEEK FOCUS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" y="3776472"/>
            <a:ext cx="7168896" cy="576072"/>
          </a:xfrm>
          <a:prstGeom prst="rect">
            <a:avLst/>
          </a:prstGeom>
          <a:solidFill>
            <a:srgbClr val="FFFFFF"/>
          </a:solidFill>
          <a:ln w="9525">
            <a:solidFill>
              <a:srgbClr val="B0C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" y="3776472"/>
            <a:ext cx="59436" cy="57607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96596" y="3840480"/>
            <a:ext cx="701802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800" b="1">
                <a:solidFill>
                  <a:srgbClr val="1F3864"/>
                </a:solidFill>
              </a:rPr>
              <a:t>✓  Review change approval workflows for emergency category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" y="4416552"/>
            <a:ext cx="7168896" cy="576072"/>
          </a:xfrm>
          <a:prstGeom prst="rect">
            <a:avLst/>
          </a:prstGeom>
          <a:solidFill>
            <a:srgbClr val="FFFFFF"/>
          </a:solidFill>
          <a:ln w="9525">
            <a:solidFill>
              <a:srgbClr val="B0C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" y="4416552"/>
            <a:ext cx="59436" cy="57607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96596" y="4480560"/>
            <a:ext cx="701802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800" b="1">
                <a:solidFill>
                  <a:srgbClr val="1F3864"/>
                </a:solidFill>
              </a:rPr>
              <a:t>✓  Enhance CAB pre-screening for high-risk changes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5148072"/>
            <a:ext cx="7315200" cy="795527"/>
          </a:xfrm>
          <a:prstGeom prst="rect">
            <a:avLst/>
          </a:prstGeom>
          <a:solidFill>
            <a:srgbClr val="E4EDF9"/>
          </a:solidFill>
          <a:ln w="127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5148072"/>
            <a:ext cx="7315200" cy="31089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8016" y="5202936"/>
            <a:ext cx="715060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FFFFFF"/>
                </a:solidFill>
              </a:defRPr>
            </a:pPr>
            <a:r>
              <a:t>CONCERNS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0" y="5943600"/>
          <a:ext cx="12188952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4937760"/>
                <a:gridCol w="4690872"/>
              </a:tblGrid>
              <a:tr h="182880">
                <a:tc>
                  <a:txBody>
                    <a:bodyPr/>
                    <a:lstStyle/>
                    <a:p>
                      <a:pPr>
                        <a:defRPr b="1" sz="600">
                          <a:solidFill>
                            <a:srgbClr val="FFFFFF"/>
                          </a:solidFill>
                        </a:defRPr>
                      </a:pPr>
                      <a:r>
                        <a:t>KPI / Metric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600">
                          <a:solidFill>
                            <a:srgbClr val="FFFFFF"/>
                          </a:solidFill>
                        </a:defRPr>
                      </a:pPr>
                      <a:r>
                        <a:t>Definition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600">
                          <a:solidFill>
                            <a:srgbClr val="FFFFFF"/>
                          </a:solidFill>
                        </a:defRPr>
                      </a:pPr>
                      <a:r>
                        <a:t>Details / Sub-Definition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>
                        <a:defRPr sz="550" b="1">
                          <a:solidFill>
                            <a:srgbClr val="1F3864"/>
                          </a:solidFill>
                        </a:defRPr>
                      </a:pPr>
                      <a:r>
                        <a:t>Total Changes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Total number of change requests raised in the period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Includes standard, normal and emergency change types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>
                        <a:defRPr sz="550" b="1">
                          <a:solidFill>
                            <a:srgbClr val="1F3864"/>
                          </a:solidFill>
                        </a:defRPr>
                      </a:pPr>
                      <a:r>
                        <a:t>Emergency Changes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Number of emergency change requests raised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Changes bypassing standard CAB approval due to urgency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>
                        <a:defRPr sz="550" b="1">
                          <a:solidFill>
                            <a:srgbClr val="1F3864"/>
                          </a:solidFill>
                        </a:defRPr>
                      </a:pPr>
                      <a:r>
                        <a:t>Change Success Ratio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Percentage of changes implemented successfully without incident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Change passes CAB, executes within planned window, no rollback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>
                        <a:defRPr sz="550" b="1">
                          <a:solidFill>
                            <a:srgbClr val="1F3864"/>
                          </a:solidFill>
                        </a:defRPr>
                      </a:pPr>
                      <a:r>
                        <a:t>Change Causing MI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Percentage of changes that caused a Major Incident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Changes that directly triggered a P1 or P2 incident post-implementation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0" y="566928"/>
          <a:ext cx="12188946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1278"/>
                <a:gridCol w="1741278"/>
                <a:gridCol w="1741278"/>
                <a:gridCol w="1741278"/>
                <a:gridCol w="1741278"/>
                <a:gridCol w="1741278"/>
                <a:gridCol w="1741278"/>
              </a:tblGrid>
              <a:tr h="320040"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Week No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Total Changes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Emergency Changes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Change Success Ratio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Change Causing MI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Failed Change Ratio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Unauthorised Change rate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333333"/>
                          </a:solidFill>
                        </a:defRPr>
                      </a:pPr>
                      <a:r>
                        <a:t>Week 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333333"/>
                          </a:solidFill>
                        </a:defRPr>
                      </a:pPr>
                      <a:r>
                        <a:t>50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333333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1A73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1A73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1A73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1%</a:t>
                      </a:r>
                    </a:p>
                  </a:txBody>
                  <a:tcPr>
                    <a:solidFill>
                      <a:srgbClr val="1A734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" name="Chart 30"/>
          <p:cNvGraphicFramePr>
            <a:graphicFrameLocks noGrp="1"/>
          </p:cNvGraphicFramePr>
          <p:nvPr/>
        </p:nvGraphicFramePr>
        <p:xfrm>
          <a:off x="7452360" y="1298448"/>
          <a:ext cx="4526280" cy="22631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32" name="Chart 31"/>
          <p:cNvGraphicFramePr>
            <a:graphicFrameLocks noGrp="1"/>
          </p:cNvGraphicFramePr>
          <p:nvPr/>
        </p:nvGraphicFramePr>
        <p:xfrm>
          <a:off x="7452360" y="3634740"/>
          <a:ext cx="4526280" cy="22631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7498079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Problem  |  6 May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0" y="82296"/>
            <a:ext cx="23774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82127" y="128016"/>
            <a:ext cx="2212848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1A7348"/>
                </a:solidFill>
              </a:rPr>
              <a:t>■  Green  ≥95%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A000"/>
                </a:solidFill>
              </a:rPr>
              <a:t>■  Amber  90 – 94%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CC0000"/>
                </a:solidFill>
              </a:rPr>
              <a:t>■  Red    &lt;90%</a:t>
            </a:r>
          </a:p>
        </p:txBody>
      </p:sp>
      <p:sp>
        <p:nvSpPr>
          <p:cNvPr id="6" name="Rectangle 5"/>
          <p:cNvSpPr/>
          <p:nvPr/>
        </p:nvSpPr>
        <p:spPr>
          <a:xfrm>
            <a:off x="10332720" y="82296"/>
            <a:ext cx="1737360" cy="393192"/>
          </a:xfrm>
          <a:prstGeom prst="rect">
            <a:avLst/>
          </a:prstGeom>
          <a:solidFill>
            <a:srgbClr val="1A7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82296"/>
            <a:ext cx="173736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Overall: GREEN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298448"/>
            <a:ext cx="7315200" cy="2011680"/>
          </a:xfrm>
          <a:prstGeom prst="rect">
            <a:avLst/>
          </a:prstGeom>
          <a:solidFill>
            <a:srgbClr val="E4EDF9"/>
          </a:solidFill>
          <a:ln w="127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298448"/>
            <a:ext cx="7315200" cy="31089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" y="1353312"/>
            <a:ext cx="715060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FFFFFF"/>
                </a:solidFill>
              </a:defRPr>
            </a:pPr>
            <a:r>
              <a:t>KEY ACHIEVEMENTS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" y="1673352"/>
            <a:ext cx="7168896" cy="576072"/>
          </a:xfrm>
          <a:prstGeom prst="rect">
            <a:avLst/>
          </a:prstGeom>
          <a:solidFill>
            <a:srgbClr val="FFFFFF"/>
          </a:solidFill>
          <a:ln w="9525">
            <a:solidFill>
              <a:srgbClr val="B0C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" y="1673352"/>
            <a:ext cx="59436" cy="57607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6596" y="1737360"/>
            <a:ext cx="701802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800" b="1">
                <a:solidFill>
                  <a:srgbClr val="1F3864"/>
                </a:solidFill>
              </a:rPr>
              <a:t>✓  Closed </a:t>
            </a:r>
            <a:r>
              <a:rPr sz="800" b="1">
                <a:solidFill>
                  <a:srgbClr val="0D47A1"/>
                </a:solidFill>
              </a:rPr>
              <a:t>3</a:t>
            </a:r>
            <a:r>
              <a:rPr sz="800" b="0">
                <a:solidFill>
                  <a:srgbClr val="1F3864"/>
                </a:solidFill>
              </a:rPr>
              <a:t> aged problems this week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" y="2313432"/>
            <a:ext cx="7168896" cy="576072"/>
          </a:xfrm>
          <a:prstGeom prst="rect">
            <a:avLst/>
          </a:prstGeom>
          <a:solidFill>
            <a:srgbClr val="FFFFFF"/>
          </a:solidFill>
          <a:ln w="9525">
            <a:solidFill>
              <a:srgbClr val="B0C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" y="2313432"/>
            <a:ext cx="59436" cy="57607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96596" y="2377440"/>
            <a:ext cx="701802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800" b="1">
                <a:solidFill>
                  <a:srgbClr val="1F3864"/>
                </a:solidFill>
              </a:rPr>
              <a:t>✓  RCA submitted for </a:t>
            </a:r>
            <a:r>
              <a:rPr sz="800" b="1">
                <a:solidFill>
                  <a:srgbClr val="0D47A1"/>
                </a:solidFill>
              </a:rPr>
              <a:t>2</a:t>
            </a:r>
            <a:r>
              <a:rPr sz="800" b="0">
                <a:solidFill>
                  <a:srgbClr val="1F3864"/>
                </a:solidFill>
              </a:rPr>
              <a:t> P1 incidents on time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3401568"/>
            <a:ext cx="7315200" cy="1655064"/>
          </a:xfrm>
          <a:prstGeom prst="rect">
            <a:avLst/>
          </a:prstGeom>
          <a:solidFill>
            <a:srgbClr val="E4EDF9"/>
          </a:solidFill>
          <a:ln w="127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3401568"/>
            <a:ext cx="7315200" cy="31089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8016" y="3456432"/>
            <a:ext cx="715060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FFFFFF"/>
                </a:solidFill>
              </a:defRPr>
            </a:pPr>
            <a:r>
              <a:t>NEXT WEEK FOCUS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" y="3776472"/>
            <a:ext cx="7168896" cy="576072"/>
          </a:xfrm>
          <a:prstGeom prst="rect">
            <a:avLst/>
          </a:prstGeom>
          <a:solidFill>
            <a:srgbClr val="FFFFFF"/>
          </a:solidFill>
          <a:ln w="9525">
            <a:solidFill>
              <a:srgbClr val="B0C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" y="3776472"/>
            <a:ext cx="59436" cy="57607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96596" y="3840480"/>
            <a:ext cx="701802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800" b="1">
                <a:solidFill>
                  <a:srgbClr val="1F3864"/>
                </a:solidFill>
              </a:rPr>
              <a:t>✓  Escalate </a:t>
            </a:r>
            <a:r>
              <a:rPr sz="800" b="1">
                <a:solidFill>
                  <a:srgbClr val="0D47A1"/>
                </a:solidFill>
              </a:rPr>
              <a:t>2</a:t>
            </a:r>
            <a:r>
              <a:rPr sz="800" b="0">
                <a:solidFill>
                  <a:srgbClr val="1F3864"/>
                </a:solidFill>
              </a:rPr>
              <a:t> remaining aged problems to senior management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" y="4416552"/>
            <a:ext cx="7168896" cy="576072"/>
          </a:xfrm>
          <a:prstGeom prst="rect">
            <a:avLst/>
          </a:prstGeom>
          <a:solidFill>
            <a:srgbClr val="FFFFFF"/>
          </a:solidFill>
          <a:ln w="9525">
            <a:solidFill>
              <a:srgbClr val="B0C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" y="4416552"/>
            <a:ext cx="59436" cy="57607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96596" y="4480560"/>
            <a:ext cx="701802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800" b="1">
                <a:solidFill>
                  <a:srgbClr val="1F3864"/>
                </a:solidFill>
              </a:rPr>
              <a:t>✓  Conduct root cause analysis workshop for recurring issues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5148072"/>
            <a:ext cx="7315200" cy="795527"/>
          </a:xfrm>
          <a:prstGeom prst="rect">
            <a:avLst/>
          </a:prstGeom>
          <a:solidFill>
            <a:srgbClr val="E4EDF9"/>
          </a:solidFill>
          <a:ln w="127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5148072"/>
            <a:ext cx="7315200" cy="31089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8016" y="5202936"/>
            <a:ext cx="715060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FFFFFF"/>
                </a:solidFill>
              </a:defRPr>
            </a:pPr>
            <a:r>
              <a:t>CONCERNS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0" y="5943600"/>
          <a:ext cx="12188952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4937760"/>
                <a:gridCol w="4690872"/>
              </a:tblGrid>
              <a:tr h="182880">
                <a:tc>
                  <a:txBody>
                    <a:bodyPr/>
                    <a:lstStyle/>
                    <a:p>
                      <a:pPr>
                        <a:defRPr b="1" sz="600">
                          <a:solidFill>
                            <a:srgbClr val="FFFFFF"/>
                          </a:solidFill>
                        </a:defRPr>
                      </a:pPr>
                      <a:r>
                        <a:t>KPI / Metric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600">
                          <a:solidFill>
                            <a:srgbClr val="FFFFFF"/>
                          </a:solidFill>
                        </a:defRPr>
                      </a:pPr>
                      <a:r>
                        <a:t>Definition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600">
                          <a:solidFill>
                            <a:srgbClr val="FFFFFF"/>
                          </a:solidFill>
                        </a:defRPr>
                      </a:pPr>
                      <a:r>
                        <a:t>Details / Sub-Definition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>
                        <a:defRPr sz="550" b="1">
                          <a:solidFill>
                            <a:srgbClr val="1F3864"/>
                          </a:solidFill>
                        </a:defRPr>
                      </a:pPr>
                      <a:r>
                        <a:t>Open Problems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Total number of open problem records in ServiceNow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All active problem records regardless of priority or 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>
                        <a:defRPr sz="550" b="1">
                          <a:solidFill>
                            <a:srgbClr val="1F3864"/>
                          </a:solidFill>
                        </a:defRPr>
                      </a:pPr>
                      <a:r>
                        <a:t>Problems Resolved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Number of problems closed during the reporting period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Problems moved to resolved or closed status this week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>
                        <a:defRPr sz="550" b="1">
                          <a:solidFill>
                            <a:srgbClr val="1F3864"/>
                          </a:solidFill>
                        </a:defRPr>
                      </a:pPr>
                      <a:r>
                        <a:t>New Problems Raised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Number of new problem records opened this period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Problems raised from incident trends or proactive analysis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>
                        <a:defRPr sz="550" b="1">
                          <a:solidFill>
                            <a:srgbClr val="1F3864"/>
                          </a:solidFill>
                        </a:defRPr>
                      </a:pPr>
                      <a:r>
                        <a:t>Avg Resolution Days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Average calendar days from problem creation to closure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Measured from problem record creation date to closure date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0" y="566928"/>
          <a:ext cx="12188946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1278"/>
                <a:gridCol w="1741278"/>
                <a:gridCol w="1741278"/>
                <a:gridCol w="1741278"/>
                <a:gridCol w="1741278"/>
                <a:gridCol w="1741278"/>
                <a:gridCol w="1741278"/>
              </a:tblGrid>
              <a:tr h="320040"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Week No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Open Problems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Problems Resolved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New Problems Raised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Avg Resolution Days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Recurring Issues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Problems Aged &gt;30 days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333333"/>
                          </a:solidFill>
                        </a:defRPr>
                      </a:pPr>
                      <a:r>
                        <a:t>Week 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333333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333333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333333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4.2</a:t>
                      </a:r>
                    </a:p>
                  </a:txBody>
                  <a:tcPr>
                    <a:solidFill>
                      <a:srgbClr val="1A73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1A73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1A734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" name="Chart 30"/>
          <p:cNvGraphicFramePr>
            <a:graphicFrameLocks noGrp="1"/>
          </p:cNvGraphicFramePr>
          <p:nvPr/>
        </p:nvGraphicFramePr>
        <p:xfrm>
          <a:off x="7452360" y="2448306"/>
          <a:ext cx="4526280" cy="229971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7498079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Asset and Configuration Management  |  6 May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0" y="82296"/>
            <a:ext cx="23774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82127" y="128016"/>
            <a:ext cx="2212848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1A7348"/>
                </a:solidFill>
              </a:rPr>
              <a:t>■  Green  ≥95%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A000"/>
                </a:solidFill>
              </a:rPr>
              <a:t>■  Amber  90 – 94%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CC0000"/>
                </a:solidFill>
              </a:rPr>
              <a:t>■  Red    &lt;90%</a:t>
            </a:r>
          </a:p>
        </p:txBody>
      </p:sp>
      <p:sp>
        <p:nvSpPr>
          <p:cNvPr id="6" name="Rectangle 5"/>
          <p:cNvSpPr/>
          <p:nvPr/>
        </p:nvSpPr>
        <p:spPr>
          <a:xfrm>
            <a:off x="10332720" y="82296"/>
            <a:ext cx="1737360" cy="393192"/>
          </a:xfrm>
          <a:prstGeom prst="rect">
            <a:avLst/>
          </a:prstGeom>
          <a:solidFill>
            <a:srgbClr val="1A7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82296"/>
            <a:ext cx="173736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Overall: GREEN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0" y="566928"/>
          <a:ext cx="12188946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1278"/>
                <a:gridCol w="1741278"/>
                <a:gridCol w="1741278"/>
                <a:gridCol w="1741278"/>
                <a:gridCol w="1741278"/>
                <a:gridCol w="1741278"/>
                <a:gridCol w="1741278"/>
              </a:tblGrid>
              <a:tr h="320040"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Week No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Total CIs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CIs Verified This Week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CI Accuracy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Orphan CIs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Stale Records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Audit Compliance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333333"/>
                          </a:solidFill>
                        </a:defRPr>
                      </a:pPr>
                      <a:r>
                        <a:t>Week 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333333"/>
                          </a:solidFill>
                        </a:defRPr>
                      </a:pPr>
                      <a:r>
                        <a:t>12524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333333"/>
                          </a:solidFill>
                        </a:defRPr>
                      </a:pPr>
                      <a:r>
                        <a:t>141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98%</a:t>
                      </a:r>
                    </a:p>
                  </a:txBody>
                  <a:tcPr>
                    <a:solidFill>
                      <a:srgbClr val="1A73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1A73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1A73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99%</a:t>
                      </a:r>
                    </a:p>
                  </a:txBody>
                  <a:tcPr>
                    <a:solidFill>
                      <a:srgbClr val="1A7348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0" y="1298448"/>
            <a:ext cx="4062984" cy="30175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" y="1362456"/>
            <a:ext cx="3925823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FFFFFF"/>
                </a:solidFill>
              </a:defRPr>
            </a:pPr>
            <a:r>
              <a:t>CMDB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1600200"/>
            <a:ext cx="4062984" cy="1216152"/>
          </a:xfrm>
          <a:prstGeom prst="rect">
            <a:avLst/>
          </a:prstGeom>
          <a:solidFill>
            <a:srgbClr val="EDFBF3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1600200"/>
            <a:ext cx="4062984" cy="246888"/>
          </a:xfrm>
          <a:prstGeom prst="rect">
            <a:avLst/>
          </a:prstGeom>
          <a:solidFill>
            <a:srgbClr val="2E4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" y="1645920"/>
            <a:ext cx="3925823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850">
                <a:solidFill>
                  <a:srgbClr val="FFFFFF"/>
                </a:solidFill>
              </a:defRPr>
            </a:pPr>
            <a:r>
              <a:t>ACHIEVEMENTS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" y="1911095"/>
            <a:ext cx="3861816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750" b="1">
                <a:solidFill>
                  <a:srgbClr val="222222"/>
                </a:solidFill>
              </a:rPr>
              <a:t>▸  Quarterly CMDB audit passed with </a:t>
            </a:r>
            <a:r>
              <a:rPr sz="750" b="1">
                <a:solidFill>
                  <a:srgbClr val="1F3864"/>
                </a:solidFill>
              </a:rPr>
              <a:t>97.7%</a:t>
            </a:r>
            <a:r>
              <a:rPr sz="750" b="0">
                <a:solidFill>
                  <a:srgbClr val="222222"/>
                </a:solidFill>
              </a:rPr>
              <a:t> accuracy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750" b="1">
                <a:solidFill>
                  <a:srgbClr val="222222"/>
                </a:solidFill>
              </a:rPr>
              <a:t>▸  </a:t>
            </a:r>
            <a:r>
              <a:rPr sz="750" b="1">
                <a:solidFill>
                  <a:srgbClr val="1F3864"/>
                </a:solidFill>
              </a:rPr>
              <a:t>7</a:t>
            </a:r>
            <a:r>
              <a:rPr sz="750" b="0">
                <a:solidFill>
                  <a:srgbClr val="222222"/>
                </a:solidFill>
              </a:rPr>
              <a:t> orphan CIs resolved this week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750" b="1">
                <a:solidFill>
                  <a:srgbClr val="222222"/>
                </a:solidFill>
              </a:rPr>
              <a:t>▸  Azure VM CI class successfully onboarded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2816352"/>
            <a:ext cx="4062984" cy="1216152"/>
          </a:xfrm>
          <a:prstGeom prst="rect">
            <a:avLst/>
          </a:prstGeom>
          <a:solidFill>
            <a:srgbClr val="FF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2816352"/>
            <a:ext cx="4062984" cy="246888"/>
          </a:xfrm>
          <a:prstGeom prst="rect">
            <a:avLst/>
          </a:prstGeom>
          <a:solidFill>
            <a:srgbClr val="2E4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" y="2862072"/>
            <a:ext cx="3925823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850">
                <a:solidFill>
                  <a:srgbClr val="FFFFFF"/>
                </a:solidFill>
              </a:defRPr>
            </a:pPr>
            <a:r>
              <a:t>CONCERNS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" y="3127248"/>
            <a:ext cx="3861816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750" b="1">
                <a:solidFill>
                  <a:srgbClr val="222222"/>
                </a:solidFill>
              </a:rPr>
              <a:t>▸  </a:t>
            </a:r>
            <a:r>
              <a:rPr sz="750" b="1">
                <a:solidFill>
                  <a:srgbClr val="1F3864"/>
                </a:solidFill>
              </a:rPr>
              <a:t>15</a:t>
            </a:r>
            <a:r>
              <a:rPr sz="750" b="0">
                <a:solidFill>
                  <a:srgbClr val="222222"/>
                </a:solidFill>
              </a:rPr>
              <a:t> stale records still pending owner review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750" b="1">
                <a:solidFill>
                  <a:srgbClr val="222222"/>
                </a:solidFill>
              </a:rPr>
              <a:t>▸  CI reconciliation delayed for </a:t>
            </a:r>
            <a:r>
              <a:rPr sz="750" b="1">
                <a:solidFill>
                  <a:srgbClr val="1F3864"/>
                </a:solidFill>
              </a:rPr>
              <a:t>2</a:t>
            </a:r>
            <a:r>
              <a:rPr sz="750" b="0">
                <a:solidFill>
                  <a:srgbClr val="222222"/>
                </a:solidFill>
              </a:rPr>
              <a:t> business services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4032504"/>
            <a:ext cx="4062984" cy="1216152"/>
          </a:xfrm>
          <a:prstGeom prst="rect">
            <a:avLst/>
          </a:prstGeom>
          <a:solidFill>
            <a:srgbClr val="F0F5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4032504"/>
            <a:ext cx="4062984" cy="246888"/>
          </a:xfrm>
          <a:prstGeom prst="rect">
            <a:avLst/>
          </a:prstGeom>
          <a:solidFill>
            <a:srgbClr val="2E4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" y="4078224"/>
            <a:ext cx="3925823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850">
                <a:solidFill>
                  <a:srgbClr val="FFFFFF"/>
                </a:solidFill>
              </a:defRPr>
            </a:pPr>
            <a:r>
              <a:t>NEXT WEEK FOCUS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" y="4343400"/>
            <a:ext cx="3861816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750" b="1">
                <a:solidFill>
                  <a:srgbClr val="222222"/>
                </a:solidFill>
              </a:rPr>
              <a:t>▸  Complete Azure VM reconciliation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750" b="1">
                <a:solidFill>
                  <a:srgbClr val="222222"/>
                </a:solidFill>
              </a:rPr>
              <a:t>▸  Onboard Network team CI class to CMDB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62984" y="1298448"/>
            <a:ext cx="4062984" cy="301752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72712" y="1362456"/>
            <a:ext cx="3925823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FFFFFF"/>
                </a:solidFill>
              </a:defRPr>
            </a:pPr>
            <a:r>
              <a:t>HAM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062984" y="1600200"/>
            <a:ext cx="4062984" cy="1216152"/>
          </a:xfrm>
          <a:prstGeom prst="rect">
            <a:avLst/>
          </a:prstGeom>
          <a:solidFill>
            <a:srgbClr val="EDFBF3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062984" y="1600200"/>
            <a:ext cx="4062984" cy="246888"/>
          </a:xfrm>
          <a:prstGeom prst="rect">
            <a:avLst/>
          </a:prstGeom>
          <a:solidFill>
            <a:srgbClr val="178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72712" y="1645920"/>
            <a:ext cx="3925823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850">
                <a:solidFill>
                  <a:srgbClr val="FFFFFF"/>
                </a:solidFill>
              </a:defRPr>
            </a:pPr>
            <a:r>
              <a:t>ACHIEVEMENTS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72712" y="1911095"/>
            <a:ext cx="3861816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750" b="1">
                <a:solidFill>
                  <a:srgbClr val="222222"/>
                </a:solidFill>
              </a:rPr>
              <a:t>▸  Hardware asset register fully updated for the quarter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750" b="1">
                <a:solidFill>
                  <a:srgbClr val="222222"/>
                </a:solidFill>
              </a:rPr>
              <a:t>▸  </a:t>
            </a:r>
            <a:r>
              <a:rPr sz="750" b="1">
                <a:solidFill>
                  <a:srgbClr val="0F6E56"/>
                </a:solidFill>
              </a:rPr>
              <a:t>4</a:t>
            </a:r>
            <a:r>
              <a:rPr sz="750" b="0">
                <a:solidFill>
                  <a:srgbClr val="222222"/>
                </a:solidFill>
              </a:rPr>
              <a:t> end-of-life servers decommissioned and removed from register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062984" y="2816352"/>
            <a:ext cx="4062984" cy="1216152"/>
          </a:xfrm>
          <a:prstGeom prst="rect">
            <a:avLst/>
          </a:prstGeom>
          <a:solidFill>
            <a:srgbClr val="FF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062984" y="2816352"/>
            <a:ext cx="4062984" cy="246888"/>
          </a:xfrm>
          <a:prstGeom prst="rect">
            <a:avLst/>
          </a:prstGeom>
          <a:solidFill>
            <a:srgbClr val="178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72712" y="2862072"/>
            <a:ext cx="3925823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850">
                <a:solidFill>
                  <a:srgbClr val="FFFFFF"/>
                </a:solidFill>
              </a:defRPr>
            </a:pPr>
            <a:r>
              <a:t>CONCERNS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72712" y="3127248"/>
            <a:ext cx="3861816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750" b="1">
                <a:solidFill>
                  <a:srgbClr val="222222"/>
                </a:solidFill>
              </a:rPr>
              <a:t>▸  </a:t>
            </a:r>
            <a:r>
              <a:rPr sz="750" b="1">
                <a:solidFill>
                  <a:srgbClr val="0F6E56"/>
                </a:solidFill>
              </a:rPr>
              <a:t>6</a:t>
            </a:r>
            <a:r>
              <a:rPr sz="750" b="0">
                <a:solidFill>
                  <a:srgbClr val="222222"/>
                </a:solidFill>
              </a:rPr>
              <a:t> active assets without valid vendor support contracts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750" b="1">
                <a:solidFill>
                  <a:srgbClr val="222222"/>
                </a:solidFill>
              </a:rPr>
              <a:t>▸  </a:t>
            </a:r>
            <a:r>
              <a:rPr sz="750" b="1">
                <a:solidFill>
                  <a:srgbClr val="0F6E56"/>
                </a:solidFill>
              </a:rPr>
              <a:t>3</a:t>
            </a:r>
            <a:r>
              <a:rPr sz="750" b="0">
                <a:solidFill>
                  <a:srgbClr val="222222"/>
                </a:solidFill>
              </a:rPr>
              <a:t> assets missing location tags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062984" y="4032504"/>
            <a:ext cx="4062984" cy="1216152"/>
          </a:xfrm>
          <a:prstGeom prst="rect">
            <a:avLst/>
          </a:prstGeom>
          <a:solidFill>
            <a:srgbClr val="F0F5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062984" y="4032504"/>
            <a:ext cx="4062984" cy="246888"/>
          </a:xfrm>
          <a:prstGeom prst="rect">
            <a:avLst/>
          </a:prstGeom>
          <a:solidFill>
            <a:srgbClr val="178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72712" y="4078224"/>
            <a:ext cx="3925823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850">
                <a:solidFill>
                  <a:srgbClr val="FFFFFF"/>
                </a:solidFill>
              </a:defRPr>
            </a:pPr>
            <a:r>
              <a:t>NEXT WEEK FOCUS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72712" y="4343400"/>
            <a:ext cx="3861816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750" b="1">
                <a:solidFill>
                  <a:srgbClr val="222222"/>
                </a:solidFill>
              </a:rPr>
              <a:t>▸  Complete EoL review for remaining server estate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750" b="1">
                <a:solidFill>
                  <a:srgbClr val="222222"/>
                </a:solidFill>
              </a:rPr>
              <a:t>▸  Update procurement tracker with </a:t>
            </a:r>
            <a:r>
              <a:rPr sz="750" b="1">
                <a:solidFill>
                  <a:srgbClr val="0F6E56"/>
                </a:solidFill>
              </a:rPr>
              <a:t>2026</a:t>
            </a:r>
            <a:r>
              <a:rPr sz="750" b="0">
                <a:solidFill>
                  <a:srgbClr val="222222"/>
                </a:solidFill>
              </a:rPr>
              <a:t> renewals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125968" y="1298448"/>
            <a:ext cx="4062984" cy="301752"/>
          </a:xfrm>
          <a:prstGeom prst="rect">
            <a:avLst/>
          </a:prstGeom>
          <a:solidFill>
            <a:srgbClr val="8B4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35695" y="1362456"/>
            <a:ext cx="3925823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FFFFFF"/>
                </a:solidFill>
              </a:defRPr>
            </a:pPr>
            <a:r>
              <a:t>SAM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125968" y="1600200"/>
            <a:ext cx="4062984" cy="1216152"/>
          </a:xfrm>
          <a:prstGeom prst="rect">
            <a:avLst/>
          </a:prstGeom>
          <a:solidFill>
            <a:srgbClr val="FDF9EC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125968" y="1600200"/>
            <a:ext cx="4062984" cy="246888"/>
          </a:xfrm>
          <a:prstGeom prst="rect">
            <a:avLst/>
          </a:prstGeom>
          <a:solidFill>
            <a:srgbClr val="AA5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35695" y="1645920"/>
            <a:ext cx="3925823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850">
                <a:solidFill>
                  <a:srgbClr val="FFFFFF"/>
                </a:solidFill>
              </a:defRPr>
            </a:pPr>
            <a:r>
              <a:t>ACHIEVEMENTS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35695" y="1911095"/>
            <a:ext cx="3861816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750" b="1">
                <a:solidFill>
                  <a:srgbClr val="222222"/>
                </a:solidFill>
              </a:rPr>
              <a:t>▸  Software license compliance at </a:t>
            </a:r>
            <a:r>
              <a:rPr sz="750" b="1">
                <a:solidFill>
                  <a:srgbClr val="8B4500"/>
                </a:solidFill>
              </a:rPr>
              <a:t>97%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750" b="1">
                <a:solidFill>
                  <a:srgbClr val="222222"/>
                </a:solidFill>
              </a:rPr>
              <a:t>▸  </a:t>
            </a:r>
            <a:r>
              <a:rPr sz="750" b="1">
                <a:solidFill>
                  <a:srgbClr val="8B4500"/>
                </a:solidFill>
              </a:rPr>
              <a:t>2</a:t>
            </a:r>
            <a:r>
              <a:rPr sz="750" b="0">
                <a:solidFill>
                  <a:srgbClr val="222222"/>
                </a:solidFill>
              </a:rPr>
              <a:t> unused Oracle license sets reclaimed saving £</a:t>
            </a:r>
            <a:r>
              <a:rPr sz="750" b="1">
                <a:solidFill>
                  <a:srgbClr val="8B4500"/>
                </a:solidFill>
              </a:rPr>
              <a:t>18</a:t>
            </a:r>
            <a:r>
              <a:rPr sz="750" b="0">
                <a:solidFill>
                  <a:srgbClr val="222222"/>
                </a:solidFill>
              </a:rPr>
              <a:t>k annually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125968" y="2816352"/>
            <a:ext cx="4062984" cy="1216152"/>
          </a:xfrm>
          <a:prstGeom prst="rect">
            <a:avLst/>
          </a:prstGeom>
          <a:solidFill>
            <a:srgbClr val="FF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125968" y="2816352"/>
            <a:ext cx="4062984" cy="246888"/>
          </a:xfrm>
          <a:prstGeom prst="rect">
            <a:avLst/>
          </a:prstGeom>
          <a:solidFill>
            <a:srgbClr val="AA5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35695" y="2862072"/>
            <a:ext cx="3925823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850">
                <a:solidFill>
                  <a:srgbClr val="FFFFFF"/>
                </a:solidFill>
              </a:defRPr>
            </a:pPr>
            <a:r>
              <a:t>CONCERNS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35695" y="3127248"/>
            <a:ext cx="3861816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750" b="1">
                <a:solidFill>
                  <a:srgbClr val="222222"/>
                </a:solidFill>
              </a:rPr>
              <a:t>▸  Adobe Creative Cloud audit pending since last quarter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750" b="1">
                <a:solidFill>
                  <a:srgbClr val="222222"/>
                </a:solidFill>
              </a:rPr>
              <a:t>▸  AWS reserved instance reconciliation overdue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125968" y="4032504"/>
            <a:ext cx="4062984" cy="1216152"/>
          </a:xfrm>
          <a:prstGeom prst="rect">
            <a:avLst/>
          </a:prstGeom>
          <a:solidFill>
            <a:srgbClr val="F5F0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125968" y="4032504"/>
            <a:ext cx="4062984" cy="246888"/>
          </a:xfrm>
          <a:prstGeom prst="rect">
            <a:avLst/>
          </a:prstGeom>
          <a:solidFill>
            <a:srgbClr val="AA5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35695" y="4078224"/>
            <a:ext cx="3925823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850">
                <a:solidFill>
                  <a:srgbClr val="FFFFFF"/>
                </a:solidFill>
              </a:defRPr>
            </a:pPr>
            <a:r>
              <a:t>NEXT WEEK FOCUS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35695" y="4343400"/>
            <a:ext cx="3861816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750" b="1">
                <a:solidFill>
                  <a:srgbClr val="222222"/>
                </a:solidFill>
              </a:rPr>
              <a:t>▸  Submit Adobe audit results to procurement by Friday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750" b="1">
                <a:solidFill>
                  <a:srgbClr val="222222"/>
                </a:solidFill>
              </a:rPr>
              <a:t>▸  Complete AWS reserved instance review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5321808"/>
            <a:ext cx="12188952" cy="621792"/>
          </a:xfrm>
          <a:prstGeom prst="rect">
            <a:avLst/>
          </a:prstGeom>
          <a:solidFill>
            <a:srgbClr val="F2F5FA"/>
          </a:solidFill>
          <a:ln w="9525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0" y="5321808"/>
            <a:ext cx="12188952" cy="24688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28016" y="5358384"/>
            <a:ext cx="5486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900">
                <a:solidFill>
                  <a:srgbClr val="FFFFFF"/>
                </a:solidFill>
              </a:defRPr>
            </a:pPr>
            <a:r>
              <a:t>TIMELINE  &amp;  KEY UPDATES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28016" y="5596128"/>
            <a:ext cx="11932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222222"/>
                </a:solidFill>
              </a:defRPr>
            </a:pPr>
            <a:r>
              <a:t>Week 1: CMDB audit kickoff — baseline accuracy 97.5% | Week 2: HAM EoL review initiated — 12 servers flagged | Week 3: SAM license reclaim completed — 2 Oracle sets returned | Week 4: Quarterly audit report submitted to CIO; CMDB accuracy 97.7%</a:t>
            </a:r>
          </a:p>
        </p:txBody>
      </p:sp>
      <p:graphicFrame>
        <p:nvGraphicFramePr>
          <p:cNvPr id="55" name="Table 54"/>
          <p:cNvGraphicFramePr>
            <a:graphicFrameLocks noGrp="1"/>
          </p:cNvGraphicFramePr>
          <p:nvPr/>
        </p:nvGraphicFramePr>
        <p:xfrm>
          <a:off x="0" y="5943600"/>
          <a:ext cx="12188952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4937760"/>
                <a:gridCol w="4690872"/>
              </a:tblGrid>
              <a:tr h="182880">
                <a:tc>
                  <a:txBody>
                    <a:bodyPr/>
                    <a:lstStyle/>
                    <a:p>
                      <a:pPr>
                        <a:defRPr b="1" sz="600">
                          <a:solidFill>
                            <a:srgbClr val="FFFFFF"/>
                          </a:solidFill>
                        </a:defRPr>
                      </a:pPr>
                      <a:r>
                        <a:t>KPI / Metric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600">
                          <a:solidFill>
                            <a:srgbClr val="FFFFFF"/>
                          </a:solidFill>
                        </a:defRPr>
                      </a:pPr>
                      <a:r>
                        <a:t>Definition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600">
                          <a:solidFill>
                            <a:srgbClr val="FFFFFF"/>
                          </a:solidFill>
                        </a:defRPr>
                      </a:pPr>
                      <a:r>
                        <a:t>Details / Sub-Definition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>
                        <a:defRPr sz="550" b="1">
                          <a:solidFill>
                            <a:srgbClr val="1F3864"/>
                          </a:solidFill>
                        </a:defRPr>
                      </a:pPr>
                      <a:r>
                        <a:t>Total CIs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Total number of Configuration Items in ServiceNow CMDB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All active CI records across all classes and environments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>
                        <a:defRPr sz="550" b="1">
                          <a:solidFill>
                            <a:srgbClr val="1F3864"/>
                          </a:solidFill>
                        </a:defRPr>
                      </a:pPr>
                      <a:r>
                        <a:t>CIs Verified This Week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Number of CIs verified and validated during the reporting period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CIs reviewed by CI owners and confirmed as accurate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>
                        <a:defRPr sz="550" b="1">
                          <a:solidFill>
                            <a:srgbClr val="1F3864"/>
                          </a:solidFill>
                        </a:defRPr>
                      </a:pPr>
                      <a:r>
                        <a:t>CI Accuracy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Percentage of CIs with accurate and up-to-date attribute 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Verified through quarterly CMDB audit and weekly spot checks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>
                        <a:defRPr sz="550" b="1">
                          <a:solidFill>
                            <a:srgbClr val="1F3864"/>
                          </a:solidFill>
                        </a:defRPr>
                      </a:pPr>
                      <a:r>
                        <a:t>Orphan CIs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Number of CIs with no parent relationship or service linkage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CIs not linked to any business service or application in CMDB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7498079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NOC  |  6 May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0" y="82296"/>
            <a:ext cx="23774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82127" y="128016"/>
            <a:ext cx="2212848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1A7348"/>
                </a:solidFill>
              </a:rPr>
              <a:t>■  Green  ≥95%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A000"/>
                </a:solidFill>
              </a:rPr>
              <a:t>■  Amber  90 – 94%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CC0000"/>
                </a:solidFill>
              </a:rPr>
              <a:t>■  Red    &lt;90%</a:t>
            </a:r>
          </a:p>
        </p:txBody>
      </p:sp>
      <p:sp>
        <p:nvSpPr>
          <p:cNvPr id="6" name="Rectangle 5"/>
          <p:cNvSpPr/>
          <p:nvPr/>
        </p:nvSpPr>
        <p:spPr>
          <a:xfrm>
            <a:off x="10332720" y="82296"/>
            <a:ext cx="1737360" cy="393192"/>
          </a:xfrm>
          <a:prstGeom prst="rect">
            <a:avLst/>
          </a:prstGeom>
          <a:solidFill>
            <a:srgbClr val="1A7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82296"/>
            <a:ext cx="173736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Overall: GREEN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298448"/>
            <a:ext cx="7315200" cy="2011680"/>
          </a:xfrm>
          <a:prstGeom prst="rect">
            <a:avLst/>
          </a:prstGeom>
          <a:solidFill>
            <a:srgbClr val="E4EDF9"/>
          </a:solidFill>
          <a:ln w="127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298448"/>
            <a:ext cx="7315200" cy="31089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" y="1353312"/>
            <a:ext cx="715060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FFFFFF"/>
                </a:solidFill>
              </a:defRPr>
            </a:pPr>
            <a:r>
              <a:t>KEY ACHIEVEMENTS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" y="1673352"/>
            <a:ext cx="7168896" cy="576072"/>
          </a:xfrm>
          <a:prstGeom prst="rect">
            <a:avLst/>
          </a:prstGeom>
          <a:solidFill>
            <a:srgbClr val="FFFFFF"/>
          </a:solidFill>
          <a:ln w="9525">
            <a:solidFill>
              <a:srgbClr val="B0C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" y="1673352"/>
            <a:ext cx="59436" cy="57607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6596" y="1737360"/>
            <a:ext cx="701802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800" b="1">
                <a:solidFill>
                  <a:srgbClr val="1F3864"/>
                </a:solidFill>
              </a:rPr>
              <a:t>✓  Auto-resolution rate reached </a:t>
            </a:r>
            <a:r>
              <a:rPr sz="800" b="1">
                <a:solidFill>
                  <a:srgbClr val="0D47A1"/>
                </a:solidFill>
              </a:rPr>
              <a:t>85%</a:t>
            </a:r>
            <a:r>
              <a:rPr sz="800" b="0">
                <a:solidFill>
                  <a:srgbClr val="1F3864"/>
                </a:solidFill>
              </a:rPr>
              <a:t>, highest this quarter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" y="2313432"/>
            <a:ext cx="7168896" cy="576072"/>
          </a:xfrm>
          <a:prstGeom prst="rect">
            <a:avLst/>
          </a:prstGeom>
          <a:solidFill>
            <a:srgbClr val="FFFFFF"/>
          </a:solidFill>
          <a:ln w="9525">
            <a:solidFill>
              <a:srgbClr val="B0C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" y="2313432"/>
            <a:ext cx="59436" cy="57607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96596" y="2377440"/>
            <a:ext cx="701802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800" b="1">
                <a:solidFill>
                  <a:srgbClr val="1F3864"/>
                </a:solidFill>
              </a:rPr>
              <a:t>✓  P1 incidents resolved in avg </a:t>
            </a:r>
            <a:r>
              <a:rPr sz="800" b="1">
                <a:solidFill>
                  <a:srgbClr val="0D47A1"/>
                </a:solidFill>
              </a:rPr>
              <a:t>1.4</a:t>
            </a:r>
            <a:r>
              <a:rPr sz="800" b="0">
                <a:solidFill>
                  <a:srgbClr val="1F3864"/>
                </a:solidFill>
              </a:rPr>
              <a:t> hrs, well within </a:t>
            </a:r>
            <a:r>
              <a:rPr sz="800" b="1">
                <a:solidFill>
                  <a:srgbClr val="0D47A1"/>
                </a:solidFill>
              </a:rPr>
              <a:t>2</a:t>
            </a:r>
            <a:r>
              <a:rPr sz="800" b="0">
                <a:solidFill>
                  <a:srgbClr val="1F3864"/>
                </a:solidFill>
              </a:rPr>
              <a:t>-hr target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3401568"/>
            <a:ext cx="7315200" cy="1655064"/>
          </a:xfrm>
          <a:prstGeom prst="rect">
            <a:avLst/>
          </a:prstGeom>
          <a:solidFill>
            <a:srgbClr val="E4EDF9"/>
          </a:solidFill>
          <a:ln w="127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3401568"/>
            <a:ext cx="7315200" cy="31089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8016" y="3456432"/>
            <a:ext cx="715060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FFFFFF"/>
                </a:solidFill>
              </a:defRPr>
            </a:pPr>
            <a:r>
              <a:t>NEXT WEEK FOCUS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" y="3776472"/>
            <a:ext cx="7168896" cy="576072"/>
          </a:xfrm>
          <a:prstGeom prst="rect">
            <a:avLst/>
          </a:prstGeom>
          <a:solidFill>
            <a:srgbClr val="FFFFFF"/>
          </a:solidFill>
          <a:ln w="9525">
            <a:solidFill>
              <a:srgbClr val="B0C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" y="3776472"/>
            <a:ext cx="59436" cy="57607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96596" y="3840480"/>
            <a:ext cx="701802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800" b="1">
                <a:solidFill>
                  <a:srgbClr val="1F3864"/>
                </a:solidFill>
              </a:rPr>
              <a:t>✓  Expand auto-remediation scripts to cover network alert category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" y="4416552"/>
            <a:ext cx="7168896" cy="576072"/>
          </a:xfrm>
          <a:prstGeom prst="rect">
            <a:avLst/>
          </a:prstGeom>
          <a:solidFill>
            <a:srgbClr val="FFFFFF"/>
          </a:solidFill>
          <a:ln w="9525">
            <a:solidFill>
              <a:srgbClr val="B0C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" y="4416552"/>
            <a:ext cx="59436" cy="57607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96596" y="4480560"/>
            <a:ext cx="701802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800" b="1">
                <a:solidFill>
                  <a:srgbClr val="1F3864"/>
                </a:solidFill>
              </a:rPr>
              <a:t>✓  Review P2 escalation path to reduce MTTR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5148072"/>
            <a:ext cx="7315200" cy="795527"/>
          </a:xfrm>
          <a:prstGeom prst="rect">
            <a:avLst/>
          </a:prstGeom>
          <a:solidFill>
            <a:srgbClr val="E4EDF9"/>
          </a:solidFill>
          <a:ln w="127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5148072"/>
            <a:ext cx="7315200" cy="31089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8016" y="5202936"/>
            <a:ext cx="715060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FFFFFF"/>
                </a:solidFill>
              </a:defRPr>
            </a:pPr>
            <a:r>
              <a:t>CONCERNS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0" y="5943600"/>
          <a:ext cx="12188952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4937760"/>
                <a:gridCol w="4690872"/>
              </a:tblGrid>
              <a:tr h="182880">
                <a:tc>
                  <a:txBody>
                    <a:bodyPr/>
                    <a:lstStyle/>
                    <a:p>
                      <a:pPr>
                        <a:defRPr b="1" sz="600">
                          <a:solidFill>
                            <a:srgbClr val="FFFFFF"/>
                          </a:solidFill>
                        </a:defRPr>
                      </a:pPr>
                      <a:r>
                        <a:t>KPI / Metric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600">
                          <a:solidFill>
                            <a:srgbClr val="FFFFFF"/>
                          </a:solidFill>
                        </a:defRPr>
                      </a:pPr>
                      <a:r>
                        <a:t>Definition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600">
                          <a:solidFill>
                            <a:srgbClr val="FFFFFF"/>
                          </a:solidFill>
                        </a:defRPr>
                      </a:pPr>
                      <a:r>
                        <a:t>Details / Sub-Definition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>
                        <a:defRPr sz="550" b="1">
                          <a:solidFill>
                            <a:srgbClr val="1F3864"/>
                          </a:solidFill>
                        </a:defRPr>
                      </a:pPr>
                      <a:r>
                        <a:t>Alerts Received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Total number of monitoring alerts received by NOC team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Includes all severity levels from all monitored infrastructure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>
                        <a:defRPr sz="550" b="1">
                          <a:solidFill>
                            <a:srgbClr val="1F3864"/>
                          </a:solidFill>
                        </a:defRPr>
                      </a:pPr>
                      <a:r>
                        <a:t>Alerts Auto-Resolved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Number of alerts automatically resolved without NOC intervention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Auto-remediation scripts and rules resolving alerts without manual action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>
                        <a:defRPr sz="550" b="1">
                          <a:solidFill>
                            <a:srgbClr val="1F3864"/>
                          </a:solidFill>
                        </a:defRPr>
                      </a:pPr>
                      <a:r>
                        <a:t>P1 Incidents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Number of Priority 1 incidents detected and managed by NOC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Critical outages requiring immediate NOC escalation to MIM team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>
                        <a:defRPr sz="550" b="1">
                          <a:solidFill>
                            <a:srgbClr val="1F3864"/>
                          </a:solidFill>
                        </a:defRPr>
                      </a:pPr>
                      <a:r>
                        <a:t>P2 Incidents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Number of Priority 2 incidents detected and managed by NOC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High severity alerts requiring prompt NOC investigation and response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0" y="566928"/>
          <a:ext cx="12188946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1278"/>
                <a:gridCol w="1741278"/>
                <a:gridCol w="1741278"/>
                <a:gridCol w="1741278"/>
                <a:gridCol w="1741278"/>
                <a:gridCol w="1741278"/>
                <a:gridCol w="1741278"/>
              </a:tblGrid>
              <a:tr h="320040"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Week No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Alerts Received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Alerts Auto-Resolved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P1 Incidents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P2 Incidents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MTTR Hours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SLA Compliance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333333"/>
                          </a:solidFill>
                        </a:defRPr>
                      </a:pPr>
                      <a:r>
                        <a:t>Week 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333333"/>
                          </a:solidFill>
                        </a:defRPr>
                      </a:pPr>
                      <a:r>
                        <a:t>1890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333333"/>
                          </a:solidFill>
                        </a:defRPr>
                      </a:pPr>
                      <a:r>
                        <a:t>1610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1A73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1A73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1.7</a:t>
                      </a:r>
                    </a:p>
                  </a:txBody>
                  <a:tcPr>
                    <a:solidFill>
                      <a:srgbClr val="1A73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97%</a:t>
                      </a:r>
                    </a:p>
                  </a:txBody>
                  <a:tcPr>
                    <a:solidFill>
                      <a:srgbClr val="1A734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" name="Chart 30"/>
          <p:cNvGraphicFramePr>
            <a:graphicFrameLocks noGrp="1"/>
          </p:cNvGraphicFramePr>
          <p:nvPr/>
        </p:nvGraphicFramePr>
        <p:xfrm>
          <a:off x="7452360" y="1298448"/>
          <a:ext cx="4526280" cy="22631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32" name="Chart 31"/>
          <p:cNvGraphicFramePr>
            <a:graphicFrameLocks noGrp="1"/>
          </p:cNvGraphicFramePr>
          <p:nvPr/>
        </p:nvGraphicFramePr>
        <p:xfrm>
          <a:off x="7452360" y="3634740"/>
          <a:ext cx="4526280" cy="22631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7498079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ServiceNow  |  6 May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0" y="82296"/>
            <a:ext cx="23774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82127" y="128016"/>
            <a:ext cx="2212848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1A7348"/>
                </a:solidFill>
              </a:rPr>
              <a:t>■  Green  ≥95%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A000"/>
                </a:solidFill>
              </a:rPr>
              <a:t>■  Amber  90 – 94%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CC0000"/>
                </a:solidFill>
              </a:rPr>
              <a:t>■  Red    &lt;90%</a:t>
            </a:r>
          </a:p>
        </p:txBody>
      </p:sp>
      <p:sp>
        <p:nvSpPr>
          <p:cNvPr id="6" name="Rectangle 5"/>
          <p:cNvSpPr/>
          <p:nvPr/>
        </p:nvSpPr>
        <p:spPr>
          <a:xfrm>
            <a:off x="10332720" y="82296"/>
            <a:ext cx="1737360" cy="393192"/>
          </a:xfrm>
          <a:prstGeom prst="rect">
            <a:avLst/>
          </a:prstGeom>
          <a:solidFill>
            <a:srgbClr val="1A7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82296"/>
            <a:ext cx="173736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Overall: GREEN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298448"/>
            <a:ext cx="7315200" cy="2011680"/>
          </a:xfrm>
          <a:prstGeom prst="rect">
            <a:avLst/>
          </a:prstGeom>
          <a:solidFill>
            <a:srgbClr val="E4EDF9"/>
          </a:solidFill>
          <a:ln w="127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298448"/>
            <a:ext cx="7315200" cy="31089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" y="1353312"/>
            <a:ext cx="715060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FFFFFF"/>
                </a:solidFill>
              </a:defRPr>
            </a:pPr>
            <a:r>
              <a:t>KEY ACHIEVEMENTS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" y="1673352"/>
            <a:ext cx="7168896" cy="576072"/>
          </a:xfrm>
          <a:prstGeom prst="rect">
            <a:avLst/>
          </a:prstGeom>
          <a:solidFill>
            <a:srgbClr val="FFFFFF"/>
          </a:solidFill>
          <a:ln w="9525">
            <a:solidFill>
              <a:srgbClr val="B0C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" y="1673352"/>
            <a:ext cx="59436" cy="57607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6596" y="1737360"/>
            <a:ext cx="701802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800" b="1">
                <a:solidFill>
                  <a:srgbClr val="1F3864"/>
                </a:solidFill>
              </a:rPr>
              <a:t>✓  CSAT improved to </a:t>
            </a:r>
            <a:r>
              <a:rPr sz="800" b="1">
                <a:solidFill>
                  <a:srgbClr val="0D47A1"/>
                </a:solidFill>
              </a:rPr>
              <a:t>4.4</a:t>
            </a:r>
            <a:r>
              <a:rPr sz="800" b="0">
                <a:solidFill>
                  <a:srgbClr val="1F3864"/>
                </a:solidFill>
              </a:rPr>
              <a:t> out of </a:t>
            </a:r>
            <a:r>
              <a:rPr sz="800" b="1">
                <a:solidFill>
                  <a:srgbClr val="0D47A1"/>
                </a:solidFill>
              </a:rPr>
              <a:t>5,</a:t>
            </a:r>
            <a:r>
              <a:rPr sz="800" b="0">
                <a:solidFill>
                  <a:srgbClr val="1F3864"/>
                </a:solidFill>
              </a:rPr>
              <a:t> best score this quarter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" y="2313432"/>
            <a:ext cx="7168896" cy="576072"/>
          </a:xfrm>
          <a:prstGeom prst="rect">
            <a:avLst/>
          </a:prstGeom>
          <a:solidFill>
            <a:srgbClr val="FFFFFF"/>
          </a:solidFill>
          <a:ln w="9525">
            <a:solidFill>
              <a:srgbClr val="B0C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" y="2313432"/>
            <a:ext cx="59436" cy="57607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96596" y="2377440"/>
            <a:ext cx="701802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800" b="1">
                <a:solidFill>
                  <a:srgbClr val="1F3864"/>
                </a:solidFill>
              </a:rPr>
              <a:t>✓  FCR consistently above </a:t>
            </a:r>
            <a:r>
              <a:rPr sz="800" b="1">
                <a:solidFill>
                  <a:srgbClr val="0D47A1"/>
                </a:solidFill>
              </a:rPr>
              <a:t>84%</a:t>
            </a:r>
            <a:r>
              <a:rPr sz="800" b="0">
                <a:solidFill>
                  <a:srgbClr val="1F3864"/>
                </a:solidFill>
              </a:rPr>
              <a:t> for third consecutive week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3401568"/>
            <a:ext cx="7315200" cy="1655064"/>
          </a:xfrm>
          <a:prstGeom prst="rect">
            <a:avLst/>
          </a:prstGeom>
          <a:solidFill>
            <a:srgbClr val="E4EDF9"/>
          </a:solidFill>
          <a:ln w="127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3401568"/>
            <a:ext cx="7315200" cy="31089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8016" y="3456432"/>
            <a:ext cx="715060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FFFFFF"/>
                </a:solidFill>
              </a:defRPr>
            </a:pPr>
            <a:r>
              <a:t>NEXT WEEK FOCUS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" y="3776472"/>
            <a:ext cx="7168896" cy="576072"/>
          </a:xfrm>
          <a:prstGeom prst="rect">
            <a:avLst/>
          </a:prstGeom>
          <a:solidFill>
            <a:srgbClr val="FFFFFF"/>
          </a:solidFill>
          <a:ln w="9525">
            <a:solidFill>
              <a:srgbClr val="B0C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" y="3776472"/>
            <a:ext cx="59436" cy="57607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96596" y="3840480"/>
            <a:ext cx="701802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800" b="1">
                <a:solidFill>
                  <a:srgbClr val="1F3864"/>
                </a:solidFill>
              </a:rPr>
              <a:t>✓  Investigate root cause of borderline resolution rate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" y="4416552"/>
            <a:ext cx="7168896" cy="576072"/>
          </a:xfrm>
          <a:prstGeom prst="rect">
            <a:avLst/>
          </a:prstGeom>
          <a:solidFill>
            <a:srgbClr val="FFFFFF"/>
          </a:solidFill>
          <a:ln w="9525">
            <a:solidFill>
              <a:srgbClr val="B0C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" y="4416552"/>
            <a:ext cx="59436" cy="57607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96596" y="4480560"/>
            <a:ext cx="701802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800" b="1">
                <a:solidFill>
                  <a:srgbClr val="1F3864"/>
                </a:solidFill>
              </a:rPr>
              <a:t>✓  Publish </a:t>
            </a:r>
            <a:r>
              <a:rPr sz="800" b="1">
                <a:solidFill>
                  <a:srgbClr val="0D47A1"/>
                </a:solidFill>
              </a:rPr>
              <a:t>10</a:t>
            </a:r>
            <a:r>
              <a:rPr sz="800" b="0">
                <a:solidFill>
                  <a:srgbClr val="1F3864"/>
                </a:solidFill>
              </a:rPr>
              <a:t> additional knowledge articles for common request types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5148072"/>
            <a:ext cx="7315200" cy="795527"/>
          </a:xfrm>
          <a:prstGeom prst="rect">
            <a:avLst/>
          </a:prstGeom>
          <a:solidFill>
            <a:srgbClr val="E4EDF9"/>
          </a:solidFill>
          <a:ln w="127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5148072"/>
            <a:ext cx="7315200" cy="31089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8016" y="5202936"/>
            <a:ext cx="715060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FFFFFF"/>
                </a:solidFill>
              </a:defRPr>
            </a:pPr>
            <a:r>
              <a:t>CONCERNS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0" y="5943600"/>
          <a:ext cx="12188952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4937760"/>
                <a:gridCol w="4690872"/>
              </a:tblGrid>
              <a:tr h="182880">
                <a:tc>
                  <a:txBody>
                    <a:bodyPr/>
                    <a:lstStyle/>
                    <a:p>
                      <a:pPr>
                        <a:defRPr b="1" sz="600">
                          <a:solidFill>
                            <a:srgbClr val="FFFFFF"/>
                          </a:solidFill>
                        </a:defRPr>
                      </a:pPr>
                      <a:r>
                        <a:t>KPI / Metric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600">
                          <a:solidFill>
                            <a:srgbClr val="FFFFFF"/>
                          </a:solidFill>
                        </a:defRPr>
                      </a:pPr>
                      <a:r>
                        <a:t>Definition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600">
                          <a:solidFill>
                            <a:srgbClr val="FFFFFF"/>
                          </a:solidFill>
                        </a:defRPr>
                      </a:pPr>
                      <a:r>
                        <a:t>Details / Sub-Definition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>
                        <a:defRPr sz="550" b="1">
                          <a:solidFill>
                            <a:srgbClr val="1F3864"/>
                          </a:solidFill>
                        </a:defRPr>
                      </a:pPr>
                      <a:r>
                        <a:t>Total Tickets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Total service requests and incidents logged in ServiceNow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Includes all request types and categories processed through the platform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>
                        <a:defRPr sz="550" b="1">
                          <a:solidFill>
                            <a:srgbClr val="1F3864"/>
                          </a:solidFill>
                        </a:defRPr>
                      </a:pPr>
                      <a:r>
                        <a:t>Tickets Resolved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Number of tickets moved to resolved status in the period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Resolved tickets pending user confirmation closure after 5 days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>
                        <a:defRPr sz="550" b="1">
                          <a:solidFill>
                            <a:srgbClr val="1F3864"/>
                          </a:solidFill>
                        </a:defRPr>
                      </a:pPr>
                      <a:r>
                        <a:t>Escalated Tickets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Number of tickets escalated to L2 or L3 support teams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Tickets that could not be resolved by first-line ServiceNow team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>
                        <a:defRPr sz="550" b="1">
                          <a:solidFill>
                            <a:srgbClr val="1F3864"/>
                          </a:solidFill>
                        </a:defRPr>
                      </a:pPr>
                      <a:r>
                        <a:t>Resolution Rate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Percentage of tickets resolved within agreed SLA target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Calculated against resolution time targets by ticket category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0" y="566928"/>
          <a:ext cx="12188946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1278"/>
                <a:gridCol w="1741278"/>
                <a:gridCol w="1741278"/>
                <a:gridCol w="1741278"/>
                <a:gridCol w="1741278"/>
                <a:gridCol w="1741278"/>
                <a:gridCol w="1741278"/>
              </a:tblGrid>
              <a:tr h="320040"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Week No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Total Tickets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Tickets Resolved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Escalated Tickets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Resolution Rate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CSAT Score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First Call Resolution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333333"/>
                          </a:solidFill>
                        </a:defRPr>
                      </a:pPr>
                      <a:r>
                        <a:t>Week 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333333"/>
                          </a:solidFill>
                        </a:defRPr>
                      </a:pPr>
                      <a:r>
                        <a:t>230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333333"/>
                          </a:solidFill>
                        </a:defRPr>
                      </a:pPr>
                      <a:r>
                        <a:t>219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333333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95%</a:t>
                      </a:r>
                    </a:p>
                  </a:txBody>
                  <a:tcPr>
                    <a:solidFill>
                      <a:srgbClr val="1A73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333333"/>
                          </a:solidFill>
                        </a:defRPr>
                      </a:pPr>
                      <a:r>
                        <a:t>4.4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84%</a:t>
                      </a:r>
                    </a:p>
                  </a:txBody>
                  <a:tcPr>
                    <a:solidFill>
                      <a:srgbClr val="1A734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" name="Chart 30"/>
          <p:cNvGraphicFramePr>
            <a:graphicFrameLocks noGrp="1"/>
          </p:cNvGraphicFramePr>
          <p:nvPr/>
        </p:nvGraphicFramePr>
        <p:xfrm>
          <a:off x="7452360" y="1298448"/>
          <a:ext cx="4526280" cy="22631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32" name="Chart 31"/>
          <p:cNvGraphicFramePr>
            <a:graphicFrameLocks noGrp="1"/>
          </p:cNvGraphicFramePr>
          <p:nvPr/>
        </p:nvGraphicFramePr>
        <p:xfrm>
          <a:off x="7452360" y="3634740"/>
          <a:ext cx="4526280" cy="22631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7498079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Service Desk  |  6 May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0" y="82296"/>
            <a:ext cx="23774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82127" y="128016"/>
            <a:ext cx="2212848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1A7348"/>
                </a:solidFill>
              </a:rPr>
              <a:t>■  Green  ≥95%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A000"/>
                </a:solidFill>
              </a:rPr>
              <a:t>■  Amber  90 – 94%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CC0000"/>
                </a:solidFill>
              </a:rPr>
              <a:t>■  Red    &lt;90%</a:t>
            </a:r>
          </a:p>
        </p:txBody>
      </p:sp>
      <p:sp>
        <p:nvSpPr>
          <p:cNvPr id="6" name="Rectangle 5"/>
          <p:cNvSpPr/>
          <p:nvPr/>
        </p:nvSpPr>
        <p:spPr>
          <a:xfrm>
            <a:off x="10332720" y="82296"/>
            <a:ext cx="1737360" cy="393192"/>
          </a:xfrm>
          <a:prstGeom prst="rect">
            <a:avLst/>
          </a:prstGeom>
          <a:solidFill>
            <a:srgbClr val="1A7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82296"/>
            <a:ext cx="173736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Overall: GREEN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298448"/>
            <a:ext cx="7315200" cy="2011680"/>
          </a:xfrm>
          <a:prstGeom prst="rect">
            <a:avLst/>
          </a:prstGeom>
          <a:solidFill>
            <a:srgbClr val="E4EDF9"/>
          </a:solidFill>
          <a:ln w="127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298448"/>
            <a:ext cx="7315200" cy="31089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" y="1353312"/>
            <a:ext cx="715060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FFFFFF"/>
                </a:solidFill>
              </a:defRPr>
            </a:pPr>
            <a:r>
              <a:t>KEY ACHIEVEMENTS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" y="1673352"/>
            <a:ext cx="7168896" cy="576072"/>
          </a:xfrm>
          <a:prstGeom prst="rect">
            <a:avLst/>
          </a:prstGeom>
          <a:solidFill>
            <a:srgbClr val="FFFFFF"/>
          </a:solidFill>
          <a:ln w="9525">
            <a:solidFill>
              <a:srgbClr val="B0C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" y="1673352"/>
            <a:ext cx="59436" cy="57607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6596" y="1737360"/>
            <a:ext cx="701802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800" b="1">
                <a:solidFill>
                  <a:srgbClr val="1F3864"/>
                </a:solidFill>
              </a:rPr>
              <a:t>✓  Handle time reduced to </a:t>
            </a:r>
            <a:r>
              <a:rPr sz="800" b="1">
                <a:solidFill>
                  <a:srgbClr val="0D47A1"/>
                </a:solidFill>
              </a:rPr>
              <a:t>8.4</a:t>
            </a:r>
            <a:r>
              <a:rPr sz="800" b="0">
                <a:solidFill>
                  <a:srgbClr val="1F3864"/>
                </a:solidFill>
              </a:rPr>
              <a:t> mins against </a:t>
            </a:r>
            <a:r>
              <a:rPr sz="800" b="1">
                <a:solidFill>
                  <a:srgbClr val="0D47A1"/>
                </a:solidFill>
              </a:rPr>
              <a:t>10</a:t>
            </a:r>
            <a:r>
              <a:rPr sz="800" b="0">
                <a:solidFill>
                  <a:srgbClr val="1F3864"/>
                </a:solidFill>
              </a:rPr>
              <a:t>-min target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" y="2313432"/>
            <a:ext cx="7168896" cy="576072"/>
          </a:xfrm>
          <a:prstGeom prst="rect">
            <a:avLst/>
          </a:prstGeom>
          <a:solidFill>
            <a:srgbClr val="FFFFFF"/>
          </a:solidFill>
          <a:ln w="9525">
            <a:solidFill>
              <a:srgbClr val="B0C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" y="2313432"/>
            <a:ext cx="59436" cy="57607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96596" y="2377440"/>
            <a:ext cx="701802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800" b="1">
                <a:solidFill>
                  <a:srgbClr val="1F3864"/>
                </a:solidFill>
              </a:rPr>
              <a:t>✓  </a:t>
            </a:r>
            <a:r>
              <a:rPr sz="800" b="1">
                <a:solidFill>
                  <a:srgbClr val="0D47A1"/>
                </a:solidFill>
              </a:rPr>
              <a:t>12</a:t>
            </a:r>
            <a:r>
              <a:rPr sz="800" b="0">
                <a:solidFill>
                  <a:srgbClr val="1F3864"/>
                </a:solidFill>
              </a:rPr>
              <a:t> new knowledge articles published this week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3401568"/>
            <a:ext cx="7315200" cy="1655064"/>
          </a:xfrm>
          <a:prstGeom prst="rect">
            <a:avLst/>
          </a:prstGeom>
          <a:solidFill>
            <a:srgbClr val="E4EDF9"/>
          </a:solidFill>
          <a:ln w="127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3401568"/>
            <a:ext cx="7315200" cy="31089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8016" y="3456432"/>
            <a:ext cx="715060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FFFFFF"/>
                </a:solidFill>
              </a:defRPr>
            </a:pPr>
            <a:r>
              <a:t>NEXT WEEK FOCUS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" y="3776472"/>
            <a:ext cx="7168896" cy="576072"/>
          </a:xfrm>
          <a:prstGeom prst="rect">
            <a:avLst/>
          </a:prstGeom>
          <a:solidFill>
            <a:srgbClr val="FFFFFF"/>
          </a:solidFill>
          <a:ln w="9525">
            <a:solidFill>
              <a:srgbClr val="B0C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" y="3776472"/>
            <a:ext cx="59436" cy="57607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96596" y="3840480"/>
            <a:ext cx="701802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800" b="1">
                <a:solidFill>
                  <a:srgbClr val="1F3864"/>
                </a:solidFill>
              </a:rPr>
              <a:t>✓  Deploy new chatbot for tier-</a:t>
            </a:r>
            <a:r>
              <a:rPr sz="800" b="1">
                <a:solidFill>
                  <a:srgbClr val="0D47A1"/>
                </a:solidFill>
              </a:rPr>
              <a:t>1</a:t>
            </a:r>
            <a:r>
              <a:rPr sz="800" b="0">
                <a:solidFill>
                  <a:srgbClr val="1F3864"/>
                </a:solidFill>
              </a:rPr>
              <a:t> queries to improve FCR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" y="4416552"/>
            <a:ext cx="7168896" cy="576072"/>
          </a:xfrm>
          <a:prstGeom prst="rect">
            <a:avLst/>
          </a:prstGeom>
          <a:solidFill>
            <a:srgbClr val="FFFFFF"/>
          </a:solidFill>
          <a:ln w="9525">
            <a:solidFill>
              <a:srgbClr val="B0C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" y="4416552"/>
            <a:ext cx="59436" cy="57607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96596" y="4480560"/>
            <a:ext cx="701802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800" b="1">
                <a:solidFill>
                  <a:srgbClr val="1F3864"/>
                </a:solidFill>
              </a:rPr>
              <a:t>✓  Review call routing rules to reduce abandonment rate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5148072"/>
            <a:ext cx="7315200" cy="795527"/>
          </a:xfrm>
          <a:prstGeom prst="rect">
            <a:avLst/>
          </a:prstGeom>
          <a:solidFill>
            <a:srgbClr val="E4EDF9"/>
          </a:solidFill>
          <a:ln w="127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5148072"/>
            <a:ext cx="7315200" cy="31089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8016" y="5202936"/>
            <a:ext cx="715060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FFFFFF"/>
                </a:solidFill>
              </a:defRPr>
            </a:pPr>
            <a:r>
              <a:t>CONCERNS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0" y="5943600"/>
          <a:ext cx="12188952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4937760"/>
                <a:gridCol w="4690872"/>
              </a:tblGrid>
              <a:tr h="182880">
                <a:tc>
                  <a:txBody>
                    <a:bodyPr/>
                    <a:lstStyle/>
                    <a:p>
                      <a:pPr>
                        <a:defRPr b="1" sz="600">
                          <a:solidFill>
                            <a:srgbClr val="FFFFFF"/>
                          </a:solidFill>
                        </a:defRPr>
                      </a:pPr>
                      <a:r>
                        <a:t>KPI / Metric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600">
                          <a:solidFill>
                            <a:srgbClr val="FFFFFF"/>
                          </a:solidFill>
                        </a:defRPr>
                      </a:pPr>
                      <a:r>
                        <a:t>Definition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600">
                          <a:solidFill>
                            <a:srgbClr val="FFFFFF"/>
                          </a:solidFill>
                        </a:defRPr>
                      </a:pPr>
                      <a:r>
                        <a:t>Details / Sub-Definition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>
                        <a:defRPr sz="550" b="1">
                          <a:solidFill>
                            <a:srgbClr val="1F3864"/>
                          </a:solidFill>
                        </a:defRPr>
                      </a:pPr>
                      <a:r>
                        <a:t>Calls Received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Total inbound contacts handled by Service Desk in the period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Includes voice calls, chat sessions and email contacts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>
                        <a:defRPr sz="550" b="1">
                          <a:solidFill>
                            <a:srgbClr val="1F3864"/>
                          </a:solidFill>
                        </a:defRPr>
                      </a:pPr>
                      <a:r>
                        <a:t>Calls Resolved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Total contacts resolved by first-line Service Desk agents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Direct resolution without L2/L3 escalation required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>
                        <a:defRPr sz="550" b="1">
                          <a:solidFill>
                            <a:srgbClr val="1F3864"/>
                          </a:solidFill>
                        </a:defRPr>
                      </a:pPr>
                      <a:r>
                        <a:t>Abandoned Calls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Number of contacts abandoned before being answered by an agent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Key measure of queue management and staffing adequacy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>
                        <a:defRPr sz="550" b="1">
                          <a:solidFill>
                            <a:srgbClr val="1F3864"/>
                          </a:solidFill>
                        </a:defRPr>
                      </a:pPr>
                      <a:r>
                        <a:t>FCR Rate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Percentage of contacts resolved on first contact without escalation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Primary measure of Service Desk effectiveness and knowledge quality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0" y="566928"/>
          <a:ext cx="12188946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1278"/>
                <a:gridCol w="1741278"/>
                <a:gridCol w="1741278"/>
                <a:gridCol w="1741278"/>
                <a:gridCol w="1741278"/>
                <a:gridCol w="1741278"/>
                <a:gridCol w="1741278"/>
              </a:tblGrid>
              <a:tr h="320040"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Week No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Calls Received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Calls Resolved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Abandoned Calls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FCR Rate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Avg Handle Time Mins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SLA Compliance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333333"/>
                          </a:solidFill>
                        </a:defRPr>
                      </a:pPr>
                      <a:r>
                        <a:t>Week 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333333"/>
                          </a:solidFill>
                        </a:defRPr>
                      </a:pPr>
                      <a:r>
                        <a:t>310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333333"/>
                          </a:solidFill>
                        </a:defRPr>
                      </a:pPr>
                      <a:r>
                        <a:t>288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333333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83%</a:t>
                      </a:r>
                    </a:p>
                  </a:txBody>
                  <a:tcPr>
                    <a:solidFill>
                      <a:srgbClr val="1A73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8.4</a:t>
                      </a:r>
                    </a:p>
                  </a:txBody>
                  <a:tcPr>
                    <a:solidFill>
                      <a:srgbClr val="1A73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96%</a:t>
                      </a:r>
                    </a:p>
                  </a:txBody>
                  <a:tcPr>
                    <a:solidFill>
                      <a:srgbClr val="1A734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" name="Chart 30"/>
          <p:cNvGraphicFramePr>
            <a:graphicFrameLocks noGrp="1"/>
          </p:cNvGraphicFramePr>
          <p:nvPr/>
        </p:nvGraphicFramePr>
        <p:xfrm>
          <a:off x="7452360" y="1298448"/>
          <a:ext cx="4526280" cy="22631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32" name="Chart 31"/>
          <p:cNvGraphicFramePr>
            <a:graphicFrameLocks noGrp="1"/>
          </p:cNvGraphicFramePr>
          <p:nvPr/>
        </p:nvGraphicFramePr>
        <p:xfrm>
          <a:off x="7452360" y="3634740"/>
          <a:ext cx="4526280" cy="22631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