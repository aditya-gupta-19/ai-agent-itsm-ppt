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05840"/>
            <a:ext cx="12188952" cy="914400"/>
          </a:xfrm>
          <a:prstGeom prst="rect">
            <a:avLst/>
          </a:prstGeom>
          <a:noFill/>
        </p:spPr>
        <p:txBody>
          <a:bodyPr wrap="none">
            <a:spAutoFit/>
          </a:bodyPr>
          <a:lstStyle/>
          <a:p>
            <a:pPr algn="ctr">
              <a:defRPr sz="2520" b="1">
                <a:solidFill>
                  <a:srgbClr val="1F3864"/>
                </a:solidFill>
              </a:defRPr>
            </a:pPr>
            <a:r>
              <a:t>ITSM Weekly Report — 20260408</a:t>
            </a:r>
          </a:p>
        </p:txBody>
      </p:sp>
      <p:sp>
        <p:nvSpPr>
          <p:cNvPr id="4" name="TextBox 3"/>
          <p:cNvSpPr txBox="1"/>
          <p:nvPr/>
        </p:nvSpPr>
        <p:spPr>
          <a:xfrm>
            <a:off x="0" y="1828800"/>
            <a:ext cx="12188952" cy="548640"/>
          </a:xfrm>
          <a:prstGeom prst="rect">
            <a:avLst/>
          </a:prstGeom>
          <a:noFill/>
        </p:spPr>
        <p:txBody>
          <a:bodyPr wrap="none">
            <a:spAutoFit/>
          </a:bodyPr>
          <a:lstStyle/>
          <a:p>
            <a:pPr algn="ctr">
              <a:defRPr sz="1296">
                <a:solidFill>
                  <a:srgbClr val="2E75B6"/>
                </a:solidFill>
              </a:defRPr>
            </a:pPr>
            <a:r>
              <a:t>Auto-generated | 5 groups | AI-powered insights</a:t>
            </a:r>
          </a:p>
        </p:txBody>
      </p:sp>
      <p:sp>
        <p:nvSpPr>
          <p:cNvPr id="5" name="TextBox 4"/>
          <p:cNvSpPr txBox="1"/>
          <p:nvPr/>
        </p:nvSpPr>
        <p:spPr>
          <a:xfrm>
            <a:off x="0" y="6309360"/>
            <a:ext cx="12188952" cy="365760"/>
          </a:xfrm>
          <a:prstGeom prst="rect">
            <a:avLst/>
          </a:prstGeom>
          <a:noFill/>
        </p:spPr>
        <p:txBody>
          <a:bodyPr wrap="none">
            <a:spAutoFit/>
          </a:bodyPr>
          <a:lstStyle/>
          <a:p>
            <a:pPr algn="ctr">
              <a:defRPr sz="936">
                <a:solidFill>
                  <a:srgbClr val="333333"/>
                </a:solidFill>
              </a:defRPr>
            </a:pPr>
            <a:r>
              <a:t>Generated by ITSM Automation Agent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MIM  |  Date: 20260408</a:t>
            </a:r>
          </a:p>
        </p:txBody>
      </p:sp>
      <p:sp>
        <p:nvSpPr>
          <p:cNvPr id="4" name="Rectangle 3"/>
          <p:cNvSpPr/>
          <p:nvPr/>
        </p:nvSpPr>
        <p:spPr>
          <a:xfrm>
            <a:off x="0" y="1051560"/>
            <a:ext cx="5943600" cy="109728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91440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MIM team has 1 data record(s) in the current reporting window. Performance highlights indicate First-Time Right Delivery (&gt;85%): 78.0%, Delivery Percent (&gt;70%): 47.8%. Potential risk areas include Delivery Percent (&gt;70%): 47.8%, First-Time Right Delivery (&gt;85%): 78.0%.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94560"/>
          <a:ext cx="5943600" cy="1828800"/>
        </p:xfrm>
        <a:graphic>
          <a:graphicData uri="http://schemas.openxmlformats.org/drawingml/2006/table">
            <a:tbl>
              <a:tblPr firstRow="1" bandRow="1">
                <a:tableStyleId>{5C22544A-7EE6-4342-B048-85BDC9FD1C3A}</a:tableStyleId>
              </a:tblPr>
              <a:tblGrid>
                <a:gridCol w="1485900"/>
                <a:gridCol w="1485900"/>
                <a:gridCol w="1485900"/>
                <a:gridCol w="1485900"/>
              </a:tblGrid>
              <a:tr h="609600">
                <a:tc>
                  <a:txBody>
                    <a:bodyPr/>
                    <a:lstStyle/>
                    <a:p>
                      <a:pPr>
                        <a:defRPr b="1">
                          <a:solidFill>
                            <a:srgbClr val="1F3864"/>
                          </a:solidFill>
                        </a:defRPr>
                      </a:pPr>
                      <a:r>
                        <a:t>KPI Name</a:t>
                      </a:r>
                    </a:p>
                  </a:txBody>
                  <a:tcPr/>
                </a:tc>
                <a:tc>
                  <a:txBody>
                    <a:bodyPr/>
                    <a:lstStyle/>
                    <a:p>
                      <a:pPr>
                        <a:defRPr b="1">
                          <a:solidFill>
                            <a:srgbClr val="1F3864"/>
                          </a:solidFill>
                        </a:defRPr>
                      </a:pPr>
                      <a:r>
                        <a:t>Actual</a:t>
                      </a:r>
                    </a:p>
                  </a:txBody>
                  <a:tcPr/>
                </a:tc>
                <a:tc>
                  <a:txBody>
                    <a:bodyPr/>
                    <a:lstStyle/>
                    <a:p>
                      <a:pPr>
                        <a:defRPr b="1">
                          <a:solidFill>
                            <a:srgbClr val="1F3864"/>
                          </a:solidFill>
                        </a:defRPr>
                      </a:pPr>
                      <a:r>
                        <a:t>Target</a:t>
                      </a:r>
                    </a:p>
                  </a:txBody>
                  <a:tcPr/>
                </a:tc>
                <a:tc>
                  <a:txBody>
                    <a:bodyPr/>
                    <a:lstStyle/>
                    <a:p>
                      <a:pPr>
                        <a:defRPr b="1">
                          <a:solidFill>
                            <a:srgbClr val="1F3864"/>
                          </a:solidFill>
                        </a:defRPr>
                      </a:pPr>
                      <a:r>
                        <a:t>Status</a:t>
                      </a:r>
                    </a:p>
                  </a:txBody>
                  <a:tcPr/>
                </a:tc>
              </a:tr>
              <a:tr h="609600">
                <a:tc>
                  <a:txBody>
                    <a:bodyPr/>
                    <a:lstStyle/>
                    <a:p>
                      <a:r>
                        <a:t>Delivery Percent</a:t>
                      </a:r>
                    </a:p>
                  </a:txBody>
                  <a:tcPr/>
                </a:tc>
                <a:tc>
                  <a:txBody>
                    <a:bodyPr/>
                    <a:lstStyle/>
                    <a:p>
                      <a:r>
                        <a:t>47.83</a:t>
                      </a:r>
                    </a:p>
                  </a:txBody>
                  <a:tcPr/>
                </a:tc>
                <a:tc>
                  <a:txBody>
                    <a:bodyPr/>
                    <a:lstStyle/>
                    <a:p>
                      <a:r>
                        <a:t>&gt;70.0%</a:t>
                      </a:r>
                    </a:p>
                  </a:txBody>
                  <a:tcPr/>
                </a:tc>
                <a:tc>
                  <a:txBody>
                    <a:bodyPr/>
                    <a:lstStyle/>
                    <a:p>
                      <a:pPr>
                        <a:defRPr>
                          <a:solidFill>
                            <a:srgbClr val="FFFFFF"/>
                          </a:solidFill>
                        </a:defRPr>
                      </a:pPr>
                      <a:r>
                        <a:t>FAIL</a:t>
                      </a:r>
                    </a:p>
                  </a:txBody>
                  <a:tcPr>
                    <a:solidFill>
                      <a:srgbClr val="C00000"/>
                    </a:solidFill>
                  </a:tcPr>
                </a:tc>
              </a:tr>
              <a:tr h="609600">
                <a:tc>
                  <a:txBody>
                    <a:bodyPr/>
                    <a:lstStyle/>
                    <a:p>
                      <a:r>
                        <a:t>First-Time Right Delivery</a:t>
                      </a:r>
                    </a:p>
                  </a:txBody>
                  <a:tcPr/>
                </a:tc>
                <a:tc>
                  <a:txBody>
                    <a:bodyPr/>
                    <a:lstStyle/>
                    <a:p>
                      <a:r>
                        <a:t>78.0</a:t>
                      </a:r>
                    </a:p>
                  </a:txBody>
                  <a:tcPr/>
                </a:tc>
                <a:tc>
                  <a:txBody>
                    <a:bodyPr/>
                    <a:lstStyle/>
                    <a:p>
                      <a:r>
                        <a:t>&gt;85.0%</a:t>
                      </a:r>
                    </a:p>
                  </a:txBody>
                  <a:tcPr/>
                </a:tc>
                <a:tc>
                  <a:txBody>
                    <a:bodyPr/>
                    <a:lstStyle/>
                    <a:p>
                      <a:pPr>
                        <a:defRPr>
                          <a:solidFill>
                            <a:srgbClr val="FFFFFF"/>
                          </a:solidFill>
                        </a:defRPr>
                      </a:pPr>
                      <a:r>
                        <a:t>FAIL</a:t>
                      </a:r>
                    </a:p>
                  </a:txBody>
                  <a:tcPr>
                    <a:solidFill>
                      <a:srgbClr val="C00000"/>
                    </a:solidFill>
                  </a:tcPr>
                </a:tc>
              </a:tr>
            </a:tbl>
          </a:graphicData>
        </a:graphic>
      </p:graphicFrame>
      <p:sp>
        <p:nvSpPr>
          <p:cNvPr id="7" name="Rectangle 6"/>
          <p:cNvSpPr/>
          <p:nvPr/>
        </p:nvSpPr>
        <p:spPr>
          <a:xfrm>
            <a:off x="0" y="4023360"/>
            <a:ext cx="5943600" cy="2103120"/>
          </a:xfrm>
          <a:prstGeom prst="rect">
            <a:avLst/>
          </a:prstGeom>
          <a:solidFill>
            <a:srgbClr val="FFFFFF"/>
          </a:solidFill>
          <a:ln w="1">
            <a:solidFill>
              <a:srgbClr val="0F6E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4114800"/>
            <a:ext cx="5577840" cy="1920240"/>
          </a:xfrm>
          <a:prstGeom prst="rect">
            <a:avLst/>
          </a:prstGeom>
          <a:noFill/>
        </p:spPr>
        <p:txBody>
          <a:bodyPr wrap="none">
            <a:spAutoFit/>
          </a:bodyPr>
          <a:lstStyle/>
          <a:p>
            <a:pPr>
              <a:defRPr b="1">
                <a:solidFill>
                  <a:srgbClr val="1F3864"/>
                </a:solidFill>
              </a:defRPr>
            </a:pPr>
            <a:r>
              <a:t>Insights</a:t>
            </a:r>
          </a:p>
          <a:p>
            <a:pPr>
              <a:defRPr i="1" sz="864">
                <a:solidFill>
                  <a:srgbClr val="1F3864"/>
                </a:solidFill>
              </a:defRPr>
            </a:pPr>
            <a:r>
              <a:t>AI analysis unavailable. Rule-based summary was applied.</a:t>
            </a:r>
          </a:p>
          <a:p>
            <a:pPr>
              <a:defRPr i="1" sz="864">
                <a:solidFill>
                  <a:srgbClr val="1F3864"/>
                </a:solidFill>
              </a:defRPr>
            </a:pPr>
            <a:r>
              <a:t>Review low-performing KPIs and assign action owners.</a:t>
            </a:r>
          </a:p>
        </p:txBody>
      </p:sp>
      <p:pic>
        <p:nvPicPr>
          <p:cNvPr id="9" name="Picture 8" descr="image.png"/>
          <p:cNvPicPr>
            <a:picLocks noChangeAspect="1"/>
          </p:cNvPicPr>
          <p:nvPr/>
        </p:nvPicPr>
        <p:blipFill>
          <a:blip r:embed="rId2"/>
          <a:stretch>
            <a:fillRect/>
          </a:stretch>
        </p:blipFill>
        <p:spPr>
          <a:xfrm>
            <a:off x="5943600" y="1051560"/>
            <a:ext cx="6245352" cy="3840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Change  |  Date: 20260408</a:t>
            </a:r>
          </a:p>
        </p:txBody>
      </p:sp>
      <p:sp>
        <p:nvSpPr>
          <p:cNvPr id="4" name="Rectangle 3"/>
          <p:cNvSpPr/>
          <p:nvPr/>
        </p:nvSpPr>
        <p:spPr>
          <a:xfrm>
            <a:off x="0" y="1051560"/>
            <a:ext cx="5943600" cy="109728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91440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Change team has 1 data record(s) in the current reporting window. Performance highlights indicate Change Success Ratio (&gt;99%): 100.0%, Change Causing MI vs Other MIs (&lt;10%): 10.0%. Potential risk areas include Failed Change Ratio (&lt;1%): 0.0%, Unauthorised Change rate (&lt;1%): 0.6%.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94560"/>
          <a:ext cx="5943600" cy="1828800"/>
        </p:xfrm>
        <a:graphic>
          <a:graphicData uri="http://schemas.openxmlformats.org/drawingml/2006/table">
            <a:tbl>
              <a:tblPr firstRow="1" bandRow="1">
                <a:tableStyleId>{5C22544A-7EE6-4342-B048-85BDC9FD1C3A}</a:tableStyleId>
              </a:tblPr>
              <a:tblGrid>
                <a:gridCol w="1485900"/>
                <a:gridCol w="1485900"/>
                <a:gridCol w="1485900"/>
                <a:gridCol w="1485900"/>
              </a:tblGrid>
              <a:tr h="365760">
                <a:tc>
                  <a:txBody>
                    <a:bodyPr/>
                    <a:lstStyle/>
                    <a:p>
                      <a:pPr>
                        <a:defRPr b="1">
                          <a:solidFill>
                            <a:srgbClr val="1F3864"/>
                          </a:solidFill>
                        </a:defRPr>
                      </a:pPr>
                      <a:r>
                        <a:t>KPI Name</a:t>
                      </a:r>
                    </a:p>
                  </a:txBody>
                  <a:tcPr/>
                </a:tc>
                <a:tc>
                  <a:txBody>
                    <a:bodyPr/>
                    <a:lstStyle/>
                    <a:p>
                      <a:pPr>
                        <a:defRPr b="1">
                          <a:solidFill>
                            <a:srgbClr val="1F3864"/>
                          </a:solidFill>
                        </a:defRPr>
                      </a:pPr>
                      <a:r>
                        <a:t>Actual</a:t>
                      </a:r>
                    </a:p>
                  </a:txBody>
                  <a:tcPr/>
                </a:tc>
                <a:tc>
                  <a:txBody>
                    <a:bodyPr/>
                    <a:lstStyle/>
                    <a:p>
                      <a:pPr>
                        <a:defRPr b="1">
                          <a:solidFill>
                            <a:srgbClr val="1F3864"/>
                          </a:solidFill>
                        </a:defRPr>
                      </a:pPr>
                      <a:r>
                        <a:t>Target</a:t>
                      </a:r>
                    </a:p>
                  </a:txBody>
                  <a:tcPr/>
                </a:tc>
                <a:tc>
                  <a:txBody>
                    <a:bodyPr/>
                    <a:lstStyle/>
                    <a:p>
                      <a:pPr>
                        <a:defRPr b="1">
                          <a:solidFill>
                            <a:srgbClr val="1F3864"/>
                          </a:solidFill>
                        </a:defRPr>
                      </a:pPr>
                      <a:r>
                        <a:t>Status</a:t>
                      </a:r>
                    </a:p>
                  </a:txBody>
                  <a:tcPr/>
                </a:tc>
              </a:tr>
              <a:tr h="365760">
                <a:tc>
                  <a:txBody>
                    <a:bodyPr/>
                    <a:lstStyle/>
                    <a:p>
                      <a:r>
                        <a:t>Change Success Ratio</a:t>
                      </a:r>
                    </a:p>
                  </a:txBody>
                  <a:tcPr/>
                </a:tc>
                <a:tc>
                  <a:txBody>
                    <a:bodyPr/>
                    <a:lstStyle/>
                    <a:p>
                      <a:r>
                        <a:t>100.0</a:t>
                      </a:r>
                    </a:p>
                  </a:txBody>
                  <a:tcPr/>
                </a:tc>
                <a:tc>
                  <a:txBody>
                    <a:bodyPr/>
                    <a:lstStyle/>
                    <a:p>
                      <a:r>
                        <a:t>&gt;99.0%</a:t>
                      </a:r>
                    </a:p>
                  </a:txBody>
                  <a:tcPr/>
                </a:tc>
                <a:tc>
                  <a:txBody>
                    <a:bodyPr/>
                    <a:lstStyle/>
                    <a:p>
                      <a:pPr>
                        <a:defRPr>
                          <a:solidFill>
                            <a:srgbClr val="FFFFFF"/>
                          </a:solidFill>
                        </a:defRPr>
                      </a:pPr>
                      <a:r>
                        <a:t>PASS</a:t>
                      </a:r>
                    </a:p>
                  </a:txBody>
                  <a:tcPr>
                    <a:solidFill>
                      <a:srgbClr val="1E5C2E"/>
                    </a:solidFill>
                  </a:tcPr>
                </a:tc>
              </a:tr>
              <a:tr h="365760">
                <a:tc>
                  <a:txBody>
                    <a:bodyPr/>
                    <a:lstStyle/>
                    <a:p>
                      <a:r>
                        <a:t>Change Causing MI vs Other MIs</a:t>
                      </a:r>
                    </a:p>
                  </a:txBody>
                  <a:tcPr/>
                </a:tc>
                <a:tc>
                  <a:txBody>
                    <a:bodyPr/>
                    <a:lstStyle/>
                    <a:p>
                      <a:r>
                        <a:t>10.0</a:t>
                      </a:r>
                    </a:p>
                  </a:txBody>
                  <a:tcPr/>
                </a:tc>
                <a:tc>
                  <a:txBody>
                    <a:bodyPr/>
                    <a:lstStyle/>
                    <a:p>
                      <a:r>
                        <a:t>&lt;10.0%</a:t>
                      </a:r>
                    </a:p>
                  </a:txBody>
                  <a:tcPr/>
                </a:tc>
                <a:tc>
                  <a:txBody>
                    <a:bodyPr/>
                    <a:lstStyle/>
                    <a:p>
                      <a:pPr>
                        <a:defRPr>
                          <a:solidFill>
                            <a:srgbClr val="FFFFFF"/>
                          </a:solidFill>
                        </a:defRPr>
                      </a:pPr>
                      <a:r>
                        <a:t>FAIL</a:t>
                      </a:r>
                    </a:p>
                  </a:txBody>
                  <a:tcPr>
                    <a:solidFill>
                      <a:srgbClr val="C00000"/>
                    </a:solidFill>
                  </a:tcPr>
                </a:tc>
              </a:tr>
              <a:tr h="365760">
                <a:tc>
                  <a:txBody>
                    <a:bodyPr/>
                    <a:lstStyle/>
                    <a:p>
                      <a:r>
                        <a:t>Failed Change Ratio</a:t>
                      </a:r>
                    </a:p>
                  </a:txBody>
                  <a:tcPr/>
                </a:tc>
                <a:tc>
                  <a:txBody>
                    <a:bodyPr/>
                    <a:lstStyle/>
                    <a:p>
                      <a:r>
                        <a:t>0.0</a:t>
                      </a:r>
                    </a:p>
                  </a:txBody>
                  <a:tcPr/>
                </a:tc>
                <a:tc>
                  <a:txBody>
                    <a:bodyPr/>
                    <a:lstStyle/>
                    <a:p>
                      <a:r>
                        <a:t>&lt;1.0%</a:t>
                      </a:r>
                    </a:p>
                  </a:txBody>
                  <a:tcPr/>
                </a:tc>
                <a:tc>
                  <a:txBody>
                    <a:bodyPr/>
                    <a:lstStyle/>
                    <a:p>
                      <a:pPr>
                        <a:defRPr>
                          <a:solidFill>
                            <a:srgbClr val="FFFFFF"/>
                          </a:solidFill>
                        </a:defRPr>
                      </a:pPr>
                      <a:r>
                        <a:t>PASS</a:t>
                      </a:r>
                    </a:p>
                  </a:txBody>
                  <a:tcPr>
                    <a:solidFill>
                      <a:srgbClr val="1E5C2E"/>
                    </a:solidFill>
                  </a:tcPr>
                </a:tc>
              </a:tr>
              <a:tr h="365760">
                <a:tc>
                  <a:txBody>
                    <a:bodyPr/>
                    <a:lstStyle/>
                    <a:p>
                      <a:r>
                        <a:t>Unauthorised Change rate</a:t>
                      </a:r>
                    </a:p>
                  </a:txBody>
                  <a:tcPr/>
                </a:tc>
                <a:tc>
                  <a:txBody>
                    <a:bodyPr/>
                    <a:lstStyle/>
                    <a:p>
                      <a:r>
                        <a:t>0.0061</a:t>
                      </a:r>
                    </a:p>
                  </a:txBody>
                  <a:tcPr/>
                </a:tc>
                <a:tc>
                  <a:txBody>
                    <a:bodyPr/>
                    <a:lstStyle/>
                    <a:p>
                      <a:r>
                        <a:t>&lt;1.0%</a:t>
                      </a:r>
                    </a:p>
                  </a:txBody>
                  <a:tcPr/>
                </a:tc>
                <a:tc>
                  <a:txBody>
                    <a:bodyPr/>
                    <a:lstStyle/>
                    <a:p>
                      <a:pPr>
                        <a:defRPr>
                          <a:solidFill>
                            <a:srgbClr val="FFFFFF"/>
                          </a:solidFill>
                        </a:defRPr>
                      </a:pPr>
                      <a:r>
                        <a:t>PASS</a:t>
                      </a:r>
                    </a:p>
                  </a:txBody>
                  <a:tcPr>
                    <a:solidFill>
                      <a:srgbClr val="1E5C2E"/>
                    </a:solidFill>
                  </a:tcPr>
                </a:tc>
              </a:tr>
            </a:tbl>
          </a:graphicData>
        </a:graphic>
      </p:graphicFrame>
      <p:sp>
        <p:nvSpPr>
          <p:cNvPr id="7" name="Rectangle 6"/>
          <p:cNvSpPr/>
          <p:nvPr/>
        </p:nvSpPr>
        <p:spPr>
          <a:xfrm>
            <a:off x="0" y="4023360"/>
            <a:ext cx="5943600" cy="2103120"/>
          </a:xfrm>
          <a:prstGeom prst="rect">
            <a:avLst/>
          </a:prstGeom>
          <a:solidFill>
            <a:srgbClr val="FFFFFF"/>
          </a:solidFill>
          <a:ln w="1">
            <a:solidFill>
              <a:srgbClr val="0F6E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4114800"/>
            <a:ext cx="5577840" cy="1920240"/>
          </a:xfrm>
          <a:prstGeom prst="rect">
            <a:avLst/>
          </a:prstGeom>
          <a:noFill/>
        </p:spPr>
        <p:txBody>
          <a:bodyPr wrap="none">
            <a:spAutoFit/>
          </a:bodyPr>
          <a:lstStyle/>
          <a:p>
            <a:pPr>
              <a:defRPr b="1">
                <a:solidFill>
                  <a:srgbClr val="1F3864"/>
                </a:solidFill>
              </a:defRPr>
            </a:pPr>
            <a:r>
              <a:t>Insights</a:t>
            </a:r>
          </a:p>
          <a:p>
            <a:pPr>
              <a:defRPr i="1" sz="864">
                <a:solidFill>
                  <a:srgbClr val="1F3864"/>
                </a:solidFill>
              </a:defRPr>
            </a:pPr>
            <a:r>
              <a:t>AI analysis unavailable. Rule-based summary was applied.</a:t>
            </a:r>
          </a:p>
          <a:p>
            <a:pPr>
              <a:defRPr i="1" sz="864">
                <a:solidFill>
                  <a:srgbClr val="1F3864"/>
                </a:solidFill>
              </a:defRPr>
            </a:pPr>
            <a:r>
              <a:t>Review low-performing KPIs and assign action owners.</a:t>
            </a:r>
          </a:p>
        </p:txBody>
      </p:sp>
      <p:pic>
        <p:nvPicPr>
          <p:cNvPr id="9" name="Picture 8" descr="image.png"/>
          <p:cNvPicPr>
            <a:picLocks noChangeAspect="1"/>
          </p:cNvPicPr>
          <p:nvPr/>
        </p:nvPicPr>
        <p:blipFill>
          <a:blip r:embed="rId3"/>
          <a:stretch>
            <a:fillRect/>
          </a:stretch>
        </p:blipFill>
        <p:spPr>
          <a:xfrm>
            <a:off x="5943600" y="1051560"/>
            <a:ext cx="6245352" cy="3840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Problem  |  Date: 20260408</a:t>
            </a:r>
          </a:p>
        </p:txBody>
      </p:sp>
      <p:sp>
        <p:nvSpPr>
          <p:cNvPr id="4" name="Rectangle 3"/>
          <p:cNvSpPr/>
          <p:nvPr/>
        </p:nvSpPr>
        <p:spPr>
          <a:xfrm>
            <a:off x="0" y="1051560"/>
            <a:ext cx="5943600" cy="109728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91440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Problem team has 1 data record(s) in the current reporting window. Performance highlights indicate no standout KPI values were detected. Potential risk areas include no clear risk KPI was detected.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94560"/>
          <a:ext cx="5943600" cy="1828800"/>
        </p:xfrm>
        <a:graphic>
          <a:graphicData uri="http://schemas.openxmlformats.org/drawingml/2006/table">
            <a:tbl>
              <a:tblPr firstRow="1" bandRow="1">
                <a:tableStyleId>{5C22544A-7EE6-4342-B048-85BDC9FD1C3A}</a:tableStyleId>
              </a:tblPr>
              <a:tblGrid>
                <a:gridCol w="1485900"/>
                <a:gridCol w="1485900"/>
                <a:gridCol w="1485900"/>
                <a:gridCol w="1485900"/>
              </a:tblGrid>
              <a:tr h="609600">
                <a:tc>
                  <a:txBody>
                    <a:bodyPr/>
                    <a:lstStyle/>
                    <a:p>
                      <a:pPr>
                        <a:defRPr b="1">
                          <a:solidFill>
                            <a:srgbClr val="1F3864"/>
                          </a:solidFill>
                        </a:defRPr>
                      </a:pPr>
                      <a:r>
                        <a:t>KPI Name</a:t>
                      </a:r>
                    </a:p>
                  </a:txBody>
                  <a:tcPr/>
                </a:tc>
                <a:tc>
                  <a:txBody>
                    <a:bodyPr/>
                    <a:lstStyle/>
                    <a:p>
                      <a:pPr>
                        <a:defRPr b="1">
                          <a:solidFill>
                            <a:srgbClr val="1F3864"/>
                          </a:solidFill>
                        </a:defRPr>
                      </a:pPr>
                      <a:r>
                        <a:t>Actual</a:t>
                      </a:r>
                    </a:p>
                  </a:txBody>
                  <a:tcPr/>
                </a:tc>
                <a:tc>
                  <a:txBody>
                    <a:bodyPr/>
                    <a:lstStyle/>
                    <a:p>
                      <a:pPr>
                        <a:defRPr b="1">
                          <a:solidFill>
                            <a:srgbClr val="1F3864"/>
                          </a:solidFill>
                        </a:defRPr>
                      </a:pPr>
                      <a:r>
                        <a:t>Target</a:t>
                      </a:r>
                    </a:p>
                  </a:txBody>
                  <a:tcPr/>
                </a:tc>
                <a:tc>
                  <a:txBody>
                    <a:bodyPr/>
                    <a:lstStyle/>
                    <a:p>
                      <a:pPr>
                        <a:defRPr b="1">
                          <a:solidFill>
                            <a:srgbClr val="1F3864"/>
                          </a:solidFill>
                        </a:defRPr>
                      </a:pPr>
                      <a:r>
                        <a:t>Status</a:t>
                      </a:r>
                    </a:p>
                  </a:txBody>
                  <a:tcPr/>
                </a:tc>
              </a:tr>
              <a:tr h="609600">
                <a:tc>
                  <a:txBody>
                    <a:bodyPr/>
                    <a:lstStyle/>
                    <a:p>
                      <a:r>
                        <a:t>Avg Resolution Days</a:t>
                      </a:r>
                    </a:p>
                  </a:txBody>
                  <a:tcPr/>
                </a:tc>
                <a:tc>
                  <a:txBody>
                    <a:bodyPr/>
                    <a:lstStyle/>
                    <a:p>
                      <a:r>
                        <a:t>3.0</a:t>
                      </a:r>
                    </a:p>
                  </a:txBody>
                  <a:tcPr/>
                </a:tc>
                <a:tc>
                  <a:txBody>
                    <a:bodyPr/>
                    <a:lstStyle/>
                    <a:p>
                      <a:r>
                        <a:t>&lt;5.0</a:t>
                      </a:r>
                    </a:p>
                  </a:txBody>
                  <a:tcPr/>
                </a:tc>
                <a:tc>
                  <a:txBody>
                    <a:bodyPr/>
                    <a:lstStyle/>
                    <a:p>
                      <a:pPr>
                        <a:defRPr>
                          <a:solidFill>
                            <a:srgbClr val="FFFFFF"/>
                          </a:solidFill>
                        </a:defRPr>
                      </a:pPr>
                      <a:r>
                        <a:t>PASS</a:t>
                      </a:r>
                    </a:p>
                  </a:txBody>
                  <a:tcPr>
                    <a:solidFill>
                      <a:srgbClr val="1E5C2E"/>
                    </a:solidFill>
                  </a:tcPr>
                </a:tc>
              </a:tr>
              <a:tr h="609600">
                <a:tc>
                  <a:txBody>
                    <a:bodyPr/>
                    <a:lstStyle/>
                    <a:p>
                      <a:r>
                        <a:t>Recurring Issues</a:t>
                      </a:r>
                    </a:p>
                  </a:txBody>
                  <a:tcPr/>
                </a:tc>
                <a:tc>
                  <a:txBody>
                    <a:bodyPr/>
                    <a:lstStyle/>
                    <a:p>
                      <a:r>
                        <a:t>2.0</a:t>
                      </a:r>
                    </a:p>
                  </a:txBody>
                  <a:tcPr/>
                </a:tc>
                <a:tc>
                  <a:txBody>
                    <a:bodyPr/>
                    <a:lstStyle/>
                    <a:p>
                      <a:r>
                        <a:t>&lt;3.0</a:t>
                      </a:r>
                    </a:p>
                  </a:txBody>
                  <a:tcPr/>
                </a:tc>
                <a:tc>
                  <a:txBody>
                    <a:bodyPr/>
                    <a:lstStyle/>
                    <a:p>
                      <a:pPr>
                        <a:defRPr>
                          <a:solidFill>
                            <a:srgbClr val="FFFFFF"/>
                          </a:solidFill>
                        </a:defRPr>
                      </a:pPr>
                      <a:r>
                        <a:t>PASS</a:t>
                      </a:r>
                    </a:p>
                  </a:txBody>
                  <a:tcPr>
                    <a:solidFill>
                      <a:srgbClr val="1E5C2E"/>
                    </a:solidFill>
                  </a:tcPr>
                </a:tc>
              </a:tr>
            </a:tbl>
          </a:graphicData>
        </a:graphic>
      </p:graphicFrame>
      <p:sp>
        <p:nvSpPr>
          <p:cNvPr id="7" name="Rectangle 6"/>
          <p:cNvSpPr/>
          <p:nvPr/>
        </p:nvSpPr>
        <p:spPr>
          <a:xfrm>
            <a:off x="0" y="4023360"/>
            <a:ext cx="5943600" cy="2103120"/>
          </a:xfrm>
          <a:prstGeom prst="rect">
            <a:avLst/>
          </a:prstGeom>
          <a:solidFill>
            <a:srgbClr val="FFFFFF"/>
          </a:solidFill>
          <a:ln w="1">
            <a:solidFill>
              <a:srgbClr val="0F6E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4114800"/>
            <a:ext cx="5577840" cy="1920240"/>
          </a:xfrm>
          <a:prstGeom prst="rect">
            <a:avLst/>
          </a:prstGeom>
          <a:noFill/>
        </p:spPr>
        <p:txBody>
          <a:bodyPr wrap="none">
            <a:spAutoFit/>
          </a:bodyPr>
          <a:lstStyle/>
          <a:p>
            <a:pPr>
              <a:defRPr b="1">
                <a:solidFill>
                  <a:srgbClr val="1F3864"/>
                </a:solidFill>
              </a:defRPr>
            </a:pPr>
            <a:r>
              <a:t>Insights</a:t>
            </a:r>
          </a:p>
          <a:p>
            <a:pPr>
              <a:defRPr i="1" sz="864">
                <a:solidFill>
                  <a:srgbClr val="1F3864"/>
                </a:solidFill>
              </a:defRPr>
            </a:pPr>
            <a:r>
              <a:t>AI analysis unavailable. Rule-based summary was applied.</a:t>
            </a:r>
          </a:p>
          <a:p>
            <a:pPr>
              <a:defRPr i="1" sz="864">
                <a:solidFill>
                  <a:srgbClr val="1F3864"/>
                </a:solidFill>
              </a:defRPr>
            </a:pPr>
            <a:r>
              <a:t>Review low-performing KPIs and assign action owners.</a:t>
            </a:r>
          </a:p>
        </p:txBody>
      </p:sp>
      <p:pic>
        <p:nvPicPr>
          <p:cNvPr id="9" name="Picture 8" descr="image.png"/>
          <p:cNvPicPr>
            <a:picLocks noChangeAspect="1"/>
          </p:cNvPicPr>
          <p:nvPr/>
        </p:nvPicPr>
        <p:blipFill>
          <a:blip r:embed="rId13"/>
          <a:stretch>
            <a:fillRect/>
          </a:stretch>
        </p:blipFill>
        <p:spPr>
          <a:xfrm>
            <a:off x="5943600" y="1051560"/>
            <a:ext cx="6245352" cy="3840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CMDB  |  Date: 20260408</a:t>
            </a:r>
          </a:p>
        </p:txBody>
      </p:sp>
      <p:sp>
        <p:nvSpPr>
          <p:cNvPr id="4" name="Rectangle 3"/>
          <p:cNvSpPr/>
          <p:nvPr/>
        </p:nvSpPr>
        <p:spPr>
          <a:xfrm>
            <a:off x="0" y="1051560"/>
            <a:ext cx="5943600" cy="109728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91440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CMDB team has 1 data record(s) in the current reporting window. Performance highlights indicate Audit Compliance (&gt;98%): 99.1%, CI Accuracy (&gt;95%): 97.5%. Potential risk areas include CI Accuracy (&gt;95%): 97.5%, Audit Compliance (&gt;98%): 99.1%.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94560"/>
          <a:ext cx="5943600" cy="1828800"/>
        </p:xfrm>
        <a:graphic>
          <a:graphicData uri="http://schemas.openxmlformats.org/drawingml/2006/table">
            <a:tbl>
              <a:tblPr firstRow="1" bandRow="1">
                <a:tableStyleId>{5C22544A-7EE6-4342-B048-85BDC9FD1C3A}</a:tableStyleId>
              </a:tblPr>
              <a:tblGrid>
                <a:gridCol w="1485900"/>
                <a:gridCol w="1485900"/>
                <a:gridCol w="1485900"/>
                <a:gridCol w="1485900"/>
              </a:tblGrid>
              <a:tr h="609600">
                <a:tc>
                  <a:txBody>
                    <a:bodyPr/>
                    <a:lstStyle/>
                    <a:p>
                      <a:pPr>
                        <a:defRPr b="1">
                          <a:solidFill>
                            <a:srgbClr val="1F3864"/>
                          </a:solidFill>
                        </a:defRPr>
                      </a:pPr>
                      <a:r>
                        <a:t>KPI Name</a:t>
                      </a:r>
                    </a:p>
                  </a:txBody>
                  <a:tcPr/>
                </a:tc>
                <a:tc>
                  <a:txBody>
                    <a:bodyPr/>
                    <a:lstStyle/>
                    <a:p>
                      <a:pPr>
                        <a:defRPr b="1">
                          <a:solidFill>
                            <a:srgbClr val="1F3864"/>
                          </a:solidFill>
                        </a:defRPr>
                      </a:pPr>
                      <a:r>
                        <a:t>Actual</a:t>
                      </a:r>
                    </a:p>
                  </a:txBody>
                  <a:tcPr/>
                </a:tc>
                <a:tc>
                  <a:txBody>
                    <a:bodyPr/>
                    <a:lstStyle/>
                    <a:p>
                      <a:pPr>
                        <a:defRPr b="1">
                          <a:solidFill>
                            <a:srgbClr val="1F3864"/>
                          </a:solidFill>
                        </a:defRPr>
                      </a:pPr>
                      <a:r>
                        <a:t>Target</a:t>
                      </a:r>
                    </a:p>
                  </a:txBody>
                  <a:tcPr/>
                </a:tc>
                <a:tc>
                  <a:txBody>
                    <a:bodyPr/>
                    <a:lstStyle/>
                    <a:p>
                      <a:pPr>
                        <a:defRPr b="1">
                          <a:solidFill>
                            <a:srgbClr val="1F3864"/>
                          </a:solidFill>
                        </a:defRPr>
                      </a:pPr>
                      <a:r>
                        <a:t>Status</a:t>
                      </a:r>
                    </a:p>
                  </a:txBody>
                  <a:tcPr/>
                </a:tc>
              </a:tr>
              <a:tr h="609600">
                <a:tc>
                  <a:txBody>
                    <a:bodyPr/>
                    <a:lstStyle/>
                    <a:p>
                      <a:r>
                        <a:t>CI Accuracy</a:t>
                      </a:r>
                    </a:p>
                  </a:txBody>
                  <a:tcPr/>
                </a:tc>
                <a:tc>
                  <a:txBody>
                    <a:bodyPr/>
                    <a:lstStyle/>
                    <a:p>
                      <a:r>
                        <a:t>97.5</a:t>
                      </a:r>
                    </a:p>
                  </a:txBody>
                  <a:tcPr/>
                </a:tc>
                <a:tc>
                  <a:txBody>
                    <a:bodyPr/>
                    <a:lstStyle/>
                    <a:p>
                      <a:r>
                        <a:t>&gt;95.0%</a:t>
                      </a:r>
                    </a:p>
                  </a:txBody>
                  <a:tcPr/>
                </a:tc>
                <a:tc>
                  <a:txBody>
                    <a:bodyPr/>
                    <a:lstStyle/>
                    <a:p>
                      <a:pPr>
                        <a:defRPr>
                          <a:solidFill>
                            <a:srgbClr val="FFFFFF"/>
                          </a:solidFill>
                        </a:defRPr>
                      </a:pPr>
                      <a:r>
                        <a:t>PASS</a:t>
                      </a:r>
                    </a:p>
                  </a:txBody>
                  <a:tcPr>
                    <a:solidFill>
                      <a:srgbClr val="1E5C2E"/>
                    </a:solidFill>
                  </a:tcPr>
                </a:tc>
              </a:tr>
              <a:tr h="609600">
                <a:tc>
                  <a:txBody>
                    <a:bodyPr/>
                    <a:lstStyle/>
                    <a:p>
                      <a:r>
                        <a:t>Audit Compliance</a:t>
                      </a:r>
                    </a:p>
                  </a:txBody>
                  <a:tcPr/>
                </a:tc>
                <a:tc>
                  <a:txBody>
                    <a:bodyPr/>
                    <a:lstStyle/>
                    <a:p>
                      <a:r>
                        <a:t>99.1</a:t>
                      </a:r>
                    </a:p>
                  </a:txBody>
                  <a:tcPr/>
                </a:tc>
                <a:tc>
                  <a:txBody>
                    <a:bodyPr/>
                    <a:lstStyle/>
                    <a:p>
                      <a:r>
                        <a:t>&gt;98.0%</a:t>
                      </a:r>
                    </a:p>
                  </a:txBody>
                  <a:tcPr/>
                </a:tc>
                <a:tc>
                  <a:txBody>
                    <a:bodyPr/>
                    <a:lstStyle/>
                    <a:p>
                      <a:pPr>
                        <a:defRPr>
                          <a:solidFill>
                            <a:srgbClr val="FFFFFF"/>
                          </a:solidFill>
                        </a:defRPr>
                      </a:pPr>
                      <a:r>
                        <a:t>PASS</a:t>
                      </a:r>
                    </a:p>
                  </a:txBody>
                  <a:tcPr>
                    <a:solidFill>
                      <a:srgbClr val="1E5C2E"/>
                    </a:solidFill>
                  </a:tcPr>
                </a:tc>
              </a:tr>
            </a:tbl>
          </a:graphicData>
        </a:graphic>
      </p:graphicFrame>
      <p:sp>
        <p:nvSpPr>
          <p:cNvPr id="7" name="Rectangle 6"/>
          <p:cNvSpPr/>
          <p:nvPr/>
        </p:nvSpPr>
        <p:spPr>
          <a:xfrm>
            <a:off x="0" y="4023360"/>
            <a:ext cx="5943600" cy="2103120"/>
          </a:xfrm>
          <a:prstGeom prst="rect">
            <a:avLst/>
          </a:prstGeom>
          <a:solidFill>
            <a:srgbClr val="FFFFFF"/>
          </a:solidFill>
          <a:ln w="1">
            <a:solidFill>
              <a:srgbClr val="0F6E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4114800"/>
            <a:ext cx="5577840" cy="1920240"/>
          </a:xfrm>
          <a:prstGeom prst="rect">
            <a:avLst/>
          </a:prstGeom>
          <a:noFill/>
        </p:spPr>
        <p:txBody>
          <a:bodyPr wrap="none">
            <a:spAutoFit/>
          </a:bodyPr>
          <a:lstStyle/>
          <a:p>
            <a:pPr>
              <a:defRPr b="1">
                <a:solidFill>
                  <a:srgbClr val="1F3864"/>
                </a:solidFill>
              </a:defRPr>
            </a:pPr>
            <a:r>
              <a:t>Insights</a:t>
            </a:r>
          </a:p>
          <a:p>
            <a:pPr>
              <a:defRPr i="1" sz="864">
                <a:solidFill>
                  <a:srgbClr val="1F3864"/>
                </a:solidFill>
              </a:defRPr>
            </a:pPr>
            <a:r>
              <a:t>AI analysis unavailable. Rule-based summary was applied.</a:t>
            </a:r>
          </a:p>
          <a:p>
            <a:pPr>
              <a:defRPr i="1" sz="864">
                <a:solidFill>
                  <a:srgbClr val="1F3864"/>
                </a:solidFill>
              </a:defRPr>
            </a:pPr>
            <a:r>
              <a:t>Review low-performing KPIs and assign action owners.</a:t>
            </a:r>
          </a:p>
        </p:txBody>
      </p:sp>
      <p:pic>
        <p:nvPicPr>
          <p:cNvPr id="9" name="Picture 8" descr="image.png"/>
          <p:cNvPicPr>
            <a:picLocks noChangeAspect="1"/>
          </p:cNvPicPr>
          <p:nvPr/>
        </p:nvPicPr>
        <p:blipFill>
          <a:blip r:embed="rId2"/>
          <a:stretch>
            <a:fillRect/>
          </a:stretch>
        </p:blipFill>
        <p:spPr>
          <a:xfrm>
            <a:off x="5943600" y="1051560"/>
            <a:ext cx="6245352" cy="38404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NOC  |  Date: 20260408</a:t>
            </a:r>
          </a:p>
        </p:txBody>
      </p:sp>
      <p:sp>
        <p:nvSpPr>
          <p:cNvPr id="4" name="Rectangle 3"/>
          <p:cNvSpPr/>
          <p:nvPr/>
        </p:nvSpPr>
        <p:spPr>
          <a:xfrm>
            <a:off x="0" y="1051560"/>
            <a:ext cx="5943600" cy="109728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91440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NOC team has 1 data record(s) in the current reporting window. Performance highlights indicate SLA Compliance (&gt;95%): 96.4%. Potential risk areas include SLA Compliance (&gt;95%): 96.4%.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94560"/>
          <a:ext cx="5943600" cy="1828800"/>
        </p:xfrm>
        <a:graphic>
          <a:graphicData uri="http://schemas.openxmlformats.org/drawingml/2006/table">
            <a:tbl>
              <a:tblPr firstRow="1" bandRow="1">
                <a:tableStyleId>{5C22544A-7EE6-4342-B048-85BDC9FD1C3A}</a:tableStyleId>
              </a:tblPr>
              <a:tblGrid>
                <a:gridCol w="1485900"/>
                <a:gridCol w="1485900"/>
                <a:gridCol w="1485900"/>
                <a:gridCol w="1485900"/>
              </a:tblGrid>
              <a:tr h="609600">
                <a:tc>
                  <a:txBody>
                    <a:bodyPr/>
                    <a:lstStyle/>
                    <a:p>
                      <a:pPr>
                        <a:defRPr b="1">
                          <a:solidFill>
                            <a:srgbClr val="1F3864"/>
                          </a:solidFill>
                        </a:defRPr>
                      </a:pPr>
                      <a:r>
                        <a:t>KPI Name</a:t>
                      </a:r>
                    </a:p>
                  </a:txBody>
                  <a:tcPr/>
                </a:tc>
                <a:tc>
                  <a:txBody>
                    <a:bodyPr/>
                    <a:lstStyle/>
                    <a:p>
                      <a:pPr>
                        <a:defRPr b="1">
                          <a:solidFill>
                            <a:srgbClr val="1F3864"/>
                          </a:solidFill>
                        </a:defRPr>
                      </a:pPr>
                      <a:r>
                        <a:t>Actual</a:t>
                      </a:r>
                    </a:p>
                  </a:txBody>
                  <a:tcPr/>
                </a:tc>
                <a:tc>
                  <a:txBody>
                    <a:bodyPr/>
                    <a:lstStyle/>
                    <a:p>
                      <a:pPr>
                        <a:defRPr b="1">
                          <a:solidFill>
                            <a:srgbClr val="1F3864"/>
                          </a:solidFill>
                        </a:defRPr>
                      </a:pPr>
                      <a:r>
                        <a:t>Target</a:t>
                      </a:r>
                    </a:p>
                  </a:txBody>
                  <a:tcPr/>
                </a:tc>
                <a:tc>
                  <a:txBody>
                    <a:bodyPr/>
                    <a:lstStyle/>
                    <a:p>
                      <a:pPr>
                        <a:defRPr b="1">
                          <a:solidFill>
                            <a:srgbClr val="1F3864"/>
                          </a:solidFill>
                        </a:defRPr>
                      </a:pPr>
                      <a:r>
                        <a:t>Status</a:t>
                      </a:r>
                    </a:p>
                  </a:txBody>
                  <a:tcPr/>
                </a:tc>
              </a:tr>
              <a:tr h="609600">
                <a:tc>
                  <a:txBody>
                    <a:bodyPr/>
                    <a:lstStyle/>
                    <a:p>
                      <a:r>
                        <a:t>MTTR Hours</a:t>
                      </a:r>
                    </a:p>
                  </a:txBody>
                  <a:tcPr/>
                </a:tc>
                <a:tc>
                  <a:txBody>
                    <a:bodyPr/>
                    <a:lstStyle/>
                    <a:p>
                      <a:r>
                        <a:t>1.8</a:t>
                      </a:r>
                    </a:p>
                  </a:txBody>
                  <a:tcPr/>
                </a:tc>
                <a:tc>
                  <a:txBody>
                    <a:bodyPr/>
                    <a:lstStyle/>
                    <a:p>
                      <a:r>
                        <a:t>&lt;2.0</a:t>
                      </a:r>
                    </a:p>
                  </a:txBody>
                  <a:tcPr/>
                </a:tc>
                <a:tc>
                  <a:txBody>
                    <a:bodyPr/>
                    <a:lstStyle/>
                    <a:p>
                      <a:pPr>
                        <a:defRPr>
                          <a:solidFill>
                            <a:srgbClr val="FFFFFF"/>
                          </a:solidFill>
                        </a:defRPr>
                      </a:pPr>
                      <a:r>
                        <a:t>PASS</a:t>
                      </a:r>
                    </a:p>
                  </a:txBody>
                  <a:tcPr>
                    <a:solidFill>
                      <a:srgbClr val="1E5C2E"/>
                    </a:solidFill>
                  </a:tcPr>
                </a:tc>
              </a:tr>
              <a:tr h="609600">
                <a:tc>
                  <a:txBody>
                    <a:bodyPr/>
                    <a:lstStyle/>
                    <a:p>
                      <a:r>
                        <a:t>SLA Compliance</a:t>
                      </a:r>
                    </a:p>
                  </a:txBody>
                  <a:tcPr/>
                </a:tc>
                <a:tc>
                  <a:txBody>
                    <a:bodyPr/>
                    <a:lstStyle/>
                    <a:p>
                      <a:r>
                        <a:t>96.39999999999999</a:t>
                      </a:r>
                    </a:p>
                  </a:txBody>
                  <a:tcPr/>
                </a:tc>
                <a:tc>
                  <a:txBody>
                    <a:bodyPr/>
                    <a:lstStyle/>
                    <a:p>
                      <a:r>
                        <a:t>&gt;95.0%</a:t>
                      </a:r>
                    </a:p>
                  </a:txBody>
                  <a:tcPr/>
                </a:tc>
                <a:tc>
                  <a:txBody>
                    <a:bodyPr/>
                    <a:lstStyle/>
                    <a:p>
                      <a:pPr>
                        <a:defRPr>
                          <a:solidFill>
                            <a:srgbClr val="FFFFFF"/>
                          </a:solidFill>
                        </a:defRPr>
                      </a:pPr>
                      <a:r>
                        <a:t>PASS</a:t>
                      </a:r>
                    </a:p>
                  </a:txBody>
                  <a:tcPr>
                    <a:solidFill>
                      <a:srgbClr val="1E5C2E"/>
                    </a:solidFill>
                  </a:tcPr>
                </a:tc>
              </a:tr>
            </a:tbl>
          </a:graphicData>
        </a:graphic>
      </p:graphicFrame>
      <p:sp>
        <p:nvSpPr>
          <p:cNvPr id="7" name="Rectangle 6"/>
          <p:cNvSpPr/>
          <p:nvPr/>
        </p:nvSpPr>
        <p:spPr>
          <a:xfrm>
            <a:off x="0" y="4023360"/>
            <a:ext cx="5943600" cy="2103120"/>
          </a:xfrm>
          <a:prstGeom prst="rect">
            <a:avLst/>
          </a:prstGeom>
          <a:solidFill>
            <a:srgbClr val="FFFFFF"/>
          </a:solidFill>
          <a:ln w="1">
            <a:solidFill>
              <a:srgbClr val="0F6E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4114800"/>
            <a:ext cx="5577840" cy="1920240"/>
          </a:xfrm>
          <a:prstGeom prst="rect">
            <a:avLst/>
          </a:prstGeom>
          <a:noFill/>
        </p:spPr>
        <p:txBody>
          <a:bodyPr wrap="none">
            <a:spAutoFit/>
          </a:bodyPr>
          <a:lstStyle/>
          <a:p>
            <a:pPr>
              <a:defRPr b="1">
                <a:solidFill>
                  <a:srgbClr val="1F3864"/>
                </a:solidFill>
              </a:defRPr>
            </a:pPr>
            <a:r>
              <a:t>Insights</a:t>
            </a:r>
          </a:p>
          <a:p>
            <a:pPr>
              <a:defRPr i="1" sz="864">
                <a:solidFill>
                  <a:srgbClr val="1F3864"/>
                </a:solidFill>
              </a:defRPr>
            </a:pPr>
            <a:r>
              <a:t>AI analysis unavailable. Rule-based summary was applied.</a:t>
            </a:r>
          </a:p>
          <a:p>
            <a:pPr>
              <a:defRPr i="1" sz="864">
                <a:solidFill>
                  <a:srgbClr val="1F3864"/>
                </a:solidFill>
              </a:defRPr>
            </a:pPr>
            <a:r>
              <a:t>Review low-performing KPIs and assign action owners.</a:t>
            </a:r>
          </a:p>
        </p:txBody>
      </p:sp>
      <p:pic>
        <p:nvPicPr>
          <p:cNvPr id="9" name="Picture 8" descr="image.png"/>
          <p:cNvPicPr>
            <a:picLocks noChangeAspect="1"/>
          </p:cNvPicPr>
          <p:nvPr/>
        </p:nvPicPr>
        <p:blipFill>
          <a:blip r:embed="rId3"/>
          <a:stretch>
            <a:fillRect/>
          </a:stretch>
        </p:blipFill>
        <p:spPr>
          <a:xfrm>
            <a:off x="5943600" y="1051560"/>
            <a:ext cx="6245352" cy="3840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