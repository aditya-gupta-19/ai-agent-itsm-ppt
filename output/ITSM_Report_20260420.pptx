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24.png"/><Relationship Id="rId5"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26.png"/><Relationship Id="rId5"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28.png"/><Relationship Id="rId5" Type="http://schemas.openxmlformats.org/officeDocument/2006/relationships/image" Target="../media/image2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005840"/>
            <a:ext cx="12188952" cy="914400"/>
          </a:xfrm>
          <a:prstGeom prst="rect">
            <a:avLst/>
          </a:prstGeom>
          <a:noFill/>
        </p:spPr>
        <p:txBody>
          <a:bodyPr wrap="none">
            <a:spAutoFit/>
          </a:bodyPr>
          <a:lstStyle/>
          <a:p>
            <a:pPr algn="ctr">
              <a:defRPr sz="2520" b="1">
                <a:solidFill>
                  <a:srgbClr val="1F3864"/>
                </a:solidFill>
              </a:defRPr>
            </a:pPr>
            <a:r>
              <a:t>ITSM Weekly Report — 20 Apr 2026</a:t>
            </a:r>
          </a:p>
        </p:txBody>
      </p:sp>
      <p:sp>
        <p:nvSpPr>
          <p:cNvPr id="4" name="TextBox 3"/>
          <p:cNvSpPr txBox="1"/>
          <p:nvPr/>
        </p:nvSpPr>
        <p:spPr>
          <a:xfrm>
            <a:off x="0" y="1828800"/>
            <a:ext cx="12188952" cy="548640"/>
          </a:xfrm>
          <a:prstGeom prst="rect">
            <a:avLst/>
          </a:prstGeom>
          <a:noFill/>
        </p:spPr>
        <p:txBody>
          <a:bodyPr wrap="none">
            <a:spAutoFit/>
          </a:bodyPr>
          <a:lstStyle/>
          <a:p>
            <a:pPr algn="ctr">
              <a:defRPr sz="1296">
                <a:solidFill>
                  <a:srgbClr val="2E75B6"/>
                </a:solidFill>
              </a:defRPr>
            </a:pPr>
            <a:r>
              <a:t>Auto-generated | 7 groups | AI-powered insights</a:t>
            </a:r>
          </a:p>
        </p:txBody>
      </p:sp>
      <p:sp>
        <p:nvSpPr>
          <p:cNvPr id="5" name="TextBox 4"/>
          <p:cNvSpPr txBox="1"/>
          <p:nvPr/>
        </p:nvSpPr>
        <p:spPr>
          <a:xfrm>
            <a:off x="0" y="6309360"/>
            <a:ext cx="12188952" cy="365760"/>
          </a:xfrm>
          <a:prstGeom prst="rect">
            <a:avLst/>
          </a:prstGeom>
          <a:noFill/>
        </p:spPr>
        <p:txBody>
          <a:bodyPr wrap="none">
            <a:spAutoFit/>
          </a:bodyPr>
          <a:lstStyle/>
          <a:p>
            <a:pPr algn="ctr">
              <a:defRPr sz="936">
                <a:solidFill>
                  <a:srgbClr val="333333"/>
                </a:solidFill>
              </a:defRPr>
            </a:pPr>
            <a:r>
              <a:t>Generated by ITSM Automation Agent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37160"/>
            <a:ext cx="9144000" cy="731520"/>
          </a:xfrm>
          <a:prstGeom prst="rect">
            <a:avLst/>
          </a:prstGeom>
          <a:noFill/>
        </p:spPr>
        <p:txBody>
          <a:bodyPr wrap="none">
            <a:spAutoFit/>
          </a:bodyPr>
          <a:lstStyle/>
          <a:p>
            <a:pPr>
              <a:defRPr sz="1440" b="1">
                <a:solidFill>
                  <a:srgbClr val="FFFFFF"/>
                </a:solidFill>
              </a:defRPr>
            </a:pPr>
            <a:r>
              <a:t>MIM  |  20 Apr 2026</a:t>
            </a:r>
          </a:p>
        </p:txBody>
      </p:sp>
      <p:sp>
        <p:nvSpPr>
          <p:cNvPr id="4" name="Rectangle 3"/>
          <p:cNvSpPr/>
          <p:nvPr/>
        </p:nvSpPr>
        <p:spPr>
          <a:xfrm>
            <a:off x="0" y="1051560"/>
            <a:ext cx="5943600" cy="82296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143000"/>
            <a:ext cx="5577840" cy="64008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MIM team has 4 data record(s) in the current reporting window. Performance highlights indicate First-Time Right Delivery (&gt;85%): 78.0%, Delivery Percent (&gt;70%): 47.8%. Potential risk areas include Delivery Percent (&gt;70%): 47.8%, First-Time Right Delivery (&gt;85%): 78.0%.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1920240"/>
          <a:ext cx="5943600" cy="1353312"/>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Delivery Percent</a:t>
                      </a:r>
                    </a:p>
                  </a:txBody>
                  <a:tcPr>
                    <a:solidFill>
                      <a:srgbClr val="FFFFFF"/>
                    </a:solidFill>
                  </a:tcPr>
                </a:tc>
                <a:tc>
                  <a:txBody>
                    <a:bodyPr/>
                    <a:lstStyle/>
                    <a:p>
                      <a:pPr>
                        <a:defRPr sz="700">
                          <a:solidFill>
                            <a:srgbClr val="333333"/>
                          </a:solidFill>
                        </a:defRPr>
                      </a:pPr>
                      <a:r>
                        <a:t>47.8%</a:t>
                      </a:r>
                    </a:p>
                  </a:txBody>
                  <a:tcPr>
                    <a:solidFill>
                      <a:srgbClr val="FFFFFF"/>
                    </a:solidFill>
                  </a:tcPr>
                </a:tc>
                <a:tc>
                  <a:txBody>
                    <a:bodyPr/>
                    <a:lstStyle/>
                    <a:p>
                      <a:pPr>
                        <a:defRPr sz="700">
                          <a:solidFill>
                            <a:srgbClr val="333333"/>
                          </a:solidFill>
                        </a:defRPr>
                      </a:pPr>
                      <a:r>
                        <a:t>&gt;70.0%</a:t>
                      </a:r>
                    </a:p>
                  </a:txBody>
                  <a:tcPr>
                    <a:solidFill>
                      <a:srgbClr val="FFFFFF"/>
                    </a:solidFill>
                  </a:tcPr>
                </a:tc>
                <a:tc>
                  <a:txBody>
                    <a:bodyPr/>
                    <a:lstStyle/>
                    <a:p>
                      <a:pPr>
                        <a:defRPr sz="700" b="1">
                          <a:solidFill>
                            <a:srgbClr val="FFFFFF"/>
                          </a:solidFill>
                        </a:defRPr>
                      </a:pPr>
                    </a:p>
                  </a:txBody>
                  <a:tcPr>
                    <a:solidFill>
                      <a:srgbClr val="C00000"/>
                    </a:solidFill>
                  </a:tcPr>
                </a:tc>
              </a:tr>
              <a:tr h="219456">
                <a:tc>
                  <a:txBody>
                    <a:bodyPr/>
                    <a:lstStyle/>
                    <a:p>
                      <a:pPr>
                        <a:defRPr sz="700">
                          <a:solidFill>
                            <a:srgbClr val="333333"/>
                          </a:solidFill>
                        </a:defRPr>
                      </a:pPr>
                      <a:r>
                        <a:t>First-Time Right Delivery</a:t>
                      </a:r>
                    </a:p>
                  </a:txBody>
                  <a:tcPr>
                    <a:solidFill>
                      <a:srgbClr val="F2F2F2"/>
                    </a:solidFill>
                  </a:tcPr>
                </a:tc>
                <a:tc>
                  <a:txBody>
                    <a:bodyPr/>
                    <a:lstStyle/>
                    <a:p>
                      <a:pPr>
                        <a:defRPr sz="700">
                          <a:solidFill>
                            <a:srgbClr val="333333"/>
                          </a:solidFill>
                        </a:defRPr>
                      </a:pPr>
                      <a:r>
                        <a:t>78.0%</a:t>
                      </a:r>
                    </a:p>
                  </a:txBody>
                  <a:tcPr>
                    <a:solidFill>
                      <a:srgbClr val="F2F2F2"/>
                    </a:solidFill>
                  </a:tcPr>
                </a:tc>
                <a:tc>
                  <a:txBody>
                    <a:bodyPr/>
                    <a:lstStyle/>
                    <a:p>
                      <a:pPr>
                        <a:defRPr sz="700">
                          <a:solidFill>
                            <a:srgbClr val="333333"/>
                          </a:solidFill>
                        </a:defRPr>
                      </a:pPr>
                      <a:r>
                        <a:t>&gt;85.0%</a:t>
                      </a:r>
                    </a:p>
                  </a:txBody>
                  <a:tcPr>
                    <a:solidFill>
                      <a:srgbClr val="F2F2F2"/>
                    </a:solidFill>
                  </a:tcPr>
                </a:tc>
                <a:tc>
                  <a:txBody>
                    <a:bodyPr/>
                    <a:lstStyle/>
                    <a:p>
                      <a:pPr>
                        <a:defRPr sz="700" b="1">
                          <a:solidFill>
                            <a:srgbClr val="FFFFFF"/>
                          </a:solidFill>
                        </a:defRPr>
                      </a:pPr>
                    </a:p>
                  </a:txBody>
                  <a:tcPr>
                    <a:solidFill>
                      <a:srgbClr val="C00000"/>
                    </a:solidFill>
                  </a:tcPr>
                </a:tc>
              </a:tr>
              <a:tr h="219456">
                <a:tc>
                  <a:txBody>
                    <a:bodyPr/>
                    <a:lstStyle/>
                    <a:p>
                      <a:pPr>
                        <a:defRPr sz="700">
                          <a:solidFill>
                            <a:srgbClr val="333333"/>
                          </a:solidFill>
                        </a:defRPr>
                      </a:pPr>
                      <a:r>
                        <a:t>Adhoc Stories taken</a:t>
                      </a:r>
                    </a:p>
                  </a:txBody>
                  <a:tcPr>
                    <a:solidFill>
                      <a:srgbClr val="FFFFFF"/>
                    </a:solidFill>
                  </a:tcPr>
                </a:tc>
                <a:tc>
                  <a:txBody>
                    <a:bodyPr/>
                    <a:lstStyle/>
                    <a:p>
                      <a:pPr>
                        <a:defRPr sz="700">
                          <a:solidFill>
                            <a:srgbClr val="333333"/>
                          </a:solidFill>
                        </a:defRPr>
                      </a:pPr>
                      <a:r>
                        <a:t>3</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Stories Completed</a:t>
                      </a:r>
                    </a:p>
                  </a:txBody>
                  <a:tcPr>
                    <a:solidFill>
                      <a:srgbClr val="F2F2F2"/>
                    </a:solidFill>
                  </a:tcPr>
                </a:tc>
                <a:tc>
                  <a:txBody>
                    <a:bodyPr/>
                    <a:lstStyle/>
                    <a:p>
                      <a:pPr>
                        <a:defRPr sz="700">
                          <a:solidFill>
                            <a:srgbClr val="333333"/>
                          </a:solidFill>
                        </a:defRPr>
                      </a:pPr>
                      <a:r>
                        <a:t>11</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Overall Performance</a:t>
                      </a:r>
                    </a:p>
                  </a:txBody>
                  <a:tcPr>
                    <a:solidFill>
                      <a:srgbClr val="FFFFFF"/>
                    </a:solidFill>
                  </a:tcPr>
                </a:tc>
                <a:tc>
                  <a:txBody>
                    <a:bodyPr/>
                    <a:lstStyle/>
                    <a:p>
                      <a:pPr>
                        <a:defRPr sz="700">
                          <a:solidFill>
                            <a:srgbClr val="333333"/>
                          </a:solidFill>
                        </a:defRPr>
                      </a:pPr>
                      <a:r>
                        <a:t>AMBER</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1">
                          <a:solidFill>
                            <a:srgbClr val="333333"/>
                          </a:solidFill>
                        </a:defRPr>
                      </a:pPr>
                    </a:p>
                  </a:txBody>
                  <a:tcPr>
                    <a:solidFill>
                      <a:srgbClr val="FFC000"/>
                    </a:solidFill>
                  </a:tcPr>
                </a:tc>
              </a:tr>
            </a:tbl>
          </a:graphicData>
        </a:graphic>
      </p:graphicFrame>
      <p:sp>
        <p:nvSpPr>
          <p:cNvPr id="7" name="Rectangle 6"/>
          <p:cNvSpPr/>
          <p:nvPr/>
        </p:nvSpPr>
        <p:spPr>
          <a:xfrm>
            <a:off x="0" y="3346704"/>
            <a:ext cx="5943600" cy="1828800"/>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3419856"/>
            <a:ext cx="5669280" cy="1719072"/>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MIM data was processed successfully.</a:t>
            </a:r>
          </a:p>
          <a:p>
            <a:pPr>
              <a:defRPr sz="700">
                <a:solidFill>
                  <a:srgbClr val="1E5C2E"/>
                </a:solidFill>
              </a:defRPr>
            </a:pPr>
            <a:r>
              <a:t>✔  Automated KPI snapshot generated for this period.</a:t>
            </a:r>
          </a:p>
          <a:p>
            <a:pPr>
              <a:defRPr b="1" sz="750">
                <a:solidFill>
                  <a:srgbClr val="C00000"/>
                </a:solidFill>
              </a:defRPr>
            </a:pPr>
            <a:r>
              <a:t>Actions:</a:t>
            </a:r>
          </a:p>
          <a:p>
            <a:pPr>
              <a:defRPr sz="700">
                <a:solidFill>
                  <a:srgbClr val="333333"/>
                </a:solidFill>
              </a:defRPr>
            </a:pPr>
            <a:r>
              <a:t>→  AI analysis unavailable. Rule-based summary was applied.</a:t>
            </a:r>
          </a:p>
          <a:p>
            <a:pPr>
              <a:defRPr sz="700">
                <a:solidFill>
                  <a:srgbClr val="333333"/>
                </a:solidFill>
              </a:defRPr>
            </a:pPr>
            <a:r>
              <a:t>→  Review low-performing KPIs and assign action owners.</a:t>
            </a:r>
          </a:p>
        </p:txBody>
      </p:sp>
      <p:sp>
        <p:nvSpPr>
          <p:cNvPr id="9" name="Rectangle 8"/>
          <p:cNvSpPr/>
          <p:nvPr/>
        </p:nvSpPr>
        <p:spPr>
          <a:xfrm>
            <a:off x="5943600" y="1051560"/>
            <a:ext cx="6245352" cy="228600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143000"/>
            <a:ext cx="5879592" cy="2103120"/>
          </a:xfrm>
          <a:prstGeom prst="rect">
            <a:avLst/>
          </a:prstGeom>
          <a:noFill/>
        </p:spPr>
        <p:txBody>
          <a:bodyPr wrap="none">
            <a:spAutoFit/>
          </a:bodyPr>
          <a:lstStyle/>
          <a:p>
            <a:pPr>
              <a:defRPr b="1">
                <a:solidFill>
                  <a:srgbClr val="1F3864"/>
                </a:solidFill>
              </a:defRPr>
            </a:pPr>
            <a:r>
              <a:t>Key Achievements</a:t>
            </a:r>
          </a:p>
          <a:p>
            <a:pPr>
              <a:defRPr sz="864">
                <a:solidFill>
                  <a:srgbClr val="333333"/>
                </a:solidFill>
              </a:defRPr>
            </a:pPr>
            <a:r>
              <a:t>• MIM data was processed successfully.</a:t>
            </a:r>
          </a:p>
          <a:p>
            <a:pPr>
              <a:defRPr sz="864">
                <a:solidFill>
                  <a:srgbClr val="333333"/>
                </a:solidFill>
              </a:defRPr>
            </a:pPr>
            <a:r>
              <a:t>• Automated KPI snapshot generated for this period.</a:t>
            </a:r>
          </a:p>
        </p:txBody>
      </p:sp>
      <p:pic>
        <p:nvPicPr>
          <p:cNvPr id="11" name="Picture 10" descr="image.png"/>
          <p:cNvPicPr>
            <a:picLocks noChangeAspect="1"/>
          </p:cNvPicPr>
          <p:nvPr/>
        </p:nvPicPr>
        <p:blipFill>
          <a:blip r:embed="rId4"/>
          <a:stretch>
            <a:fillRect/>
          </a:stretch>
        </p:blipFill>
        <p:spPr>
          <a:xfrm>
            <a:off x="5943600" y="1051560"/>
            <a:ext cx="6245352" cy="1562484"/>
          </a:xfrm>
          <a:prstGeom prst="rect">
            <a:avLst/>
          </a:prstGeom>
        </p:spPr>
      </p:pic>
      <p:pic>
        <p:nvPicPr>
          <p:cNvPr id="12" name="Picture 11" descr="image.png"/>
          <p:cNvPicPr>
            <a:picLocks noChangeAspect="1"/>
          </p:cNvPicPr>
          <p:nvPr/>
        </p:nvPicPr>
        <p:blipFill>
          <a:blip r:embed="rId5"/>
          <a:stretch>
            <a:fillRect/>
          </a:stretch>
        </p:blipFill>
        <p:spPr>
          <a:xfrm>
            <a:off x="5943600" y="2705483"/>
            <a:ext cx="6245352" cy="1567066"/>
          </a:xfrm>
          <a:prstGeom prst="rect">
            <a:avLst/>
          </a:prstGeom>
        </p:spPr>
      </p:pic>
      <p:pic>
        <p:nvPicPr>
          <p:cNvPr id="13" name="Picture 12" descr="image.png"/>
          <p:cNvPicPr>
            <a:picLocks noChangeAspect="1"/>
          </p:cNvPicPr>
          <p:nvPr/>
        </p:nvPicPr>
        <p:blipFill>
          <a:blip r:embed="rId6"/>
          <a:stretch>
            <a:fillRect/>
          </a:stretch>
        </p:blipFill>
        <p:spPr>
          <a:xfrm>
            <a:off x="5943600" y="4363989"/>
            <a:ext cx="6245352" cy="156248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37160"/>
            <a:ext cx="9144000" cy="731520"/>
          </a:xfrm>
          <a:prstGeom prst="rect">
            <a:avLst/>
          </a:prstGeom>
          <a:noFill/>
        </p:spPr>
        <p:txBody>
          <a:bodyPr wrap="none">
            <a:spAutoFit/>
          </a:bodyPr>
          <a:lstStyle/>
          <a:p>
            <a:pPr>
              <a:defRPr sz="1440" b="1">
                <a:solidFill>
                  <a:srgbClr val="FFFFFF"/>
                </a:solidFill>
              </a:defRPr>
            </a:pPr>
            <a:r>
              <a:t>Change  |  20 Apr 2026</a:t>
            </a:r>
          </a:p>
        </p:txBody>
      </p:sp>
      <p:sp>
        <p:nvSpPr>
          <p:cNvPr id="4" name="Rectangle 3"/>
          <p:cNvSpPr/>
          <p:nvPr/>
        </p:nvSpPr>
        <p:spPr>
          <a:xfrm>
            <a:off x="0" y="1051560"/>
            <a:ext cx="5943600" cy="82296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143000"/>
            <a:ext cx="5577840" cy="64008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Change team has 4 data record(s) in the current reporting window. Performance highlights indicate Change Success Ratio (&gt;99%): 100.0%, Unauthorised Change rate (&lt;1%): 0.6%. Potential risk areas include Change Causing MI vs Other MIs (&lt;10%): 0.0%, Failed Change Ratio (&lt;1%): 0.0%.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1920240"/>
          <a:ext cx="5943600" cy="1353312"/>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Change Success Ratio</a:t>
                      </a:r>
                    </a:p>
                  </a:txBody>
                  <a:tcPr>
                    <a:solidFill>
                      <a:srgbClr val="FFFFFF"/>
                    </a:solidFill>
                  </a:tcPr>
                </a:tc>
                <a:tc>
                  <a:txBody>
                    <a:bodyPr/>
                    <a:lstStyle/>
                    <a:p>
                      <a:pPr>
                        <a:defRPr sz="700">
                          <a:solidFill>
                            <a:srgbClr val="333333"/>
                          </a:solidFill>
                        </a:defRPr>
                      </a:pPr>
                      <a:r>
                        <a:t>100.0%</a:t>
                      </a:r>
                    </a:p>
                  </a:txBody>
                  <a:tcPr>
                    <a:solidFill>
                      <a:srgbClr val="FFFFFF"/>
                    </a:solidFill>
                  </a:tcPr>
                </a:tc>
                <a:tc>
                  <a:txBody>
                    <a:bodyPr/>
                    <a:lstStyle/>
                    <a:p>
                      <a:pPr>
                        <a:defRPr sz="700">
                          <a:solidFill>
                            <a:srgbClr val="333333"/>
                          </a:solidFill>
                        </a:defRPr>
                      </a:pPr>
                      <a:r>
                        <a:t>&gt;99.0%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Change Causing MI vs Other MIs</a:t>
                      </a:r>
                    </a:p>
                  </a:txBody>
                  <a:tcPr>
                    <a:solidFill>
                      <a:srgbClr val="F2F2F2"/>
                    </a:solidFill>
                  </a:tcPr>
                </a:tc>
                <a:tc>
                  <a:txBody>
                    <a:bodyPr/>
                    <a:lstStyle/>
                    <a:p>
                      <a:pPr>
                        <a:defRPr sz="700">
                          <a:solidFill>
                            <a:srgbClr val="333333"/>
                          </a:solidFill>
                        </a:defRPr>
                      </a:pPr>
                      <a:r>
                        <a:t>0</a:t>
                      </a:r>
                    </a:p>
                  </a:txBody>
                  <a:tcPr>
                    <a:solidFill>
                      <a:srgbClr val="F2F2F2"/>
                    </a:solidFill>
                  </a:tcPr>
                </a:tc>
                <a:tc>
                  <a:txBody>
                    <a:bodyPr/>
                    <a:lstStyle/>
                    <a:p>
                      <a:pPr>
                        <a:defRPr sz="700">
                          <a:solidFill>
                            <a:srgbClr val="333333"/>
                          </a:solidFill>
                        </a:defRPr>
                      </a:pPr>
                      <a:r>
                        <a:t>&lt;10.0%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Failed Change Ratio</a:t>
                      </a:r>
                    </a:p>
                  </a:txBody>
                  <a:tcPr>
                    <a:solidFill>
                      <a:srgbClr val="FFFFFF"/>
                    </a:solidFill>
                  </a:tcPr>
                </a:tc>
                <a:tc>
                  <a:txBody>
                    <a:bodyPr/>
                    <a:lstStyle/>
                    <a:p>
                      <a:pPr>
                        <a:defRPr sz="700">
                          <a:solidFill>
                            <a:srgbClr val="333333"/>
                          </a:solidFill>
                        </a:defRPr>
                      </a:pPr>
                      <a:r>
                        <a:t>0.0%</a:t>
                      </a:r>
                    </a:p>
                  </a:txBody>
                  <a:tcPr>
                    <a:solidFill>
                      <a:srgbClr val="FFFFFF"/>
                    </a:solidFill>
                  </a:tcPr>
                </a:tc>
                <a:tc>
                  <a:txBody>
                    <a:bodyPr/>
                    <a:lstStyle/>
                    <a:p>
                      <a:pPr>
                        <a:defRPr sz="700">
                          <a:solidFill>
                            <a:srgbClr val="333333"/>
                          </a:solidFill>
                        </a:defRPr>
                      </a:pPr>
                      <a:r>
                        <a:t>&lt;1.0%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Unauthorised Change rate</a:t>
                      </a:r>
                    </a:p>
                  </a:txBody>
                  <a:tcPr>
                    <a:solidFill>
                      <a:srgbClr val="F2F2F2"/>
                    </a:solidFill>
                  </a:tcPr>
                </a:tc>
                <a:tc>
                  <a:txBody>
                    <a:bodyPr/>
                    <a:lstStyle/>
                    <a:p>
                      <a:pPr>
                        <a:defRPr sz="700">
                          <a:solidFill>
                            <a:srgbClr val="333333"/>
                          </a:solidFill>
                        </a:defRPr>
                      </a:pPr>
                      <a:r>
                        <a:t>0.6%</a:t>
                      </a:r>
                    </a:p>
                  </a:txBody>
                  <a:tcPr>
                    <a:solidFill>
                      <a:srgbClr val="F2F2F2"/>
                    </a:solidFill>
                  </a:tcPr>
                </a:tc>
                <a:tc>
                  <a:txBody>
                    <a:bodyPr/>
                    <a:lstStyle/>
                    <a:p>
                      <a:pPr>
                        <a:defRPr sz="700">
                          <a:solidFill>
                            <a:srgbClr val="333333"/>
                          </a:solidFill>
                        </a:defRPr>
                      </a:pPr>
                      <a:r>
                        <a:t>&lt;1.0%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Overall Performance</a:t>
                      </a:r>
                    </a:p>
                  </a:txBody>
                  <a:tcPr>
                    <a:solidFill>
                      <a:srgbClr val="FFFFFF"/>
                    </a:solidFill>
                  </a:tcPr>
                </a:tc>
                <a:tc>
                  <a:txBody>
                    <a:bodyPr/>
                    <a:lstStyle/>
                    <a:p>
                      <a:pPr>
                        <a:defRPr sz="700">
                          <a:solidFill>
                            <a:srgbClr val="333333"/>
                          </a:solidFill>
                        </a:defRPr>
                      </a:pPr>
                      <a:r>
                        <a:t>AMBER</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1">
                          <a:solidFill>
                            <a:srgbClr val="333333"/>
                          </a:solidFill>
                        </a:defRPr>
                      </a:pPr>
                    </a:p>
                  </a:txBody>
                  <a:tcPr>
                    <a:solidFill>
                      <a:srgbClr val="FFC000"/>
                    </a:solidFill>
                  </a:tcPr>
                </a:tc>
              </a:tr>
            </a:tbl>
          </a:graphicData>
        </a:graphic>
      </p:graphicFrame>
      <p:sp>
        <p:nvSpPr>
          <p:cNvPr id="7" name="Rectangle 6"/>
          <p:cNvSpPr/>
          <p:nvPr/>
        </p:nvSpPr>
        <p:spPr>
          <a:xfrm>
            <a:off x="0" y="3346704"/>
            <a:ext cx="5943600" cy="1828800"/>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3419856"/>
            <a:ext cx="5669280" cy="1719072"/>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Change data was processed successfully.</a:t>
            </a:r>
          </a:p>
          <a:p>
            <a:pPr>
              <a:defRPr sz="700">
                <a:solidFill>
                  <a:srgbClr val="1E5C2E"/>
                </a:solidFill>
              </a:defRPr>
            </a:pPr>
            <a:r>
              <a:t>✔  Automated KPI snapshot generated for this period.</a:t>
            </a:r>
          </a:p>
          <a:p>
            <a:pPr>
              <a:defRPr b="1" sz="750">
                <a:solidFill>
                  <a:srgbClr val="C00000"/>
                </a:solidFill>
              </a:defRPr>
            </a:pPr>
            <a:r>
              <a:t>Actions:</a:t>
            </a:r>
          </a:p>
          <a:p>
            <a:pPr>
              <a:defRPr sz="700">
                <a:solidFill>
                  <a:srgbClr val="333333"/>
                </a:solidFill>
              </a:defRPr>
            </a:pPr>
            <a:r>
              <a:t>→  AI analysis unavailable. Rule-based summary was applied.</a:t>
            </a:r>
          </a:p>
          <a:p>
            <a:pPr>
              <a:defRPr sz="700">
                <a:solidFill>
                  <a:srgbClr val="333333"/>
                </a:solidFill>
              </a:defRPr>
            </a:pPr>
            <a:r>
              <a:t>→  Review low-performing KPIs and assign action owners.</a:t>
            </a:r>
          </a:p>
        </p:txBody>
      </p:sp>
      <p:sp>
        <p:nvSpPr>
          <p:cNvPr id="9" name="Rectangle 8"/>
          <p:cNvSpPr/>
          <p:nvPr/>
        </p:nvSpPr>
        <p:spPr>
          <a:xfrm>
            <a:off x="5943600" y="1051560"/>
            <a:ext cx="6245352" cy="228600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143000"/>
            <a:ext cx="5879592" cy="2103120"/>
          </a:xfrm>
          <a:prstGeom prst="rect">
            <a:avLst/>
          </a:prstGeom>
          <a:noFill/>
        </p:spPr>
        <p:txBody>
          <a:bodyPr wrap="none">
            <a:spAutoFit/>
          </a:bodyPr>
          <a:lstStyle/>
          <a:p>
            <a:pPr>
              <a:defRPr b="1">
                <a:solidFill>
                  <a:srgbClr val="1F3864"/>
                </a:solidFill>
              </a:defRPr>
            </a:pPr>
            <a:r>
              <a:t>Key Achievements</a:t>
            </a:r>
          </a:p>
          <a:p>
            <a:pPr>
              <a:defRPr sz="864">
                <a:solidFill>
                  <a:srgbClr val="333333"/>
                </a:solidFill>
              </a:defRPr>
            </a:pPr>
            <a:r>
              <a:t>• Change data was processed successfully.</a:t>
            </a:r>
          </a:p>
          <a:p>
            <a:pPr>
              <a:defRPr sz="864">
                <a:solidFill>
                  <a:srgbClr val="333333"/>
                </a:solidFill>
              </a:defRPr>
            </a:pPr>
            <a:r>
              <a:t>• Automated KPI snapshot generated for this period.</a:t>
            </a:r>
          </a:p>
        </p:txBody>
      </p:sp>
      <p:pic>
        <p:nvPicPr>
          <p:cNvPr id="11" name="Picture 10" descr="image.png"/>
          <p:cNvPicPr>
            <a:picLocks noChangeAspect="1"/>
          </p:cNvPicPr>
          <p:nvPr/>
        </p:nvPicPr>
        <p:blipFill>
          <a:blip r:embed="rId4"/>
          <a:stretch>
            <a:fillRect/>
          </a:stretch>
        </p:blipFill>
        <p:spPr>
          <a:xfrm>
            <a:off x="5943600" y="1051560"/>
            <a:ext cx="6245352" cy="1548737"/>
          </a:xfrm>
          <a:prstGeom prst="rect">
            <a:avLst/>
          </a:prstGeom>
        </p:spPr>
      </p:pic>
      <p:pic>
        <p:nvPicPr>
          <p:cNvPr id="12" name="Picture 11" descr="image.png"/>
          <p:cNvPicPr>
            <a:picLocks noChangeAspect="1"/>
          </p:cNvPicPr>
          <p:nvPr/>
        </p:nvPicPr>
        <p:blipFill>
          <a:blip r:embed="rId5"/>
          <a:stretch>
            <a:fillRect/>
          </a:stretch>
        </p:blipFill>
        <p:spPr>
          <a:xfrm>
            <a:off x="5943600" y="2691737"/>
            <a:ext cx="6245352" cy="1557901"/>
          </a:xfrm>
          <a:prstGeom prst="rect">
            <a:avLst/>
          </a:prstGeom>
        </p:spPr>
      </p:pic>
      <p:pic>
        <p:nvPicPr>
          <p:cNvPr id="13" name="Picture 12" descr="image.png"/>
          <p:cNvPicPr>
            <a:picLocks noChangeAspect="1"/>
          </p:cNvPicPr>
          <p:nvPr/>
        </p:nvPicPr>
        <p:blipFill>
          <a:blip r:embed="rId6"/>
          <a:stretch>
            <a:fillRect/>
          </a:stretch>
        </p:blipFill>
        <p:spPr>
          <a:xfrm>
            <a:off x="5943600" y="4341078"/>
            <a:ext cx="6245352" cy="156706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37160"/>
            <a:ext cx="9144000" cy="731520"/>
          </a:xfrm>
          <a:prstGeom prst="rect">
            <a:avLst/>
          </a:prstGeom>
          <a:noFill/>
        </p:spPr>
        <p:txBody>
          <a:bodyPr wrap="none">
            <a:spAutoFit/>
          </a:bodyPr>
          <a:lstStyle/>
          <a:p>
            <a:pPr>
              <a:defRPr sz="1440" b="1">
                <a:solidFill>
                  <a:srgbClr val="FFFFFF"/>
                </a:solidFill>
              </a:defRPr>
            </a:pPr>
            <a:r>
              <a:t>Problem  |  20 Apr 2026</a:t>
            </a:r>
          </a:p>
        </p:txBody>
      </p:sp>
      <p:sp>
        <p:nvSpPr>
          <p:cNvPr id="4" name="Rectangle 3"/>
          <p:cNvSpPr/>
          <p:nvPr/>
        </p:nvSpPr>
        <p:spPr>
          <a:xfrm>
            <a:off x="0" y="1051560"/>
            <a:ext cx="5943600" cy="82296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143000"/>
            <a:ext cx="5577840" cy="64008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Problem team has 4 data record(s) in the current reporting window. Performance highlights indicate no standout KPI values were detected. Potential risk areas include no clear risk KPI was detected.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1920240"/>
          <a:ext cx="5943600" cy="1353312"/>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Avg Resolution Days</a:t>
                      </a:r>
                    </a:p>
                  </a:txBody>
                  <a:tcPr>
                    <a:solidFill>
                      <a:srgbClr val="FFFFFF"/>
                    </a:solidFill>
                  </a:tcPr>
                </a:tc>
                <a:tc>
                  <a:txBody>
                    <a:bodyPr/>
                    <a:lstStyle/>
                    <a:p>
                      <a:pPr>
                        <a:defRPr sz="700">
                          <a:solidFill>
                            <a:srgbClr val="333333"/>
                          </a:solidFill>
                        </a:defRPr>
                      </a:pPr>
                      <a:r>
                        <a:t>4.2%</a:t>
                      </a:r>
                    </a:p>
                  </a:txBody>
                  <a:tcPr>
                    <a:solidFill>
                      <a:srgbClr val="FFFFFF"/>
                    </a:solidFill>
                  </a:tcPr>
                </a:tc>
                <a:tc>
                  <a:txBody>
                    <a:bodyPr/>
                    <a:lstStyle/>
                    <a:p>
                      <a:pPr>
                        <a:defRPr sz="700">
                          <a:solidFill>
                            <a:srgbClr val="333333"/>
                          </a:solidFill>
                        </a:defRPr>
                      </a:pPr>
                      <a:r>
                        <a:t>&lt;5.0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Recurring Issues</a:t>
                      </a:r>
                    </a:p>
                  </a:txBody>
                  <a:tcPr>
                    <a:solidFill>
                      <a:srgbClr val="F2F2F2"/>
                    </a:solidFill>
                  </a:tcPr>
                </a:tc>
                <a:tc>
                  <a:txBody>
                    <a:bodyPr/>
                    <a:lstStyle/>
                    <a:p>
                      <a:pPr>
                        <a:defRPr sz="700">
                          <a:solidFill>
                            <a:srgbClr val="333333"/>
                          </a:solidFill>
                        </a:defRPr>
                      </a:pPr>
                      <a:r>
                        <a:t>2</a:t>
                      </a:r>
                    </a:p>
                  </a:txBody>
                  <a:tcPr>
                    <a:solidFill>
                      <a:srgbClr val="F2F2F2"/>
                    </a:solidFill>
                  </a:tcPr>
                </a:tc>
                <a:tc>
                  <a:txBody>
                    <a:bodyPr/>
                    <a:lstStyle/>
                    <a:p>
                      <a:pPr>
                        <a:defRPr sz="700">
                          <a:solidFill>
                            <a:srgbClr val="333333"/>
                          </a:solidFill>
                        </a:defRPr>
                      </a:pPr>
                      <a:r>
                        <a:t>&lt;3.0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Open Problems</a:t>
                      </a:r>
                    </a:p>
                  </a:txBody>
                  <a:tcPr>
                    <a:solidFill>
                      <a:srgbClr val="FFFFFF"/>
                    </a:solidFill>
                  </a:tcPr>
                </a:tc>
                <a:tc>
                  <a:txBody>
                    <a:bodyPr/>
                    <a:lstStyle/>
                    <a:p>
                      <a:pPr>
                        <a:defRPr sz="700">
                          <a:solidFill>
                            <a:srgbClr val="333333"/>
                          </a:solidFill>
                        </a:defRPr>
                      </a:pPr>
                      <a:r>
                        <a:t>12</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Problems Resolved</a:t>
                      </a:r>
                    </a:p>
                  </a:txBody>
                  <a:tcPr>
                    <a:solidFill>
                      <a:srgbClr val="F2F2F2"/>
                    </a:solidFill>
                  </a:tcPr>
                </a:tc>
                <a:tc>
                  <a:txBody>
                    <a:bodyPr/>
                    <a:lstStyle/>
                    <a:p>
                      <a:pPr>
                        <a:defRPr sz="700">
                          <a:solidFill>
                            <a:srgbClr val="333333"/>
                          </a:solidFill>
                        </a:defRPr>
                      </a:pPr>
                      <a:r>
                        <a:t>8</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Overall Performance</a:t>
                      </a:r>
                    </a:p>
                  </a:txBody>
                  <a:tcPr>
                    <a:solidFill>
                      <a:srgbClr val="FFFFFF"/>
                    </a:solidFill>
                  </a:tcPr>
                </a:tc>
                <a:tc>
                  <a:txBody>
                    <a:bodyPr/>
                    <a:lstStyle/>
                    <a:p>
                      <a:pPr>
                        <a:defRPr sz="700">
                          <a:solidFill>
                            <a:srgbClr val="333333"/>
                          </a:solidFill>
                        </a:defRPr>
                      </a:pPr>
                      <a:r>
                        <a:t>AMBER</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1">
                          <a:solidFill>
                            <a:srgbClr val="333333"/>
                          </a:solidFill>
                        </a:defRPr>
                      </a:pPr>
                    </a:p>
                  </a:txBody>
                  <a:tcPr>
                    <a:solidFill>
                      <a:srgbClr val="FFC000"/>
                    </a:solidFill>
                  </a:tcPr>
                </a:tc>
              </a:tr>
            </a:tbl>
          </a:graphicData>
        </a:graphic>
      </p:graphicFrame>
      <p:sp>
        <p:nvSpPr>
          <p:cNvPr id="7" name="Rectangle 6"/>
          <p:cNvSpPr/>
          <p:nvPr/>
        </p:nvSpPr>
        <p:spPr>
          <a:xfrm>
            <a:off x="0" y="3346704"/>
            <a:ext cx="5943600" cy="1828800"/>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3419856"/>
            <a:ext cx="5669280" cy="1719072"/>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Problem data was processed successfully.</a:t>
            </a:r>
          </a:p>
          <a:p>
            <a:pPr>
              <a:defRPr sz="700">
                <a:solidFill>
                  <a:srgbClr val="1E5C2E"/>
                </a:solidFill>
              </a:defRPr>
            </a:pPr>
            <a:r>
              <a:t>✔  Automated KPI snapshot generated for this period.</a:t>
            </a:r>
          </a:p>
          <a:p>
            <a:pPr>
              <a:defRPr b="1" sz="750">
                <a:solidFill>
                  <a:srgbClr val="C00000"/>
                </a:solidFill>
              </a:defRPr>
            </a:pPr>
            <a:r>
              <a:t>Actions:</a:t>
            </a:r>
          </a:p>
          <a:p>
            <a:pPr>
              <a:defRPr sz="700">
                <a:solidFill>
                  <a:srgbClr val="333333"/>
                </a:solidFill>
              </a:defRPr>
            </a:pPr>
            <a:r>
              <a:t>→  AI analysis unavailable. Rule-based summary was applied.</a:t>
            </a:r>
          </a:p>
          <a:p>
            <a:pPr>
              <a:defRPr sz="700">
                <a:solidFill>
                  <a:srgbClr val="333333"/>
                </a:solidFill>
              </a:defRPr>
            </a:pPr>
            <a:r>
              <a:t>→  Review low-performing KPIs and assign action owners.</a:t>
            </a:r>
          </a:p>
        </p:txBody>
      </p:sp>
      <p:sp>
        <p:nvSpPr>
          <p:cNvPr id="9" name="Rectangle 8"/>
          <p:cNvSpPr/>
          <p:nvPr/>
        </p:nvSpPr>
        <p:spPr>
          <a:xfrm>
            <a:off x="5943600" y="1051560"/>
            <a:ext cx="6245352" cy="228600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143000"/>
            <a:ext cx="5879592" cy="2103120"/>
          </a:xfrm>
          <a:prstGeom prst="rect">
            <a:avLst/>
          </a:prstGeom>
          <a:noFill/>
        </p:spPr>
        <p:txBody>
          <a:bodyPr wrap="none">
            <a:spAutoFit/>
          </a:bodyPr>
          <a:lstStyle/>
          <a:p>
            <a:pPr>
              <a:defRPr b="1">
                <a:solidFill>
                  <a:srgbClr val="1F3864"/>
                </a:solidFill>
              </a:defRPr>
            </a:pPr>
            <a:r>
              <a:t>Key Achievements</a:t>
            </a:r>
          </a:p>
          <a:p>
            <a:pPr>
              <a:defRPr sz="864">
                <a:solidFill>
                  <a:srgbClr val="333333"/>
                </a:solidFill>
              </a:defRPr>
            </a:pPr>
            <a:r>
              <a:t>• Problem data was processed successfully.</a:t>
            </a:r>
          </a:p>
          <a:p>
            <a:pPr>
              <a:defRPr sz="864">
                <a:solidFill>
                  <a:srgbClr val="333333"/>
                </a:solidFill>
              </a:defRPr>
            </a:pPr>
            <a:r>
              <a:t>• Automated KPI snapshot generated for this period.</a:t>
            </a:r>
          </a:p>
        </p:txBody>
      </p:sp>
      <p:pic>
        <p:nvPicPr>
          <p:cNvPr id="11" name="Picture 10" descr="image.png"/>
          <p:cNvPicPr>
            <a:picLocks noChangeAspect="1"/>
          </p:cNvPicPr>
          <p:nvPr/>
        </p:nvPicPr>
        <p:blipFill>
          <a:blip r:embed="rId4"/>
          <a:stretch>
            <a:fillRect/>
          </a:stretch>
        </p:blipFill>
        <p:spPr>
          <a:xfrm>
            <a:off x="5943600" y="1051560"/>
            <a:ext cx="6245352" cy="1567066"/>
          </a:xfrm>
          <a:prstGeom prst="rect">
            <a:avLst/>
          </a:prstGeom>
        </p:spPr>
      </p:pic>
      <p:pic>
        <p:nvPicPr>
          <p:cNvPr id="12" name="Picture 11" descr="image.png"/>
          <p:cNvPicPr>
            <a:picLocks noChangeAspect="1"/>
          </p:cNvPicPr>
          <p:nvPr/>
        </p:nvPicPr>
        <p:blipFill>
          <a:blip r:embed="rId5"/>
          <a:stretch>
            <a:fillRect/>
          </a:stretch>
        </p:blipFill>
        <p:spPr>
          <a:xfrm>
            <a:off x="5943600" y="2710065"/>
            <a:ext cx="6245352" cy="1567066"/>
          </a:xfrm>
          <a:prstGeom prst="rect">
            <a:avLst/>
          </a:prstGeom>
        </p:spPr>
      </p:pic>
      <p:pic>
        <p:nvPicPr>
          <p:cNvPr id="13" name="Picture 12" descr="image.png"/>
          <p:cNvPicPr>
            <a:picLocks noChangeAspect="1"/>
          </p:cNvPicPr>
          <p:nvPr/>
        </p:nvPicPr>
        <p:blipFill>
          <a:blip r:embed="rId6"/>
          <a:stretch>
            <a:fillRect/>
          </a:stretch>
        </p:blipFill>
        <p:spPr>
          <a:xfrm>
            <a:off x="5943600" y="4368571"/>
            <a:ext cx="6245352" cy="156706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37160"/>
            <a:ext cx="9144000" cy="731520"/>
          </a:xfrm>
          <a:prstGeom prst="rect">
            <a:avLst/>
          </a:prstGeom>
          <a:noFill/>
        </p:spPr>
        <p:txBody>
          <a:bodyPr wrap="none">
            <a:spAutoFit/>
          </a:bodyPr>
          <a:lstStyle/>
          <a:p>
            <a:pPr>
              <a:defRPr sz="1440" b="1">
                <a:solidFill>
                  <a:srgbClr val="FFFFFF"/>
                </a:solidFill>
              </a:defRPr>
            </a:pPr>
            <a:r>
              <a:t>CMDB  |  20 Apr 2026</a:t>
            </a:r>
          </a:p>
        </p:txBody>
      </p:sp>
      <p:sp>
        <p:nvSpPr>
          <p:cNvPr id="4" name="Rectangle 3"/>
          <p:cNvSpPr/>
          <p:nvPr/>
        </p:nvSpPr>
        <p:spPr>
          <a:xfrm>
            <a:off x="0" y="1051560"/>
            <a:ext cx="5943600" cy="82296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143000"/>
            <a:ext cx="5577840" cy="64008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CMDB team has 4 data record(s) in the current reporting window. Performance highlights indicate Audit Compliance (&gt;98%): 99.1%, CI Accuracy (&gt;95%): 97.5%. Potential risk areas include CI Accuracy (&gt;95%): 97.5%, Audit Compliance (&gt;98%): 99.1%.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1920240"/>
          <a:ext cx="5943600" cy="1353312"/>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CI Accuracy</a:t>
                      </a:r>
                    </a:p>
                  </a:txBody>
                  <a:tcPr>
                    <a:solidFill>
                      <a:srgbClr val="FFFFFF"/>
                    </a:solidFill>
                  </a:tcPr>
                </a:tc>
                <a:tc>
                  <a:txBody>
                    <a:bodyPr/>
                    <a:lstStyle/>
                    <a:p>
                      <a:pPr>
                        <a:defRPr sz="700">
                          <a:solidFill>
                            <a:srgbClr val="333333"/>
                          </a:solidFill>
                        </a:defRPr>
                      </a:pPr>
                      <a:r>
                        <a:t>97.5%</a:t>
                      </a:r>
                    </a:p>
                  </a:txBody>
                  <a:tcPr>
                    <a:solidFill>
                      <a:srgbClr val="FFFFFF"/>
                    </a:solidFill>
                  </a:tcPr>
                </a:tc>
                <a:tc>
                  <a:txBody>
                    <a:bodyPr/>
                    <a:lstStyle/>
                    <a:p>
                      <a:pPr>
                        <a:defRPr sz="700">
                          <a:solidFill>
                            <a:srgbClr val="333333"/>
                          </a:solidFill>
                        </a:defRPr>
                      </a:pPr>
                      <a:r>
                        <a:t>&gt;95.0%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Audit Compliance</a:t>
                      </a:r>
                    </a:p>
                  </a:txBody>
                  <a:tcPr>
                    <a:solidFill>
                      <a:srgbClr val="F2F2F2"/>
                    </a:solidFill>
                  </a:tcPr>
                </a:tc>
                <a:tc>
                  <a:txBody>
                    <a:bodyPr/>
                    <a:lstStyle/>
                    <a:p>
                      <a:pPr>
                        <a:defRPr sz="700">
                          <a:solidFill>
                            <a:srgbClr val="333333"/>
                          </a:solidFill>
                        </a:defRPr>
                      </a:pPr>
                      <a:r>
                        <a:t>99.1%</a:t>
                      </a:r>
                    </a:p>
                  </a:txBody>
                  <a:tcPr>
                    <a:solidFill>
                      <a:srgbClr val="F2F2F2"/>
                    </a:solidFill>
                  </a:tcPr>
                </a:tc>
                <a:tc>
                  <a:txBody>
                    <a:bodyPr/>
                    <a:lstStyle/>
                    <a:p>
                      <a:pPr>
                        <a:defRPr sz="700">
                          <a:solidFill>
                            <a:srgbClr val="333333"/>
                          </a:solidFill>
                        </a:defRPr>
                      </a:pPr>
                      <a:r>
                        <a:t>&gt;98.0%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Orphan CIs</a:t>
                      </a:r>
                    </a:p>
                  </a:txBody>
                  <a:tcPr>
                    <a:solidFill>
                      <a:srgbClr val="FFFFFF"/>
                    </a:solidFill>
                  </a:tcPr>
                </a:tc>
                <a:tc>
                  <a:txBody>
                    <a:bodyPr/>
                    <a:lstStyle/>
                    <a:p>
                      <a:pPr>
                        <a:defRPr sz="700">
                          <a:solidFill>
                            <a:srgbClr val="333333"/>
                          </a:solidFill>
                        </a:defRPr>
                      </a:pPr>
                      <a:r>
                        <a:t>5</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Stale Records (&gt;30 days)</a:t>
                      </a:r>
                    </a:p>
                  </a:txBody>
                  <a:tcPr>
                    <a:solidFill>
                      <a:srgbClr val="F2F2F2"/>
                    </a:solidFill>
                  </a:tcPr>
                </a:tc>
                <a:tc>
                  <a:txBody>
                    <a:bodyPr/>
                    <a:lstStyle/>
                    <a:p>
                      <a:pPr>
                        <a:defRPr sz="700">
                          <a:solidFill>
                            <a:srgbClr val="333333"/>
                          </a:solidFill>
                        </a:defRPr>
                      </a:pPr>
                      <a:r>
                        <a:t>12</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Overall Performance</a:t>
                      </a:r>
                    </a:p>
                  </a:txBody>
                  <a:tcPr>
                    <a:solidFill>
                      <a:srgbClr val="FFFFFF"/>
                    </a:solidFill>
                  </a:tcPr>
                </a:tc>
                <a:tc>
                  <a:txBody>
                    <a:bodyPr/>
                    <a:lstStyle/>
                    <a:p>
                      <a:pPr>
                        <a:defRPr sz="700">
                          <a:solidFill>
                            <a:srgbClr val="333333"/>
                          </a:solidFill>
                        </a:defRPr>
                      </a:pPr>
                      <a:r>
                        <a:t>AMBER</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1">
                          <a:solidFill>
                            <a:srgbClr val="333333"/>
                          </a:solidFill>
                        </a:defRPr>
                      </a:pPr>
                    </a:p>
                  </a:txBody>
                  <a:tcPr>
                    <a:solidFill>
                      <a:srgbClr val="FFC000"/>
                    </a:solidFill>
                  </a:tcPr>
                </a:tc>
              </a:tr>
            </a:tbl>
          </a:graphicData>
        </a:graphic>
      </p:graphicFrame>
      <p:sp>
        <p:nvSpPr>
          <p:cNvPr id="7" name="Rectangle 6"/>
          <p:cNvSpPr/>
          <p:nvPr/>
        </p:nvSpPr>
        <p:spPr>
          <a:xfrm>
            <a:off x="0" y="3346704"/>
            <a:ext cx="5943600" cy="1828800"/>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3419856"/>
            <a:ext cx="5669280" cy="1719072"/>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CMDB data was processed successfully.</a:t>
            </a:r>
          </a:p>
          <a:p>
            <a:pPr>
              <a:defRPr sz="700">
                <a:solidFill>
                  <a:srgbClr val="1E5C2E"/>
                </a:solidFill>
              </a:defRPr>
            </a:pPr>
            <a:r>
              <a:t>✔  Automated KPI snapshot generated for this period.</a:t>
            </a:r>
          </a:p>
          <a:p>
            <a:pPr>
              <a:defRPr b="1" sz="750">
                <a:solidFill>
                  <a:srgbClr val="C00000"/>
                </a:solidFill>
              </a:defRPr>
            </a:pPr>
            <a:r>
              <a:t>Actions:</a:t>
            </a:r>
          </a:p>
          <a:p>
            <a:pPr>
              <a:defRPr sz="700">
                <a:solidFill>
                  <a:srgbClr val="333333"/>
                </a:solidFill>
              </a:defRPr>
            </a:pPr>
            <a:r>
              <a:t>→  AI analysis unavailable. Rule-based summary was applied.</a:t>
            </a:r>
          </a:p>
          <a:p>
            <a:pPr>
              <a:defRPr sz="700">
                <a:solidFill>
                  <a:srgbClr val="333333"/>
                </a:solidFill>
              </a:defRPr>
            </a:pPr>
            <a:r>
              <a:t>→  Review low-performing KPIs and assign action owners.</a:t>
            </a:r>
          </a:p>
        </p:txBody>
      </p:sp>
      <p:sp>
        <p:nvSpPr>
          <p:cNvPr id="9" name="Rectangle 8"/>
          <p:cNvSpPr/>
          <p:nvPr/>
        </p:nvSpPr>
        <p:spPr>
          <a:xfrm>
            <a:off x="5943600" y="1051560"/>
            <a:ext cx="6245352" cy="228600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143000"/>
            <a:ext cx="5879592" cy="2103120"/>
          </a:xfrm>
          <a:prstGeom prst="rect">
            <a:avLst/>
          </a:prstGeom>
          <a:noFill/>
        </p:spPr>
        <p:txBody>
          <a:bodyPr wrap="none">
            <a:spAutoFit/>
          </a:bodyPr>
          <a:lstStyle/>
          <a:p>
            <a:pPr>
              <a:defRPr b="1">
                <a:solidFill>
                  <a:srgbClr val="1F3864"/>
                </a:solidFill>
              </a:defRPr>
            </a:pPr>
            <a:r>
              <a:t>Key Achievements</a:t>
            </a:r>
          </a:p>
          <a:p>
            <a:pPr>
              <a:defRPr sz="864">
                <a:solidFill>
                  <a:srgbClr val="333333"/>
                </a:solidFill>
              </a:defRPr>
            </a:pPr>
            <a:r>
              <a:t>• CMDB data was processed successfully.</a:t>
            </a:r>
          </a:p>
          <a:p>
            <a:pPr>
              <a:defRPr sz="864">
                <a:solidFill>
                  <a:srgbClr val="333333"/>
                </a:solidFill>
              </a:defRPr>
            </a:pPr>
            <a:r>
              <a:t>• Automated KPI snapshot generated for this period.</a:t>
            </a:r>
          </a:p>
        </p:txBody>
      </p:sp>
      <p:pic>
        <p:nvPicPr>
          <p:cNvPr id="11" name="Picture 10" descr="image.png"/>
          <p:cNvPicPr>
            <a:picLocks noChangeAspect="1"/>
          </p:cNvPicPr>
          <p:nvPr/>
        </p:nvPicPr>
        <p:blipFill>
          <a:blip r:embed="rId3"/>
          <a:stretch>
            <a:fillRect/>
          </a:stretch>
        </p:blipFill>
        <p:spPr>
          <a:xfrm>
            <a:off x="5943600" y="1051560"/>
            <a:ext cx="6245352" cy="225729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37160"/>
            <a:ext cx="9144000" cy="731520"/>
          </a:xfrm>
          <a:prstGeom prst="rect">
            <a:avLst/>
          </a:prstGeom>
          <a:noFill/>
        </p:spPr>
        <p:txBody>
          <a:bodyPr wrap="none">
            <a:spAutoFit/>
          </a:bodyPr>
          <a:lstStyle/>
          <a:p>
            <a:pPr>
              <a:defRPr sz="1440" b="1">
                <a:solidFill>
                  <a:srgbClr val="FFFFFF"/>
                </a:solidFill>
              </a:defRPr>
            </a:pPr>
            <a:r>
              <a:t>NOC  |  20 Apr 2026</a:t>
            </a:r>
          </a:p>
        </p:txBody>
      </p:sp>
      <p:sp>
        <p:nvSpPr>
          <p:cNvPr id="4" name="Rectangle 3"/>
          <p:cNvSpPr/>
          <p:nvPr/>
        </p:nvSpPr>
        <p:spPr>
          <a:xfrm>
            <a:off x="0" y="1051560"/>
            <a:ext cx="5943600" cy="82296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143000"/>
            <a:ext cx="5577840" cy="64008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NOC team has 4 data record(s) in the current reporting window. Performance highlights indicate SLA Compliance (&gt;95%): 96.4%. Potential risk areas include SLA Compliance (&gt;95%): 96.4%.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1920240"/>
          <a:ext cx="5943600" cy="1353312"/>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MTTR Hours</a:t>
                      </a:r>
                    </a:p>
                  </a:txBody>
                  <a:tcPr>
                    <a:solidFill>
                      <a:srgbClr val="FFFFFF"/>
                    </a:solidFill>
                  </a:tcPr>
                </a:tc>
                <a:tc>
                  <a:txBody>
                    <a:bodyPr/>
                    <a:lstStyle/>
                    <a:p>
                      <a:pPr>
                        <a:defRPr sz="700">
                          <a:solidFill>
                            <a:srgbClr val="333333"/>
                          </a:solidFill>
                        </a:defRPr>
                      </a:pPr>
                      <a:r>
                        <a:t>1.8</a:t>
                      </a:r>
                    </a:p>
                  </a:txBody>
                  <a:tcPr>
                    <a:solidFill>
                      <a:srgbClr val="FFFFFF"/>
                    </a:solidFill>
                  </a:tcPr>
                </a:tc>
                <a:tc>
                  <a:txBody>
                    <a:bodyPr/>
                    <a:lstStyle/>
                    <a:p>
                      <a:pPr>
                        <a:defRPr sz="700">
                          <a:solidFill>
                            <a:srgbClr val="333333"/>
                          </a:solidFill>
                        </a:defRPr>
                      </a:pPr>
                      <a:r>
                        <a:t>&lt;2.0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SLA Compliance</a:t>
                      </a:r>
                    </a:p>
                  </a:txBody>
                  <a:tcPr>
                    <a:solidFill>
                      <a:srgbClr val="F2F2F2"/>
                    </a:solidFill>
                  </a:tcPr>
                </a:tc>
                <a:tc>
                  <a:txBody>
                    <a:bodyPr/>
                    <a:lstStyle/>
                    <a:p>
                      <a:pPr>
                        <a:defRPr sz="700">
                          <a:solidFill>
                            <a:srgbClr val="333333"/>
                          </a:solidFill>
                        </a:defRPr>
                      </a:pPr>
                      <a:r>
                        <a:t>96.4%</a:t>
                      </a:r>
                    </a:p>
                  </a:txBody>
                  <a:tcPr>
                    <a:solidFill>
                      <a:srgbClr val="F2F2F2"/>
                    </a:solidFill>
                  </a:tcPr>
                </a:tc>
                <a:tc>
                  <a:txBody>
                    <a:bodyPr/>
                    <a:lstStyle/>
                    <a:p>
                      <a:pPr>
                        <a:defRPr sz="700">
                          <a:solidFill>
                            <a:srgbClr val="333333"/>
                          </a:solidFill>
                        </a:defRPr>
                      </a:pPr>
                      <a:r>
                        <a:t>&gt;95.0%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P1 Incidents</a:t>
                      </a:r>
                    </a:p>
                  </a:txBody>
                  <a:tcPr>
                    <a:solidFill>
                      <a:srgbClr val="FFFFFF"/>
                    </a:solidFill>
                  </a:tcPr>
                </a:tc>
                <a:tc>
                  <a:txBody>
                    <a:bodyPr/>
                    <a:lstStyle/>
                    <a:p>
                      <a:pPr>
                        <a:defRPr sz="700">
                          <a:solidFill>
                            <a:srgbClr val="333333"/>
                          </a:solidFill>
                        </a:defRPr>
                      </a:pPr>
                      <a:r>
                        <a:t>2</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P2 Incidents</a:t>
                      </a:r>
                    </a:p>
                  </a:txBody>
                  <a:tcPr>
                    <a:solidFill>
                      <a:srgbClr val="F2F2F2"/>
                    </a:solidFill>
                  </a:tcPr>
                </a:tc>
                <a:tc>
                  <a:txBody>
                    <a:bodyPr/>
                    <a:lstStyle/>
                    <a:p>
                      <a:pPr>
                        <a:defRPr sz="700">
                          <a:solidFill>
                            <a:srgbClr val="333333"/>
                          </a:solidFill>
                        </a:defRPr>
                      </a:pPr>
                      <a:r>
                        <a:t>7</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Overall Performance</a:t>
                      </a:r>
                    </a:p>
                  </a:txBody>
                  <a:tcPr>
                    <a:solidFill>
                      <a:srgbClr val="FFFFFF"/>
                    </a:solidFill>
                  </a:tcPr>
                </a:tc>
                <a:tc>
                  <a:txBody>
                    <a:bodyPr/>
                    <a:lstStyle/>
                    <a:p>
                      <a:pPr>
                        <a:defRPr sz="700">
                          <a:solidFill>
                            <a:srgbClr val="333333"/>
                          </a:solidFill>
                        </a:defRPr>
                      </a:pPr>
                      <a:r>
                        <a:t>AMBER</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1">
                          <a:solidFill>
                            <a:srgbClr val="333333"/>
                          </a:solidFill>
                        </a:defRPr>
                      </a:pPr>
                    </a:p>
                  </a:txBody>
                  <a:tcPr>
                    <a:solidFill>
                      <a:srgbClr val="FFC000"/>
                    </a:solidFill>
                  </a:tcPr>
                </a:tc>
              </a:tr>
            </a:tbl>
          </a:graphicData>
        </a:graphic>
      </p:graphicFrame>
      <p:sp>
        <p:nvSpPr>
          <p:cNvPr id="7" name="Rectangle 6"/>
          <p:cNvSpPr/>
          <p:nvPr/>
        </p:nvSpPr>
        <p:spPr>
          <a:xfrm>
            <a:off x="0" y="3346704"/>
            <a:ext cx="5943600" cy="1828800"/>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3419856"/>
            <a:ext cx="5669280" cy="1719072"/>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NOC data was processed successfully.</a:t>
            </a:r>
          </a:p>
          <a:p>
            <a:pPr>
              <a:defRPr sz="700">
                <a:solidFill>
                  <a:srgbClr val="1E5C2E"/>
                </a:solidFill>
              </a:defRPr>
            </a:pPr>
            <a:r>
              <a:t>✔  Automated KPI snapshot generated for this period.</a:t>
            </a:r>
          </a:p>
          <a:p>
            <a:pPr>
              <a:defRPr b="1" sz="750">
                <a:solidFill>
                  <a:srgbClr val="C00000"/>
                </a:solidFill>
              </a:defRPr>
            </a:pPr>
            <a:r>
              <a:t>Actions:</a:t>
            </a:r>
          </a:p>
          <a:p>
            <a:pPr>
              <a:defRPr sz="700">
                <a:solidFill>
                  <a:srgbClr val="333333"/>
                </a:solidFill>
              </a:defRPr>
            </a:pPr>
            <a:r>
              <a:t>→  AI analysis unavailable. Rule-based summary was applied.</a:t>
            </a:r>
          </a:p>
          <a:p>
            <a:pPr>
              <a:defRPr sz="700">
                <a:solidFill>
                  <a:srgbClr val="333333"/>
                </a:solidFill>
              </a:defRPr>
            </a:pPr>
            <a:r>
              <a:t>→  Review low-performing KPIs and assign action owners.</a:t>
            </a:r>
          </a:p>
        </p:txBody>
      </p:sp>
      <p:sp>
        <p:nvSpPr>
          <p:cNvPr id="9" name="Rectangle 8"/>
          <p:cNvSpPr/>
          <p:nvPr/>
        </p:nvSpPr>
        <p:spPr>
          <a:xfrm>
            <a:off x="5943600" y="1051560"/>
            <a:ext cx="6245352" cy="228600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143000"/>
            <a:ext cx="5879592" cy="2103120"/>
          </a:xfrm>
          <a:prstGeom prst="rect">
            <a:avLst/>
          </a:prstGeom>
          <a:noFill/>
        </p:spPr>
        <p:txBody>
          <a:bodyPr wrap="none">
            <a:spAutoFit/>
          </a:bodyPr>
          <a:lstStyle/>
          <a:p>
            <a:pPr>
              <a:defRPr b="1">
                <a:solidFill>
                  <a:srgbClr val="1F3864"/>
                </a:solidFill>
              </a:defRPr>
            </a:pPr>
            <a:r>
              <a:t>Key Achievements</a:t>
            </a:r>
          </a:p>
          <a:p>
            <a:pPr>
              <a:defRPr sz="864">
                <a:solidFill>
                  <a:srgbClr val="333333"/>
                </a:solidFill>
              </a:defRPr>
            </a:pPr>
            <a:r>
              <a:t>• NOC data was processed successfully.</a:t>
            </a:r>
          </a:p>
          <a:p>
            <a:pPr>
              <a:defRPr sz="864">
                <a:solidFill>
                  <a:srgbClr val="333333"/>
                </a:solidFill>
              </a:defRPr>
            </a:pPr>
            <a:r>
              <a:t>• Automated KPI snapshot generated for this period.</a:t>
            </a:r>
          </a:p>
        </p:txBody>
      </p:sp>
      <p:pic>
        <p:nvPicPr>
          <p:cNvPr id="11" name="Picture 10" descr="image.png"/>
          <p:cNvPicPr>
            <a:picLocks noChangeAspect="1"/>
          </p:cNvPicPr>
          <p:nvPr/>
        </p:nvPicPr>
        <p:blipFill>
          <a:blip r:embed="rId4"/>
          <a:stretch>
            <a:fillRect/>
          </a:stretch>
        </p:blipFill>
        <p:spPr>
          <a:xfrm>
            <a:off x="5943600" y="1051560"/>
            <a:ext cx="6245352" cy="2285006"/>
          </a:xfrm>
          <a:prstGeom prst="rect">
            <a:avLst/>
          </a:prstGeom>
        </p:spPr>
      </p:pic>
      <p:pic>
        <p:nvPicPr>
          <p:cNvPr id="12" name="Picture 11" descr="image.png"/>
          <p:cNvPicPr>
            <a:picLocks noChangeAspect="1"/>
          </p:cNvPicPr>
          <p:nvPr/>
        </p:nvPicPr>
        <p:blipFill>
          <a:blip r:embed="rId5"/>
          <a:stretch>
            <a:fillRect/>
          </a:stretch>
        </p:blipFill>
        <p:spPr>
          <a:xfrm>
            <a:off x="5943600" y="3428005"/>
            <a:ext cx="6245352" cy="225729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37160"/>
            <a:ext cx="9144000" cy="731520"/>
          </a:xfrm>
          <a:prstGeom prst="rect">
            <a:avLst/>
          </a:prstGeom>
          <a:noFill/>
        </p:spPr>
        <p:txBody>
          <a:bodyPr wrap="none">
            <a:spAutoFit/>
          </a:bodyPr>
          <a:lstStyle/>
          <a:p>
            <a:pPr>
              <a:defRPr sz="1440" b="1">
                <a:solidFill>
                  <a:srgbClr val="FFFFFF"/>
                </a:solidFill>
              </a:defRPr>
            </a:pPr>
            <a:r>
              <a:t>ServiceNow  |  20 Apr 2026</a:t>
            </a:r>
          </a:p>
        </p:txBody>
      </p:sp>
      <p:sp>
        <p:nvSpPr>
          <p:cNvPr id="4" name="Rectangle 3"/>
          <p:cNvSpPr/>
          <p:nvPr/>
        </p:nvSpPr>
        <p:spPr>
          <a:xfrm>
            <a:off x="0" y="1051560"/>
            <a:ext cx="5943600" cy="82296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143000"/>
            <a:ext cx="5577840" cy="64008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ServiceNow team has 4 data record(s) in the current reporting window. Performance highlights indicate Resolution Rate (&gt;95%): 95.2%, First Call Resolution (&gt;80%): 84.0%. Potential risk areas include First Call Resolution (&gt;80%): 84.0%, Resolution Rate (&gt;95%): 95.2%.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1920240"/>
          <a:ext cx="5943600" cy="1572768"/>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Resolution Rate</a:t>
                      </a:r>
                    </a:p>
                  </a:txBody>
                  <a:tcPr>
                    <a:solidFill>
                      <a:srgbClr val="FFFFFF"/>
                    </a:solidFill>
                  </a:tcPr>
                </a:tc>
                <a:tc>
                  <a:txBody>
                    <a:bodyPr/>
                    <a:lstStyle/>
                    <a:p>
                      <a:pPr>
                        <a:defRPr sz="700">
                          <a:solidFill>
                            <a:srgbClr val="333333"/>
                          </a:solidFill>
                        </a:defRPr>
                      </a:pPr>
                      <a:r>
                        <a:t>95.2%</a:t>
                      </a:r>
                    </a:p>
                  </a:txBody>
                  <a:tcPr>
                    <a:solidFill>
                      <a:srgbClr val="FFFFFF"/>
                    </a:solidFill>
                  </a:tcPr>
                </a:tc>
                <a:tc>
                  <a:txBody>
                    <a:bodyPr/>
                    <a:lstStyle/>
                    <a:p>
                      <a:pPr>
                        <a:defRPr sz="700">
                          <a:solidFill>
                            <a:srgbClr val="333333"/>
                          </a:solidFill>
                        </a:defRPr>
                      </a:pPr>
                      <a:r>
                        <a:t>&gt;95.0%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First Call Resolution</a:t>
                      </a:r>
                    </a:p>
                  </a:txBody>
                  <a:tcPr>
                    <a:solidFill>
                      <a:srgbClr val="F2F2F2"/>
                    </a:solidFill>
                  </a:tcPr>
                </a:tc>
                <a:tc>
                  <a:txBody>
                    <a:bodyPr/>
                    <a:lstStyle/>
                    <a:p>
                      <a:pPr>
                        <a:defRPr sz="700">
                          <a:solidFill>
                            <a:srgbClr val="333333"/>
                          </a:solidFill>
                        </a:defRPr>
                      </a:pPr>
                      <a:r>
                        <a:t>84.0%</a:t>
                      </a:r>
                    </a:p>
                  </a:txBody>
                  <a:tcPr>
                    <a:solidFill>
                      <a:srgbClr val="F2F2F2"/>
                    </a:solidFill>
                  </a:tcPr>
                </a:tc>
                <a:tc>
                  <a:txBody>
                    <a:bodyPr/>
                    <a:lstStyle/>
                    <a:p>
                      <a:pPr>
                        <a:defRPr sz="700">
                          <a:solidFill>
                            <a:srgbClr val="333333"/>
                          </a:solidFill>
                        </a:defRPr>
                      </a:pPr>
                      <a:r>
                        <a:t>&gt;80.0%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Total Tickets</a:t>
                      </a:r>
                    </a:p>
                  </a:txBody>
                  <a:tcPr>
                    <a:solidFill>
                      <a:srgbClr val="FFFFFF"/>
                    </a:solidFill>
                  </a:tcPr>
                </a:tc>
                <a:tc>
                  <a:txBody>
                    <a:bodyPr/>
                    <a:lstStyle/>
                    <a:p>
                      <a:pPr>
                        <a:defRPr sz="700">
                          <a:solidFill>
                            <a:srgbClr val="333333"/>
                          </a:solidFill>
                        </a:defRPr>
                      </a:pPr>
                      <a:r>
                        <a:t>230</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Tickets Resolved</a:t>
                      </a:r>
                    </a:p>
                  </a:txBody>
                  <a:tcPr>
                    <a:solidFill>
                      <a:srgbClr val="F2F2F2"/>
                    </a:solidFill>
                  </a:tcPr>
                </a:tc>
                <a:tc>
                  <a:txBody>
                    <a:bodyPr/>
                    <a:lstStyle/>
                    <a:p>
                      <a:pPr>
                        <a:defRPr sz="700">
                          <a:solidFill>
                            <a:srgbClr val="333333"/>
                          </a:solidFill>
                        </a:defRPr>
                      </a:pPr>
                      <a:r>
                        <a:t>219</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CSAT Score (&gt;4.0 out of 5)</a:t>
                      </a:r>
                    </a:p>
                  </a:txBody>
                  <a:tcPr>
                    <a:solidFill>
                      <a:srgbClr val="FFFFFF"/>
                    </a:solidFill>
                  </a:tcPr>
                </a:tc>
                <a:tc>
                  <a:txBody>
                    <a:bodyPr/>
                    <a:lstStyle/>
                    <a:p>
                      <a:pPr>
                        <a:defRPr sz="700">
                          <a:solidFill>
                            <a:srgbClr val="333333"/>
                          </a:solidFill>
                        </a:defRPr>
                      </a:pPr>
                      <a:r>
                        <a:t>4.4</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Overall Performance</a:t>
                      </a:r>
                    </a:p>
                  </a:txBody>
                  <a:tcPr>
                    <a:solidFill>
                      <a:srgbClr val="F2F2F2"/>
                    </a:solidFill>
                  </a:tcPr>
                </a:tc>
                <a:tc>
                  <a:txBody>
                    <a:bodyPr/>
                    <a:lstStyle/>
                    <a:p>
                      <a:pPr>
                        <a:defRPr sz="700">
                          <a:solidFill>
                            <a:srgbClr val="333333"/>
                          </a:solidFill>
                        </a:defRPr>
                      </a:pPr>
                      <a:r>
                        <a:t>AMBER</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1">
                          <a:solidFill>
                            <a:srgbClr val="333333"/>
                          </a:solidFill>
                        </a:defRPr>
                      </a:pPr>
                    </a:p>
                  </a:txBody>
                  <a:tcPr>
                    <a:solidFill>
                      <a:srgbClr val="FFC000"/>
                    </a:solidFill>
                  </a:tcPr>
                </a:tc>
              </a:tr>
            </a:tbl>
          </a:graphicData>
        </a:graphic>
      </p:graphicFrame>
      <p:sp>
        <p:nvSpPr>
          <p:cNvPr id="7" name="Rectangle 6"/>
          <p:cNvSpPr/>
          <p:nvPr/>
        </p:nvSpPr>
        <p:spPr>
          <a:xfrm>
            <a:off x="0" y="3566160"/>
            <a:ext cx="5943600" cy="1828800"/>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3639312"/>
            <a:ext cx="5669280" cy="1719072"/>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ServiceNow data was processed successfully.</a:t>
            </a:r>
          </a:p>
          <a:p>
            <a:pPr>
              <a:defRPr sz="700">
                <a:solidFill>
                  <a:srgbClr val="1E5C2E"/>
                </a:solidFill>
              </a:defRPr>
            </a:pPr>
            <a:r>
              <a:t>✔  Automated KPI snapshot generated for this period.</a:t>
            </a:r>
          </a:p>
          <a:p>
            <a:pPr>
              <a:defRPr b="1" sz="750">
                <a:solidFill>
                  <a:srgbClr val="C00000"/>
                </a:solidFill>
              </a:defRPr>
            </a:pPr>
            <a:r>
              <a:t>Actions:</a:t>
            </a:r>
          </a:p>
          <a:p>
            <a:pPr>
              <a:defRPr sz="700">
                <a:solidFill>
                  <a:srgbClr val="333333"/>
                </a:solidFill>
              </a:defRPr>
            </a:pPr>
            <a:r>
              <a:t>→  AI analysis unavailable. Rule-based summary was applied.</a:t>
            </a:r>
          </a:p>
          <a:p>
            <a:pPr>
              <a:defRPr sz="700">
                <a:solidFill>
                  <a:srgbClr val="333333"/>
                </a:solidFill>
              </a:defRPr>
            </a:pPr>
            <a:r>
              <a:t>→  Review low-performing KPIs and assign action owners.</a:t>
            </a:r>
          </a:p>
        </p:txBody>
      </p:sp>
      <p:sp>
        <p:nvSpPr>
          <p:cNvPr id="9" name="Rectangle 8"/>
          <p:cNvSpPr/>
          <p:nvPr/>
        </p:nvSpPr>
        <p:spPr>
          <a:xfrm>
            <a:off x="5943600" y="1051560"/>
            <a:ext cx="6245352" cy="228600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143000"/>
            <a:ext cx="5879592" cy="2103120"/>
          </a:xfrm>
          <a:prstGeom prst="rect">
            <a:avLst/>
          </a:prstGeom>
          <a:noFill/>
        </p:spPr>
        <p:txBody>
          <a:bodyPr wrap="none">
            <a:spAutoFit/>
          </a:bodyPr>
          <a:lstStyle/>
          <a:p>
            <a:pPr>
              <a:defRPr b="1">
                <a:solidFill>
                  <a:srgbClr val="1F3864"/>
                </a:solidFill>
              </a:defRPr>
            </a:pPr>
            <a:r>
              <a:t>Key Achievements</a:t>
            </a:r>
          </a:p>
          <a:p>
            <a:pPr>
              <a:defRPr sz="864">
                <a:solidFill>
                  <a:srgbClr val="333333"/>
                </a:solidFill>
              </a:defRPr>
            </a:pPr>
            <a:r>
              <a:t>• ServiceNow data was processed successfully.</a:t>
            </a:r>
          </a:p>
          <a:p>
            <a:pPr>
              <a:defRPr sz="864">
                <a:solidFill>
                  <a:srgbClr val="333333"/>
                </a:solidFill>
              </a:defRPr>
            </a:pPr>
            <a:r>
              <a:t>• Automated KPI snapshot generated for this period.</a:t>
            </a:r>
          </a:p>
        </p:txBody>
      </p:sp>
      <p:pic>
        <p:nvPicPr>
          <p:cNvPr id="11" name="Picture 10" descr="image.png"/>
          <p:cNvPicPr>
            <a:picLocks noChangeAspect="1"/>
          </p:cNvPicPr>
          <p:nvPr/>
        </p:nvPicPr>
        <p:blipFill>
          <a:blip r:embed="rId4"/>
          <a:stretch>
            <a:fillRect/>
          </a:stretch>
        </p:blipFill>
        <p:spPr>
          <a:xfrm>
            <a:off x="5943600" y="1051560"/>
            <a:ext cx="6245352" cy="2233598"/>
          </a:xfrm>
          <a:prstGeom prst="rect">
            <a:avLst/>
          </a:prstGeom>
        </p:spPr>
      </p:pic>
      <p:pic>
        <p:nvPicPr>
          <p:cNvPr id="12" name="Picture 11" descr="image.png"/>
          <p:cNvPicPr>
            <a:picLocks noChangeAspect="1"/>
          </p:cNvPicPr>
          <p:nvPr/>
        </p:nvPicPr>
        <p:blipFill>
          <a:blip r:embed="rId5"/>
          <a:stretch>
            <a:fillRect/>
          </a:stretch>
        </p:blipFill>
        <p:spPr>
          <a:xfrm>
            <a:off x="5943600" y="3376597"/>
            <a:ext cx="6245352" cy="223359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37160"/>
            <a:ext cx="9144000" cy="731520"/>
          </a:xfrm>
          <a:prstGeom prst="rect">
            <a:avLst/>
          </a:prstGeom>
          <a:noFill/>
        </p:spPr>
        <p:txBody>
          <a:bodyPr wrap="none">
            <a:spAutoFit/>
          </a:bodyPr>
          <a:lstStyle/>
          <a:p>
            <a:pPr>
              <a:defRPr sz="1440" b="1">
                <a:solidFill>
                  <a:srgbClr val="FFFFFF"/>
                </a:solidFill>
              </a:defRPr>
            </a:pPr>
            <a:r>
              <a:t>Service Desk  |  20 Apr 2026</a:t>
            </a:r>
          </a:p>
        </p:txBody>
      </p:sp>
      <p:sp>
        <p:nvSpPr>
          <p:cNvPr id="4" name="Rectangle 3"/>
          <p:cNvSpPr/>
          <p:nvPr/>
        </p:nvSpPr>
        <p:spPr>
          <a:xfrm>
            <a:off x="0" y="1051560"/>
            <a:ext cx="5943600" cy="82296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 y="1143000"/>
            <a:ext cx="5577840" cy="640080"/>
          </a:xfrm>
          <a:prstGeom prst="rect">
            <a:avLst/>
          </a:prstGeom>
          <a:noFill/>
        </p:spPr>
        <p:txBody>
          <a:bodyPr wrap="square">
            <a:spAutoFit/>
          </a:bodyPr>
          <a:lstStyle/>
          <a:p>
            <a:pPr>
              <a:defRPr b="1" sz="1008">
                <a:solidFill>
                  <a:srgbClr val="1F3864"/>
                </a:solidFill>
              </a:defRPr>
            </a:pPr>
            <a:r>
              <a:t>Summary</a:t>
            </a:r>
          </a:p>
          <a:p>
            <a:pPr>
              <a:defRPr sz="864">
                <a:solidFill>
                  <a:srgbClr val="333333"/>
                </a:solidFill>
              </a:defRPr>
            </a:pPr>
            <a:r>
              <a:t>The Service Desk team has 4 data record(s) in the current reporting window. Performance highlights indicate SLA Compliance (&gt;95%): 96.5%, FCR Rate (&gt;80%): 82.9%. Potential risk areas include FCR Rate (&gt;80%): 82.9%, SLA Compliance (&gt;95%): 96.5%. Recommended action is to sustain high-performing KPIs while prioritizing targeted corrective actions for underperforming indicators in the next cycle.</a:t>
            </a:r>
          </a:p>
        </p:txBody>
      </p:sp>
      <p:graphicFrame>
        <p:nvGraphicFramePr>
          <p:cNvPr id="6" name="Table 5"/>
          <p:cNvGraphicFramePr>
            <a:graphicFrameLocks noGrp="1"/>
          </p:cNvGraphicFramePr>
          <p:nvPr/>
        </p:nvGraphicFramePr>
        <p:xfrm>
          <a:off x="0" y="1920240"/>
          <a:ext cx="5943600" cy="1572768"/>
        </p:xfrm>
        <a:graphic>
          <a:graphicData uri="http://schemas.openxmlformats.org/drawingml/2006/table">
            <a:tbl>
              <a:tblPr firstRow="1" bandRow="1">
                <a:tableStyleId>{5C22544A-7EE6-4342-B048-85BDC9FD1C3A}</a:tableStyleId>
              </a:tblPr>
              <a:tblGrid>
                <a:gridCol w="2286000"/>
                <a:gridCol w="868680"/>
                <a:gridCol w="1005840"/>
                <a:gridCol w="1783080"/>
              </a:tblGrid>
              <a:tr h="256032">
                <a:tc>
                  <a:txBody>
                    <a:bodyPr/>
                    <a:lstStyle/>
                    <a:p>
                      <a:pPr>
                        <a:defRPr b="1" sz="800">
                          <a:solidFill>
                            <a:srgbClr val="FFFFFF"/>
                          </a:solidFill>
                        </a:defRPr>
                      </a:pPr>
                      <a:r>
                        <a:t>KPI / Metric</a:t>
                      </a:r>
                    </a:p>
                  </a:txBody>
                  <a:tcPr>
                    <a:solidFill>
                      <a:srgbClr val="1F3864"/>
                    </a:solidFill>
                  </a:tcPr>
                </a:tc>
                <a:tc>
                  <a:txBody>
                    <a:bodyPr/>
                    <a:lstStyle/>
                    <a:p>
                      <a:pPr>
                        <a:defRPr b="1" sz="800">
                          <a:solidFill>
                            <a:srgbClr val="FFFFFF"/>
                          </a:solidFill>
                        </a:defRPr>
                      </a:pPr>
                      <a:r>
                        <a:t>Latest</a:t>
                      </a:r>
                    </a:p>
                  </a:txBody>
                  <a:tcPr>
                    <a:solidFill>
                      <a:srgbClr val="1F3864"/>
                    </a:solidFill>
                  </a:tcPr>
                </a:tc>
                <a:tc>
                  <a:txBody>
                    <a:bodyPr/>
                    <a:lstStyle/>
                    <a:p>
                      <a:pPr>
                        <a:defRPr b="1" sz="800">
                          <a:solidFill>
                            <a:srgbClr val="FFFFFF"/>
                          </a:solidFill>
                        </a:defRPr>
                      </a:pPr>
                      <a:r>
                        <a:t>Target</a:t>
                      </a:r>
                    </a:p>
                  </a:txBody>
                  <a:tcPr>
                    <a:solidFill>
                      <a:srgbClr val="1F3864"/>
                    </a:solidFill>
                  </a:tcPr>
                </a:tc>
                <a:tc>
                  <a:txBody>
                    <a:bodyPr/>
                    <a:lstStyle/>
                    <a:p>
                      <a:pPr>
                        <a:defRPr b="1" sz="800">
                          <a:solidFill>
                            <a:srgbClr val="FFFFFF"/>
                          </a:solidFill>
                        </a:defRPr>
                      </a:pPr>
                      <a:r>
                        <a:t>Status</a:t>
                      </a:r>
                    </a:p>
                  </a:txBody>
                  <a:tcPr>
                    <a:solidFill>
                      <a:srgbClr val="1F3864"/>
                    </a:solidFill>
                  </a:tcPr>
                </a:tc>
              </a:tr>
              <a:tr h="219456">
                <a:tc>
                  <a:txBody>
                    <a:bodyPr/>
                    <a:lstStyle/>
                    <a:p>
                      <a:pPr>
                        <a:defRPr sz="700">
                          <a:solidFill>
                            <a:srgbClr val="333333"/>
                          </a:solidFill>
                        </a:defRPr>
                      </a:pPr>
                      <a:r>
                        <a:t>FCR Rate</a:t>
                      </a:r>
                    </a:p>
                  </a:txBody>
                  <a:tcPr>
                    <a:solidFill>
                      <a:srgbClr val="FFFFFF"/>
                    </a:solidFill>
                  </a:tcPr>
                </a:tc>
                <a:tc>
                  <a:txBody>
                    <a:bodyPr/>
                    <a:lstStyle/>
                    <a:p>
                      <a:pPr>
                        <a:defRPr sz="700">
                          <a:solidFill>
                            <a:srgbClr val="333333"/>
                          </a:solidFill>
                        </a:defRPr>
                      </a:pPr>
                      <a:r>
                        <a:t>82.9%</a:t>
                      </a:r>
                    </a:p>
                  </a:txBody>
                  <a:tcPr>
                    <a:solidFill>
                      <a:srgbClr val="FFFFFF"/>
                    </a:solidFill>
                  </a:tcPr>
                </a:tc>
                <a:tc>
                  <a:txBody>
                    <a:bodyPr/>
                    <a:lstStyle/>
                    <a:p>
                      <a:pPr>
                        <a:defRPr sz="700">
                          <a:solidFill>
                            <a:srgbClr val="333333"/>
                          </a:solidFill>
                        </a:defRPr>
                      </a:pPr>
                      <a:r>
                        <a:t>&gt;80.0%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Avg Handle Time Mins</a:t>
                      </a:r>
                    </a:p>
                  </a:txBody>
                  <a:tcPr>
                    <a:solidFill>
                      <a:srgbClr val="F2F2F2"/>
                    </a:solidFill>
                  </a:tcPr>
                </a:tc>
                <a:tc>
                  <a:txBody>
                    <a:bodyPr/>
                    <a:lstStyle/>
                    <a:p>
                      <a:pPr>
                        <a:defRPr sz="700">
                          <a:solidFill>
                            <a:srgbClr val="333333"/>
                          </a:solidFill>
                        </a:defRPr>
                      </a:pPr>
                      <a:r>
                        <a:t>8.4</a:t>
                      </a:r>
                    </a:p>
                  </a:txBody>
                  <a:tcPr>
                    <a:solidFill>
                      <a:srgbClr val="F2F2F2"/>
                    </a:solidFill>
                  </a:tcPr>
                </a:tc>
                <a:tc>
                  <a:txBody>
                    <a:bodyPr/>
                    <a:lstStyle/>
                    <a:p>
                      <a:pPr>
                        <a:defRPr sz="700">
                          <a:solidFill>
                            <a:srgbClr val="333333"/>
                          </a:solidFill>
                        </a:defRPr>
                      </a:pPr>
                      <a:r>
                        <a:t>&lt;10.0</a:t>
                      </a:r>
                    </a:p>
                  </a:txBody>
                  <a:tcPr>
                    <a:solidFill>
                      <a:srgbClr val="F2F2F2"/>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SLA Compliance</a:t>
                      </a:r>
                    </a:p>
                  </a:txBody>
                  <a:tcPr>
                    <a:solidFill>
                      <a:srgbClr val="FFFFFF"/>
                    </a:solidFill>
                  </a:tcPr>
                </a:tc>
                <a:tc>
                  <a:txBody>
                    <a:bodyPr/>
                    <a:lstStyle/>
                    <a:p>
                      <a:pPr>
                        <a:defRPr sz="700">
                          <a:solidFill>
                            <a:srgbClr val="333333"/>
                          </a:solidFill>
                        </a:defRPr>
                      </a:pPr>
                      <a:r>
                        <a:t>96.5%</a:t>
                      </a:r>
                    </a:p>
                  </a:txBody>
                  <a:tcPr>
                    <a:solidFill>
                      <a:srgbClr val="FFFFFF"/>
                    </a:solidFill>
                  </a:tcPr>
                </a:tc>
                <a:tc>
                  <a:txBody>
                    <a:bodyPr/>
                    <a:lstStyle/>
                    <a:p>
                      <a:pPr>
                        <a:defRPr sz="700">
                          <a:solidFill>
                            <a:srgbClr val="333333"/>
                          </a:solidFill>
                        </a:defRPr>
                      </a:pPr>
                      <a:r>
                        <a:t>&gt;95.0%</a:t>
                      </a:r>
                    </a:p>
                  </a:txBody>
                  <a:tcPr>
                    <a:solidFill>
                      <a:srgbClr val="FFFFFF"/>
                    </a:solidFill>
                  </a:tcPr>
                </a:tc>
                <a:tc>
                  <a:txBody>
                    <a:bodyPr/>
                    <a:lstStyle/>
                    <a:p>
                      <a:pPr>
                        <a:defRPr sz="700" b="1">
                          <a:solidFill>
                            <a:srgbClr val="FFFFFF"/>
                          </a:solidFill>
                        </a:defRPr>
                      </a:pPr>
                    </a:p>
                  </a:txBody>
                  <a:tcPr>
                    <a:solidFill>
                      <a:srgbClr val="1E5C2E"/>
                    </a:solidFill>
                  </a:tcPr>
                </a:tc>
              </a:tr>
              <a:tr h="219456">
                <a:tc>
                  <a:txBody>
                    <a:bodyPr/>
                    <a:lstStyle/>
                    <a:p>
                      <a:pPr>
                        <a:defRPr sz="700">
                          <a:solidFill>
                            <a:srgbClr val="333333"/>
                          </a:solidFill>
                        </a:defRPr>
                      </a:pPr>
                      <a:r>
                        <a:t>Calls Received</a:t>
                      </a:r>
                    </a:p>
                  </a:txBody>
                  <a:tcPr>
                    <a:solidFill>
                      <a:srgbClr val="F2F2F2"/>
                    </a:solidFill>
                  </a:tcPr>
                </a:tc>
                <a:tc>
                  <a:txBody>
                    <a:bodyPr/>
                    <a:lstStyle/>
                    <a:p>
                      <a:pPr>
                        <a:defRPr sz="700">
                          <a:solidFill>
                            <a:srgbClr val="333333"/>
                          </a:solidFill>
                        </a:defRPr>
                      </a:pPr>
                      <a:r>
                        <a:t>310</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Calls Resolved</a:t>
                      </a:r>
                    </a:p>
                  </a:txBody>
                  <a:tcPr>
                    <a:solidFill>
                      <a:srgbClr val="FFFFFF"/>
                    </a:solidFill>
                  </a:tcPr>
                </a:tc>
                <a:tc>
                  <a:txBody>
                    <a:bodyPr/>
                    <a:lstStyle/>
                    <a:p>
                      <a:pPr>
                        <a:defRPr sz="700">
                          <a:solidFill>
                            <a:srgbClr val="333333"/>
                          </a:solidFill>
                        </a:defRPr>
                      </a:pPr>
                      <a:r>
                        <a:t>288</a:t>
                      </a:r>
                    </a:p>
                  </a:txBody>
                  <a:tcPr>
                    <a:solidFill>
                      <a:srgbClr val="FFFFFF"/>
                    </a:solidFill>
                  </a:tcPr>
                </a:tc>
                <a:tc>
                  <a:txBody>
                    <a:bodyPr/>
                    <a:lstStyle/>
                    <a:p>
                      <a:pPr>
                        <a:defRPr sz="700">
                          <a:solidFill>
                            <a:srgbClr val="333333"/>
                          </a:solidFill>
                        </a:defRPr>
                      </a:pPr>
                      <a:r>
                        <a:t>—</a:t>
                      </a:r>
                    </a:p>
                  </a:txBody>
                  <a:tcPr>
                    <a:solidFill>
                      <a:srgbClr val="FFFFFF"/>
                    </a:solidFill>
                  </a:tcPr>
                </a:tc>
                <a:tc>
                  <a:txBody>
                    <a:bodyPr/>
                    <a:lstStyle/>
                    <a:p>
                      <a:pPr>
                        <a:defRPr sz="700" b="0">
                          <a:solidFill>
                            <a:srgbClr val="FFFFFF"/>
                          </a:solidFill>
                        </a:defRPr>
                      </a:pPr>
                      <a:r>
                        <a:t>INFO</a:t>
                      </a:r>
                    </a:p>
                  </a:txBody>
                  <a:tcPr>
                    <a:solidFill>
                      <a:srgbClr val="2E75B6"/>
                    </a:solidFill>
                  </a:tcPr>
                </a:tc>
              </a:tr>
              <a:tr h="219456">
                <a:tc>
                  <a:txBody>
                    <a:bodyPr/>
                    <a:lstStyle/>
                    <a:p>
                      <a:pPr>
                        <a:defRPr sz="700">
                          <a:solidFill>
                            <a:srgbClr val="333333"/>
                          </a:solidFill>
                        </a:defRPr>
                      </a:pPr>
                      <a:r>
                        <a:t>Overall Performance</a:t>
                      </a:r>
                    </a:p>
                  </a:txBody>
                  <a:tcPr>
                    <a:solidFill>
                      <a:srgbClr val="F2F2F2"/>
                    </a:solidFill>
                  </a:tcPr>
                </a:tc>
                <a:tc>
                  <a:txBody>
                    <a:bodyPr/>
                    <a:lstStyle/>
                    <a:p>
                      <a:pPr>
                        <a:defRPr sz="700">
                          <a:solidFill>
                            <a:srgbClr val="333333"/>
                          </a:solidFill>
                        </a:defRPr>
                      </a:pPr>
                      <a:r>
                        <a:t>AMBER</a:t>
                      </a:r>
                    </a:p>
                  </a:txBody>
                  <a:tcPr>
                    <a:solidFill>
                      <a:srgbClr val="F2F2F2"/>
                    </a:solidFill>
                  </a:tcPr>
                </a:tc>
                <a:tc>
                  <a:txBody>
                    <a:bodyPr/>
                    <a:lstStyle/>
                    <a:p>
                      <a:pPr>
                        <a:defRPr sz="700">
                          <a:solidFill>
                            <a:srgbClr val="333333"/>
                          </a:solidFill>
                        </a:defRPr>
                      </a:pPr>
                      <a:r>
                        <a:t>—</a:t>
                      </a:r>
                    </a:p>
                  </a:txBody>
                  <a:tcPr>
                    <a:solidFill>
                      <a:srgbClr val="F2F2F2"/>
                    </a:solidFill>
                  </a:tcPr>
                </a:tc>
                <a:tc>
                  <a:txBody>
                    <a:bodyPr/>
                    <a:lstStyle/>
                    <a:p>
                      <a:pPr>
                        <a:defRPr sz="700" b="1">
                          <a:solidFill>
                            <a:srgbClr val="333333"/>
                          </a:solidFill>
                        </a:defRPr>
                      </a:pPr>
                    </a:p>
                  </a:txBody>
                  <a:tcPr>
                    <a:solidFill>
                      <a:srgbClr val="FFC000"/>
                    </a:solidFill>
                  </a:tcPr>
                </a:tc>
              </a:tr>
            </a:tbl>
          </a:graphicData>
        </a:graphic>
      </p:graphicFrame>
      <p:sp>
        <p:nvSpPr>
          <p:cNvPr id="7" name="Rectangle 6"/>
          <p:cNvSpPr/>
          <p:nvPr/>
        </p:nvSpPr>
        <p:spPr>
          <a:xfrm>
            <a:off x="0" y="3566160"/>
            <a:ext cx="5943600" cy="1828800"/>
          </a:xfrm>
          <a:prstGeom prst="rect">
            <a:avLst/>
          </a:prstGeom>
          <a:solidFill>
            <a:srgbClr val="F0F7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 y="3639312"/>
            <a:ext cx="5669280" cy="1719072"/>
          </a:xfrm>
          <a:prstGeom prst="rect">
            <a:avLst/>
          </a:prstGeom>
          <a:noFill/>
        </p:spPr>
        <p:txBody>
          <a:bodyPr wrap="square">
            <a:spAutoFit/>
          </a:bodyPr>
          <a:lstStyle/>
          <a:p>
            <a:pPr>
              <a:defRPr b="1" sz="800">
                <a:solidFill>
                  <a:srgbClr val="1F3864"/>
                </a:solidFill>
              </a:defRPr>
            </a:pPr>
            <a:r>
              <a:t>Key Achievements &amp; Recommended Actions</a:t>
            </a:r>
          </a:p>
          <a:p>
            <a:pPr>
              <a:defRPr sz="700">
                <a:solidFill>
                  <a:srgbClr val="1E5C2E"/>
                </a:solidFill>
              </a:defRPr>
            </a:pPr>
            <a:r>
              <a:t>✔  Service Desk data was processed successfully.</a:t>
            </a:r>
          </a:p>
          <a:p>
            <a:pPr>
              <a:defRPr sz="700">
                <a:solidFill>
                  <a:srgbClr val="1E5C2E"/>
                </a:solidFill>
              </a:defRPr>
            </a:pPr>
            <a:r>
              <a:t>✔  Automated KPI snapshot generated for this period.</a:t>
            </a:r>
          </a:p>
          <a:p>
            <a:pPr>
              <a:defRPr b="1" sz="750">
                <a:solidFill>
                  <a:srgbClr val="C00000"/>
                </a:solidFill>
              </a:defRPr>
            </a:pPr>
            <a:r>
              <a:t>Actions:</a:t>
            </a:r>
          </a:p>
          <a:p>
            <a:pPr>
              <a:defRPr sz="700">
                <a:solidFill>
                  <a:srgbClr val="333333"/>
                </a:solidFill>
              </a:defRPr>
            </a:pPr>
            <a:r>
              <a:t>→  AI analysis unavailable. Rule-based summary was applied.</a:t>
            </a:r>
          </a:p>
          <a:p>
            <a:pPr>
              <a:defRPr sz="700">
                <a:solidFill>
                  <a:srgbClr val="333333"/>
                </a:solidFill>
              </a:defRPr>
            </a:pPr>
            <a:r>
              <a:t>→  Review low-performing KPIs and assign action owners.</a:t>
            </a:r>
          </a:p>
        </p:txBody>
      </p:sp>
      <p:sp>
        <p:nvSpPr>
          <p:cNvPr id="9" name="Rectangle 8"/>
          <p:cNvSpPr/>
          <p:nvPr/>
        </p:nvSpPr>
        <p:spPr>
          <a:xfrm>
            <a:off x="5943600" y="1051560"/>
            <a:ext cx="6245352" cy="2286000"/>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143000"/>
            <a:ext cx="5879592" cy="2103120"/>
          </a:xfrm>
          <a:prstGeom prst="rect">
            <a:avLst/>
          </a:prstGeom>
          <a:noFill/>
        </p:spPr>
        <p:txBody>
          <a:bodyPr wrap="none">
            <a:spAutoFit/>
          </a:bodyPr>
          <a:lstStyle/>
          <a:p>
            <a:pPr>
              <a:defRPr b="1">
                <a:solidFill>
                  <a:srgbClr val="1F3864"/>
                </a:solidFill>
              </a:defRPr>
            </a:pPr>
            <a:r>
              <a:t>Key Achievements</a:t>
            </a:r>
          </a:p>
          <a:p>
            <a:pPr>
              <a:defRPr sz="864">
                <a:solidFill>
                  <a:srgbClr val="333333"/>
                </a:solidFill>
              </a:defRPr>
            </a:pPr>
            <a:r>
              <a:t>• Service Desk data was processed successfully.</a:t>
            </a:r>
          </a:p>
          <a:p>
            <a:pPr>
              <a:defRPr sz="864">
                <a:solidFill>
                  <a:srgbClr val="333333"/>
                </a:solidFill>
              </a:defRPr>
            </a:pPr>
            <a:r>
              <a:t>• Automated KPI snapshot generated for this period.</a:t>
            </a:r>
          </a:p>
        </p:txBody>
      </p:sp>
      <p:pic>
        <p:nvPicPr>
          <p:cNvPr id="11" name="Picture 10" descr="image.png"/>
          <p:cNvPicPr>
            <a:picLocks noChangeAspect="1"/>
          </p:cNvPicPr>
          <p:nvPr/>
        </p:nvPicPr>
        <p:blipFill>
          <a:blip r:embed="rId4"/>
          <a:stretch>
            <a:fillRect/>
          </a:stretch>
        </p:blipFill>
        <p:spPr>
          <a:xfrm>
            <a:off x="5943600" y="1051560"/>
            <a:ext cx="6245352" cy="2257297"/>
          </a:xfrm>
          <a:prstGeom prst="rect">
            <a:avLst/>
          </a:prstGeom>
        </p:spPr>
      </p:pic>
      <p:pic>
        <p:nvPicPr>
          <p:cNvPr id="12" name="Picture 11" descr="image.png"/>
          <p:cNvPicPr>
            <a:picLocks noChangeAspect="1"/>
          </p:cNvPicPr>
          <p:nvPr/>
        </p:nvPicPr>
        <p:blipFill>
          <a:blip r:embed="rId5"/>
          <a:stretch>
            <a:fillRect/>
          </a:stretch>
        </p:blipFill>
        <p:spPr>
          <a:xfrm>
            <a:off x="5943600" y="3400297"/>
            <a:ext cx="6245352" cy="223359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