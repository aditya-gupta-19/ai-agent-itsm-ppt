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00.xml" ContentType="application/vnd.openxmlformats-officedocument.drawingml.chart+xml"/>
  <Override PartName="/ppt/charts/chart101.xml" ContentType="application/vnd.openxmlformats-officedocument.drawingml.chart+xml"/>
  <Override PartName="/ppt/charts/chart102.xml" ContentType="application/vnd.openxmlformats-officedocument.drawingml.chart+xml"/>
  <Override PartName="/ppt/charts/chart103.xml" ContentType="application/vnd.openxmlformats-officedocument.drawingml.chart+xml"/>
  <Override PartName="/ppt/charts/chart104.xml" ContentType="application/vnd.openxmlformats-officedocument.drawingml.chart+xml"/>
  <Override PartName="/ppt/charts/chart105.xml" ContentType="application/vnd.openxmlformats-officedocument.drawingml.chart+xml"/>
  <Override PartName="/ppt/charts/chart106.xml" ContentType="application/vnd.openxmlformats-officedocument.drawingml.chart+xml"/>
  <Override PartName="/ppt/charts/chart107.xml" ContentType="application/vnd.openxmlformats-officedocument.drawingml.chart+xml"/>
  <Override PartName="/ppt/charts/chart108.xml" ContentType="application/vnd.openxmlformats-officedocument.drawingml.chart+xml"/>
  <Override PartName="/ppt/charts/chart109.xml" ContentType="application/vnd.openxmlformats-officedocument.drawingml.chart+xml"/>
  <Override PartName="/ppt/charts/chart11.xml" ContentType="application/vnd.openxmlformats-officedocument.drawingml.chart+xml"/>
  <Override PartName="/ppt/charts/chart110.xml" ContentType="application/vnd.openxmlformats-officedocument.drawingml.chart+xml"/>
  <Override PartName="/ppt/charts/chart111.xml" ContentType="application/vnd.openxmlformats-officedocument.drawingml.chart+xml"/>
  <Override PartName="/ppt/charts/chart112.xml" ContentType="application/vnd.openxmlformats-officedocument.drawingml.chart+xml"/>
  <Override PartName="/ppt/charts/chart113.xml" ContentType="application/vnd.openxmlformats-officedocument.drawingml.chart+xml"/>
  <Override PartName="/ppt/charts/chart114.xml" ContentType="application/vnd.openxmlformats-officedocument.drawingml.chart+xml"/>
  <Override PartName="/ppt/charts/chart115.xml" ContentType="application/vnd.openxmlformats-officedocument.drawingml.chart+xml"/>
  <Override PartName="/ppt/charts/chart116.xml" ContentType="application/vnd.openxmlformats-officedocument.drawingml.chart+xml"/>
  <Override PartName="/ppt/charts/chart117.xml" ContentType="application/vnd.openxmlformats-officedocument.drawingml.chart+xml"/>
  <Override PartName="/ppt/charts/chart118.xml" ContentType="application/vnd.openxmlformats-officedocument.drawingml.chart+xml"/>
  <Override PartName="/ppt/charts/chart119.xml" ContentType="application/vnd.openxmlformats-officedocument.drawingml.chart+xml"/>
  <Override PartName="/ppt/charts/chart12.xml" ContentType="application/vnd.openxmlformats-officedocument.drawingml.chart+xml"/>
  <Override PartName="/ppt/charts/chart120.xml" ContentType="application/vnd.openxmlformats-officedocument.drawingml.chart+xml"/>
  <Override PartName="/ppt/charts/chart121.xml" ContentType="application/vnd.openxmlformats-officedocument.drawingml.chart+xml"/>
  <Override PartName="/ppt/charts/chart122.xml" ContentType="application/vnd.openxmlformats-officedocument.drawingml.chart+xml"/>
  <Override PartName="/ppt/charts/chart123.xml" ContentType="application/vnd.openxmlformats-officedocument.drawingml.chart+xml"/>
  <Override PartName="/ppt/charts/chart124.xml" ContentType="application/vnd.openxmlformats-officedocument.drawingml.chart+xml"/>
  <Override PartName="/ppt/charts/chart125.xml" ContentType="application/vnd.openxmlformats-officedocument.drawingml.chart+xml"/>
  <Override PartName="/ppt/charts/chart126.xml" ContentType="application/vnd.openxmlformats-officedocument.drawingml.chart+xml"/>
  <Override PartName="/ppt/charts/chart127.xml" ContentType="application/vnd.openxmlformats-officedocument.drawingml.chart+xml"/>
  <Override PartName="/ppt/charts/chart128.xml" ContentType="application/vnd.openxmlformats-officedocument.drawingml.chart+xml"/>
  <Override PartName="/ppt/charts/chart129.xml" ContentType="application/vnd.openxmlformats-officedocument.drawingml.chart+xml"/>
  <Override PartName="/ppt/charts/chart13.xml" ContentType="application/vnd.openxmlformats-officedocument.drawingml.chart+xml"/>
  <Override PartName="/ppt/charts/chart130.xml" ContentType="application/vnd.openxmlformats-officedocument.drawingml.chart+xml"/>
  <Override PartName="/ppt/charts/chart131.xml" ContentType="application/vnd.openxmlformats-officedocument.drawingml.chart+xml"/>
  <Override PartName="/ppt/charts/chart132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.xml" ContentType="application/vnd.openxmlformats-officedocument.drawingml.chart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charts/chart98.xml" ContentType="application/vnd.openxmlformats-officedocument.drawingml.chart+xml"/>
  <Override PartName="/ppt/charts/chart9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88952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6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6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6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6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6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6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6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6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6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6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7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_rels/chart7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9.xlsx"/></Relationships>
</file>

<file path=ppt/charts/_rels/chart7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0.xlsx"/></Relationships>
</file>

<file path=ppt/charts/_rels/chart7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1.xlsx"/></Relationships>
</file>

<file path=ppt/charts/_rels/chart7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2.xlsx"/></Relationships>
</file>

<file path=ppt/charts/_rels/chart7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3.xlsx"/></Relationships>
</file>

<file path=ppt/charts/_rels/chart7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4.xlsx"/></Relationships>
</file>

<file path=ppt/charts/_rels/chart7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5.xlsx"/></Relationships>
</file>

<file path=ppt/charts/_rels/chart7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6.xlsx"/></Relationships>
</file>

<file path=ppt/charts/_rels/chart7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7.xlsx"/></Relationships>
</file>

<file path=ppt/charts/_rels/chart8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8.xlsx"/></Relationships>
</file>

<file path=ppt/charts/_rels/chart8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9.xlsx"/></Relationships>
</file>

<file path=ppt/charts/_rels/chart8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0.xlsx"/></Relationships>
</file>

<file path=ppt/charts/_rels/chart8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1.xlsx"/></Relationships>
</file>

<file path=ppt/charts/_rels/chart8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2.xlsx"/></Relationships>
</file>

<file path=ppt/charts/_rels/chart8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3.xlsx"/></Relationships>
</file>

<file path=ppt/charts/_rels/chart8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4.xlsx"/></Relationships>
</file>

<file path=ppt/charts/_rels/chart8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5.xlsx"/></Relationships>
</file>

<file path=ppt/charts/_rels/chart8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6.xlsx"/></Relationships>
</file>

<file path=ppt/charts/_rels/chart8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7.xlsx"/></Relationships>
</file>

<file path=ppt/charts/_rels/chart9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8.xlsx"/></Relationships>
</file>

<file path=ppt/charts/_rels/chart9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9.xlsx"/></Relationships>
</file>

<file path=ppt/charts/_rels/chart9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0.xlsx"/></Relationships>
</file>

<file path=ppt/charts/_rels/chart9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1.xlsx"/></Relationships>
</file>

<file path=ppt/charts/_rels/chart9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2.xlsx"/></Relationships>
</file>

<file path=ppt/charts/_rels/chart9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3.xlsx"/></Relationships>
</file>

<file path=ppt/charts/_rels/chart9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4.xlsx"/></Relationships>
</file>

<file path=ppt/charts/_rels/chart9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5.xlsx"/></Relationships>
</file>

<file path=ppt/charts/_rels/chart9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6.xlsx"/></Relationships>
</file>

<file path=ppt/charts/_rels/chart9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7.xlsx"/></Relationships>
</file>

<file path=ppt/charts/_rels/chart10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8.xlsx"/></Relationships>
</file>

<file path=ppt/charts/_rels/chart10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9.xlsx"/></Relationships>
</file>

<file path=ppt/charts/_rels/chart10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0.xlsx"/></Relationships>
</file>

<file path=ppt/charts/_rels/chart10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1.xlsx"/></Relationships>
</file>

<file path=ppt/charts/_rels/chart10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2.xlsx"/></Relationships>
</file>

<file path=ppt/charts/_rels/chart10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3.xlsx"/></Relationships>
</file>

<file path=ppt/charts/_rels/chart10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4.xlsx"/></Relationships>
</file>

<file path=ppt/charts/_rels/chart10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5.xlsx"/></Relationships>
</file>

<file path=ppt/charts/_rels/chart10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6.xlsx"/></Relationships>
</file>

<file path=ppt/charts/_rels/chart10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7.xlsx"/></Relationships>
</file>

<file path=ppt/charts/_rels/chart1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8.xlsx"/></Relationships>
</file>

<file path=ppt/charts/_rels/chart1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9.xlsx"/></Relationships>
</file>

<file path=ppt/charts/_rels/chart1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0.xlsx"/></Relationships>
</file>

<file path=ppt/charts/_rels/chart1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1.xlsx"/></Relationships>
</file>

<file path=ppt/charts/_rels/chart1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2.xlsx"/></Relationships>
</file>

<file path=ppt/charts/_rels/chart1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3.xlsx"/></Relationships>
</file>

<file path=ppt/charts/_rels/chart1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4.xlsx"/></Relationships>
</file>

<file path=ppt/charts/_rels/chart1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5.xlsx"/></Relationships>
</file>

<file path=ppt/charts/_rels/chart1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6.xlsx"/></Relationships>
</file>

<file path=ppt/charts/_rels/chart1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7.xlsx"/></Relationships>
</file>

<file path=ppt/charts/_rels/chart1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8.xlsx"/></Relationships>
</file>

<file path=ppt/charts/_rels/chart1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9.xlsx"/></Relationships>
</file>

<file path=ppt/charts/_rels/chart1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0.xlsx"/></Relationships>
</file>

<file path=ppt/charts/_rels/chart1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1.xlsx"/></Relationships>
</file>

<file path=ppt/charts/_rels/chart1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2.xlsx"/></Relationships>
</file>

<file path=ppt/charts/_rels/chart1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3.xlsx"/></Relationships>
</file>

<file path=ppt/charts/_rels/chart1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4.xlsx"/></Relationships>
</file>

<file path=ppt/charts/_rels/chart1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5.xlsx"/></Relationships>
</file>

<file path=ppt/charts/_rels/chart1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6.xlsx"/></Relationships>
</file>

<file path=ppt/charts/_rels/chart1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7.xlsx"/></Relationships>
</file>

<file path=ppt/charts/_rels/chart1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8.xlsx"/></Relationships>
</file>

<file path=ppt/charts/_rels/chart1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9.xlsx"/></Relationships>
</file>

<file path=ppt/charts/_rels/chart1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D71-4B1F-BD70-2C3F543D6A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D71-4B1F-BD70-2C3F543D6A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D71-4B1F-BD70-2C3F543D6A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1D-4983-A1F9-1FA07461C7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1D-4983-A1F9-1FA07461C7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61D-4983-A1F9-1FA07461C7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52</c:v>
                </c:pt>
                <c:pt idx="2">
                  <c:v>45</c:v>
                </c:pt>
                <c:pt idx="3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1E4-4E2D-918A-3B8C4DDC46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1E4-4E2D-918A-3B8C4DDC46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99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1E4-4E2D-918A-3B8C4DDC4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52</c:v>
                </c:pt>
                <c:pt idx="2">
                  <c:v>45</c:v>
                </c:pt>
                <c:pt idx="3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045-40E6-9890-9387168E61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045-40E6-9890-9387168E61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99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045-40E6-9890-9387168E6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B4D-4339-9AEB-AFAEDFAF5C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B4D-4339-9AEB-AFAEDFAF5C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B4D-4339-9AEB-AFAEDFAF5C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32-4D58-8AF9-632DF0A060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32-4D58-8AF9-632DF0A060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32-4D58-8AF9-632DF0A060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</c:v>
                </c:pt>
                <c:pt idx="1">
                  <c:v>1975</c:v>
                </c:pt>
                <c:pt idx="2">
                  <c:v>1723</c:v>
                </c:pt>
                <c:pt idx="3">
                  <c:v>1890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44-4C89-AC53-D03670C65D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</c:v>
                </c:pt>
                <c:pt idx="1">
                  <c:v>1680</c:v>
                </c:pt>
                <c:pt idx="2">
                  <c:v>1490</c:v>
                </c:pt>
                <c:pt idx="3">
                  <c:v>1610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44-4C89-AC53-D03670C65D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44-4C89-AC53-D03670C65D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</c:v>
                </c:pt>
                <c:pt idx="1">
                  <c:v>1610</c:v>
                </c:pt>
                <c:pt idx="2">
                  <c:v>5</c:v>
                </c:pt>
                <c:pt idx="3">
                  <c:v>2</c:v>
                </c:pt>
                <c:pt idx="4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4B-40F5-9F54-556B9958D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</c:v>
                </c:pt>
                <c:pt idx="1">
                  <c:v>225</c:v>
                </c:pt>
                <c:pt idx="2">
                  <c:v>198</c:v>
                </c:pt>
                <c:pt idx="3">
                  <c:v>230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E8-4F7F-8ACB-8D92566FC2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</c:v>
                </c:pt>
                <c:pt idx="1">
                  <c:v>215</c:v>
                </c:pt>
                <c:pt idx="2">
                  <c:v>192</c:v>
                </c:pt>
                <c:pt idx="3">
                  <c:v>219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DE8-4F7F-8ACB-8D92566FC2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DE8-4F7F-8ACB-8D92566FC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</c:v>
                </c:pt>
                <c:pt idx="1">
                  <c:v>225</c:v>
                </c:pt>
                <c:pt idx="2">
                  <c:v>198</c:v>
                </c:pt>
                <c:pt idx="3">
                  <c:v>230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46-4C1E-AF85-80C5FD2E2D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</c:v>
                </c:pt>
                <c:pt idx="1">
                  <c:v>215</c:v>
                </c:pt>
                <c:pt idx="2">
                  <c:v>192</c:v>
                </c:pt>
                <c:pt idx="3">
                  <c:v>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46-4C1E-AF85-80C5FD2E2D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646-4C1E-AF85-80C5FD2E2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305</c:v>
                </c:pt>
                <c:pt idx="2">
                  <c:v>340</c:v>
                </c:pt>
                <c:pt idx="3">
                  <c:v>310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F69-4F61-9B9A-71E9B6278B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</c:v>
                </c:pt>
                <c:pt idx="1">
                  <c:v>280</c:v>
                </c:pt>
                <c:pt idx="2">
                  <c:v>315</c:v>
                </c:pt>
                <c:pt idx="3">
                  <c:v>288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F69-4F61-9B9A-71E9B6278B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15</c:v>
                </c:pt>
                <c:pt idx="3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F69-4F61-9B9A-71E9B6278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305</c:v>
                </c:pt>
                <c:pt idx="2">
                  <c:v>340</c:v>
                </c:pt>
                <c:pt idx="3">
                  <c:v>310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4A-49B6-8CA7-03745F475C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</c:v>
                </c:pt>
                <c:pt idx="1">
                  <c:v>280</c:v>
                </c:pt>
                <c:pt idx="2">
                  <c:v>315</c:v>
                </c:pt>
                <c:pt idx="3">
                  <c:v>288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4A-49B6-8CA7-03745F475C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15</c:v>
                </c:pt>
                <c:pt idx="3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54A-49B6-8CA7-03745F475C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Alerts Received</c:v>
                </c:pt>
                <c:pt idx="1">
                  <c:v>Alerts Auto-Resolved</c:v>
                </c:pt>
                <c:pt idx="2">
                  <c:v>P2 Incidents</c:v>
                </c:pt>
                <c:pt idx="3">
                  <c:v>P1 Incidents</c:v>
                </c:pt>
                <c:pt idx="4">
                  <c:v>MTTR Hours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1890.0</c:v>
                </c:pt>
                <c:pt idx="1">
                  <c:v>1610.0</c:v>
                </c:pt>
                <c:pt idx="2">
                  <c:v>5.0</c:v>
                </c:pt>
                <c:pt idx="3">
                  <c:v>2.0</c:v>
                </c:pt>
                <c:pt idx="4">
                  <c:v>1.7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7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13.xml"/><Relationship Id="rId5" Type="http://schemas.openxmlformats.org/officeDocument/2006/relationships/chart" Target="../charts/chart14.xml"/><Relationship Id="rId6" Type="http://schemas.openxmlformats.org/officeDocument/2006/relationships/chart" Target="../charts/chart25.xml"/><Relationship Id="rId7" Type="http://schemas.openxmlformats.org/officeDocument/2006/relationships/chart" Target="../charts/chart26.xml"/><Relationship Id="rId8" Type="http://schemas.openxmlformats.org/officeDocument/2006/relationships/chart" Target="../charts/chart37.xml"/><Relationship Id="rId9" Type="http://schemas.openxmlformats.org/officeDocument/2006/relationships/chart" Target="../charts/chart38.xml"/><Relationship Id="rId10" Type="http://schemas.openxmlformats.org/officeDocument/2006/relationships/chart" Target="../charts/chart49.xml"/><Relationship Id="rId11" Type="http://schemas.openxmlformats.org/officeDocument/2006/relationships/chart" Target="../charts/chart50.xml"/><Relationship Id="rId12" Type="http://schemas.openxmlformats.org/officeDocument/2006/relationships/chart" Target="../charts/chart61.xml"/><Relationship Id="rId13" Type="http://schemas.openxmlformats.org/officeDocument/2006/relationships/chart" Target="../charts/chart62.xml"/><Relationship Id="rId14" Type="http://schemas.openxmlformats.org/officeDocument/2006/relationships/chart" Target="../charts/chart73.xml"/><Relationship Id="rId15" Type="http://schemas.openxmlformats.org/officeDocument/2006/relationships/chart" Target="../charts/chart74.xml"/><Relationship Id="rId16" Type="http://schemas.openxmlformats.org/officeDocument/2006/relationships/chart" Target="../charts/chart85.xml"/><Relationship Id="rId17" Type="http://schemas.openxmlformats.org/officeDocument/2006/relationships/chart" Target="../charts/chart86.xml"/><Relationship Id="rId18" Type="http://schemas.openxmlformats.org/officeDocument/2006/relationships/chart" Target="../charts/chart97.xml"/><Relationship Id="rId19" Type="http://schemas.openxmlformats.org/officeDocument/2006/relationships/chart" Target="../charts/chart98.xml"/><Relationship Id="rId20" Type="http://schemas.openxmlformats.org/officeDocument/2006/relationships/chart" Target="../charts/chart109.xml"/><Relationship Id="rId21" Type="http://schemas.openxmlformats.org/officeDocument/2006/relationships/chart" Target="../charts/chart110.xml"/><Relationship Id="rId22" Type="http://schemas.openxmlformats.org/officeDocument/2006/relationships/chart" Target="../charts/chart121.xml"/><Relationship Id="rId23" Type="http://schemas.openxmlformats.org/officeDocument/2006/relationships/chart" Target="../charts/chart1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Relationship Id="rId6" Type="http://schemas.openxmlformats.org/officeDocument/2006/relationships/chart" Target="../charts/chart27.xml"/><Relationship Id="rId7" Type="http://schemas.openxmlformats.org/officeDocument/2006/relationships/chart" Target="../charts/chart28.xml"/><Relationship Id="rId8" Type="http://schemas.openxmlformats.org/officeDocument/2006/relationships/chart" Target="../charts/chart39.xml"/><Relationship Id="rId9" Type="http://schemas.openxmlformats.org/officeDocument/2006/relationships/chart" Target="../charts/chart40.xml"/><Relationship Id="rId10" Type="http://schemas.openxmlformats.org/officeDocument/2006/relationships/chart" Target="../charts/chart51.xml"/><Relationship Id="rId11" Type="http://schemas.openxmlformats.org/officeDocument/2006/relationships/chart" Target="../charts/chart52.xml"/><Relationship Id="rId12" Type="http://schemas.openxmlformats.org/officeDocument/2006/relationships/chart" Target="../charts/chart63.xml"/><Relationship Id="rId13" Type="http://schemas.openxmlformats.org/officeDocument/2006/relationships/chart" Target="../charts/chart64.xml"/><Relationship Id="rId14" Type="http://schemas.openxmlformats.org/officeDocument/2006/relationships/chart" Target="../charts/chart75.xml"/><Relationship Id="rId15" Type="http://schemas.openxmlformats.org/officeDocument/2006/relationships/chart" Target="../charts/chart76.xml"/><Relationship Id="rId16" Type="http://schemas.openxmlformats.org/officeDocument/2006/relationships/chart" Target="../charts/chart87.xml"/><Relationship Id="rId17" Type="http://schemas.openxmlformats.org/officeDocument/2006/relationships/chart" Target="../charts/chart88.xml"/><Relationship Id="rId18" Type="http://schemas.openxmlformats.org/officeDocument/2006/relationships/chart" Target="../charts/chart99.xml"/><Relationship Id="rId19" Type="http://schemas.openxmlformats.org/officeDocument/2006/relationships/chart" Target="../charts/chart100.xml"/><Relationship Id="rId20" Type="http://schemas.openxmlformats.org/officeDocument/2006/relationships/chart" Target="../charts/chart111.xml"/><Relationship Id="rId21" Type="http://schemas.openxmlformats.org/officeDocument/2006/relationships/chart" Target="../charts/chart112.xml"/><Relationship Id="rId22" Type="http://schemas.openxmlformats.org/officeDocument/2006/relationships/chart" Target="../charts/chart123.xml"/><Relationship Id="rId23" Type="http://schemas.openxmlformats.org/officeDocument/2006/relationships/chart" Target="../charts/chart1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Relationship Id="rId6" Type="http://schemas.openxmlformats.org/officeDocument/2006/relationships/chart" Target="../charts/chart29.xml"/><Relationship Id="rId7" Type="http://schemas.openxmlformats.org/officeDocument/2006/relationships/chart" Target="../charts/chart30.xml"/><Relationship Id="rId8" Type="http://schemas.openxmlformats.org/officeDocument/2006/relationships/chart" Target="../charts/chart41.xml"/><Relationship Id="rId9" Type="http://schemas.openxmlformats.org/officeDocument/2006/relationships/chart" Target="../charts/chart42.xml"/><Relationship Id="rId10" Type="http://schemas.openxmlformats.org/officeDocument/2006/relationships/chart" Target="../charts/chart53.xml"/><Relationship Id="rId11" Type="http://schemas.openxmlformats.org/officeDocument/2006/relationships/chart" Target="../charts/chart54.xml"/><Relationship Id="rId12" Type="http://schemas.openxmlformats.org/officeDocument/2006/relationships/chart" Target="../charts/chart65.xml"/><Relationship Id="rId13" Type="http://schemas.openxmlformats.org/officeDocument/2006/relationships/chart" Target="../charts/chart66.xml"/><Relationship Id="rId14" Type="http://schemas.openxmlformats.org/officeDocument/2006/relationships/chart" Target="../charts/chart77.xml"/><Relationship Id="rId15" Type="http://schemas.openxmlformats.org/officeDocument/2006/relationships/chart" Target="../charts/chart78.xml"/><Relationship Id="rId16" Type="http://schemas.openxmlformats.org/officeDocument/2006/relationships/chart" Target="../charts/chart89.xml"/><Relationship Id="rId17" Type="http://schemas.openxmlformats.org/officeDocument/2006/relationships/chart" Target="../charts/chart90.xml"/><Relationship Id="rId18" Type="http://schemas.openxmlformats.org/officeDocument/2006/relationships/chart" Target="../charts/chart101.xml"/><Relationship Id="rId19" Type="http://schemas.openxmlformats.org/officeDocument/2006/relationships/chart" Target="../charts/chart102.xml"/><Relationship Id="rId20" Type="http://schemas.openxmlformats.org/officeDocument/2006/relationships/chart" Target="../charts/chart113.xml"/><Relationship Id="rId21" Type="http://schemas.openxmlformats.org/officeDocument/2006/relationships/chart" Target="../charts/chart114.xml"/><Relationship Id="rId22" Type="http://schemas.openxmlformats.org/officeDocument/2006/relationships/chart" Target="../charts/chart125.xml"/><Relationship Id="rId23" Type="http://schemas.openxmlformats.org/officeDocument/2006/relationships/chart" Target="../charts/chart12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Relationship Id="rId6" Type="http://schemas.openxmlformats.org/officeDocument/2006/relationships/chart" Target="../charts/chart31.xml"/><Relationship Id="rId7" Type="http://schemas.openxmlformats.org/officeDocument/2006/relationships/chart" Target="../charts/chart32.xml"/><Relationship Id="rId8" Type="http://schemas.openxmlformats.org/officeDocument/2006/relationships/chart" Target="../charts/chart43.xml"/><Relationship Id="rId9" Type="http://schemas.openxmlformats.org/officeDocument/2006/relationships/chart" Target="../charts/chart44.xml"/><Relationship Id="rId10" Type="http://schemas.openxmlformats.org/officeDocument/2006/relationships/chart" Target="../charts/chart55.xml"/><Relationship Id="rId11" Type="http://schemas.openxmlformats.org/officeDocument/2006/relationships/chart" Target="../charts/chart56.xml"/><Relationship Id="rId12" Type="http://schemas.openxmlformats.org/officeDocument/2006/relationships/chart" Target="../charts/chart67.xml"/><Relationship Id="rId13" Type="http://schemas.openxmlformats.org/officeDocument/2006/relationships/chart" Target="../charts/chart68.xml"/><Relationship Id="rId14" Type="http://schemas.openxmlformats.org/officeDocument/2006/relationships/chart" Target="../charts/chart79.xml"/><Relationship Id="rId15" Type="http://schemas.openxmlformats.org/officeDocument/2006/relationships/chart" Target="../charts/chart80.xml"/><Relationship Id="rId16" Type="http://schemas.openxmlformats.org/officeDocument/2006/relationships/chart" Target="../charts/chart91.xml"/><Relationship Id="rId17" Type="http://schemas.openxmlformats.org/officeDocument/2006/relationships/chart" Target="../charts/chart92.xml"/><Relationship Id="rId18" Type="http://schemas.openxmlformats.org/officeDocument/2006/relationships/chart" Target="../charts/chart103.xml"/><Relationship Id="rId19" Type="http://schemas.openxmlformats.org/officeDocument/2006/relationships/chart" Target="../charts/chart104.xml"/><Relationship Id="rId20" Type="http://schemas.openxmlformats.org/officeDocument/2006/relationships/chart" Target="../charts/chart115.xml"/><Relationship Id="rId21" Type="http://schemas.openxmlformats.org/officeDocument/2006/relationships/chart" Target="../charts/chart116.xml"/><Relationship Id="rId22" Type="http://schemas.openxmlformats.org/officeDocument/2006/relationships/chart" Target="../charts/chart127.xml"/><Relationship Id="rId23" Type="http://schemas.openxmlformats.org/officeDocument/2006/relationships/chart" Target="../charts/chart12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21.xml"/><Relationship Id="rId5" Type="http://schemas.openxmlformats.org/officeDocument/2006/relationships/chart" Target="../charts/chart22.xml"/><Relationship Id="rId6" Type="http://schemas.openxmlformats.org/officeDocument/2006/relationships/chart" Target="../charts/chart33.xml"/><Relationship Id="rId7" Type="http://schemas.openxmlformats.org/officeDocument/2006/relationships/chart" Target="../charts/chart34.xml"/><Relationship Id="rId8" Type="http://schemas.openxmlformats.org/officeDocument/2006/relationships/chart" Target="../charts/chart45.xml"/><Relationship Id="rId9" Type="http://schemas.openxmlformats.org/officeDocument/2006/relationships/chart" Target="../charts/chart46.xml"/><Relationship Id="rId10" Type="http://schemas.openxmlformats.org/officeDocument/2006/relationships/chart" Target="../charts/chart57.xml"/><Relationship Id="rId11" Type="http://schemas.openxmlformats.org/officeDocument/2006/relationships/chart" Target="../charts/chart58.xml"/><Relationship Id="rId12" Type="http://schemas.openxmlformats.org/officeDocument/2006/relationships/chart" Target="../charts/chart69.xml"/><Relationship Id="rId13" Type="http://schemas.openxmlformats.org/officeDocument/2006/relationships/chart" Target="../charts/chart70.xml"/><Relationship Id="rId14" Type="http://schemas.openxmlformats.org/officeDocument/2006/relationships/chart" Target="../charts/chart81.xml"/><Relationship Id="rId15" Type="http://schemas.openxmlformats.org/officeDocument/2006/relationships/chart" Target="../charts/chart82.xml"/><Relationship Id="rId16" Type="http://schemas.openxmlformats.org/officeDocument/2006/relationships/chart" Target="../charts/chart93.xml"/><Relationship Id="rId17" Type="http://schemas.openxmlformats.org/officeDocument/2006/relationships/chart" Target="../charts/chart94.xml"/><Relationship Id="rId18" Type="http://schemas.openxmlformats.org/officeDocument/2006/relationships/chart" Target="../charts/chart105.xml"/><Relationship Id="rId19" Type="http://schemas.openxmlformats.org/officeDocument/2006/relationships/chart" Target="../charts/chart106.xml"/><Relationship Id="rId20" Type="http://schemas.openxmlformats.org/officeDocument/2006/relationships/chart" Target="../charts/chart117.xml"/><Relationship Id="rId21" Type="http://schemas.openxmlformats.org/officeDocument/2006/relationships/chart" Target="../charts/chart118.xml"/><Relationship Id="rId22" Type="http://schemas.openxmlformats.org/officeDocument/2006/relationships/chart" Target="../charts/chart129.xml"/><Relationship Id="rId23" Type="http://schemas.openxmlformats.org/officeDocument/2006/relationships/chart" Target="../charts/chart13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Relationship Id="rId6" Type="http://schemas.openxmlformats.org/officeDocument/2006/relationships/chart" Target="../charts/chart35.xml"/><Relationship Id="rId7" Type="http://schemas.openxmlformats.org/officeDocument/2006/relationships/chart" Target="../charts/chart36.xml"/><Relationship Id="rId8" Type="http://schemas.openxmlformats.org/officeDocument/2006/relationships/chart" Target="../charts/chart47.xml"/><Relationship Id="rId9" Type="http://schemas.openxmlformats.org/officeDocument/2006/relationships/chart" Target="../charts/chart48.xml"/><Relationship Id="rId10" Type="http://schemas.openxmlformats.org/officeDocument/2006/relationships/chart" Target="../charts/chart59.xml"/><Relationship Id="rId11" Type="http://schemas.openxmlformats.org/officeDocument/2006/relationships/chart" Target="../charts/chart60.xml"/><Relationship Id="rId12" Type="http://schemas.openxmlformats.org/officeDocument/2006/relationships/chart" Target="../charts/chart71.xml"/><Relationship Id="rId13" Type="http://schemas.openxmlformats.org/officeDocument/2006/relationships/chart" Target="../charts/chart72.xml"/><Relationship Id="rId14" Type="http://schemas.openxmlformats.org/officeDocument/2006/relationships/chart" Target="../charts/chart83.xml"/><Relationship Id="rId15" Type="http://schemas.openxmlformats.org/officeDocument/2006/relationships/chart" Target="../charts/chart84.xml"/><Relationship Id="rId16" Type="http://schemas.openxmlformats.org/officeDocument/2006/relationships/chart" Target="../charts/chart95.xml"/><Relationship Id="rId17" Type="http://schemas.openxmlformats.org/officeDocument/2006/relationships/chart" Target="../charts/chart96.xml"/><Relationship Id="rId18" Type="http://schemas.openxmlformats.org/officeDocument/2006/relationships/chart" Target="../charts/chart107.xml"/><Relationship Id="rId19" Type="http://schemas.openxmlformats.org/officeDocument/2006/relationships/chart" Target="../charts/chart108.xml"/><Relationship Id="rId20" Type="http://schemas.openxmlformats.org/officeDocument/2006/relationships/chart" Target="../charts/chart119.xml"/><Relationship Id="rId21" Type="http://schemas.openxmlformats.org/officeDocument/2006/relationships/chart" Target="../charts/chart120.xml"/><Relationship Id="rId22" Type="http://schemas.openxmlformats.org/officeDocument/2006/relationships/chart" Target="../charts/chart131.xml"/><Relationship Id="rId23" Type="http://schemas.openxmlformats.org/officeDocument/2006/relationships/chart" Target="../charts/chart13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20" b="1">
                <a:solidFill>
                  <a:srgbClr val="CC0000"/>
                </a:solidFill>
              </a:defRPr>
            </a:pPr>
            <a:r>
              <a:t>ITSM Weekly Report — 10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595757"/>
                </a:solidFill>
              </a:defRPr>
            </a:pPr>
            <a:r>
              <a:t>Auto-generated | 7 groups | 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</a:defRPr>
            </a:pPr>
            <a:r>
              <a:t>Generated by ITSM Automation Agent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MIM  |  10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Zero P1s this sprint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MIR timeline </a:t>
            </a:r>
            <a:r>
              <a:rPr sz="1100" b="1">
                <a:solidFill>
                  <a:srgbClr val="0D47A1"/>
                </a:solidFill>
              </a:rPr>
              <a:t>100%</a:t>
            </a:r>
            <a:r>
              <a:rPr sz="1100" b="0">
                <a:solidFill>
                  <a:srgbClr val="1F3864"/>
                </a:solidFill>
              </a:rPr>
              <a:t> met across all incidents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ACL communications improved following ELT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Continue P1 prevention measures and runbook reviews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ACL communication templates for ELT standards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SLA compliance dipped to </a:t>
            </a:r>
            <a:r>
              <a:rPr sz="1100" b="1">
                <a:solidFill>
                  <a:srgbClr val="0D47A1"/>
                </a:solidFill>
              </a:rPr>
              <a:t>97%</a:t>
            </a:r>
            <a:r>
              <a:rPr sz="1100" b="0">
                <a:solidFill>
                  <a:srgbClr val="1F3864"/>
                </a:solidFill>
              </a:rPr>
              <a:t> in Sprint </a:t>
            </a:r>
            <a:r>
              <a:rPr sz="1100" b="1">
                <a:solidFill>
                  <a:srgbClr val="0D47A1"/>
                </a:solidFill>
              </a:rPr>
              <a:t>13,</a:t>
            </a:r>
            <a:r>
              <a:rPr sz="1100" b="0">
                <a:solidFill>
                  <a:srgbClr val="1F3864"/>
                </a:solidFill>
              </a:rPr>
              <a:t> monitoring closely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no. of Major Incidents reported in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P1 and P2 incidents raised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Major Incident Review conducted after each P1/P2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Post-incident review to identify root cause and corrective actions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Critical incidents requiring immediate escalation to senior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High priority incidents requiring prompt resolution within 8 hours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Sprint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100% Adherence to the MIM process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Accurate stakeholder communications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Consistency in the Service now fields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MIR Timeline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 P1/P2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SMS within 20 min P1/P2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Email within 20 min engaged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 whiteboard accuracy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Effective handover for RCA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Sprint 14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543800" y="1664208"/>
          <a:ext cx="4343400" cy="1888236"/>
        </p:xfrm>
        <a:graphic>
          <a:graphicData uri="http://schemas.openxmlformats.org/drawingml/2006/chart">
            <c:chart xmlns:c="http://schemas.openxmlformats.org/drawingml/2006/chart" r:id="rId22"/>
          </a:graphicData>
        </a:graphic>
      </p:graphicFrame>
      <p:sp>
        <p:nvSpPr>
          <p:cNvPr id="23" name="Rectangle 22"/>
          <p:cNvSpPr/>
          <p:nvPr/>
        </p:nvSpPr>
        <p:spPr>
          <a:xfrm>
            <a:off x="7543800" y="1664208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543800" y="3826763"/>
          <a:ext cx="4343400" cy="1888236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  <p:sp>
        <p:nvSpPr>
          <p:cNvPr id="25" name="Rectangle 24"/>
          <p:cNvSpPr/>
          <p:nvPr/>
        </p:nvSpPr>
        <p:spPr>
          <a:xfrm>
            <a:off x="7543800" y="3826763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Change  |  10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All changes implemented within approved window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Zero P1 impact from changes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emergency changes approved within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hrs of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change approval workflows for emergency category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Enhance CAB pre-screening for high-risk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Unauthorised change rate at </a:t>
            </a:r>
            <a:r>
              <a:rPr sz="1100" b="1">
                <a:solidFill>
                  <a:srgbClr val="0D47A1"/>
                </a:solidFill>
              </a:rPr>
              <a:t>0.6%</a:t>
            </a:r>
            <a:r>
              <a:rPr sz="1100" b="0">
                <a:solidFill>
                  <a:srgbClr val="1F3864"/>
                </a:solidFill>
              </a:rPr>
              <a:t>, approaching </a:t>
            </a:r>
            <a:r>
              <a:rPr sz="1100" b="1">
                <a:solidFill>
                  <a:srgbClr val="0D47A1"/>
                </a:solidFill>
              </a:rPr>
              <a:t>1%</a:t>
            </a:r>
            <a:r>
              <a:rPr sz="1100" b="0">
                <a:solidFill>
                  <a:srgbClr val="1F3864"/>
                </a:solidFill>
              </a:rPr>
              <a:t>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change requests raised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standard, normal and emergency change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emergency change requests raised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Changes bypassing standard CAB approval due to urgency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implemented successfully without 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Change passes CAB, executes within planned window, no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that caused a Major Incident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Changes that directly triggered a P1 or P2 incident post-implementation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Failed Change Ratio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Unauthorised Change rate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543800" y="1664208"/>
          <a:ext cx="4343400" cy="1888236"/>
        </p:xfrm>
        <a:graphic>
          <a:graphicData uri="http://schemas.openxmlformats.org/drawingml/2006/chart">
            <c:chart xmlns:c="http://schemas.openxmlformats.org/drawingml/2006/chart" r:id="rId22"/>
          </a:graphicData>
        </a:graphic>
      </p:graphicFrame>
      <p:sp>
        <p:nvSpPr>
          <p:cNvPr id="23" name="Rectangle 22"/>
          <p:cNvSpPr/>
          <p:nvPr/>
        </p:nvSpPr>
        <p:spPr>
          <a:xfrm>
            <a:off x="7543800" y="1664208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543800" y="3826763"/>
          <a:ext cx="4343400" cy="1888236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  <p:sp>
        <p:nvSpPr>
          <p:cNvPr id="25" name="Rectangle 24"/>
          <p:cNvSpPr/>
          <p:nvPr/>
        </p:nvSpPr>
        <p:spPr>
          <a:xfrm>
            <a:off x="7543800" y="3826763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Problem  |  10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Closed </a:t>
            </a:r>
            <a:r>
              <a:rPr sz="1100" b="1">
                <a:solidFill>
                  <a:srgbClr val="0D47A1"/>
                </a:solidFill>
              </a:rPr>
              <a:t>3</a:t>
            </a:r>
            <a:r>
              <a:rPr sz="1100" b="0">
                <a:solidFill>
                  <a:srgbClr val="1F3864"/>
                </a:solidFill>
              </a:rPr>
              <a:t> aged problems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RCA submitted for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P1 incidents on time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Proactive monitoring added for top </a:t>
            </a:r>
            <a:r>
              <a:rPr sz="1100" b="1">
                <a:solidFill>
                  <a:srgbClr val="0D47A1"/>
                </a:solidFill>
              </a:rPr>
              <a:t>5</a:t>
            </a:r>
            <a:r>
              <a:rPr sz="1100" b="0">
                <a:solidFill>
                  <a:srgbClr val="1F3864"/>
                </a:solidFill>
              </a:rPr>
              <a:t> recurring incidents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Escalate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remaining aged problems to senior management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Conduct root cause analysis workshop for recurring issues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Avg resolution days increased to </a:t>
            </a:r>
            <a:r>
              <a:rPr sz="1100" b="1">
                <a:solidFill>
                  <a:srgbClr val="0D47A1"/>
                </a:solidFill>
              </a:rPr>
              <a:t>4.2</a:t>
            </a:r>
            <a:r>
              <a:rPr sz="1100" b="0">
                <a:solidFill>
                  <a:srgbClr val="1F3864"/>
                </a:solidFill>
              </a:rPr>
              <a:t>, approaching </a:t>
            </a:r>
            <a:r>
              <a:rPr sz="1100" b="1">
                <a:solidFill>
                  <a:srgbClr val="0D47A1"/>
                </a:solidFill>
              </a:rPr>
              <a:t>5</a:t>
            </a:r>
            <a:r>
              <a:rPr sz="1100" b="0">
                <a:solidFill>
                  <a:srgbClr val="1F3864"/>
                </a:solidFill>
              </a:rPr>
              <a:t>-day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recurring issues need additional root cause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open problem records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All active problem records regardless of priority or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problems closed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Problems moved to resolved or closed status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new problem records opened this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Problems raised from incident trends or proactive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Average calendar days from problem creation to closure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Measured from problem record creation date to closure date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Recurring Issues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Problems Aged &gt;30 days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543800" y="1664208"/>
          <a:ext cx="4343400" cy="1888236"/>
        </p:xfrm>
        <a:graphic>
          <a:graphicData uri="http://schemas.openxmlformats.org/drawingml/2006/chart">
            <c:chart xmlns:c="http://schemas.openxmlformats.org/drawingml/2006/chart" r:id="rId22"/>
          </a:graphicData>
        </a:graphic>
      </p:graphicFrame>
      <p:sp>
        <p:nvSpPr>
          <p:cNvPr id="23" name="Rectangle 22"/>
          <p:cNvSpPr/>
          <p:nvPr/>
        </p:nvSpPr>
        <p:spPr>
          <a:xfrm>
            <a:off x="7543800" y="1664208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543800" y="3826763"/>
          <a:ext cx="4343400" cy="1888236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  <p:sp>
        <p:nvSpPr>
          <p:cNvPr id="25" name="Rectangle 24"/>
          <p:cNvSpPr/>
          <p:nvPr/>
        </p:nvSpPr>
        <p:spPr>
          <a:xfrm>
            <a:off x="7543800" y="3826763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NOC  |  10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Auto-resolution rate reached </a:t>
            </a:r>
            <a:r>
              <a:rPr sz="1100" b="1">
                <a:solidFill>
                  <a:srgbClr val="0D47A1"/>
                </a:solidFill>
              </a:rPr>
              <a:t>85%</a:t>
            </a:r>
            <a:r>
              <a:rPr sz="1100" b="0">
                <a:solidFill>
                  <a:srgbClr val="1F3864"/>
                </a:solidFill>
              </a:rPr>
              <a:t>, highest this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P1 incidents resolved in avg </a:t>
            </a:r>
            <a:r>
              <a:rPr sz="1100" b="1">
                <a:solidFill>
                  <a:srgbClr val="0D47A1"/>
                </a:solidFill>
              </a:rPr>
              <a:t>1.4</a:t>
            </a:r>
            <a:r>
              <a:rPr sz="1100" b="0">
                <a:solidFill>
                  <a:srgbClr val="1F3864"/>
                </a:solidFill>
              </a:rPr>
              <a:t> hrs, well within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-hr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New runbook deployed for DB alert cluster reducing false positives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Expand auto-remediation scripts to cover network alert category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P2 escalation path to reduce MTTR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P1 incidents detected this week, trend needs monitoring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MTTR at </a:t>
            </a:r>
            <a:r>
              <a:rPr sz="1100" b="1">
                <a:solidFill>
                  <a:srgbClr val="0D47A1"/>
                </a:solidFill>
              </a:rPr>
              <a:t>1.7</a:t>
            </a:r>
            <a:r>
              <a:rPr sz="1100" b="0">
                <a:solidFill>
                  <a:srgbClr val="1F3864"/>
                </a:solidFill>
              </a:rPr>
              <a:t> hrs for P2 incidents, slightly above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-hr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monitoring alerts received by NOC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all severity levels from all monitored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alerts automatically resolved without NOC intervention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Auto-remediation scripts and rules resolving alerts without manual action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detected and managed by NOC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Critical outages requiring immediate NOC escalation to MIM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detected and managed by NOC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High severity alerts requiring prompt NOC investigation and response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MTTR Hours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1890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1610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543800" y="1664208"/>
          <a:ext cx="4343400" cy="1888236"/>
        </p:xfrm>
        <a:graphic>
          <a:graphicData uri="http://schemas.openxmlformats.org/drawingml/2006/chart">
            <c:chart xmlns:c="http://schemas.openxmlformats.org/drawingml/2006/chart" r:id="rId22"/>
          </a:graphicData>
        </a:graphic>
      </p:graphicFrame>
      <p:sp>
        <p:nvSpPr>
          <p:cNvPr id="23" name="Rectangle 22"/>
          <p:cNvSpPr/>
          <p:nvPr/>
        </p:nvSpPr>
        <p:spPr>
          <a:xfrm>
            <a:off x="7543800" y="1664208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543800" y="3826763"/>
          <a:ext cx="4343400" cy="1888236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  <p:sp>
        <p:nvSpPr>
          <p:cNvPr id="25" name="Rectangle 24"/>
          <p:cNvSpPr/>
          <p:nvPr/>
        </p:nvSpPr>
        <p:spPr>
          <a:xfrm>
            <a:off x="7543800" y="3826763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ServiceNow  |  10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CSAT improved to </a:t>
            </a:r>
            <a:r>
              <a:rPr sz="1100" b="1">
                <a:solidFill>
                  <a:srgbClr val="0D47A1"/>
                </a:solidFill>
              </a:rPr>
              <a:t>4.4</a:t>
            </a:r>
            <a:r>
              <a:rPr sz="1100" b="0">
                <a:solidFill>
                  <a:srgbClr val="1F3864"/>
                </a:solidFill>
              </a:rPr>
              <a:t> out of </a:t>
            </a:r>
            <a:r>
              <a:rPr sz="1100" b="1">
                <a:solidFill>
                  <a:srgbClr val="0D47A1"/>
                </a:solidFill>
              </a:rPr>
              <a:t>5,</a:t>
            </a:r>
            <a:r>
              <a:rPr sz="1100" b="0">
                <a:solidFill>
                  <a:srgbClr val="1F3864"/>
                </a:solidFill>
              </a:rPr>
              <a:t> best score this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FCR consistently above </a:t>
            </a:r>
            <a:r>
              <a:rPr sz="1100" b="1">
                <a:solidFill>
                  <a:srgbClr val="0D47A1"/>
                </a:solidFill>
              </a:rPr>
              <a:t>84%</a:t>
            </a:r>
            <a:r>
              <a:rPr sz="1100" b="0">
                <a:solidFill>
                  <a:srgbClr val="1F3864"/>
                </a:solidFill>
              </a:rPr>
              <a:t> for third consecutive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Escalations reduced </a:t>
            </a:r>
            <a:r>
              <a:rPr sz="1100" b="1">
                <a:solidFill>
                  <a:srgbClr val="0D47A1"/>
                </a:solidFill>
              </a:rPr>
              <a:t>25%</a:t>
            </a:r>
            <a:r>
              <a:rPr sz="1100" b="0">
                <a:solidFill>
                  <a:srgbClr val="1F3864"/>
                </a:solidFill>
              </a:rPr>
              <a:t> versus prior week through knowledge base improvements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Investigate root cause of borderline resolution rate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Publish </a:t>
            </a:r>
            <a:r>
              <a:rPr sz="1100" b="1">
                <a:solidFill>
                  <a:srgbClr val="0D47A1"/>
                </a:solidFill>
              </a:rPr>
              <a:t>10</a:t>
            </a:r>
            <a:r>
              <a:rPr sz="1100" b="0">
                <a:solidFill>
                  <a:srgbClr val="1F3864"/>
                </a:solidFill>
              </a:rPr>
              <a:t> additional knowledge articles for common request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Resolution rate at </a:t>
            </a:r>
            <a:r>
              <a:rPr sz="1100" b="1">
                <a:solidFill>
                  <a:srgbClr val="0D47A1"/>
                </a:solidFill>
              </a:rPr>
              <a:t>95.2%</a:t>
            </a:r>
            <a:r>
              <a:rPr sz="1100" b="0">
                <a:solidFill>
                  <a:srgbClr val="1F3864"/>
                </a:solidFill>
              </a:rPr>
              <a:t>, borderline against </a:t>
            </a:r>
            <a:r>
              <a:rPr sz="1100" b="1">
                <a:solidFill>
                  <a:srgbClr val="0D47A1"/>
                </a:solidFill>
              </a:rPr>
              <a:t>95%</a:t>
            </a:r>
            <a:r>
              <a:rPr sz="1100" b="0">
                <a:solidFill>
                  <a:srgbClr val="1F3864"/>
                </a:solidFill>
              </a:rPr>
              <a:t>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service requests and incidents logged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all request types and categories processed through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moved to resolved status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Resolved tickets pending user confirmation closure after 5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escalated to L2 or L3 support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Tickets that could not be resolved by first-line ServiceNow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tickets resolved within agreed SLA target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Calculated against resolution time targets by ticket category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CSAT Score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First Call Resolution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543800" y="1664208"/>
          <a:ext cx="4343400" cy="1888236"/>
        </p:xfrm>
        <a:graphic>
          <a:graphicData uri="http://schemas.openxmlformats.org/drawingml/2006/chart">
            <c:chart xmlns:c="http://schemas.openxmlformats.org/drawingml/2006/chart" r:id="rId22"/>
          </a:graphicData>
        </a:graphic>
      </p:graphicFrame>
      <p:sp>
        <p:nvSpPr>
          <p:cNvPr id="23" name="Rectangle 22"/>
          <p:cNvSpPr/>
          <p:nvPr/>
        </p:nvSpPr>
        <p:spPr>
          <a:xfrm>
            <a:off x="7543800" y="1664208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543800" y="3826763"/>
          <a:ext cx="4343400" cy="1888236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  <p:sp>
        <p:nvSpPr>
          <p:cNvPr id="25" name="Rectangle 24"/>
          <p:cNvSpPr/>
          <p:nvPr/>
        </p:nvSpPr>
        <p:spPr>
          <a:xfrm>
            <a:off x="7543800" y="3826763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 Desk  |  10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Handle time reduced to </a:t>
            </a:r>
            <a:r>
              <a:rPr sz="1100" b="1">
                <a:solidFill>
                  <a:srgbClr val="0D47A1"/>
                </a:solidFill>
              </a:rPr>
              <a:t>8.4</a:t>
            </a:r>
            <a:r>
              <a:rPr sz="1100" b="0">
                <a:solidFill>
                  <a:srgbClr val="1F3864"/>
                </a:solidFill>
              </a:rPr>
              <a:t> mins against </a:t>
            </a:r>
            <a:r>
              <a:rPr sz="1100" b="1">
                <a:solidFill>
                  <a:srgbClr val="0D47A1"/>
                </a:solidFill>
              </a:rPr>
              <a:t>10</a:t>
            </a:r>
            <a:r>
              <a:rPr sz="1100" b="0">
                <a:solidFill>
                  <a:srgbClr val="1F3864"/>
                </a:solidFill>
              </a:rPr>
              <a:t>-min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</a:t>
            </a:r>
            <a:r>
              <a:rPr sz="1100" b="1">
                <a:solidFill>
                  <a:srgbClr val="0D47A1"/>
                </a:solidFill>
              </a:rPr>
              <a:t>12</a:t>
            </a:r>
            <a:r>
              <a:rPr sz="1100" b="0">
                <a:solidFill>
                  <a:srgbClr val="1F3864"/>
                </a:solidFill>
              </a:rPr>
              <a:t> new knowledge articles published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Abandoned calls at </a:t>
            </a:r>
            <a:r>
              <a:rPr sz="1100" b="1">
                <a:solidFill>
                  <a:srgbClr val="0D47A1"/>
                </a:solidFill>
              </a:rPr>
              <a:t>14,</a:t>
            </a:r>
            <a:r>
              <a:rPr sz="1100" b="0">
                <a:solidFill>
                  <a:srgbClr val="1F3864"/>
                </a:solidFill>
              </a:rPr>
              <a:t> lowest point this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Deploy new chatbot for tier-</a:t>
            </a:r>
            <a:r>
              <a:rPr sz="1100" b="1">
                <a:solidFill>
                  <a:srgbClr val="0D47A1"/>
                </a:solidFill>
              </a:rPr>
              <a:t>1</a:t>
            </a:r>
            <a:r>
              <a:rPr sz="1100" b="0">
                <a:solidFill>
                  <a:srgbClr val="1F3864"/>
                </a:solidFill>
              </a:rPr>
              <a:t> queries to improve FCR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call routing rules to reduce abandonment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FCR at </a:t>
            </a:r>
            <a:r>
              <a:rPr sz="1100" b="1">
                <a:solidFill>
                  <a:srgbClr val="0D47A1"/>
                </a:solidFill>
              </a:rPr>
              <a:t>82.9%</a:t>
            </a:r>
            <a:r>
              <a:rPr sz="1100" b="0">
                <a:solidFill>
                  <a:srgbClr val="1F3864"/>
                </a:solidFill>
              </a:rPr>
              <a:t>, slightly below internal </a:t>
            </a:r>
            <a:r>
              <a:rPr sz="1100" b="1">
                <a:solidFill>
                  <a:srgbClr val="0D47A1"/>
                </a:solidFill>
              </a:rPr>
              <a:t>85%</a:t>
            </a:r>
            <a:r>
              <a:rPr sz="1100" b="0">
                <a:solidFill>
                  <a:srgbClr val="1F3864"/>
                </a:solidFill>
              </a:rPr>
              <a:t>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Abandoned calls still above sub-</a:t>
            </a:r>
            <a:r>
              <a:rPr sz="1100" b="1">
                <a:solidFill>
                  <a:srgbClr val="0D47A1"/>
                </a:solidFill>
              </a:rPr>
              <a:t>10</a:t>
            </a:r>
            <a:r>
              <a:rPr sz="1100" b="0">
                <a:solidFill>
                  <a:srgbClr val="1F3864"/>
                </a:solidFill>
              </a:rPr>
              <a:t>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inbound contacts handled by Service Desk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voice calls, chat sessions and email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contacts resolved by first-line Service Desk agents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Direct resolution without L2/L3 escalation required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contacts abandoned before being answered by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Key measure of queue management and staffing adequacy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contacts resolved on first contact without escalation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Primary measure of Service Desk effectiveness and knowledge quality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Avg Handle Time Mins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543800" y="1664208"/>
          <a:ext cx="4343400" cy="1888236"/>
        </p:xfrm>
        <a:graphic>
          <a:graphicData uri="http://schemas.openxmlformats.org/drawingml/2006/chart">
            <c:chart xmlns:c="http://schemas.openxmlformats.org/drawingml/2006/chart" r:id="rId22"/>
          </a:graphicData>
        </a:graphic>
      </p:graphicFrame>
      <p:sp>
        <p:nvSpPr>
          <p:cNvPr id="23" name="Rectangle 22"/>
          <p:cNvSpPr/>
          <p:nvPr/>
        </p:nvSpPr>
        <p:spPr>
          <a:xfrm>
            <a:off x="7543800" y="1664208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543800" y="3826763"/>
          <a:ext cx="4343400" cy="1888236"/>
        </p:xfrm>
        <a:graphic>
          <a:graphicData uri="http://schemas.openxmlformats.org/drawingml/2006/chart">
            <c:chart xmlns:c="http://schemas.openxmlformats.org/drawingml/2006/chart" r:id="rId23"/>
          </a:graphicData>
        </a:graphic>
      </p:graphicFrame>
      <p:sp>
        <p:nvSpPr>
          <p:cNvPr id="25" name="Rectangle 24"/>
          <p:cNvSpPr/>
          <p:nvPr/>
        </p:nvSpPr>
        <p:spPr>
          <a:xfrm>
            <a:off x="7543800" y="3826763"/>
            <a:ext cx="4343400" cy="1888236"/>
          </a:xfrm>
          <a:prstGeom prst="rect">
            <a:avLst/>
          </a:prstGeom>
          <a:noFill/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Asset and Configuration  |  10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1298448"/>
            <a:ext cx="4062984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CMDB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600200"/>
            <a:ext cx="4062984" cy="121615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00200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Quarterly CMDB audit passed with </a:t>
            </a:r>
            <a:r>
              <a:rPr sz="750" b="1">
                <a:solidFill>
                  <a:srgbClr val="1F3864"/>
                </a:solidFill>
              </a:rPr>
              <a:t>97.7%</a:t>
            </a:r>
            <a:r>
              <a:rPr sz="750" b="0">
                <a:solidFill>
                  <a:srgbClr val="222222"/>
                </a:solidFill>
              </a:rPr>
              <a:t> accuracy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7</a:t>
            </a:r>
            <a:r>
              <a:rPr sz="750" b="0">
                <a:solidFill>
                  <a:srgbClr val="222222"/>
                </a:solidFill>
              </a:rPr>
              <a:t> orphan CIs resolved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Azure VM CI class successfully onboarded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816352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15</a:t>
            </a:r>
            <a:r>
              <a:rPr sz="750" b="0">
                <a:solidFill>
                  <a:srgbClr val="222222"/>
                </a:solidFill>
              </a:rPr>
              <a:t> stale records still pending owner review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CI reconciliation delayed for </a:t>
            </a:r>
            <a:r>
              <a:rPr sz="750" b="1">
                <a:solidFill>
                  <a:srgbClr val="1F3864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business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032504"/>
            <a:ext cx="4062984" cy="121615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032504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Azure VM reconciliation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Onboard Network team CI class to CMDB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2984" y="1298448"/>
            <a:ext cx="4062984" cy="3017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2712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HAM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2984" y="1600200"/>
            <a:ext cx="4062984" cy="121615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2984" y="1600200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2712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2712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Hardware asset register fully updated for the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4</a:t>
            </a:r>
            <a:r>
              <a:rPr sz="750" b="0">
                <a:solidFill>
                  <a:srgbClr val="222222"/>
                </a:solidFill>
              </a:rPr>
              <a:t> end-of-life servers decommissioned and removed from register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2984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2984" y="2816352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2712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2712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6</a:t>
            </a:r>
            <a:r>
              <a:rPr sz="750" b="0">
                <a:solidFill>
                  <a:srgbClr val="222222"/>
                </a:solidFill>
              </a:rPr>
              <a:t> active assets without valid vendor support contracts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3</a:t>
            </a:r>
            <a:r>
              <a:rPr sz="750" b="0">
                <a:solidFill>
                  <a:srgbClr val="222222"/>
                </a:solidFill>
              </a:rPr>
              <a:t> assets missing location tags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2984" y="4032504"/>
            <a:ext cx="4062984" cy="121615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62984" y="4032504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72712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2712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EoL review for remaining server estate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Update procurement tracker with </a:t>
            </a:r>
            <a:r>
              <a:rPr sz="750" b="1">
                <a:solidFill>
                  <a:srgbClr val="0F6E56"/>
                </a:solidFill>
              </a:rPr>
              <a:t>2026</a:t>
            </a:r>
            <a:r>
              <a:rPr sz="750" b="0">
                <a:solidFill>
                  <a:srgbClr val="222222"/>
                </a:solidFill>
              </a:rPr>
              <a:t> renewals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5968" y="1298448"/>
            <a:ext cx="4062984" cy="301752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5695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5968" y="1600200"/>
            <a:ext cx="4062984" cy="1216152"/>
          </a:xfrm>
          <a:prstGeom prst="rect">
            <a:avLst/>
          </a:prstGeom>
          <a:solidFill>
            <a:srgbClr val="FDF9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5968" y="1600200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35695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5695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Software license compliance at </a:t>
            </a:r>
            <a:r>
              <a:rPr sz="750" b="1">
                <a:solidFill>
                  <a:srgbClr val="8B4500"/>
                </a:solidFill>
              </a:rPr>
              <a:t>97%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8B4500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unused Oracle license sets reclaimed saving £</a:t>
            </a:r>
            <a:r>
              <a:rPr sz="750" b="1">
                <a:solidFill>
                  <a:srgbClr val="8B4500"/>
                </a:solidFill>
              </a:rPr>
              <a:t>18</a:t>
            </a:r>
            <a:r>
              <a:rPr sz="750" b="0">
                <a:solidFill>
                  <a:srgbClr val="222222"/>
                </a:solidFill>
              </a:rPr>
              <a:t>k annually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5968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25968" y="2816352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5695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5695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Adobe Creative Cloud audit pending since last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AWS reserved instance reconciliation overdue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5968" y="4032504"/>
            <a:ext cx="4062984" cy="1216152"/>
          </a:xfrm>
          <a:prstGeom prst="rect">
            <a:avLst/>
          </a:prstGeom>
          <a:solidFill>
            <a:srgbClr val="F5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5968" y="4032504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35695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5695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Submit Adobe audit results to procurement by Friday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AWS reserved instance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5321808"/>
            <a:ext cx="12188952" cy="621792"/>
          </a:xfrm>
          <a:prstGeom prst="rect">
            <a:avLst/>
          </a:prstGeom>
          <a:solidFill>
            <a:srgbClr val="F2F5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5321808"/>
            <a:ext cx="12188952" cy="2468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016" y="5358384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solidFill>
                  <a:srgbClr val="FFFFFF"/>
                </a:solidFill>
              </a:defRPr>
            </a:pPr>
            <a:r>
              <a:t>TIMELINE  &amp;  KEY UPDATES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" y="5596128"/>
            <a:ext cx="1193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22222"/>
                </a:solidFill>
              </a:defRPr>
            </a:pPr>
            <a:r>
              <a:t>Week 1: CMDB audit kickoff — baseline accuracy 97.5% | Week 2: HAM EoL review initiated — 12 servers flagged | Week 3: SAM license reclaim completed — 2 Oracle sets returned | Week 4: Quarterly audit report submitted to CIO; CMDB accuracy 97.7%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Configuration Items in ServiceNow CMDB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All active CI records across all classes and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CIs verified and validated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CIs reviewed by CI owners and confirmed as accurate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CIs with accurate and up-to-date attribute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Verified through quarterly CMDB audit and weekly spot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CIs with no parent relationship or service linkage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CIs not linked to any business service or application in CMDB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1655</Words>
  <Application>Microsoft Office PowerPoint</Application>
  <PresentationFormat>Custom</PresentationFormat>
  <Paragraphs>345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Gupta</cp:lastModifiedBy>
  <cp:revision>2</cp:revision>
  <dcterms:created xsi:type="dcterms:W3CDTF">2013-01-27T09:14:16Z</dcterms:created>
  <dcterms:modified xsi:type="dcterms:W3CDTF">2026-05-10T08:04:40Z</dcterms:modified>
  <cp:category/>
</cp:coreProperties>
</file>