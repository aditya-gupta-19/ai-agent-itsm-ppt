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P2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100% Adherence t…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Accurate stakeho…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Causing MI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</c:v>
                </c:pt>
                <c:pt idx="1">
                  <c:v>1.9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Failed Change Ra…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0.5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97.1</c:v>
                </c:pt>
                <c:pt idx="1">
                  <c:v>96.8</c:v>
                </c:pt>
                <c:pt idx="2">
                  <c:v>97.2</c:v>
                </c:pt>
                <c:pt idx="3">
                  <c:v>97.4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95.7</c:v>
                </c:pt>
                <c:pt idx="1">
                  <c:v>95.6</c:v>
                </c:pt>
                <c:pt idx="2">
                  <c:v>97.0</c:v>
                </c:pt>
                <c:pt idx="3">
                  <c:v>95.2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First Call Resol…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81.0</c:v>
                </c:pt>
                <c:pt idx="1">
                  <c:v>82.0</c:v>
                </c:pt>
                <c:pt idx="2">
                  <c:v>83.0</c:v>
                </c:pt>
                <c:pt idx="3">
                  <c:v>84.0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FCR Rate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82.2</c:v>
                </c:pt>
                <c:pt idx="1">
                  <c:v>81.8</c:v>
                </c:pt>
                <c:pt idx="2">
                  <c:v>82.6</c:v>
                </c:pt>
                <c:pt idx="3">
                  <c:v>82.9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96.2</c:v>
                </c:pt>
                <c:pt idx="1">
                  <c:v>95.8</c:v>
                </c:pt>
                <c:pt idx="2">
                  <c:v>97.1</c:v>
                </c:pt>
                <c:pt idx="3">
                  <c:v>96.5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P2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100% Adherence t…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Accurate stakeho…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Causing MI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</c:v>
                </c:pt>
                <c:pt idx="1">
                  <c:v>1.9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Failed Change Ra…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0.5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97.1</c:v>
                </c:pt>
                <c:pt idx="1">
                  <c:v>96.8</c:v>
                </c:pt>
                <c:pt idx="2">
                  <c:v>97.2</c:v>
                </c:pt>
                <c:pt idx="3">
                  <c:v>97.4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95.7</c:v>
                </c:pt>
                <c:pt idx="1">
                  <c:v>95.6</c:v>
                </c:pt>
                <c:pt idx="2">
                  <c:v>97.0</c:v>
                </c:pt>
                <c:pt idx="3">
                  <c:v>95.2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First Call Resol…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81.0</c:v>
                </c:pt>
                <c:pt idx="1">
                  <c:v>82.0</c:v>
                </c:pt>
                <c:pt idx="2">
                  <c:v>83.0</c:v>
                </c:pt>
                <c:pt idx="3">
                  <c:v>84.0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FCR Rate</c:v>
                </c:pt>
              </c:strCache>
            </c:strRef>
          </c:tx>
          <c:spPr>
            <a:solidFill>
              <a:srgbClr val="CC0000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82.2</c:v>
                </c:pt>
                <c:pt idx="1">
                  <c:v>81.8</c:v>
                </c:pt>
                <c:pt idx="2">
                  <c:v>82.6</c:v>
                </c:pt>
                <c:pt idx="3">
                  <c:v>82.9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1F3864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96.2</c:v>
                </c:pt>
                <c:pt idx="1">
                  <c:v>95.8</c:v>
                </c:pt>
                <c:pt idx="2">
                  <c:v>97.1</c:v>
                </c:pt>
                <c:pt idx="3">
                  <c:v>96.5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14.xml"/><Relationship Id="rId5" Type="http://schemas.openxmlformats.org/officeDocument/2006/relationships/chart" Target="../charts/char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Relationship Id="rId4" Type="http://schemas.openxmlformats.org/officeDocument/2006/relationships/chart" Target="../charts/chart21.xml"/><Relationship Id="rId5" Type="http://schemas.openxmlformats.org/officeDocument/2006/relationships/chart" Target="../charts/chart2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20" b="1">
                <a:solidFill>
                  <a:srgbClr val="CC0000"/>
                </a:solidFill>
              </a:defRPr>
            </a:pPr>
            <a:r>
              <a:t>ITSM Weekly Report — 2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>
                <a:solidFill>
                  <a:srgbClr val="595757"/>
                </a:solidFill>
              </a:defRPr>
            </a:pPr>
            <a:r>
              <a:t>Auto-generated | 7 groups | 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</a:defRPr>
            </a:pPr>
            <a:r>
              <a:t>Generated by ITSM Automation Agent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MIM  |  2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82296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A7348"/>
                </a:solidFill>
              </a:rPr>
              <a:t>■ Green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C000"/>
                </a:solidFill>
              </a:rPr>
              <a:t>■ Amber 95–98%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C0000"/>
                </a:solidFill>
              </a:rPr>
              <a:t>■ Red  &lt;95%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Zero P1s this sprint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MIR timeline </a:t>
            </a:r>
            <a:r>
              <a:rPr sz="800" b="1">
                <a:solidFill>
                  <a:srgbClr val="0A5030"/>
                </a:solidFill>
              </a:rPr>
              <a:t>100%</a:t>
            </a:r>
            <a:r>
              <a:rPr sz="800" b="0">
                <a:solidFill>
                  <a:srgbClr val="1A3A28"/>
                </a:solidFill>
              </a:rPr>
              <a:t> met across all incidents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ACL communications improved following ELT feedback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Continue P1 prevention measures and runbook reviews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Review ACL communication templates for ELT standards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3A3A3A"/>
                </a:solidFill>
              </a:rPr>
              <a:t>SLA compliance dipped to </a:t>
            </a:r>
            <a:r>
              <a:rPr sz="850" b="1">
                <a:solidFill>
                  <a:srgbClr val="CC0000"/>
                </a:solidFill>
              </a:rPr>
              <a:t>97%</a:t>
            </a:r>
            <a:r>
              <a:rPr sz="850" b="0">
                <a:solidFill>
                  <a:srgbClr val="3A3A3A"/>
                </a:solidFill>
              </a:rPr>
              <a:t> in Sprint </a:t>
            </a:r>
            <a:r>
              <a:rPr sz="850" b="1">
                <a:solidFill>
                  <a:srgbClr val="CC0000"/>
                </a:solidFill>
              </a:rPr>
              <a:t>13,</a:t>
            </a:r>
            <a:r>
              <a:rPr sz="850" b="0">
                <a:solidFill>
                  <a:srgbClr val="3A3A3A"/>
                </a:solidFill>
              </a:rPr>
              <a:t> monitoring closely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no. of Major Incidents reported in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P1 and P2 incidents raised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Major Incident Review conducted after each P1/P2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Post-incident review to identify root cause and corrective actions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Critical incidents requiring immediate escalation to senior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High priority incidents requiring prompt resolution within 8 hours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Sprint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100% Adherence to the MIM process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Accurate stakeholder communications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Consistency in the Service now fields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MIR Timeline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SLA compliance P1/P2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SMS within 20 min P1/P2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Email within 20 min engaged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MI whiteboard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Effective handover for RCA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Sprint 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7452360" y="978408"/>
          <a:ext cx="4526280" cy="2423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3474720"/>
          <a:ext cx="4526280" cy="24231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Change  |  2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82296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A7348"/>
                </a:solidFill>
              </a:rPr>
              <a:t>■ Green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C000"/>
                </a:solidFill>
              </a:rPr>
              <a:t>■ Amber 95–98%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C0000"/>
                </a:solidFill>
              </a:rPr>
              <a:t>■ Red  &lt;95%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All changes implemented within approved window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Zero P1 impact from changes this week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</a:t>
            </a:r>
            <a:r>
              <a:rPr sz="800" b="1">
                <a:solidFill>
                  <a:srgbClr val="0A5030"/>
                </a:solidFill>
              </a:rPr>
              <a:t>2</a:t>
            </a:r>
            <a:r>
              <a:rPr sz="800" b="0">
                <a:solidFill>
                  <a:srgbClr val="1A3A28"/>
                </a:solidFill>
              </a:rPr>
              <a:t> emergency changes approved within </a:t>
            </a:r>
            <a:r>
              <a:rPr sz="800" b="1">
                <a:solidFill>
                  <a:srgbClr val="0A5030"/>
                </a:solidFill>
              </a:rPr>
              <a:t>2</a:t>
            </a:r>
            <a:r>
              <a:rPr sz="800" b="0">
                <a:solidFill>
                  <a:srgbClr val="1A3A28"/>
                </a:solidFill>
              </a:rPr>
              <a:t> hrs of request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Review change approval workflows for emergency category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Enhance CAB pre-screening for high-risk changes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3A3A3A"/>
                </a:solidFill>
              </a:rPr>
              <a:t>Unauthorised change rate at </a:t>
            </a:r>
            <a:r>
              <a:rPr sz="850" b="1">
                <a:solidFill>
                  <a:srgbClr val="CC0000"/>
                </a:solidFill>
              </a:rPr>
              <a:t>0.6%</a:t>
            </a:r>
            <a:r>
              <a:rPr sz="850" b="0">
                <a:solidFill>
                  <a:srgbClr val="3A3A3A"/>
                </a:solidFill>
              </a:rPr>
              <a:t>, approaching </a:t>
            </a:r>
            <a:r>
              <a:rPr sz="850" b="1">
                <a:solidFill>
                  <a:srgbClr val="CC0000"/>
                </a:solidFill>
              </a:rPr>
              <a:t>1%</a:t>
            </a:r>
            <a:r>
              <a:rPr sz="850" b="0">
                <a:solidFill>
                  <a:srgbClr val="3A3A3A"/>
                </a:solidFill>
              </a:rPr>
              <a:t> threshold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change requests raised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standard, normal and emergency change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emergency change requests raised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Changes bypassing standard CAB approval due to urgency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implemented successfully without incident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 passes CAB, executes within planned window, no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that caused a Major Incident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Changes that directly triggered a P1 or P2 incident post-implementation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Failed Change Ratio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Unauthorised Change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7452360" y="978408"/>
          <a:ext cx="4526280" cy="2423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3474720"/>
          <a:ext cx="4526280" cy="24231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Problem  |  2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82296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A7348"/>
                </a:solidFill>
              </a:rPr>
              <a:t>■ Green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C000"/>
                </a:solidFill>
              </a:rPr>
              <a:t>■ Amber 90–94%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C0000"/>
                </a:solidFill>
              </a:rPr>
              <a:t>■ Red  &lt;90%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333333"/>
                </a:solidFill>
              </a:defRPr>
            </a:pPr>
            <a:r>
              <a:t>Overall: AMBER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Closed </a:t>
            </a:r>
            <a:r>
              <a:rPr sz="800" b="1">
                <a:solidFill>
                  <a:srgbClr val="0A5030"/>
                </a:solidFill>
              </a:rPr>
              <a:t>3</a:t>
            </a:r>
            <a:r>
              <a:rPr sz="800" b="0">
                <a:solidFill>
                  <a:srgbClr val="1A3A28"/>
                </a:solidFill>
              </a:rPr>
              <a:t> aged problems this week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RCA submitted for </a:t>
            </a:r>
            <a:r>
              <a:rPr sz="800" b="1">
                <a:solidFill>
                  <a:srgbClr val="0A5030"/>
                </a:solidFill>
              </a:rPr>
              <a:t>2</a:t>
            </a:r>
            <a:r>
              <a:rPr sz="800" b="0">
                <a:solidFill>
                  <a:srgbClr val="1A3A28"/>
                </a:solidFill>
              </a:rPr>
              <a:t> P1 incidents on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Proactive monitoring added for top </a:t>
            </a:r>
            <a:r>
              <a:rPr sz="800" b="1">
                <a:solidFill>
                  <a:srgbClr val="0A5030"/>
                </a:solidFill>
              </a:rPr>
              <a:t>5</a:t>
            </a:r>
            <a:r>
              <a:rPr sz="800" b="0">
                <a:solidFill>
                  <a:srgbClr val="1A3A28"/>
                </a:solidFill>
              </a:rPr>
              <a:t> recurring incidents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Escalate </a:t>
            </a:r>
            <a:r>
              <a:rPr sz="800" b="1">
                <a:solidFill>
                  <a:srgbClr val="0A5030"/>
                </a:solidFill>
              </a:rPr>
              <a:t>2</a:t>
            </a:r>
            <a:r>
              <a:rPr sz="800" b="0">
                <a:solidFill>
                  <a:srgbClr val="1A3A28"/>
                </a:solidFill>
              </a:rPr>
              <a:t> remaining aged problems to senior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Conduct root cause analysis workshop for recurring issues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Avg resolution days increased to </a:t>
            </a:r>
            <a:r>
              <a:rPr sz="850" b="1">
                <a:solidFill>
                  <a:srgbClr val="CC0000"/>
                </a:solidFill>
              </a:rPr>
              <a:t>4.2</a:t>
            </a:r>
            <a:r>
              <a:rPr sz="850" b="0">
                <a:solidFill>
                  <a:srgbClr val="3A3A3A"/>
                </a:solidFill>
              </a:rPr>
              <a:t>, approaching </a:t>
            </a:r>
            <a:r>
              <a:rPr sz="850" b="1">
                <a:solidFill>
                  <a:srgbClr val="CC0000"/>
                </a:solidFill>
              </a:rPr>
              <a:t>5</a:t>
            </a:r>
            <a:r>
              <a:rPr sz="850" b="0">
                <a:solidFill>
                  <a:srgbClr val="3A3A3A"/>
                </a:solidFill>
              </a:rPr>
              <a:t>-day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</a:t>
            </a:r>
            <a:r>
              <a:rPr sz="850" b="1">
                <a:solidFill>
                  <a:srgbClr val="CC0000"/>
                </a:solidFill>
              </a:rPr>
              <a:t>2</a:t>
            </a:r>
            <a:r>
              <a:rPr sz="850" b="0">
                <a:solidFill>
                  <a:srgbClr val="3A3A3A"/>
                </a:solidFill>
              </a:rPr>
              <a:t> recurring issues need additional root cause analysis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open problem records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All active problem records regardless of priority or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problems closed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Problems moved to resolved or closed status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new problem records opened this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Problems raised from incident trends or proactive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Average calendar days from problem creation to closure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Measured from problem record creation date to closure date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Recurring Issues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Problems Aged &gt;30 days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7452360" y="2208276"/>
          <a:ext cx="4526280" cy="245973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CMDB  |  2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82296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A7348"/>
                </a:solidFill>
              </a:rPr>
              <a:t>■ Green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C000"/>
                </a:solidFill>
              </a:rPr>
              <a:t>■ Amber 90–94%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C0000"/>
                </a:solidFill>
              </a:rPr>
              <a:t>■ Red  &lt;90%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333333"/>
                </a:solidFill>
              </a:defRPr>
            </a:pPr>
            <a:r>
              <a:t>Overall: AMBER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978408"/>
            <a:ext cx="4062984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104241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CMDB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280160"/>
            <a:ext cx="4062984" cy="132283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280160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" y="132588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1591056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Quarterly CMDB audit passed with </a:t>
            </a:r>
            <a:r>
              <a:rPr sz="750" b="1">
                <a:solidFill>
                  <a:srgbClr val="1F3864"/>
                </a:solidFill>
              </a:rPr>
              <a:t>97.7%</a:t>
            </a:r>
            <a:r>
              <a:rPr sz="750" b="0">
                <a:solidFill>
                  <a:srgbClr val="222222"/>
                </a:solidFill>
              </a:rPr>
              <a:t> accuracy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7</a:t>
            </a:r>
            <a:r>
              <a:rPr sz="750" b="0">
                <a:solidFill>
                  <a:srgbClr val="222222"/>
                </a:solidFill>
              </a:rPr>
              <a:t> orphan CIs resolved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Azure VM CI class successfully onboarded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602992"/>
            <a:ext cx="4062984" cy="132283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602992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" y="264871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2913888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15</a:t>
            </a:r>
            <a:r>
              <a:rPr sz="750" b="0">
                <a:solidFill>
                  <a:srgbClr val="222222"/>
                </a:solidFill>
              </a:rPr>
              <a:t> stale records still pending owner review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CI reconciliation delayed for </a:t>
            </a:r>
            <a:r>
              <a:rPr sz="750" b="1">
                <a:solidFill>
                  <a:srgbClr val="1F3864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business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925823"/>
            <a:ext cx="4062984" cy="132283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925823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" y="3971543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" y="4236720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Azure VM reconciliation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Onboard Network team CI class to CMDB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2984" y="978408"/>
            <a:ext cx="4062984" cy="30175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72712" y="104241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HAM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2984" y="1280160"/>
            <a:ext cx="4062984" cy="132283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2984" y="1280160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2712" y="132588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2712" y="1591056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Hardware asset register fully updated for the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4</a:t>
            </a:r>
            <a:r>
              <a:rPr sz="750" b="0">
                <a:solidFill>
                  <a:srgbClr val="222222"/>
                </a:solidFill>
              </a:rPr>
              <a:t> end-of-life servers decommissioned and removed from register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2984" y="2602992"/>
            <a:ext cx="4062984" cy="132283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2984" y="2602992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2712" y="264871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2712" y="2913888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6</a:t>
            </a:r>
            <a:r>
              <a:rPr sz="750" b="0">
                <a:solidFill>
                  <a:srgbClr val="222222"/>
                </a:solidFill>
              </a:rPr>
              <a:t> active assets without valid vendor support contracts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3</a:t>
            </a:r>
            <a:r>
              <a:rPr sz="750" b="0">
                <a:solidFill>
                  <a:srgbClr val="222222"/>
                </a:solidFill>
              </a:rPr>
              <a:t> assets missing location tags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2984" y="3925823"/>
            <a:ext cx="4062984" cy="132283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62984" y="3925823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2712" y="3971543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72712" y="4236720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EoL review for remaining server estate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Update procurement tracker with </a:t>
            </a:r>
            <a:r>
              <a:rPr sz="750" b="1">
                <a:solidFill>
                  <a:srgbClr val="0F6E56"/>
                </a:solidFill>
              </a:rPr>
              <a:t>2026</a:t>
            </a:r>
            <a:r>
              <a:rPr sz="750" b="0">
                <a:solidFill>
                  <a:srgbClr val="222222"/>
                </a:solidFill>
              </a:rPr>
              <a:t> renewals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5968" y="978408"/>
            <a:ext cx="4062984" cy="301752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5695" y="104241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5968" y="1280160"/>
            <a:ext cx="4062984" cy="1322832"/>
          </a:xfrm>
          <a:prstGeom prst="rect">
            <a:avLst/>
          </a:prstGeom>
          <a:solidFill>
            <a:srgbClr val="FDF9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5968" y="1280160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5695" y="132588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5695" y="1591056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Software license compliance at </a:t>
            </a:r>
            <a:r>
              <a:rPr sz="750" b="1">
                <a:solidFill>
                  <a:srgbClr val="8B4500"/>
                </a:solidFill>
              </a:rPr>
              <a:t>97%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8B4500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unused Oracle license sets reclaimed saving £</a:t>
            </a:r>
            <a:r>
              <a:rPr sz="750" b="1">
                <a:solidFill>
                  <a:srgbClr val="8B4500"/>
                </a:solidFill>
              </a:rPr>
              <a:t>18</a:t>
            </a:r>
            <a:r>
              <a:rPr sz="750" b="0">
                <a:solidFill>
                  <a:srgbClr val="222222"/>
                </a:solidFill>
              </a:rPr>
              <a:t>k annually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5968" y="2602992"/>
            <a:ext cx="4062984" cy="132283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25968" y="2602992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5695" y="264871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5695" y="2913888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Adobe Creative Cloud audit pending since last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AWS reserved instance reconciliation overdue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25968" y="3925823"/>
            <a:ext cx="4062984" cy="1322832"/>
          </a:xfrm>
          <a:prstGeom prst="rect">
            <a:avLst/>
          </a:prstGeom>
          <a:solidFill>
            <a:srgbClr val="F5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5968" y="3925823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35695" y="3971543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5695" y="4236720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Submit Adobe audit results to procurement by Friday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AWS reserved instance review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5321808"/>
            <a:ext cx="12188952" cy="621792"/>
          </a:xfrm>
          <a:prstGeom prst="rect">
            <a:avLst/>
          </a:prstGeom>
          <a:solidFill>
            <a:srgbClr val="F2F5FA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321808"/>
            <a:ext cx="12188952" cy="2468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8016" y="5358384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solidFill>
                  <a:srgbClr val="FFFFFF"/>
                </a:solidFill>
              </a:defRPr>
            </a:pPr>
            <a:r>
              <a:t>TIMELINE  &amp;  KEY UPDATES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" y="5596128"/>
            <a:ext cx="1193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222222"/>
                </a:solidFill>
              </a:defRPr>
            </a:pPr>
            <a:r>
              <a:t>Week 1: CMDB audit kickoff — baseline accuracy 97.5% | Week 2: HAM EoL review initiated — 12 servers flagged | Week 3: SAM license reclaim completed — 2 Oracle sets returned | Week 4: Quarterly audit report submitted to CIO; CMDB accuracy 97.7%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Configuration Items in ServiceNow CMDB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All active CI records across all classes and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CIs verified and validated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CIs reviewed by CI owners and confirmed as accurate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CIs with accurate and up-to-date attribute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Verified through quarterly CMDB audit and weekly spot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CIs with no parent relationship or service linkage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CIs not linked to any business service or application in CMDB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NOC  |  2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82296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A7348"/>
                </a:solidFill>
              </a:rPr>
              <a:t>■ Green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C000"/>
                </a:solidFill>
              </a:rPr>
              <a:t>■ Amber 90–94%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C0000"/>
                </a:solidFill>
              </a:rPr>
              <a:t>■ Red  &lt;90%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333333"/>
                </a:solidFill>
              </a:defRPr>
            </a:pPr>
            <a:r>
              <a:t>Overall: AMBER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Auto-resolution rate reached </a:t>
            </a:r>
            <a:r>
              <a:rPr sz="800" b="1">
                <a:solidFill>
                  <a:srgbClr val="0A5030"/>
                </a:solidFill>
              </a:rPr>
              <a:t>85%</a:t>
            </a:r>
            <a:r>
              <a:rPr sz="800" b="0">
                <a:solidFill>
                  <a:srgbClr val="1A3A28"/>
                </a:solidFill>
              </a:rPr>
              <a:t>, highest this quarter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P1 incidents resolved in avg </a:t>
            </a:r>
            <a:r>
              <a:rPr sz="800" b="1">
                <a:solidFill>
                  <a:srgbClr val="0A5030"/>
                </a:solidFill>
              </a:rPr>
              <a:t>1.4</a:t>
            </a:r>
            <a:r>
              <a:rPr sz="800" b="0">
                <a:solidFill>
                  <a:srgbClr val="1A3A28"/>
                </a:solidFill>
              </a:rPr>
              <a:t> hrs, well within </a:t>
            </a:r>
            <a:r>
              <a:rPr sz="800" b="1">
                <a:solidFill>
                  <a:srgbClr val="0A5030"/>
                </a:solidFill>
              </a:rPr>
              <a:t>2</a:t>
            </a:r>
            <a:r>
              <a:rPr sz="800" b="0">
                <a:solidFill>
                  <a:srgbClr val="1A3A28"/>
                </a:solidFill>
              </a:rPr>
              <a:t>-hr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New runbook deployed for DB alert cluster reducing false positives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Expand auto-remediation scripts to cover network alert category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Review P2 escalation path to reduce MTTR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</a:t>
            </a:r>
            <a:r>
              <a:rPr sz="850" b="1">
                <a:solidFill>
                  <a:srgbClr val="CC0000"/>
                </a:solidFill>
              </a:rPr>
              <a:t>2</a:t>
            </a:r>
            <a:r>
              <a:rPr sz="850" b="0">
                <a:solidFill>
                  <a:srgbClr val="3A3A3A"/>
                </a:solidFill>
              </a:rPr>
              <a:t> P1 incidents detected this week, trend needs monitoring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MTTR at </a:t>
            </a:r>
            <a:r>
              <a:rPr sz="850" b="1">
                <a:solidFill>
                  <a:srgbClr val="CC0000"/>
                </a:solidFill>
              </a:rPr>
              <a:t>1.7</a:t>
            </a:r>
            <a:r>
              <a:rPr sz="850" b="0">
                <a:solidFill>
                  <a:srgbClr val="3A3A3A"/>
                </a:solidFill>
              </a:rPr>
              <a:t> hrs for P2 incidents, slightly above </a:t>
            </a:r>
            <a:r>
              <a:rPr sz="850" b="1">
                <a:solidFill>
                  <a:srgbClr val="CC0000"/>
                </a:solidFill>
              </a:rPr>
              <a:t>2</a:t>
            </a:r>
            <a:r>
              <a:rPr sz="850" b="0">
                <a:solidFill>
                  <a:srgbClr val="3A3A3A"/>
                </a:solidFill>
              </a:rPr>
              <a:t>-hr target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monitoring alerts received by NOC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all severity levels from all monitored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alerts automatically resolved without NOC intervention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Auto-remediation scripts and rules resolving alerts without manual action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detected and managed by NOC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Critical outages requiring immediate NOC escalation to MIM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detected and managed by NOC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High severity alerts requiring prompt NOC investigation and response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MTTR Hours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1890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1610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7452360" y="978408"/>
          <a:ext cx="4526280" cy="2423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3474720"/>
          <a:ext cx="4526280" cy="24231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ServiceNow  |  2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82296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A7348"/>
                </a:solidFill>
              </a:rPr>
              <a:t>■ Green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C000"/>
                </a:solidFill>
              </a:rPr>
              <a:t>■ Amber 90–94%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C0000"/>
                </a:solidFill>
              </a:rPr>
              <a:t>■ Red  &lt;90%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CSAT improved to </a:t>
            </a:r>
            <a:r>
              <a:rPr sz="800" b="1">
                <a:solidFill>
                  <a:srgbClr val="0A5030"/>
                </a:solidFill>
              </a:rPr>
              <a:t>4.4</a:t>
            </a:r>
            <a:r>
              <a:rPr sz="800" b="0">
                <a:solidFill>
                  <a:srgbClr val="1A3A28"/>
                </a:solidFill>
              </a:rPr>
              <a:t> out of </a:t>
            </a:r>
            <a:r>
              <a:rPr sz="800" b="1">
                <a:solidFill>
                  <a:srgbClr val="0A5030"/>
                </a:solidFill>
              </a:rPr>
              <a:t>5,</a:t>
            </a:r>
            <a:r>
              <a:rPr sz="800" b="0">
                <a:solidFill>
                  <a:srgbClr val="1A3A28"/>
                </a:solidFill>
              </a:rPr>
              <a:t> best score this quarter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FCR consistently above </a:t>
            </a:r>
            <a:r>
              <a:rPr sz="800" b="1">
                <a:solidFill>
                  <a:srgbClr val="0A5030"/>
                </a:solidFill>
              </a:rPr>
              <a:t>84%</a:t>
            </a:r>
            <a:r>
              <a:rPr sz="800" b="0">
                <a:solidFill>
                  <a:srgbClr val="1A3A28"/>
                </a:solidFill>
              </a:rPr>
              <a:t> for third consecutive week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Escalations reduced </a:t>
            </a:r>
            <a:r>
              <a:rPr sz="800" b="1">
                <a:solidFill>
                  <a:srgbClr val="0A5030"/>
                </a:solidFill>
              </a:rPr>
              <a:t>25%</a:t>
            </a:r>
            <a:r>
              <a:rPr sz="800" b="0">
                <a:solidFill>
                  <a:srgbClr val="1A3A28"/>
                </a:solidFill>
              </a:rPr>
              <a:t> versus prior week through knowledge base improvements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Investigate root cause of borderline resolution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Publish </a:t>
            </a:r>
            <a:r>
              <a:rPr sz="800" b="1">
                <a:solidFill>
                  <a:srgbClr val="0A5030"/>
                </a:solidFill>
              </a:rPr>
              <a:t>10</a:t>
            </a:r>
            <a:r>
              <a:rPr sz="800" b="0">
                <a:solidFill>
                  <a:srgbClr val="1A3A28"/>
                </a:solidFill>
              </a:rPr>
              <a:t> additional knowledge articles for common request types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3A3A3A"/>
                </a:solidFill>
              </a:rPr>
              <a:t>Resolution rate at </a:t>
            </a:r>
            <a:r>
              <a:rPr sz="850" b="1">
                <a:solidFill>
                  <a:srgbClr val="CC0000"/>
                </a:solidFill>
              </a:rPr>
              <a:t>95.2%</a:t>
            </a:r>
            <a:r>
              <a:rPr sz="850" b="0">
                <a:solidFill>
                  <a:srgbClr val="3A3A3A"/>
                </a:solidFill>
              </a:rPr>
              <a:t>, borderline against </a:t>
            </a:r>
            <a:r>
              <a:rPr sz="850" b="1">
                <a:solidFill>
                  <a:srgbClr val="CC0000"/>
                </a:solidFill>
              </a:rPr>
              <a:t>95%</a:t>
            </a:r>
            <a:r>
              <a:rPr sz="850" b="0">
                <a:solidFill>
                  <a:srgbClr val="3A3A3A"/>
                </a:solidFill>
              </a:rPr>
              <a:t> target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service requests and incidents logged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all request types and categories processed through the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moved to resolved status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Resolved tickets pending user confirmation closure after 5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escalated to L2 or L3 support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Tickets that could not be resolved by first-line ServiceNow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tickets resolved within agreed SLA target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Calculated against resolution time targets by ticket category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CSAT Score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First Call Resolution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7452360" y="978408"/>
          <a:ext cx="4526280" cy="2423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3474720"/>
          <a:ext cx="4526280" cy="24231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 Desk  |  2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82296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A7348"/>
                </a:solidFill>
              </a:rPr>
              <a:t>■ Green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C000"/>
                </a:solidFill>
              </a:rPr>
              <a:t>■ Amber 90–94%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C0000"/>
                </a:solidFill>
              </a:rPr>
              <a:t>■ Red  &lt;90%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333333"/>
                </a:solidFill>
              </a:defRPr>
            </a:pPr>
            <a:r>
              <a:t>Overall: AMBER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Handle time reduced to </a:t>
            </a:r>
            <a:r>
              <a:rPr sz="800" b="1">
                <a:solidFill>
                  <a:srgbClr val="0A5030"/>
                </a:solidFill>
              </a:rPr>
              <a:t>8.4</a:t>
            </a:r>
            <a:r>
              <a:rPr sz="800" b="0">
                <a:solidFill>
                  <a:srgbClr val="1A3A28"/>
                </a:solidFill>
              </a:rPr>
              <a:t> mins against </a:t>
            </a:r>
            <a:r>
              <a:rPr sz="800" b="1">
                <a:solidFill>
                  <a:srgbClr val="0A5030"/>
                </a:solidFill>
              </a:rPr>
              <a:t>10</a:t>
            </a:r>
            <a:r>
              <a:rPr sz="800" b="0">
                <a:solidFill>
                  <a:srgbClr val="1A3A28"/>
                </a:solidFill>
              </a:rPr>
              <a:t>-min 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</a:t>
            </a:r>
            <a:r>
              <a:rPr sz="800" b="1">
                <a:solidFill>
                  <a:srgbClr val="0A5030"/>
                </a:solidFill>
              </a:rPr>
              <a:t>12</a:t>
            </a:r>
            <a:r>
              <a:rPr sz="800" b="0">
                <a:solidFill>
                  <a:srgbClr val="1A3A28"/>
                </a:solidFill>
              </a:rPr>
              <a:t> new knowledge articles published this week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Abandoned calls at </a:t>
            </a:r>
            <a:r>
              <a:rPr sz="800" b="1">
                <a:solidFill>
                  <a:srgbClr val="0A5030"/>
                </a:solidFill>
              </a:rPr>
              <a:t>14,</a:t>
            </a:r>
            <a:r>
              <a:rPr sz="800" b="0">
                <a:solidFill>
                  <a:srgbClr val="1A3A28"/>
                </a:solidFill>
              </a:rPr>
              <a:t> lowest point this month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Deploy new chatbot for tier-</a:t>
            </a:r>
            <a:r>
              <a:rPr sz="800" b="1">
                <a:solidFill>
                  <a:srgbClr val="0A5030"/>
                </a:solidFill>
              </a:rPr>
              <a:t>1</a:t>
            </a:r>
            <a:r>
              <a:rPr sz="800" b="0">
                <a:solidFill>
                  <a:srgbClr val="1A3A28"/>
                </a:solidFill>
              </a:rPr>
              <a:t> queries to improve FCR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Review call routing rules to reduce abandonment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FCR at </a:t>
            </a:r>
            <a:r>
              <a:rPr sz="850" b="1">
                <a:solidFill>
                  <a:srgbClr val="CC0000"/>
                </a:solidFill>
              </a:rPr>
              <a:t>82.9%</a:t>
            </a:r>
            <a:r>
              <a:rPr sz="850" b="0">
                <a:solidFill>
                  <a:srgbClr val="3A3A3A"/>
                </a:solidFill>
              </a:rPr>
              <a:t>, slightly below internal </a:t>
            </a:r>
            <a:r>
              <a:rPr sz="850" b="1">
                <a:solidFill>
                  <a:srgbClr val="CC0000"/>
                </a:solidFill>
              </a:rPr>
              <a:t>85%</a:t>
            </a:r>
            <a:r>
              <a:rPr sz="850" b="0">
                <a:solidFill>
                  <a:srgbClr val="3A3A3A"/>
                </a:solidFill>
              </a:rPr>
              <a:t>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Abandoned calls still above sub-</a:t>
            </a:r>
            <a:r>
              <a:rPr sz="850" b="1">
                <a:solidFill>
                  <a:srgbClr val="CC0000"/>
                </a:solidFill>
              </a:rPr>
              <a:t>10</a:t>
            </a:r>
            <a:r>
              <a:rPr sz="850" b="0">
                <a:solidFill>
                  <a:srgbClr val="3A3A3A"/>
                </a:solidFill>
              </a:rPr>
              <a:t> goal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inbound contacts handled by Service Desk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voice calls, chat sessions and email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contacts resolved by first-line Service Desk agents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Direct resolution without L2/L3 escalation required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contacts abandoned before being answered by an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Key measure of queue management and staffing adequacy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contacts resolved on first contact without escalation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Primary measure of Service Desk effectiveness and knowledge quality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Avg Handle Time Mins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7452360" y="978408"/>
          <a:ext cx="4526280" cy="2423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3474720"/>
          <a:ext cx="4526280" cy="24231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Asset and Configuration Management  |  2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82296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A7348"/>
                </a:solidFill>
              </a:rPr>
              <a:t>■ Green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C000"/>
                </a:solidFill>
              </a:rPr>
              <a:t>■ Amber 90–94%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C0000"/>
                </a:solidFill>
              </a:rPr>
              <a:t>■ Red  &lt;90%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333333"/>
                </a:solidFill>
              </a:defRPr>
            </a:pPr>
            <a:r>
              <a:t>Overall: AMBER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550">
                          <a:solidFill>
                            <a:srgbClr val="FFFFFF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978408"/>
            <a:ext cx="4062984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104241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CMDB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280160"/>
            <a:ext cx="4062984" cy="132283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280160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" y="132588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1591056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Quarterly CMDB audit passed with </a:t>
            </a:r>
            <a:r>
              <a:rPr sz="750" b="1">
                <a:solidFill>
                  <a:srgbClr val="1F3864"/>
                </a:solidFill>
              </a:rPr>
              <a:t>97.7%</a:t>
            </a:r>
            <a:r>
              <a:rPr sz="750" b="0">
                <a:solidFill>
                  <a:srgbClr val="222222"/>
                </a:solidFill>
              </a:rPr>
              <a:t> accuracy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7</a:t>
            </a:r>
            <a:r>
              <a:rPr sz="750" b="0">
                <a:solidFill>
                  <a:srgbClr val="222222"/>
                </a:solidFill>
              </a:rPr>
              <a:t> orphan CIs resolved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Azure VM CI class successfully onboarded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602992"/>
            <a:ext cx="4062984" cy="132283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602992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" y="264871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2913888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15</a:t>
            </a:r>
            <a:r>
              <a:rPr sz="750" b="0">
                <a:solidFill>
                  <a:srgbClr val="222222"/>
                </a:solidFill>
              </a:rPr>
              <a:t> stale records still pending owner review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CI reconciliation delayed for </a:t>
            </a:r>
            <a:r>
              <a:rPr sz="750" b="1">
                <a:solidFill>
                  <a:srgbClr val="1F3864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business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925823"/>
            <a:ext cx="4062984" cy="132283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925823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" y="3971543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" y="4236720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Azure VM reconciliation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Onboard Network team CI class to CMDB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2984" y="978408"/>
            <a:ext cx="4062984" cy="30175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72712" y="104241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HAM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2984" y="1280160"/>
            <a:ext cx="4062984" cy="132283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2984" y="1280160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2712" y="132588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2712" y="1591056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Hardware asset register fully updated for the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4</a:t>
            </a:r>
            <a:r>
              <a:rPr sz="750" b="0">
                <a:solidFill>
                  <a:srgbClr val="222222"/>
                </a:solidFill>
              </a:rPr>
              <a:t> end-of-life servers decommissioned and removed from register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2984" y="2602992"/>
            <a:ext cx="4062984" cy="132283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2984" y="2602992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2712" y="264871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2712" y="2913888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6</a:t>
            </a:r>
            <a:r>
              <a:rPr sz="750" b="0">
                <a:solidFill>
                  <a:srgbClr val="222222"/>
                </a:solidFill>
              </a:rPr>
              <a:t> active assets without valid vendor support contracts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3</a:t>
            </a:r>
            <a:r>
              <a:rPr sz="750" b="0">
                <a:solidFill>
                  <a:srgbClr val="222222"/>
                </a:solidFill>
              </a:rPr>
              <a:t> assets missing location tags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2984" y="3925823"/>
            <a:ext cx="4062984" cy="132283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62984" y="3925823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2712" y="3971543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72712" y="4236720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EoL review for remaining server estate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Update procurement tracker with </a:t>
            </a:r>
            <a:r>
              <a:rPr sz="750" b="1">
                <a:solidFill>
                  <a:srgbClr val="0F6E56"/>
                </a:solidFill>
              </a:rPr>
              <a:t>2026</a:t>
            </a:r>
            <a:r>
              <a:rPr sz="750" b="0">
                <a:solidFill>
                  <a:srgbClr val="222222"/>
                </a:solidFill>
              </a:rPr>
              <a:t> renewals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5968" y="978408"/>
            <a:ext cx="4062984" cy="301752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5695" y="104241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5968" y="1280160"/>
            <a:ext cx="4062984" cy="1322832"/>
          </a:xfrm>
          <a:prstGeom prst="rect">
            <a:avLst/>
          </a:prstGeom>
          <a:solidFill>
            <a:srgbClr val="FDF9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5968" y="1280160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5695" y="132588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5695" y="1591056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Software license compliance at </a:t>
            </a:r>
            <a:r>
              <a:rPr sz="750" b="1">
                <a:solidFill>
                  <a:srgbClr val="8B4500"/>
                </a:solidFill>
              </a:rPr>
              <a:t>97%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8B4500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unused Oracle license sets reclaimed saving £</a:t>
            </a:r>
            <a:r>
              <a:rPr sz="750" b="1">
                <a:solidFill>
                  <a:srgbClr val="8B4500"/>
                </a:solidFill>
              </a:rPr>
              <a:t>18</a:t>
            </a:r>
            <a:r>
              <a:rPr sz="750" b="0">
                <a:solidFill>
                  <a:srgbClr val="222222"/>
                </a:solidFill>
              </a:rPr>
              <a:t>k annually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5968" y="2602992"/>
            <a:ext cx="4062984" cy="132283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25968" y="2602992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5695" y="264871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5695" y="2913888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Adobe Creative Cloud audit pending since last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AWS reserved instance reconciliation overdue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25968" y="3925823"/>
            <a:ext cx="4062984" cy="1322832"/>
          </a:xfrm>
          <a:prstGeom prst="rect">
            <a:avLst/>
          </a:prstGeom>
          <a:solidFill>
            <a:srgbClr val="F5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5968" y="3925823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35695" y="3971543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5695" y="4236720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Submit Adobe audit results to procurement by Friday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AWS reserved instance review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5321808"/>
            <a:ext cx="12188952" cy="621792"/>
          </a:xfrm>
          <a:prstGeom prst="rect">
            <a:avLst/>
          </a:prstGeom>
          <a:solidFill>
            <a:srgbClr val="F2F5FA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321808"/>
            <a:ext cx="12188952" cy="2468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8016" y="5358384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solidFill>
                  <a:srgbClr val="FFFFFF"/>
                </a:solidFill>
              </a:defRPr>
            </a:pPr>
            <a:r>
              <a:t>TIMELINE  &amp;  KEY UPDATES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" y="5596128"/>
            <a:ext cx="1193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222222"/>
                </a:solidFill>
              </a:defRPr>
            </a:pPr>
            <a:r>
              <a:t>Week 1: CMDB audit kickoff — baseline accuracy 97.5% | Week 2: HAM EoL review initiated — 12 servers flagged | Week 3: SAM license reclaim completed — 2 Oracle sets returned | Week 4: Quarterly audit report submitted to CIO; CMDB accuracy 97.7%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6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Configuration Items in ServiceNow CMDB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All active CI records across all classes and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CIs verified and validated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CIs reviewed by CI owners and confirmed as accurate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CIs with accurate and up-to-date attribute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Verified through quarterly CMDB audit and weekly spot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CIs with no parent relationship or service linkage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CIs not linked to any business service or application in CMDB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