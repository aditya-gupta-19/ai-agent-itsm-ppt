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er>
        <c:ser>
          <c:idx val="1"/>
          <c:order val="1"/>
          <c:tx>
            <c:strRef>
              <c:f>Sheet1!$C$1</c:f>
              <c:strCache>
                <c:ptCount val="1"/>
                <c:pt idx="0">
                  <c:v>MIR Conducted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er>
        <c:ser>
          <c:idx val="2"/>
          <c:order val="2"/>
          <c:tx>
            <c:strRef>
              <c:f>Sheet1!$D$1</c:f>
              <c:strCache>
                <c:ptCount val="1"/>
                <c:pt idx="0">
                  <c:v># of P1</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1.0</c:v>
                </c:pt>
                <c:pt idx="2">
                  <c:v>0.0</c:v>
                </c:pt>
                <c:pt idx="3">
                  <c:v>0.0</c:v>
                </c:pt>
              </c:numCache>
            </c:numRef>
          </c:val>
        </c:ser>
        <c:ser>
          <c:idx val="3"/>
          <c:order val="3"/>
          <c:tx>
            <c:strRef>
              <c:f>Sheet1!$E$1</c:f>
              <c:strCache>
                <c:ptCount val="1"/>
                <c:pt idx="0">
                  <c:v># of P2</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2.0</c:v>
                </c:pt>
                <c:pt idx="1">
                  <c:v>3.0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mooth val="0"/>
        </c:ser>
        <c:ser>
          <c:idx val="1"/>
          <c:order val="1"/>
          <c:tx>
            <c:strRef>
              <c:f>Sheet1!$C$1</c:f>
              <c:strCache>
                <c:ptCount val="1"/>
                <c:pt idx="0">
                  <c:v>MIR Conducted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mooth val="0"/>
        </c:ser>
        <c:ser>
          <c:idx val="2"/>
          <c:order val="2"/>
          <c:tx>
            <c:strRef>
              <c:f>Sheet1!$D$1</c:f>
              <c:strCache>
                <c:ptCount val="1"/>
                <c:pt idx="0">
                  <c:v># of P1</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1.0</c:v>
                </c:pt>
                <c:pt idx="2">
                  <c:v>0.0</c:v>
                </c:pt>
                <c:pt idx="3">
                  <c:v>0.0</c:v>
                </c:pt>
              </c:numCache>
            </c:numRef>
          </c:val>
          <c:smooth val="0"/>
        </c:ser>
        <c:ser>
          <c:idx val="3"/>
          <c:order val="3"/>
          <c:tx>
            <c:strRef>
              <c:f>Sheet1!$E$1</c:f>
              <c:strCache>
                <c:ptCount val="1"/>
                <c:pt idx="0">
                  <c:v># of P2</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2.0</c:v>
                </c:pt>
                <c:pt idx="1">
                  <c:v>3.0</c:v>
                </c:pt>
                <c:pt idx="2">
                  <c:v>3.0</c:v>
                </c:pt>
                <c:pt idx="3">
                  <c:v>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Changes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48.0</c:v>
                </c:pt>
                <c:pt idx="1">
                  <c:v>52.0</c:v>
                </c:pt>
                <c:pt idx="2">
                  <c:v>45.0</c:v>
                </c:pt>
                <c:pt idx="3">
                  <c:v>50.0</c:v>
                </c:pt>
              </c:numCache>
            </c:numRef>
          </c:val>
        </c:ser>
        <c:ser>
          <c:idx val="1"/>
          <c:order val="1"/>
          <c:tx>
            <c:strRef>
              <c:f>Sheet1!$C$1</c:f>
              <c:strCache>
                <c:ptCount val="1"/>
                <c:pt idx="0">
                  <c:v>Emergency Changes</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2.0</c:v>
                </c:pt>
                <c:pt idx="1">
                  <c:v>1.0</c:v>
                </c:pt>
                <c:pt idx="2">
                  <c:v>3.0</c:v>
                </c:pt>
                <c:pt idx="3">
                  <c:v>2.0</c:v>
                </c:pt>
              </c:numCache>
            </c:numRef>
          </c:val>
        </c:ser>
        <c:ser>
          <c:idx val="2"/>
          <c:order val="2"/>
          <c:tx>
            <c:strRef>
              <c:f>Sheet1!$D$1</c:f>
              <c:strCache>
                <c:ptCount val="1"/>
                <c:pt idx="0">
                  <c:v>Change Success Ratio</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100.0</c:v>
                </c:pt>
                <c:pt idx="1">
                  <c:v>99.0</c:v>
                </c:pt>
                <c:pt idx="2">
                  <c:v>100.0</c:v>
                </c:pt>
                <c:pt idx="3">
                  <c:v>100.0</c:v>
                </c:pt>
              </c:numCache>
            </c:numRef>
          </c:val>
        </c:ser>
        <c:ser>
          <c:idx val="3"/>
          <c:order val="3"/>
          <c:tx>
            <c:strRef>
              <c:f>Sheet1!$E$1</c:f>
              <c:strCache>
                <c:ptCount val="1"/>
                <c:pt idx="0">
                  <c:v>Change Causing MI</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2.1</c:v>
                </c:pt>
                <c:pt idx="1">
                  <c:v>1.9</c:v>
                </c:pt>
                <c:pt idx="2">
                  <c:v>0.0</c:v>
                </c:pt>
                <c:pt idx="3">
                  <c:v>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er>
        <c:ser>
          <c:idx val="1"/>
          <c:order val="1"/>
          <c:tx>
            <c:strRef>
              <c:f>Sheet1!$C$1</c:f>
              <c:strCache>
                <c:ptCount val="1"/>
                <c:pt idx="0">
                  <c:v>Problems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er>
        <c:ser>
          <c:idx val="2"/>
          <c:order val="2"/>
          <c:tx>
            <c:strRef>
              <c:f>Sheet1!$D$1</c:f>
              <c:strCache>
                <c:ptCount val="1"/>
                <c:pt idx="0">
                  <c:v>New Problems Raised</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er>
        <c:ser>
          <c:idx val="3"/>
          <c:order val="3"/>
          <c:tx>
            <c:strRef>
              <c:f>Sheet1!$E$1</c:f>
              <c:strCache>
                <c:ptCount val="1"/>
                <c:pt idx="0">
                  <c:v>Avg Resolution Days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mooth val="0"/>
        </c:ser>
        <c:ser>
          <c:idx val="1"/>
          <c:order val="1"/>
          <c:tx>
            <c:strRef>
              <c:f>Sheet1!$C$1</c:f>
              <c:strCache>
                <c:ptCount val="1"/>
                <c:pt idx="0">
                  <c:v>Problems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mooth val="0"/>
        </c:ser>
        <c:ser>
          <c:idx val="2"/>
          <c:order val="2"/>
          <c:tx>
            <c:strRef>
              <c:f>Sheet1!$D$1</c:f>
              <c:strCache>
                <c:ptCount val="1"/>
                <c:pt idx="0">
                  <c:v>New Problems Raised</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mooth val="0"/>
        </c:ser>
        <c:ser>
          <c:idx val="3"/>
          <c:order val="3"/>
          <c:tx>
            <c:strRef>
              <c:f>Sheet1!$E$1</c:f>
              <c:strCache>
                <c:ptCount val="1"/>
                <c:pt idx="0">
                  <c:v>Avg Resolution Days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CIs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12480.0</c:v>
                </c:pt>
                <c:pt idx="1">
                  <c:v>12495.0</c:v>
                </c:pt>
                <c:pt idx="2">
                  <c:v>12510.0</c:v>
                </c:pt>
                <c:pt idx="3">
                  <c:v>12524.0</c:v>
                </c:pt>
              </c:numCache>
            </c:numRef>
          </c:val>
        </c:ser>
        <c:ser>
          <c:idx val="1"/>
          <c:order val="1"/>
          <c:tx>
            <c:strRef>
              <c:f>Sheet1!$C$1</c:f>
              <c:strCache>
                <c:ptCount val="1"/>
                <c:pt idx="0">
                  <c:v>CIs Verified This Week</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145.0</c:v>
                </c:pt>
                <c:pt idx="1">
                  <c:v>132.0</c:v>
                </c:pt>
                <c:pt idx="2">
                  <c:v>158.0</c:v>
                </c:pt>
                <c:pt idx="3">
                  <c:v>141.0</c:v>
                </c:pt>
              </c:numCache>
            </c:numRef>
          </c:val>
        </c:ser>
        <c:ser>
          <c:idx val="2"/>
          <c:order val="2"/>
          <c:tx>
            <c:strRef>
              <c:f>Sheet1!$D$1</c:f>
              <c:strCache>
                <c:ptCount val="1"/>
                <c:pt idx="0">
                  <c:v>CI Accuracy</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97.8</c:v>
                </c:pt>
                <c:pt idx="1">
                  <c:v>98.0</c:v>
                </c:pt>
                <c:pt idx="2">
                  <c:v>97.5</c:v>
                </c:pt>
                <c:pt idx="3">
                  <c:v>97.7</c:v>
                </c:pt>
              </c:numCache>
            </c:numRef>
          </c:val>
        </c:ser>
        <c:ser>
          <c:idx val="3"/>
          <c:order val="3"/>
          <c:tx>
            <c:strRef>
              <c:f>Sheet1!$E$1</c:f>
              <c:strCache>
                <c:ptCount val="1"/>
                <c:pt idx="0">
                  <c:v>Orphan CIs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8.0</c:v>
                </c:pt>
                <c:pt idx="1">
                  <c:v>7.0</c:v>
                </c:pt>
                <c:pt idx="2">
                  <c:v>9.0</c:v>
                </c:pt>
                <c:pt idx="3">
                  <c:v>7.0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1842.0</c:v>
                </c:pt>
                <c:pt idx="1">
                  <c:v>1975.0</c:v>
                </c:pt>
                <c:pt idx="2">
                  <c:v>1723.0</c:v>
                </c:pt>
                <c:pt idx="3">
                  <c:v>1890.0</c:v>
                </c:pt>
              </c:numCache>
            </c:numRef>
          </c:val>
        </c:ser>
        <c:ser>
          <c:idx val="1"/>
          <c:order val="1"/>
          <c:tx>
            <c:strRef>
              <c:f>Sheet1!$C$1</c:f>
              <c:strCache>
                <c:ptCount val="1"/>
                <c:pt idx="0">
                  <c:v>Alerts Auto-Resolved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1560.0</c:v>
                </c:pt>
                <c:pt idx="1">
                  <c:v>1680.0</c:v>
                </c:pt>
                <c:pt idx="2">
                  <c:v>1490.0</c:v>
                </c:pt>
                <c:pt idx="3">
                  <c:v>1610.0</c:v>
                </c:pt>
              </c:numCache>
            </c:numRef>
          </c:val>
        </c:ser>
        <c:ser>
          <c:idx val="2"/>
          <c:order val="2"/>
          <c:tx>
            <c:strRef>
              <c:f>Sheet1!$D$1</c:f>
              <c:strCache>
                <c:ptCount val="1"/>
                <c:pt idx="0">
                  <c:v>P1 Incidents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2.0</c:v>
                </c:pt>
                <c:pt idx="2">
                  <c:v>1.0</c:v>
                </c:pt>
                <c:pt idx="3">
                  <c:v>2.0</c:v>
                </c:pt>
              </c:numCache>
            </c:numRef>
          </c:val>
        </c:ser>
        <c:ser>
          <c:idx val="3"/>
          <c:order val="3"/>
          <c:tx>
            <c:strRef>
              <c:f>Sheet1!$E$1</c:f>
              <c:strCache>
                <c:ptCount val="1"/>
                <c:pt idx="0">
                  <c:v>P2 Incidents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5.0</c:v>
                </c:pt>
                <c:pt idx="1">
                  <c:v>6.0</c:v>
                </c:pt>
                <c:pt idx="2">
                  <c:v>7.0</c:v>
                </c:pt>
                <c:pt idx="3">
                  <c:v>5.0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Total Tickets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210.0</c:v>
                </c:pt>
                <c:pt idx="1">
                  <c:v>225.0</c:v>
                </c:pt>
                <c:pt idx="2">
                  <c:v>198.0</c:v>
                </c:pt>
                <c:pt idx="3">
                  <c:v>230.0</c:v>
                </c:pt>
              </c:numCache>
            </c:numRef>
          </c:val>
          <c:smooth val="0"/>
        </c:ser>
        <c:ser>
          <c:idx val="1"/>
          <c:order val="1"/>
          <c:tx>
            <c:strRef>
              <c:f>Sheet1!$C$1</c:f>
              <c:strCache>
                <c:ptCount val="1"/>
                <c:pt idx="0">
                  <c:v>Tickets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201.0</c:v>
                </c:pt>
                <c:pt idx="1">
                  <c:v>215.0</c:v>
                </c:pt>
                <c:pt idx="2">
                  <c:v>192.0</c:v>
                </c:pt>
                <c:pt idx="3">
                  <c:v>219.0</c:v>
                </c:pt>
              </c:numCache>
            </c:numRef>
          </c:val>
          <c:smooth val="0"/>
        </c:ser>
        <c:ser>
          <c:idx val="2"/>
          <c:order val="2"/>
          <c:tx>
            <c:strRef>
              <c:f>Sheet1!$D$1</c:f>
              <c:strCache>
                <c:ptCount val="1"/>
                <c:pt idx="0">
                  <c:v>Escalated Tickets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12.0</c:v>
                </c:pt>
                <c:pt idx="1">
                  <c:v>10.0</c:v>
                </c:pt>
                <c:pt idx="2">
                  <c:v>8.0</c:v>
                </c:pt>
                <c:pt idx="3">
                  <c:v>9.0</c:v>
                </c:pt>
              </c:numCache>
            </c:numRef>
          </c:val>
          <c:smooth val="0"/>
        </c:ser>
        <c:ser>
          <c:idx val="3"/>
          <c:order val="3"/>
          <c:tx>
            <c:strRef>
              <c:f>Sheet1!$E$1</c:f>
              <c:strCache>
                <c:ptCount val="1"/>
                <c:pt idx="0">
                  <c:v>Resolution Rate</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95.7</c:v>
                </c:pt>
                <c:pt idx="1">
                  <c:v>95.6</c:v>
                </c:pt>
                <c:pt idx="2">
                  <c:v>97.0</c:v>
                </c:pt>
                <c:pt idx="3">
                  <c:v>95.2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320.0</c:v>
                </c:pt>
                <c:pt idx="1">
                  <c:v>305.0</c:v>
                </c:pt>
                <c:pt idx="2">
                  <c:v>340.0</c:v>
                </c:pt>
                <c:pt idx="3">
                  <c:v>310.0</c:v>
                </c:pt>
              </c:numCache>
            </c:numRef>
          </c:val>
        </c:ser>
        <c:ser>
          <c:idx val="1"/>
          <c:order val="1"/>
          <c:tx>
            <c:strRef>
              <c:f>Sheet1!$C$1</c:f>
              <c:strCache>
                <c:ptCount val="1"/>
                <c:pt idx="0">
                  <c:v>Calls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295.0</c:v>
                </c:pt>
                <c:pt idx="1">
                  <c:v>280.0</c:v>
                </c:pt>
                <c:pt idx="2">
                  <c:v>315.0</c:v>
                </c:pt>
                <c:pt idx="3">
                  <c:v>288.0</c:v>
                </c:pt>
              </c:numCache>
            </c:numRef>
          </c:val>
        </c:ser>
        <c:ser>
          <c:idx val="2"/>
          <c:order val="2"/>
          <c:tx>
            <c:strRef>
              <c:f>Sheet1!$D$1</c:f>
              <c:strCache>
                <c:ptCount val="1"/>
                <c:pt idx="0">
                  <c:v>Abandoned Calls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18.0</c:v>
                </c:pt>
                <c:pt idx="1">
                  <c:v>22.0</c:v>
                </c:pt>
                <c:pt idx="2">
                  <c:v>15.0</c:v>
                </c:pt>
                <c:pt idx="3">
                  <c:v>14.0</c:v>
                </c:pt>
              </c:numCache>
            </c:numRef>
          </c:val>
        </c:ser>
        <c:ser>
          <c:idx val="3"/>
          <c:order val="3"/>
          <c:tx>
            <c:strRef>
              <c:f>Sheet1!$E$1</c:f>
              <c:strCache>
                <c:ptCount val="1"/>
                <c:pt idx="0">
                  <c:v>FCR Rate</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82.2</c:v>
                </c:pt>
                <c:pt idx="1">
                  <c:v>81.8</c:v>
                </c:pt>
                <c:pt idx="2">
                  <c:v>82.6</c:v>
                </c:pt>
                <c:pt idx="3">
                  <c:v>82.9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er>
        <c:ser>
          <c:idx val="1"/>
          <c:order val="1"/>
          <c:tx>
            <c:strRef>
              <c:f>Sheet1!$C$1</c:f>
              <c:strCache>
                <c:ptCount val="1"/>
                <c:pt idx="0">
                  <c:v>MIR Conducted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er>
        <c:ser>
          <c:idx val="2"/>
          <c:order val="2"/>
          <c:tx>
            <c:strRef>
              <c:f>Sheet1!$D$1</c:f>
              <c:strCache>
                <c:ptCount val="1"/>
                <c:pt idx="0">
                  <c:v># of P1</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1.0</c:v>
                </c:pt>
                <c:pt idx="2">
                  <c:v>0.0</c:v>
                </c:pt>
                <c:pt idx="3">
                  <c:v>0.0</c:v>
                </c:pt>
              </c:numCache>
            </c:numRef>
          </c:val>
        </c:ser>
        <c:ser>
          <c:idx val="3"/>
          <c:order val="3"/>
          <c:tx>
            <c:strRef>
              <c:f>Sheet1!$E$1</c:f>
              <c:strCache>
                <c:ptCount val="1"/>
                <c:pt idx="0">
                  <c:v># of P2</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2.0</c:v>
                </c:pt>
                <c:pt idx="1">
                  <c:v>3.0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mooth val="0"/>
        </c:ser>
        <c:ser>
          <c:idx val="1"/>
          <c:order val="1"/>
          <c:tx>
            <c:strRef>
              <c:f>Sheet1!$C$1</c:f>
              <c:strCache>
                <c:ptCount val="1"/>
                <c:pt idx="0">
                  <c:v>MIR Conducted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mooth val="0"/>
        </c:ser>
        <c:ser>
          <c:idx val="2"/>
          <c:order val="2"/>
          <c:tx>
            <c:strRef>
              <c:f>Sheet1!$D$1</c:f>
              <c:strCache>
                <c:ptCount val="1"/>
                <c:pt idx="0">
                  <c:v># of P1</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1.0</c:v>
                </c:pt>
                <c:pt idx="2">
                  <c:v>0.0</c:v>
                </c:pt>
                <c:pt idx="3">
                  <c:v>0.0</c:v>
                </c:pt>
              </c:numCache>
            </c:numRef>
          </c:val>
          <c:smooth val="0"/>
        </c:ser>
        <c:ser>
          <c:idx val="3"/>
          <c:order val="3"/>
          <c:tx>
            <c:strRef>
              <c:f>Sheet1!$E$1</c:f>
              <c:strCache>
                <c:ptCount val="1"/>
                <c:pt idx="0">
                  <c:v># of P2</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2.0</c:v>
                </c:pt>
                <c:pt idx="1">
                  <c:v>3.0</c:v>
                </c:pt>
                <c:pt idx="2">
                  <c:v>3.0</c:v>
                </c:pt>
                <c:pt idx="3">
                  <c:v>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Changes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48.0</c:v>
                </c:pt>
                <c:pt idx="1">
                  <c:v>52.0</c:v>
                </c:pt>
                <c:pt idx="2">
                  <c:v>45.0</c:v>
                </c:pt>
                <c:pt idx="3">
                  <c:v>50.0</c:v>
                </c:pt>
              </c:numCache>
            </c:numRef>
          </c:val>
        </c:ser>
        <c:ser>
          <c:idx val="1"/>
          <c:order val="1"/>
          <c:tx>
            <c:strRef>
              <c:f>Sheet1!$C$1</c:f>
              <c:strCache>
                <c:ptCount val="1"/>
                <c:pt idx="0">
                  <c:v>Emergency Changes</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2.0</c:v>
                </c:pt>
                <c:pt idx="1">
                  <c:v>1.0</c:v>
                </c:pt>
                <c:pt idx="2">
                  <c:v>3.0</c:v>
                </c:pt>
                <c:pt idx="3">
                  <c:v>2.0</c:v>
                </c:pt>
              </c:numCache>
            </c:numRef>
          </c:val>
        </c:ser>
        <c:ser>
          <c:idx val="2"/>
          <c:order val="2"/>
          <c:tx>
            <c:strRef>
              <c:f>Sheet1!$D$1</c:f>
              <c:strCache>
                <c:ptCount val="1"/>
                <c:pt idx="0">
                  <c:v>Change Success Ratio</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100.0</c:v>
                </c:pt>
                <c:pt idx="1">
                  <c:v>99.0</c:v>
                </c:pt>
                <c:pt idx="2">
                  <c:v>100.0</c:v>
                </c:pt>
                <c:pt idx="3">
                  <c:v>100.0</c:v>
                </c:pt>
              </c:numCache>
            </c:numRef>
          </c:val>
        </c:ser>
        <c:ser>
          <c:idx val="3"/>
          <c:order val="3"/>
          <c:tx>
            <c:strRef>
              <c:f>Sheet1!$E$1</c:f>
              <c:strCache>
                <c:ptCount val="1"/>
                <c:pt idx="0">
                  <c:v>Change Causing MI</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2.1</c:v>
                </c:pt>
                <c:pt idx="1">
                  <c:v>1.9</c:v>
                </c:pt>
                <c:pt idx="2">
                  <c:v>0.0</c:v>
                </c:pt>
                <c:pt idx="3">
                  <c:v>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er>
        <c:ser>
          <c:idx val="1"/>
          <c:order val="1"/>
          <c:tx>
            <c:strRef>
              <c:f>Sheet1!$C$1</c:f>
              <c:strCache>
                <c:ptCount val="1"/>
                <c:pt idx="0">
                  <c:v>Problems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er>
        <c:ser>
          <c:idx val="2"/>
          <c:order val="2"/>
          <c:tx>
            <c:strRef>
              <c:f>Sheet1!$D$1</c:f>
              <c:strCache>
                <c:ptCount val="1"/>
                <c:pt idx="0">
                  <c:v>New Problems Raised</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er>
        <c:ser>
          <c:idx val="3"/>
          <c:order val="3"/>
          <c:tx>
            <c:strRef>
              <c:f>Sheet1!$E$1</c:f>
              <c:strCache>
                <c:ptCount val="1"/>
                <c:pt idx="0">
                  <c:v>Avg Resolution Days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mooth val="0"/>
        </c:ser>
        <c:ser>
          <c:idx val="1"/>
          <c:order val="1"/>
          <c:tx>
            <c:strRef>
              <c:f>Sheet1!$C$1</c:f>
              <c:strCache>
                <c:ptCount val="1"/>
                <c:pt idx="0">
                  <c:v>Problems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mooth val="0"/>
        </c:ser>
        <c:ser>
          <c:idx val="2"/>
          <c:order val="2"/>
          <c:tx>
            <c:strRef>
              <c:f>Sheet1!$D$1</c:f>
              <c:strCache>
                <c:ptCount val="1"/>
                <c:pt idx="0">
                  <c:v>New Problems Raised</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mooth val="0"/>
        </c:ser>
        <c:ser>
          <c:idx val="3"/>
          <c:order val="3"/>
          <c:tx>
            <c:strRef>
              <c:f>Sheet1!$E$1</c:f>
              <c:strCache>
                <c:ptCount val="1"/>
                <c:pt idx="0">
                  <c:v>Avg Resolution Days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CIs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12480.0</c:v>
                </c:pt>
                <c:pt idx="1">
                  <c:v>12495.0</c:v>
                </c:pt>
                <c:pt idx="2">
                  <c:v>12510.0</c:v>
                </c:pt>
                <c:pt idx="3">
                  <c:v>12524.0</c:v>
                </c:pt>
              </c:numCache>
            </c:numRef>
          </c:val>
        </c:ser>
        <c:ser>
          <c:idx val="1"/>
          <c:order val="1"/>
          <c:tx>
            <c:strRef>
              <c:f>Sheet1!$C$1</c:f>
              <c:strCache>
                <c:ptCount val="1"/>
                <c:pt idx="0">
                  <c:v>CIs Verified This Week</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145.0</c:v>
                </c:pt>
                <c:pt idx="1">
                  <c:v>132.0</c:v>
                </c:pt>
                <c:pt idx="2">
                  <c:v>158.0</c:v>
                </c:pt>
                <c:pt idx="3">
                  <c:v>141.0</c:v>
                </c:pt>
              </c:numCache>
            </c:numRef>
          </c:val>
        </c:ser>
        <c:ser>
          <c:idx val="2"/>
          <c:order val="2"/>
          <c:tx>
            <c:strRef>
              <c:f>Sheet1!$D$1</c:f>
              <c:strCache>
                <c:ptCount val="1"/>
                <c:pt idx="0">
                  <c:v>CI Accuracy</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97.8</c:v>
                </c:pt>
                <c:pt idx="1">
                  <c:v>98.0</c:v>
                </c:pt>
                <c:pt idx="2">
                  <c:v>97.5</c:v>
                </c:pt>
                <c:pt idx="3">
                  <c:v>97.7</c:v>
                </c:pt>
              </c:numCache>
            </c:numRef>
          </c:val>
        </c:ser>
        <c:ser>
          <c:idx val="3"/>
          <c:order val="3"/>
          <c:tx>
            <c:strRef>
              <c:f>Sheet1!$E$1</c:f>
              <c:strCache>
                <c:ptCount val="1"/>
                <c:pt idx="0">
                  <c:v>Orphan CIs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8.0</c:v>
                </c:pt>
                <c:pt idx="1">
                  <c:v>7.0</c:v>
                </c:pt>
                <c:pt idx="2">
                  <c:v>9.0</c:v>
                </c:pt>
                <c:pt idx="3">
                  <c:v>7.0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1842.0</c:v>
                </c:pt>
                <c:pt idx="1">
                  <c:v>1975.0</c:v>
                </c:pt>
                <c:pt idx="2">
                  <c:v>1723.0</c:v>
                </c:pt>
                <c:pt idx="3">
                  <c:v>1890.0</c:v>
                </c:pt>
              </c:numCache>
            </c:numRef>
          </c:val>
        </c:ser>
        <c:ser>
          <c:idx val="1"/>
          <c:order val="1"/>
          <c:tx>
            <c:strRef>
              <c:f>Sheet1!$C$1</c:f>
              <c:strCache>
                <c:ptCount val="1"/>
                <c:pt idx="0">
                  <c:v>Alerts Auto-Resolved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1560.0</c:v>
                </c:pt>
                <c:pt idx="1">
                  <c:v>1680.0</c:v>
                </c:pt>
                <c:pt idx="2">
                  <c:v>1490.0</c:v>
                </c:pt>
                <c:pt idx="3">
                  <c:v>1610.0</c:v>
                </c:pt>
              </c:numCache>
            </c:numRef>
          </c:val>
        </c:ser>
        <c:ser>
          <c:idx val="2"/>
          <c:order val="2"/>
          <c:tx>
            <c:strRef>
              <c:f>Sheet1!$D$1</c:f>
              <c:strCache>
                <c:ptCount val="1"/>
                <c:pt idx="0">
                  <c:v>P1 Incidents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2.0</c:v>
                </c:pt>
                <c:pt idx="2">
                  <c:v>1.0</c:v>
                </c:pt>
                <c:pt idx="3">
                  <c:v>2.0</c:v>
                </c:pt>
              </c:numCache>
            </c:numRef>
          </c:val>
        </c:ser>
        <c:ser>
          <c:idx val="3"/>
          <c:order val="3"/>
          <c:tx>
            <c:strRef>
              <c:f>Sheet1!$E$1</c:f>
              <c:strCache>
                <c:ptCount val="1"/>
                <c:pt idx="0">
                  <c:v>P2 Incidents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5.0</c:v>
                </c:pt>
                <c:pt idx="1">
                  <c:v>6.0</c:v>
                </c:pt>
                <c:pt idx="2">
                  <c:v>7.0</c:v>
                </c:pt>
                <c:pt idx="3">
                  <c:v>5.0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Total Tickets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210.0</c:v>
                </c:pt>
                <c:pt idx="1">
                  <c:v>225.0</c:v>
                </c:pt>
                <c:pt idx="2">
                  <c:v>198.0</c:v>
                </c:pt>
                <c:pt idx="3">
                  <c:v>230.0</c:v>
                </c:pt>
              </c:numCache>
            </c:numRef>
          </c:val>
          <c:smooth val="0"/>
        </c:ser>
        <c:ser>
          <c:idx val="1"/>
          <c:order val="1"/>
          <c:tx>
            <c:strRef>
              <c:f>Sheet1!$C$1</c:f>
              <c:strCache>
                <c:ptCount val="1"/>
                <c:pt idx="0">
                  <c:v>Tickets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201.0</c:v>
                </c:pt>
                <c:pt idx="1">
                  <c:v>215.0</c:v>
                </c:pt>
                <c:pt idx="2">
                  <c:v>192.0</c:v>
                </c:pt>
                <c:pt idx="3">
                  <c:v>219.0</c:v>
                </c:pt>
              </c:numCache>
            </c:numRef>
          </c:val>
          <c:smooth val="0"/>
        </c:ser>
        <c:ser>
          <c:idx val="2"/>
          <c:order val="2"/>
          <c:tx>
            <c:strRef>
              <c:f>Sheet1!$D$1</c:f>
              <c:strCache>
                <c:ptCount val="1"/>
                <c:pt idx="0">
                  <c:v>Escalated Tickets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12.0</c:v>
                </c:pt>
                <c:pt idx="1">
                  <c:v>10.0</c:v>
                </c:pt>
                <c:pt idx="2">
                  <c:v>8.0</c:v>
                </c:pt>
                <c:pt idx="3">
                  <c:v>9.0</c:v>
                </c:pt>
              </c:numCache>
            </c:numRef>
          </c:val>
          <c:smooth val="0"/>
        </c:ser>
        <c:ser>
          <c:idx val="3"/>
          <c:order val="3"/>
          <c:tx>
            <c:strRef>
              <c:f>Sheet1!$E$1</c:f>
              <c:strCache>
                <c:ptCount val="1"/>
                <c:pt idx="0">
                  <c:v>Resolution Rate</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95.7</c:v>
                </c:pt>
                <c:pt idx="1">
                  <c:v>95.6</c:v>
                </c:pt>
                <c:pt idx="2">
                  <c:v>97.0</c:v>
                </c:pt>
                <c:pt idx="3">
                  <c:v>95.2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320.0</c:v>
                </c:pt>
                <c:pt idx="1">
                  <c:v>305.0</c:v>
                </c:pt>
                <c:pt idx="2">
                  <c:v>340.0</c:v>
                </c:pt>
                <c:pt idx="3">
                  <c:v>310.0</c:v>
                </c:pt>
              </c:numCache>
            </c:numRef>
          </c:val>
        </c:ser>
        <c:ser>
          <c:idx val="1"/>
          <c:order val="1"/>
          <c:tx>
            <c:strRef>
              <c:f>Sheet1!$C$1</c:f>
              <c:strCache>
                <c:ptCount val="1"/>
                <c:pt idx="0">
                  <c:v>Calls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295.0</c:v>
                </c:pt>
                <c:pt idx="1">
                  <c:v>280.0</c:v>
                </c:pt>
                <c:pt idx="2">
                  <c:v>315.0</c:v>
                </c:pt>
                <c:pt idx="3">
                  <c:v>288.0</c:v>
                </c:pt>
              </c:numCache>
            </c:numRef>
          </c:val>
        </c:ser>
        <c:ser>
          <c:idx val="2"/>
          <c:order val="2"/>
          <c:tx>
            <c:strRef>
              <c:f>Sheet1!$D$1</c:f>
              <c:strCache>
                <c:ptCount val="1"/>
                <c:pt idx="0">
                  <c:v>Abandoned Calls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18.0</c:v>
                </c:pt>
                <c:pt idx="1">
                  <c:v>22.0</c:v>
                </c:pt>
                <c:pt idx="2">
                  <c:v>15.0</c:v>
                </c:pt>
                <c:pt idx="3">
                  <c:v>14.0</c:v>
                </c:pt>
              </c:numCache>
            </c:numRef>
          </c:val>
        </c:ser>
        <c:ser>
          <c:idx val="3"/>
          <c:order val="3"/>
          <c:tx>
            <c:strRef>
              <c:f>Sheet1!$E$1</c:f>
              <c:strCache>
                <c:ptCount val="1"/>
                <c:pt idx="0">
                  <c:v>FCR Rate</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82.2</c:v>
                </c:pt>
                <c:pt idx="1">
                  <c:v>81.8</c:v>
                </c:pt>
                <c:pt idx="2">
                  <c:v>82.6</c:v>
                </c:pt>
                <c:pt idx="3">
                  <c:v>82.9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10.xml"/><Relationship Id="rId5" Type="http://schemas.openxmlformats.org/officeDocument/2006/relationships/chart" Target="../charts/char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13.xml"/><Relationship Id="rId5" Type="http://schemas.openxmlformats.org/officeDocument/2006/relationships/chart" Target="../charts/char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7.xml"/><Relationship Id="rId4"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chart" Target="../charts/chart8.xml"/><Relationship Id="rId4"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image" Target="../media/image4.png"/><Relationship Id="rId4" Type="http://schemas.openxmlformats.org/officeDocument/2006/relationships/chart" Target="../charts/chart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CC0000"/>
                </a:solidFill>
              </a:defRPr>
            </a:pPr>
            <a:r>
              <a:t>ITSM Weekly Report — 30 Apr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595757"/>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MIM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MIM team has 4 data record(s) in the current reporting window. Performance highlights indicate 100% Adherence to the MIM process (&gt;99%): 100.0%, Accurate stakeholder communications (&gt;99%): 100.0%. Potential risk areas include # of P1: 0.0%, 100% Adherence to the MIM process (&gt;99%): 100.0%.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MIM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MIM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MI</a:t>
                      </a:r>
                    </a:p>
                  </a:txBody>
                  <a:tcPr>
                    <a:solidFill>
                      <a:srgbClr val="FFFFFF"/>
                    </a:solidFill>
                  </a:tcPr>
                </a:tc>
                <a:tc>
                  <a:txBody>
                    <a:bodyPr wrap="square"/>
                    <a:lstStyle/>
                    <a:p>
                      <a:pPr>
                        <a:defRPr sz="550">
                          <a:solidFill>
                            <a:srgbClr val="333333"/>
                          </a:solidFill>
                        </a:defRPr>
                      </a:pPr>
                      <a:r>
                        <a:t>Total no. of Major Incidents reported in period</a:t>
                      </a:r>
                    </a:p>
                  </a:txBody>
                  <a:tcPr>
                    <a:solidFill>
                      <a:srgbClr val="FFFFFF"/>
                    </a:solidFill>
                  </a:tcPr>
                </a:tc>
                <a:tc>
                  <a:txBody>
                    <a:bodyPr wrap="square"/>
                    <a:lstStyle/>
                    <a:p>
                      <a:pPr>
                        <a:defRPr sz="550">
                          <a:solidFill>
                            <a:srgbClr val="333333"/>
                          </a:solidFill>
                        </a:defRPr>
                      </a:pPr>
                      <a:r>
                        <a:t>Includes P1 and P2 incidents raised in ServiceNow</a:t>
                      </a:r>
                    </a:p>
                  </a:txBody>
                  <a:tcPr>
                    <a:solidFill>
                      <a:srgbClr val="FFFFFF"/>
                    </a:solidFill>
                  </a:tcPr>
                </a:tc>
              </a:tr>
              <a:tr h="182880">
                <a:tc>
                  <a:txBody>
                    <a:bodyPr wrap="square"/>
                    <a:lstStyle/>
                    <a:p>
                      <a:pPr>
                        <a:defRPr sz="550" b="1">
                          <a:solidFill>
                            <a:srgbClr val="1F3864"/>
                          </a:solidFill>
                        </a:defRPr>
                      </a:pPr>
                      <a:r>
                        <a:t>MIR Conducted</a:t>
                      </a:r>
                    </a:p>
                  </a:txBody>
                  <a:tcPr>
                    <a:solidFill>
                      <a:srgbClr val="E9F0F8"/>
                    </a:solidFill>
                  </a:tcPr>
                </a:tc>
                <a:tc>
                  <a:txBody>
                    <a:bodyPr wrap="square"/>
                    <a:lstStyle/>
                    <a:p>
                      <a:pPr>
                        <a:defRPr sz="550">
                          <a:solidFill>
                            <a:srgbClr val="333333"/>
                          </a:solidFill>
                        </a:defRPr>
                      </a:pPr>
                      <a:r>
                        <a:t>Major Incident Review conducted after each P1/P2</a:t>
                      </a:r>
                    </a:p>
                  </a:txBody>
                  <a:tcPr>
                    <a:solidFill>
                      <a:srgbClr val="E9F0F8"/>
                    </a:solidFill>
                  </a:tcPr>
                </a:tc>
                <a:tc>
                  <a:txBody>
                    <a:bodyPr wrap="square"/>
                    <a:lstStyle/>
                    <a:p>
                      <a:pPr>
                        <a:defRPr sz="550">
                          <a:solidFill>
                            <a:srgbClr val="333333"/>
                          </a:solidFill>
                        </a:defRPr>
                      </a:pPr>
                      <a:r>
                        <a:t>Post-incident review to identify root cause and corrective actions</a:t>
                      </a:r>
                    </a:p>
                  </a:txBody>
                  <a:tcPr>
                    <a:solidFill>
                      <a:srgbClr val="E9F0F8"/>
                    </a:solidFill>
                  </a:tcPr>
                </a:tc>
              </a:tr>
              <a:tr h="182880">
                <a:tc>
                  <a:txBody>
                    <a:bodyPr wrap="square"/>
                    <a:lstStyle/>
                    <a:p>
                      <a:pPr>
                        <a:defRPr sz="550" b="1">
                          <a:solidFill>
                            <a:srgbClr val="1F3864"/>
                          </a:solidFill>
                        </a:defRPr>
                      </a:pPr>
                      <a:r>
                        <a:t># of P1</a:t>
                      </a:r>
                    </a:p>
                  </a:txBody>
                  <a:tcPr>
                    <a:solidFill>
                      <a:srgbClr val="FFFFFF"/>
                    </a:solidFill>
                  </a:tcPr>
                </a:tc>
                <a:tc>
                  <a:txBody>
                    <a:bodyPr wrap="square"/>
                    <a:lstStyle/>
                    <a:p>
                      <a:pPr>
                        <a:defRPr sz="550">
                          <a:solidFill>
                            <a:srgbClr val="333333"/>
                          </a:solidFill>
                        </a:defRPr>
                      </a:pPr>
                      <a:r>
                        <a:t>Number of Priority 1 incidents in the period</a:t>
                      </a:r>
                    </a:p>
                  </a:txBody>
                  <a:tcPr>
                    <a:solidFill>
                      <a:srgbClr val="FFFFFF"/>
                    </a:solidFill>
                  </a:tcPr>
                </a:tc>
                <a:tc>
                  <a:txBody>
                    <a:bodyPr wrap="square"/>
                    <a:lstStyle/>
                    <a:p>
                      <a:pPr>
                        <a:defRPr sz="550">
                          <a:solidFill>
                            <a:srgbClr val="333333"/>
                          </a:solidFill>
                        </a:defRPr>
                      </a:pPr>
                      <a:r>
                        <a:t>Critical incidents requiring immediate escalation to senior management</a:t>
                      </a:r>
                    </a:p>
                  </a:txBody>
                  <a:tcPr>
                    <a:solidFill>
                      <a:srgbClr val="FFFFFF"/>
                    </a:solidFill>
                  </a:tcPr>
                </a:tc>
              </a:tr>
              <a:tr h="182880">
                <a:tc>
                  <a:txBody>
                    <a:bodyPr wrap="square"/>
                    <a:lstStyle/>
                    <a:p>
                      <a:pPr>
                        <a:defRPr sz="550" b="1">
                          <a:solidFill>
                            <a:srgbClr val="1F3864"/>
                          </a:solidFill>
                        </a:defRPr>
                      </a:pPr>
                      <a:r>
                        <a:t># of P2</a:t>
                      </a:r>
                    </a:p>
                  </a:txBody>
                  <a:tcPr>
                    <a:solidFill>
                      <a:srgbClr val="E9F0F8"/>
                    </a:solidFill>
                  </a:tcPr>
                </a:tc>
                <a:tc>
                  <a:txBody>
                    <a:bodyPr wrap="square"/>
                    <a:lstStyle/>
                    <a:p>
                      <a:pPr>
                        <a:defRPr sz="550">
                          <a:solidFill>
                            <a:srgbClr val="333333"/>
                          </a:solidFill>
                        </a:defRPr>
                      </a:pPr>
                      <a:r>
                        <a:t>Number of Priority 2 incidents in the period</a:t>
                      </a:r>
                    </a:p>
                  </a:txBody>
                  <a:tcPr>
                    <a:solidFill>
                      <a:srgbClr val="E9F0F8"/>
                    </a:solidFill>
                  </a:tcPr>
                </a:tc>
                <a:tc>
                  <a:txBody>
                    <a:bodyPr wrap="square"/>
                    <a:lstStyle/>
                    <a:p>
                      <a:pPr>
                        <a:defRPr sz="550">
                          <a:solidFill>
                            <a:srgbClr val="333333"/>
                          </a:solidFill>
                        </a:defRPr>
                      </a:pPr>
                      <a:r>
                        <a:t>High priority incidents requiring prompt resolution within 8 hours</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870639"/>
                <a:gridCol w="870639"/>
                <a:gridCol w="870639"/>
                <a:gridCol w="870639"/>
                <a:gridCol w="870639"/>
                <a:gridCol w="870639"/>
                <a:gridCol w="870639"/>
                <a:gridCol w="870639"/>
                <a:gridCol w="870639"/>
                <a:gridCol w="870639"/>
                <a:gridCol w="870639"/>
                <a:gridCol w="870639"/>
                <a:gridCol w="870639"/>
                <a:gridCol w="870639"/>
              </a:tblGrid>
              <a:tr h="182880">
                <a:tc>
                  <a:txBody>
                    <a:bodyPr wrap="square"/>
                    <a:lstStyle/>
                    <a:p>
                      <a:pPr algn="ctr">
                        <a:defRPr b="1" sz="550">
                          <a:solidFill>
                            <a:srgbClr val="FFFFFF"/>
                          </a:solidFill>
                        </a:defRPr>
                      </a:pPr>
                      <a:r>
                        <a:t>Sprint No</a:t>
                      </a:r>
                    </a:p>
                  </a:txBody>
                  <a:tcPr>
                    <a:solidFill>
                      <a:srgbClr val="CC0000"/>
                    </a:solidFill>
                  </a:tcPr>
                </a:tc>
                <a:tc>
                  <a:txBody>
                    <a:bodyPr wrap="square"/>
                    <a:lstStyle/>
                    <a:p>
                      <a:pPr algn="ctr">
                        <a:defRPr b="1" sz="550">
                          <a:solidFill>
                            <a:srgbClr val="FFFFFF"/>
                          </a:solidFill>
                        </a:defRPr>
                      </a:pPr>
                      <a:r>
                        <a:t>Total MI</a:t>
                      </a:r>
                    </a:p>
                  </a:txBody>
                  <a:tcPr>
                    <a:solidFill>
                      <a:srgbClr val="CC0000"/>
                    </a:solidFill>
                  </a:tcPr>
                </a:tc>
                <a:tc>
                  <a:txBody>
                    <a:bodyPr wrap="square"/>
                    <a:lstStyle/>
                    <a:p>
                      <a:pPr algn="ctr">
                        <a:defRPr b="1" sz="550">
                          <a:solidFill>
                            <a:srgbClr val="FFFFFF"/>
                          </a:solidFill>
                        </a:defRPr>
                      </a:pPr>
                      <a:r>
                        <a:t>MIR Conducted</a:t>
                      </a:r>
                    </a:p>
                  </a:txBody>
                  <a:tcPr>
                    <a:solidFill>
                      <a:srgbClr val="CC0000"/>
                    </a:solidFill>
                  </a:tcPr>
                </a:tc>
                <a:tc>
                  <a:txBody>
                    <a:bodyPr wrap="square"/>
                    <a:lstStyle/>
                    <a:p>
                      <a:pPr algn="ctr">
                        <a:defRPr b="1" sz="550">
                          <a:solidFill>
                            <a:srgbClr val="FFFFFF"/>
                          </a:solidFill>
                        </a:defRPr>
                      </a:pPr>
                      <a:r>
                        <a:t># of P1</a:t>
                      </a:r>
                    </a:p>
                  </a:txBody>
                  <a:tcPr>
                    <a:solidFill>
                      <a:srgbClr val="CC0000"/>
                    </a:solidFill>
                  </a:tcPr>
                </a:tc>
                <a:tc>
                  <a:txBody>
                    <a:bodyPr wrap="square"/>
                    <a:lstStyle/>
                    <a:p>
                      <a:pPr algn="ctr">
                        <a:defRPr b="1" sz="550">
                          <a:solidFill>
                            <a:srgbClr val="FFFFFF"/>
                          </a:solidFill>
                        </a:defRPr>
                      </a:pPr>
                      <a:r>
                        <a:t># of P2</a:t>
                      </a:r>
                    </a:p>
                  </a:txBody>
                  <a:tcPr>
                    <a:solidFill>
                      <a:srgbClr val="CC0000"/>
                    </a:solidFill>
                  </a:tcPr>
                </a:tc>
                <a:tc>
                  <a:txBody>
                    <a:bodyPr wrap="square"/>
                    <a:lstStyle/>
                    <a:p>
                      <a:pPr algn="ctr">
                        <a:defRPr b="1" sz="550">
                          <a:solidFill>
                            <a:srgbClr val="FFFFFF"/>
                          </a:solidFill>
                        </a:defRPr>
                      </a:pPr>
                      <a:r>
                        <a:t>100% Adherence to the MIM process</a:t>
                      </a:r>
                    </a:p>
                  </a:txBody>
                  <a:tcPr>
                    <a:solidFill>
                      <a:srgbClr val="CC0000"/>
                    </a:solidFill>
                  </a:tcPr>
                </a:tc>
                <a:tc>
                  <a:txBody>
                    <a:bodyPr wrap="square"/>
                    <a:lstStyle/>
                    <a:p>
                      <a:pPr algn="ctr">
                        <a:defRPr b="1" sz="550">
                          <a:solidFill>
                            <a:srgbClr val="FFFFFF"/>
                          </a:solidFill>
                        </a:defRPr>
                      </a:pPr>
                      <a:r>
                        <a:t>Accurate stakeholder communications</a:t>
                      </a:r>
                    </a:p>
                  </a:txBody>
                  <a:tcPr>
                    <a:solidFill>
                      <a:srgbClr val="CC0000"/>
                    </a:solidFill>
                  </a:tcPr>
                </a:tc>
                <a:tc>
                  <a:txBody>
                    <a:bodyPr wrap="square"/>
                    <a:lstStyle/>
                    <a:p>
                      <a:pPr algn="ctr">
                        <a:defRPr b="1" sz="550">
                          <a:solidFill>
                            <a:srgbClr val="FFFFFF"/>
                          </a:solidFill>
                        </a:defRPr>
                      </a:pPr>
                      <a:r>
                        <a:t>Consistency in the Service now fields</a:t>
                      </a:r>
                    </a:p>
                  </a:txBody>
                  <a:tcPr>
                    <a:solidFill>
                      <a:srgbClr val="CC0000"/>
                    </a:solidFill>
                  </a:tcPr>
                </a:tc>
                <a:tc>
                  <a:txBody>
                    <a:bodyPr wrap="square"/>
                    <a:lstStyle/>
                    <a:p>
                      <a:pPr algn="ctr">
                        <a:defRPr b="1" sz="550">
                          <a:solidFill>
                            <a:srgbClr val="FFFFFF"/>
                          </a:solidFill>
                        </a:defRPr>
                      </a:pPr>
                      <a:r>
                        <a:t>MIR Timeline</a:t>
                      </a:r>
                    </a:p>
                  </a:txBody>
                  <a:tcPr>
                    <a:solidFill>
                      <a:srgbClr val="CC0000"/>
                    </a:solidFill>
                  </a:tcPr>
                </a:tc>
                <a:tc>
                  <a:txBody>
                    <a:bodyPr wrap="square"/>
                    <a:lstStyle/>
                    <a:p>
                      <a:pPr algn="ctr">
                        <a:defRPr b="1" sz="550">
                          <a:solidFill>
                            <a:srgbClr val="FFFFFF"/>
                          </a:solidFill>
                        </a:defRPr>
                      </a:pPr>
                      <a:r>
                        <a:t>SLA compliance P1/P2</a:t>
                      </a:r>
                    </a:p>
                  </a:txBody>
                  <a:tcPr>
                    <a:solidFill>
                      <a:srgbClr val="CC0000"/>
                    </a:solidFill>
                  </a:tcPr>
                </a:tc>
                <a:tc>
                  <a:txBody>
                    <a:bodyPr wrap="square"/>
                    <a:lstStyle/>
                    <a:p>
                      <a:pPr algn="ctr">
                        <a:defRPr b="1" sz="550">
                          <a:solidFill>
                            <a:srgbClr val="FFFFFF"/>
                          </a:solidFill>
                        </a:defRPr>
                      </a:pPr>
                      <a:r>
                        <a:t>SMS within 20 min P1/P2</a:t>
                      </a:r>
                    </a:p>
                  </a:txBody>
                  <a:tcPr>
                    <a:solidFill>
                      <a:srgbClr val="CC0000"/>
                    </a:solidFill>
                  </a:tcPr>
                </a:tc>
                <a:tc>
                  <a:txBody>
                    <a:bodyPr wrap="square"/>
                    <a:lstStyle/>
                    <a:p>
                      <a:pPr algn="ctr">
                        <a:defRPr b="1" sz="550">
                          <a:solidFill>
                            <a:srgbClr val="FFFFFF"/>
                          </a:solidFill>
                        </a:defRPr>
                      </a:pPr>
                      <a:r>
                        <a:t>Email within 20 min engaged</a:t>
                      </a:r>
                    </a:p>
                  </a:txBody>
                  <a:tcPr>
                    <a:solidFill>
                      <a:srgbClr val="CC0000"/>
                    </a:solidFill>
                  </a:tcPr>
                </a:tc>
                <a:tc>
                  <a:txBody>
                    <a:bodyPr wrap="square"/>
                    <a:lstStyle/>
                    <a:p>
                      <a:pPr algn="ctr">
                        <a:defRPr b="1" sz="550">
                          <a:solidFill>
                            <a:srgbClr val="FFFFFF"/>
                          </a:solidFill>
                        </a:defRPr>
                      </a:pPr>
                      <a:r>
                        <a:t>MI whiteboard accuracy</a:t>
                      </a:r>
                    </a:p>
                  </a:txBody>
                  <a:tcPr>
                    <a:solidFill>
                      <a:srgbClr val="CC0000"/>
                    </a:solidFill>
                  </a:tcPr>
                </a:tc>
                <a:tc>
                  <a:txBody>
                    <a:bodyPr wrap="square"/>
                    <a:lstStyle/>
                    <a:p>
                      <a:pPr algn="ctr">
                        <a:defRPr b="1" sz="550">
                          <a:solidFill>
                            <a:srgbClr val="FFFFFF"/>
                          </a:solidFill>
                        </a:defRPr>
                      </a:pPr>
                      <a:r>
                        <a:t>Effective handover for RCA</a:t>
                      </a:r>
                    </a:p>
                  </a:txBody>
                  <a:tcPr>
                    <a:solidFill>
                      <a:srgbClr val="CC0000"/>
                    </a:solidFill>
                  </a:tcPr>
                </a:tc>
              </a:tr>
              <a:tr h="228600">
                <a:tc>
                  <a:txBody>
                    <a:bodyPr/>
                    <a:lstStyle/>
                    <a:p>
                      <a:pPr algn="ctr">
                        <a:defRPr sz="700" b="1">
                          <a:solidFill>
                            <a:srgbClr val="333333"/>
                          </a:solidFill>
                        </a:defRPr>
                      </a:pPr>
                      <a:r>
                        <a:t>Sprint 14</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333333"/>
                          </a:solidFill>
                        </a:defRPr>
                      </a:pPr>
                      <a:r>
                        <a:t>5</a:t>
                      </a:r>
                    </a:p>
                  </a:txBody>
                  <a:tcPr>
                    <a:solidFill>
                      <a:srgbClr val="F5F5F5"/>
                    </a:solidFill>
                  </a:tcPr>
                </a:tc>
                <a:tc>
                  <a:txBody>
                    <a:bodyPr/>
                    <a:lstStyle/>
                    <a:p>
                      <a:pPr algn="ctr">
                        <a:defRPr sz="700" b="1">
                          <a:solidFill>
                            <a:srgbClr val="333333"/>
                          </a:solidFill>
                        </a:defRPr>
                      </a:pPr>
                      <a:r>
                        <a:t>0</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r>
            </a:tbl>
          </a:graphicData>
        </a:graphic>
      </p:graphicFrame>
      <p:graphicFrame>
        <p:nvGraphicFramePr>
          <p:cNvPr id="35" name="Chart 34"/>
          <p:cNvGraphicFramePr>
            <a:graphicFrameLocks noGrp="1"/>
          </p:cNvGraphicFramePr>
          <p:nvPr/>
        </p:nvGraphicFramePr>
        <p:xfrm>
          <a:off x="5943600" y="978408"/>
          <a:ext cx="6245352" cy="2395728"/>
        </p:xfrm>
        <a:graphic>
          <a:graphicData uri="http://schemas.openxmlformats.org/drawingml/2006/chart">
            <c:chart xmlns:c="http://schemas.openxmlformats.org/drawingml/2006/chart" r:id="rId4"/>
          </a:graphicData>
        </a:graphic>
      </p:graphicFrame>
      <p:graphicFrame>
        <p:nvGraphicFramePr>
          <p:cNvPr id="36" name="Chart 35"/>
          <p:cNvGraphicFramePr>
            <a:graphicFrameLocks noGrp="1"/>
          </p:cNvGraphicFramePr>
          <p:nvPr/>
        </p:nvGraphicFramePr>
        <p:xfrm>
          <a:off x="5943600" y="3502152"/>
          <a:ext cx="6245352" cy="2395728"/>
        </p:xfrm>
        <a:graphic>
          <a:graphicData uri="http://schemas.openxmlformats.org/drawingml/2006/chart">
            <c:chart xmlns:c="http://schemas.openxmlformats.org/drawingml/2006/chart" r:id="rId5"/>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Change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Change team has 4 data record(s) in the current reporting window. Performance highlights indicate Change Success Ratio (&gt;99%): 100.0%, Unauthorised Change rate (&lt;1%): 0.6%. Potential risk areas include Change Causing MI (&lt;5%): 0.0%, Failed Change Ratio (&lt;1%): 0.0%.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Change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Change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Changes</a:t>
                      </a:r>
                    </a:p>
                  </a:txBody>
                  <a:tcPr>
                    <a:solidFill>
                      <a:srgbClr val="FFFFFF"/>
                    </a:solidFill>
                  </a:tcPr>
                </a:tc>
                <a:tc>
                  <a:txBody>
                    <a:bodyPr wrap="square"/>
                    <a:lstStyle/>
                    <a:p>
                      <a:pPr>
                        <a:defRPr sz="550">
                          <a:solidFill>
                            <a:srgbClr val="333333"/>
                          </a:solidFill>
                        </a:defRPr>
                      </a:pPr>
                      <a:r>
                        <a:t>Total number of change requests raised in the period</a:t>
                      </a:r>
                    </a:p>
                  </a:txBody>
                  <a:tcPr>
                    <a:solidFill>
                      <a:srgbClr val="FFFFFF"/>
                    </a:solidFill>
                  </a:tcPr>
                </a:tc>
                <a:tc>
                  <a:txBody>
                    <a:bodyPr wrap="square"/>
                    <a:lstStyle/>
                    <a:p>
                      <a:pPr>
                        <a:defRPr sz="550">
                          <a:solidFill>
                            <a:srgbClr val="333333"/>
                          </a:solidFill>
                        </a:defRPr>
                      </a:pPr>
                      <a:r>
                        <a:t>Includes standard, normal and emergency change types</a:t>
                      </a:r>
                    </a:p>
                  </a:txBody>
                  <a:tcPr>
                    <a:solidFill>
                      <a:srgbClr val="FFFFFF"/>
                    </a:solidFill>
                  </a:tcPr>
                </a:tc>
              </a:tr>
              <a:tr h="182880">
                <a:tc>
                  <a:txBody>
                    <a:bodyPr wrap="square"/>
                    <a:lstStyle/>
                    <a:p>
                      <a:pPr>
                        <a:defRPr sz="550" b="1">
                          <a:solidFill>
                            <a:srgbClr val="1F3864"/>
                          </a:solidFill>
                        </a:defRPr>
                      </a:pPr>
                      <a:r>
                        <a:t>Emergency Changes</a:t>
                      </a:r>
                    </a:p>
                  </a:txBody>
                  <a:tcPr>
                    <a:solidFill>
                      <a:srgbClr val="E9F0F8"/>
                    </a:solidFill>
                  </a:tcPr>
                </a:tc>
                <a:tc>
                  <a:txBody>
                    <a:bodyPr wrap="square"/>
                    <a:lstStyle/>
                    <a:p>
                      <a:pPr>
                        <a:defRPr sz="550">
                          <a:solidFill>
                            <a:srgbClr val="333333"/>
                          </a:solidFill>
                        </a:defRPr>
                      </a:pPr>
                      <a:r>
                        <a:t>Number of emergency change requests raised</a:t>
                      </a:r>
                    </a:p>
                  </a:txBody>
                  <a:tcPr>
                    <a:solidFill>
                      <a:srgbClr val="E9F0F8"/>
                    </a:solidFill>
                  </a:tcPr>
                </a:tc>
                <a:tc>
                  <a:txBody>
                    <a:bodyPr wrap="square"/>
                    <a:lstStyle/>
                    <a:p>
                      <a:pPr>
                        <a:defRPr sz="550">
                          <a:solidFill>
                            <a:srgbClr val="333333"/>
                          </a:solidFill>
                        </a:defRPr>
                      </a:pPr>
                      <a:r>
                        <a:t>Changes bypassing standard CAB approval due to urgency</a:t>
                      </a:r>
                    </a:p>
                  </a:txBody>
                  <a:tcPr>
                    <a:solidFill>
                      <a:srgbClr val="E9F0F8"/>
                    </a:solidFill>
                  </a:tcPr>
                </a:tc>
              </a:tr>
              <a:tr h="182880">
                <a:tc>
                  <a:txBody>
                    <a:bodyPr wrap="square"/>
                    <a:lstStyle/>
                    <a:p>
                      <a:pPr>
                        <a:defRPr sz="550" b="1">
                          <a:solidFill>
                            <a:srgbClr val="1F3864"/>
                          </a:solidFill>
                        </a:defRPr>
                      </a:pPr>
                      <a:r>
                        <a:t>Change Success Ratio</a:t>
                      </a:r>
                    </a:p>
                  </a:txBody>
                  <a:tcPr>
                    <a:solidFill>
                      <a:srgbClr val="FFFFFF"/>
                    </a:solidFill>
                  </a:tcPr>
                </a:tc>
                <a:tc>
                  <a:txBody>
                    <a:bodyPr wrap="square"/>
                    <a:lstStyle/>
                    <a:p>
                      <a:pPr>
                        <a:defRPr sz="550">
                          <a:solidFill>
                            <a:srgbClr val="333333"/>
                          </a:solidFill>
                        </a:defRPr>
                      </a:pPr>
                      <a:r>
                        <a:t>Percentage of changes implemented successfully without incident</a:t>
                      </a:r>
                    </a:p>
                  </a:txBody>
                  <a:tcPr>
                    <a:solidFill>
                      <a:srgbClr val="FFFFFF"/>
                    </a:solidFill>
                  </a:tcPr>
                </a:tc>
                <a:tc>
                  <a:txBody>
                    <a:bodyPr wrap="square"/>
                    <a:lstStyle/>
                    <a:p>
                      <a:pPr>
                        <a:defRPr sz="550">
                          <a:solidFill>
                            <a:srgbClr val="333333"/>
                          </a:solidFill>
                        </a:defRPr>
                      </a:pPr>
                      <a:r>
                        <a:t>Change passes CAB, executes within planned window, no rollback</a:t>
                      </a:r>
                    </a:p>
                  </a:txBody>
                  <a:tcPr>
                    <a:solidFill>
                      <a:srgbClr val="FFFFFF"/>
                    </a:solidFill>
                  </a:tcPr>
                </a:tc>
              </a:tr>
              <a:tr h="182880">
                <a:tc>
                  <a:txBody>
                    <a:bodyPr wrap="square"/>
                    <a:lstStyle/>
                    <a:p>
                      <a:pPr>
                        <a:defRPr sz="550" b="1">
                          <a:solidFill>
                            <a:srgbClr val="1F3864"/>
                          </a:solidFill>
                        </a:defRPr>
                      </a:pPr>
                      <a:r>
                        <a:t>Change Causing MI</a:t>
                      </a:r>
                    </a:p>
                  </a:txBody>
                  <a:tcPr>
                    <a:solidFill>
                      <a:srgbClr val="E9F0F8"/>
                    </a:solidFill>
                  </a:tcPr>
                </a:tc>
                <a:tc>
                  <a:txBody>
                    <a:bodyPr wrap="square"/>
                    <a:lstStyle/>
                    <a:p>
                      <a:pPr>
                        <a:defRPr sz="550">
                          <a:solidFill>
                            <a:srgbClr val="333333"/>
                          </a:solidFill>
                        </a:defRPr>
                      </a:pPr>
                      <a:r>
                        <a:t>Percentage of changes that caused a Major Incident</a:t>
                      </a:r>
                    </a:p>
                  </a:txBody>
                  <a:tcPr>
                    <a:solidFill>
                      <a:srgbClr val="E9F0F8"/>
                    </a:solidFill>
                  </a:tcPr>
                </a:tc>
                <a:tc>
                  <a:txBody>
                    <a:bodyPr wrap="square"/>
                    <a:lstStyle/>
                    <a:p>
                      <a:pPr>
                        <a:defRPr sz="550">
                          <a:solidFill>
                            <a:srgbClr val="333333"/>
                          </a:solidFill>
                        </a:defRPr>
                      </a:pPr>
                      <a:r>
                        <a:t>Changes that directly triggered a P1 or P2 incident post-implementation</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Changes</a:t>
                      </a:r>
                    </a:p>
                  </a:txBody>
                  <a:tcPr>
                    <a:solidFill>
                      <a:srgbClr val="CC0000"/>
                    </a:solidFill>
                  </a:tcPr>
                </a:tc>
                <a:tc>
                  <a:txBody>
                    <a:bodyPr wrap="square"/>
                    <a:lstStyle/>
                    <a:p>
                      <a:pPr algn="ctr">
                        <a:defRPr b="1" sz="550">
                          <a:solidFill>
                            <a:srgbClr val="FFFFFF"/>
                          </a:solidFill>
                        </a:defRPr>
                      </a:pPr>
                      <a:r>
                        <a:t>Emergency Changes</a:t>
                      </a:r>
                    </a:p>
                  </a:txBody>
                  <a:tcPr>
                    <a:solidFill>
                      <a:srgbClr val="CC0000"/>
                    </a:solidFill>
                  </a:tcPr>
                </a:tc>
                <a:tc>
                  <a:txBody>
                    <a:bodyPr wrap="square"/>
                    <a:lstStyle/>
                    <a:p>
                      <a:pPr algn="ctr">
                        <a:defRPr b="1" sz="550">
                          <a:solidFill>
                            <a:srgbClr val="FFFFFF"/>
                          </a:solidFill>
                        </a:defRPr>
                      </a:pPr>
                      <a:r>
                        <a:t>Change Success Ratio</a:t>
                      </a:r>
                    </a:p>
                  </a:txBody>
                  <a:tcPr>
                    <a:solidFill>
                      <a:srgbClr val="CC0000"/>
                    </a:solidFill>
                  </a:tcPr>
                </a:tc>
                <a:tc>
                  <a:txBody>
                    <a:bodyPr wrap="square"/>
                    <a:lstStyle/>
                    <a:p>
                      <a:pPr algn="ctr">
                        <a:defRPr b="1" sz="550">
                          <a:solidFill>
                            <a:srgbClr val="FFFFFF"/>
                          </a:solidFill>
                        </a:defRPr>
                      </a:pPr>
                      <a:r>
                        <a:t>Change Causing MI</a:t>
                      </a:r>
                    </a:p>
                  </a:txBody>
                  <a:tcPr>
                    <a:solidFill>
                      <a:srgbClr val="CC0000"/>
                    </a:solidFill>
                  </a:tcPr>
                </a:tc>
                <a:tc>
                  <a:txBody>
                    <a:bodyPr wrap="square"/>
                    <a:lstStyle/>
                    <a:p>
                      <a:pPr algn="ctr">
                        <a:defRPr b="1" sz="550">
                          <a:solidFill>
                            <a:srgbClr val="FFFFFF"/>
                          </a:solidFill>
                        </a:defRPr>
                      </a:pPr>
                      <a:r>
                        <a:t>Failed Change Ratio</a:t>
                      </a:r>
                    </a:p>
                  </a:txBody>
                  <a:tcPr>
                    <a:solidFill>
                      <a:srgbClr val="CC0000"/>
                    </a:solidFill>
                  </a:tcPr>
                </a:tc>
                <a:tc>
                  <a:txBody>
                    <a:bodyPr wrap="square"/>
                    <a:lstStyle/>
                    <a:p>
                      <a:pPr algn="ctr">
                        <a:defRPr b="1" sz="550">
                          <a:solidFill>
                            <a:srgbClr val="FFFFFF"/>
                          </a:solidFill>
                        </a:defRPr>
                      </a:pPr>
                      <a:r>
                        <a:t>Unauthorised Change rate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50</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0</a:t>
                      </a:r>
                    </a:p>
                  </a:txBody>
                  <a:tcPr>
                    <a:solidFill>
                      <a:srgbClr val="1A7348"/>
                    </a:solidFill>
                  </a:tcPr>
                </a:tc>
                <a:tc>
                  <a:txBody>
                    <a:bodyPr/>
                    <a:lstStyle/>
                    <a:p>
                      <a:pPr algn="ctr">
                        <a:defRPr sz="700" b="1">
                          <a:solidFill>
                            <a:srgbClr val="FFFFFF"/>
                          </a:solidFill>
                        </a:defRPr>
                      </a:pPr>
                      <a:r>
                        <a:t>0</a:t>
                      </a:r>
                    </a:p>
                  </a:txBody>
                  <a:tcPr>
                    <a:solidFill>
                      <a:srgbClr val="1A7348"/>
                    </a:solidFill>
                  </a:tcPr>
                </a:tc>
                <a:tc>
                  <a:txBody>
                    <a:bodyPr/>
                    <a:lstStyle/>
                    <a:p>
                      <a:pPr algn="ctr">
                        <a:defRPr sz="700" b="1">
                          <a:solidFill>
                            <a:srgbClr val="FFFFFF"/>
                          </a:solidFill>
                        </a:defRPr>
                      </a:pPr>
                      <a:r>
                        <a:t>1%</a:t>
                      </a:r>
                    </a:p>
                  </a:txBody>
                  <a:tcPr>
                    <a:solidFill>
                      <a:srgbClr val="1A7348"/>
                    </a:solidFill>
                  </a:tcPr>
                </a:tc>
              </a:tr>
            </a:tbl>
          </a:graphicData>
        </a:graphic>
      </p:graphicFrame>
      <p:pic>
        <p:nvPicPr>
          <p:cNvPr id="35" name="Picture 34" descr="image.png"/>
          <p:cNvPicPr>
            <a:picLocks noChangeAspect="1"/>
          </p:cNvPicPr>
          <p:nvPr/>
        </p:nvPicPr>
        <p:blipFill>
          <a:blip r:embed="rId2"/>
          <a:stretch>
            <a:fillRect/>
          </a:stretch>
        </p:blipFill>
        <p:spPr>
          <a:xfrm>
            <a:off x="5943600" y="978408"/>
            <a:ext cx="6245352" cy="2395728"/>
          </a:xfrm>
          <a:prstGeom prst="rect">
            <a:avLst/>
          </a:prstGeom>
        </p:spPr>
      </p:pic>
      <p:graphicFrame>
        <p:nvGraphicFramePr>
          <p:cNvPr id="36" name="Chart 35"/>
          <p:cNvGraphicFramePr>
            <a:graphicFrameLocks noGrp="1"/>
          </p:cNvGraphicFramePr>
          <p:nvPr/>
        </p:nvGraphicFramePr>
        <p:xfrm>
          <a:off x="5943600" y="3502152"/>
          <a:ext cx="6245352" cy="2395728"/>
        </p:xfrm>
        <a:graphic>
          <a:graphicData uri="http://schemas.openxmlformats.org/drawingml/2006/chart">
            <c:chart xmlns:c="http://schemas.openxmlformats.org/drawingml/2006/chart" r:id="rId4"/>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Problem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Problem team has 4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Problem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Problem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Open Problems</a:t>
                      </a:r>
                    </a:p>
                  </a:txBody>
                  <a:tcPr>
                    <a:solidFill>
                      <a:srgbClr val="FFFFFF"/>
                    </a:solidFill>
                  </a:tcPr>
                </a:tc>
                <a:tc>
                  <a:txBody>
                    <a:bodyPr wrap="square"/>
                    <a:lstStyle/>
                    <a:p>
                      <a:pPr>
                        <a:defRPr sz="550">
                          <a:solidFill>
                            <a:srgbClr val="333333"/>
                          </a:solidFill>
                        </a:defRPr>
                      </a:pPr>
                      <a:r>
                        <a:t>Total number of open problem records in ServiceNow</a:t>
                      </a:r>
                    </a:p>
                  </a:txBody>
                  <a:tcPr>
                    <a:solidFill>
                      <a:srgbClr val="FFFFFF"/>
                    </a:solidFill>
                  </a:tcPr>
                </a:tc>
                <a:tc>
                  <a:txBody>
                    <a:bodyPr wrap="square"/>
                    <a:lstStyle/>
                    <a:p>
                      <a:pPr>
                        <a:defRPr sz="550">
                          <a:solidFill>
                            <a:srgbClr val="333333"/>
                          </a:solidFill>
                        </a:defRPr>
                      </a:pPr>
                      <a:r>
                        <a:t>All active problem records regardless of priority or age</a:t>
                      </a:r>
                    </a:p>
                  </a:txBody>
                  <a:tcPr>
                    <a:solidFill>
                      <a:srgbClr val="FFFFFF"/>
                    </a:solidFill>
                  </a:tcPr>
                </a:tc>
              </a:tr>
              <a:tr h="182880">
                <a:tc>
                  <a:txBody>
                    <a:bodyPr wrap="square"/>
                    <a:lstStyle/>
                    <a:p>
                      <a:pPr>
                        <a:defRPr sz="550" b="1">
                          <a:solidFill>
                            <a:srgbClr val="1F3864"/>
                          </a:solidFill>
                        </a:defRPr>
                      </a:pPr>
                      <a:r>
                        <a:t>Problems Resolved</a:t>
                      </a:r>
                    </a:p>
                  </a:txBody>
                  <a:tcPr>
                    <a:solidFill>
                      <a:srgbClr val="E9F0F8"/>
                    </a:solidFill>
                  </a:tcPr>
                </a:tc>
                <a:tc>
                  <a:txBody>
                    <a:bodyPr wrap="square"/>
                    <a:lstStyle/>
                    <a:p>
                      <a:pPr>
                        <a:defRPr sz="550">
                          <a:solidFill>
                            <a:srgbClr val="333333"/>
                          </a:solidFill>
                        </a:defRPr>
                      </a:pPr>
                      <a:r>
                        <a:t>Number of problems closed during the reporting period</a:t>
                      </a:r>
                    </a:p>
                  </a:txBody>
                  <a:tcPr>
                    <a:solidFill>
                      <a:srgbClr val="E9F0F8"/>
                    </a:solidFill>
                  </a:tcPr>
                </a:tc>
                <a:tc>
                  <a:txBody>
                    <a:bodyPr wrap="square"/>
                    <a:lstStyle/>
                    <a:p>
                      <a:pPr>
                        <a:defRPr sz="550">
                          <a:solidFill>
                            <a:srgbClr val="333333"/>
                          </a:solidFill>
                        </a:defRPr>
                      </a:pPr>
                      <a:r>
                        <a:t>Problems moved to resolved or closed status this week</a:t>
                      </a:r>
                    </a:p>
                  </a:txBody>
                  <a:tcPr>
                    <a:solidFill>
                      <a:srgbClr val="E9F0F8"/>
                    </a:solidFill>
                  </a:tcPr>
                </a:tc>
              </a:tr>
              <a:tr h="182880">
                <a:tc>
                  <a:txBody>
                    <a:bodyPr wrap="square"/>
                    <a:lstStyle/>
                    <a:p>
                      <a:pPr>
                        <a:defRPr sz="550" b="1">
                          <a:solidFill>
                            <a:srgbClr val="1F3864"/>
                          </a:solidFill>
                        </a:defRPr>
                      </a:pPr>
                      <a:r>
                        <a:t>New Problems Raised</a:t>
                      </a:r>
                    </a:p>
                  </a:txBody>
                  <a:tcPr>
                    <a:solidFill>
                      <a:srgbClr val="FFFFFF"/>
                    </a:solidFill>
                  </a:tcPr>
                </a:tc>
                <a:tc>
                  <a:txBody>
                    <a:bodyPr wrap="square"/>
                    <a:lstStyle/>
                    <a:p>
                      <a:pPr>
                        <a:defRPr sz="550">
                          <a:solidFill>
                            <a:srgbClr val="333333"/>
                          </a:solidFill>
                        </a:defRPr>
                      </a:pPr>
                      <a:r>
                        <a:t>Number of new problem records opened this period</a:t>
                      </a:r>
                    </a:p>
                  </a:txBody>
                  <a:tcPr>
                    <a:solidFill>
                      <a:srgbClr val="FFFFFF"/>
                    </a:solidFill>
                  </a:tcPr>
                </a:tc>
                <a:tc>
                  <a:txBody>
                    <a:bodyPr wrap="square"/>
                    <a:lstStyle/>
                    <a:p>
                      <a:pPr>
                        <a:defRPr sz="550">
                          <a:solidFill>
                            <a:srgbClr val="333333"/>
                          </a:solidFill>
                        </a:defRPr>
                      </a:pPr>
                      <a:r>
                        <a:t>Problems raised from incident trends or proactive analysis</a:t>
                      </a:r>
                    </a:p>
                  </a:txBody>
                  <a:tcPr>
                    <a:solidFill>
                      <a:srgbClr val="FFFFFF"/>
                    </a:solidFill>
                  </a:tcPr>
                </a:tc>
              </a:tr>
              <a:tr h="182880">
                <a:tc>
                  <a:txBody>
                    <a:bodyPr wrap="square"/>
                    <a:lstStyle/>
                    <a:p>
                      <a:pPr>
                        <a:defRPr sz="550" b="1">
                          <a:solidFill>
                            <a:srgbClr val="1F3864"/>
                          </a:solidFill>
                        </a:defRPr>
                      </a:pPr>
                      <a:r>
                        <a:t>Avg Resolution Days</a:t>
                      </a:r>
                    </a:p>
                  </a:txBody>
                  <a:tcPr>
                    <a:solidFill>
                      <a:srgbClr val="E9F0F8"/>
                    </a:solidFill>
                  </a:tcPr>
                </a:tc>
                <a:tc>
                  <a:txBody>
                    <a:bodyPr wrap="square"/>
                    <a:lstStyle/>
                    <a:p>
                      <a:pPr>
                        <a:defRPr sz="550">
                          <a:solidFill>
                            <a:srgbClr val="333333"/>
                          </a:solidFill>
                        </a:defRPr>
                      </a:pPr>
                      <a:r>
                        <a:t>Average calendar days from problem creation to closure</a:t>
                      </a:r>
                    </a:p>
                  </a:txBody>
                  <a:tcPr>
                    <a:solidFill>
                      <a:srgbClr val="E9F0F8"/>
                    </a:solidFill>
                  </a:tcPr>
                </a:tc>
                <a:tc>
                  <a:txBody>
                    <a:bodyPr wrap="square"/>
                    <a:lstStyle/>
                    <a:p>
                      <a:pPr>
                        <a:defRPr sz="550">
                          <a:solidFill>
                            <a:srgbClr val="333333"/>
                          </a:solidFill>
                        </a:defRPr>
                      </a:pPr>
                      <a:r>
                        <a:t>Measured from problem record creation date to closure date</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Open Problems</a:t>
                      </a:r>
                    </a:p>
                  </a:txBody>
                  <a:tcPr>
                    <a:solidFill>
                      <a:srgbClr val="CC0000"/>
                    </a:solidFill>
                  </a:tcPr>
                </a:tc>
                <a:tc>
                  <a:txBody>
                    <a:bodyPr wrap="square"/>
                    <a:lstStyle/>
                    <a:p>
                      <a:pPr algn="ctr">
                        <a:defRPr b="1" sz="550">
                          <a:solidFill>
                            <a:srgbClr val="FFFFFF"/>
                          </a:solidFill>
                        </a:defRPr>
                      </a:pPr>
                      <a:r>
                        <a:t>Problems Resolved</a:t>
                      </a:r>
                    </a:p>
                  </a:txBody>
                  <a:tcPr>
                    <a:solidFill>
                      <a:srgbClr val="CC0000"/>
                    </a:solidFill>
                  </a:tcPr>
                </a:tc>
                <a:tc>
                  <a:txBody>
                    <a:bodyPr wrap="square"/>
                    <a:lstStyle/>
                    <a:p>
                      <a:pPr algn="ctr">
                        <a:defRPr b="1" sz="550">
                          <a:solidFill>
                            <a:srgbClr val="FFFFFF"/>
                          </a:solidFill>
                        </a:defRPr>
                      </a:pPr>
                      <a:r>
                        <a:t>New Problems Raised</a:t>
                      </a:r>
                    </a:p>
                  </a:txBody>
                  <a:tcPr>
                    <a:solidFill>
                      <a:srgbClr val="CC0000"/>
                    </a:solidFill>
                  </a:tcPr>
                </a:tc>
                <a:tc>
                  <a:txBody>
                    <a:bodyPr wrap="square"/>
                    <a:lstStyle/>
                    <a:p>
                      <a:pPr algn="ctr">
                        <a:defRPr b="1" sz="550">
                          <a:solidFill>
                            <a:srgbClr val="FFFFFF"/>
                          </a:solidFill>
                        </a:defRPr>
                      </a:pPr>
                      <a:r>
                        <a:t>Avg Resolution Days</a:t>
                      </a:r>
                    </a:p>
                  </a:txBody>
                  <a:tcPr>
                    <a:solidFill>
                      <a:srgbClr val="CC0000"/>
                    </a:solidFill>
                  </a:tcPr>
                </a:tc>
                <a:tc>
                  <a:txBody>
                    <a:bodyPr wrap="square"/>
                    <a:lstStyle/>
                    <a:p>
                      <a:pPr algn="ctr">
                        <a:defRPr b="1" sz="550">
                          <a:solidFill>
                            <a:srgbClr val="FFFFFF"/>
                          </a:solidFill>
                        </a:defRPr>
                      </a:pPr>
                      <a:r>
                        <a:t>Recurring Issues</a:t>
                      </a:r>
                    </a:p>
                  </a:txBody>
                  <a:tcPr>
                    <a:solidFill>
                      <a:srgbClr val="CC0000"/>
                    </a:solidFill>
                  </a:tcPr>
                </a:tc>
                <a:tc>
                  <a:txBody>
                    <a:bodyPr wrap="square"/>
                    <a:lstStyle/>
                    <a:p>
                      <a:pPr algn="ctr">
                        <a:defRPr b="1" sz="550">
                          <a:solidFill>
                            <a:srgbClr val="FFFFFF"/>
                          </a:solidFill>
                        </a:defRPr>
                      </a:pPr>
                      <a:r>
                        <a:t>Problems Aged &gt;30 days</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11</a:t>
                      </a:r>
                    </a:p>
                  </a:txBody>
                  <a:tcPr>
                    <a:solidFill>
                      <a:srgbClr val="F5F5F5"/>
                    </a:solidFill>
                  </a:tcPr>
                </a:tc>
                <a:tc>
                  <a:txBody>
                    <a:bodyPr/>
                    <a:lstStyle/>
                    <a:p>
                      <a:pPr algn="ctr">
                        <a:defRPr sz="700" b="1">
                          <a:solidFill>
                            <a:srgbClr val="333333"/>
                          </a:solidFill>
                        </a:defRPr>
                      </a:pPr>
                      <a:r>
                        <a:t>8</a:t>
                      </a:r>
                    </a:p>
                  </a:txBody>
                  <a:tcPr>
                    <a:solidFill>
                      <a:srgbClr val="F5F5F5"/>
                    </a:solidFill>
                  </a:tcPr>
                </a:tc>
                <a:tc>
                  <a:txBody>
                    <a:bodyPr/>
                    <a:lstStyle/>
                    <a:p>
                      <a:pPr algn="ctr">
                        <a:defRPr sz="700" b="1">
                          <a:solidFill>
                            <a:srgbClr val="333333"/>
                          </a:solidFill>
                        </a:defRPr>
                      </a:pPr>
                      <a:r>
                        <a:t>3</a:t>
                      </a:r>
                    </a:p>
                  </a:txBody>
                  <a:tcPr>
                    <a:solidFill>
                      <a:srgbClr val="F5F5F5"/>
                    </a:solidFill>
                  </a:tcPr>
                </a:tc>
                <a:tc>
                  <a:txBody>
                    <a:bodyPr/>
                    <a:lstStyle/>
                    <a:p>
                      <a:pPr algn="ctr">
                        <a:defRPr sz="700" b="1">
                          <a:solidFill>
                            <a:srgbClr val="FFFFFF"/>
                          </a:solidFill>
                        </a:defRPr>
                      </a:pPr>
                      <a:r>
                        <a:t>4.2</a:t>
                      </a:r>
                    </a:p>
                  </a:txBody>
                  <a:tcPr>
                    <a:solidFill>
                      <a:srgbClr val="1A7348"/>
                    </a:solidFill>
                  </a:tcPr>
                </a:tc>
                <a:tc>
                  <a:txBody>
                    <a:bodyPr/>
                    <a:lstStyle/>
                    <a:p>
                      <a:pPr algn="ctr">
                        <a:defRPr sz="700" b="1">
                          <a:solidFill>
                            <a:srgbClr val="FFFFFF"/>
                          </a:solidFill>
                        </a:defRPr>
                      </a:pPr>
                      <a:r>
                        <a:t>2</a:t>
                      </a:r>
                    </a:p>
                  </a:txBody>
                  <a:tcPr>
                    <a:solidFill>
                      <a:srgbClr val="1A7348"/>
                    </a:solidFill>
                  </a:tcPr>
                </a:tc>
                <a:tc>
                  <a:txBody>
                    <a:bodyPr/>
                    <a:lstStyle/>
                    <a:p>
                      <a:pPr algn="ctr">
                        <a:defRPr sz="700" b="1">
                          <a:solidFill>
                            <a:srgbClr val="FFFFFF"/>
                          </a:solidFill>
                        </a:defRPr>
                      </a:pPr>
                      <a:r>
                        <a:t>2</a:t>
                      </a:r>
                    </a:p>
                  </a:txBody>
                  <a:tcPr>
                    <a:solidFill>
                      <a:srgbClr val="1A7348"/>
                    </a:solidFill>
                  </a:tcPr>
                </a:tc>
              </a:tr>
            </a:tbl>
          </a:graphicData>
        </a:graphic>
      </p:graphicFrame>
      <p:graphicFrame>
        <p:nvGraphicFramePr>
          <p:cNvPr id="35" name="Chart 34"/>
          <p:cNvGraphicFramePr>
            <a:graphicFrameLocks noGrp="1"/>
          </p:cNvGraphicFramePr>
          <p:nvPr/>
        </p:nvGraphicFramePr>
        <p:xfrm>
          <a:off x="5943600" y="978408"/>
          <a:ext cx="6245352" cy="2395728"/>
        </p:xfrm>
        <a:graphic>
          <a:graphicData uri="http://schemas.openxmlformats.org/drawingml/2006/chart">
            <c:chart xmlns:c="http://schemas.openxmlformats.org/drawingml/2006/chart" r:id="rId4"/>
          </a:graphicData>
        </a:graphic>
      </p:graphicFrame>
      <p:graphicFrame>
        <p:nvGraphicFramePr>
          <p:cNvPr id="36" name="Chart 35"/>
          <p:cNvGraphicFramePr>
            <a:graphicFrameLocks noGrp="1"/>
          </p:cNvGraphicFramePr>
          <p:nvPr/>
        </p:nvGraphicFramePr>
        <p:xfrm>
          <a:off x="5943600" y="3502152"/>
          <a:ext cx="6245352" cy="2395728"/>
        </p:xfrm>
        <a:graphic>
          <a:graphicData uri="http://schemas.openxmlformats.org/drawingml/2006/chart">
            <c:chart xmlns:c="http://schemas.openxmlformats.org/drawingml/2006/chart" r:id="rId5"/>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CMDB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CMDB team has 4 data record(s) in the current reporting window. Performance highlights indicate Audit Compliance (&gt;98%): 99.2%, CI Accuracy (&gt;95%): 97.7%. Potential risk areas include CI Accuracy (&gt;95%): 97.7%, Audit Compliance (&gt;98%): 99.2%.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CMDB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CMDB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CIs</a:t>
                      </a:r>
                    </a:p>
                  </a:txBody>
                  <a:tcPr>
                    <a:solidFill>
                      <a:srgbClr val="FFFFFF"/>
                    </a:solidFill>
                  </a:tcPr>
                </a:tc>
                <a:tc>
                  <a:txBody>
                    <a:bodyPr wrap="square"/>
                    <a:lstStyle/>
                    <a:p>
                      <a:pPr>
                        <a:defRPr sz="550">
                          <a:solidFill>
                            <a:srgbClr val="333333"/>
                          </a:solidFill>
                        </a:defRPr>
                      </a:pPr>
                      <a:r>
                        <a:t>Total number of Configuration Items in ServiceNow CMDB</a:t>
                      </a:r>
                    </a:p>
                  </a:txBody>
                  <a:tcPr>
                    <a:solidFill>
                      <a:srgbClr val="FFFFFF"/>
                    </a:solidFill>
                  </a:tcPr>
                </a:tc>
                <a:tc>
                  <a:txBody>
                    <a:bodyPr wrap="square"/>
                    <a:lstStyle/>
                    <a:p>
                      <a:pPr>
                        <a:defRPr sz="550">
                          <a:solidFill>
                            <a:srgbClr val="333333"/>
                          </a:solidFill>
                        </a:defRPr>
                      </a:pPr>
                      <a:r>
                        <a:t>All active CI records across all classes and environments</a:t>
                      </a:r>
                    </a:p>
                  </a:txBody>
                  <a:tcPr>
                    <a:solidFill>
                      <a:srgbClr val="FFFFFF"/>
                    </a:solidFill>
                  </a:tcPr>
                </a:tc>
              </a:tr>
              <a:tr h="182880">
                <a:tc>
                  <a:txBody>
                    <a:bodyPr wrap="square"/>
                    <a:lstStyle/>
                    <a:p>
                      <a:pPr>
                        <a:defRPr sz="550" b="1">
                          <a:solidFill>
                            <a:srgbClr val="1F3864"/>
                          </a:solidFill>
                        </a:defRPr>
                      </a:pPr>
                      <a:r>
                        <a:t>CIs Verified This Week</a:t>
                      </a:r>
                    </a:p>
                  </a:txBody>
                  <a:tcPr>
                    <a:solidFill>
                      <a:srgbClr val="E9F0F8"/>
                    </a:solidFill>
                  </a:tcPr>
                </a:tc>
                <a:tc>
                  <a:txBody>
                    <a:bodyPr wrap="square"/>
                    <a:lstStyle/>
                    <a:p>
                      <a:pPr>
                        <a:defRPr sz="550">
                          <a:solidFill>
                            <a:srgbClr val="333333"/>
                          </a:solidFill>
                        </a:defRPr>
                      </a:pPr>
                      <a:r>
                        <a:t>Number of CIs verified and validated during the reporting period</a:t>
                      </a:r>
                    </a:p>
                  </a:txBody>
                  <a:tcPr>
                    <a:solidFill>
                      <a:srgbClr val="E9F0F8"/>
                    </a:solidFill>
                  </a:tcPr>
                </a:tc>
                <a:tc>
                  <a:txBody>
                    <a:bodyPr wrap="square"/>
                    <a:lstStyle/>
                    <a:p>
                      <a:pPr>
                        <a:defRPr sz="550">
                          <a:solidFill>
                            <a:srgbClr val="333333"/>
                          </a:solidFill>
                        </a:defRPr>
                      </a:pPr>
                      <a:r>
                        <a:t>CIs reviewed by CI owners and confirmed as accurate</a:t>
                      </a:r>
                    </a:p>
                  </a:txBody>
                  <a:tcPr>
                    <a:solidFill>
                      <a:srgbClr val="E9F0F8"/>
                    </a:solidFill>
                  </a:tcPr>
                </a:tc>
              </a:tr>
              <a:tr h="182880">
                <a:tc>
                  <a:txBody>
                    <a:bodyPr wrap="square"/>
                    <a:lstStyle/>
                    <a:p>
                      <a:pPr>
                        <a:defRPr sz="550" b="1">
                          <a:solidFill>
                            <a:srgbClr val="1F3864"/>
                          </a:solidFill>
                        </a:defRPr>
                      </a:pPr>
                      <a:r>
                        <a:t>CI Accuracy</a:t>
                      </a:r>
                    </a:p>
                  </a:txBody>
                  <a:tcPr>
                    <a:solidFill>
                      <a:srgbClr val="FFFFFF"/>
                    </a:solidFill>
                  </a:tcPr>
                </a:tc>
                <a:tc>
                  <a:txBody>
                    <a:bodyPr wrap="square"/>
                    <a:lstStyle/>
                    <a:p>
                      <a:pPr>
                        <a:defRPr sz="550">
                          <a:solidFill>
                            <a:srgbClr val="333333"/>
                          </a:solidFill>
                        </a:defRPr>
                      </a:pPr>
                      <a:r>
                        <a:t>Percentage of CIs with accurate and up-to-date attribute data</a:t>
                      </a:r>
                    </a:p>
                  </a:txBody>
                  <a:tcPr>
                    <a:solidFill>
                      <a:srgbClr val="FFFFFF"/>
                    </a:solidFill>
                  </a:tcPr>
                </a:tc>
                <a:tc>
                  <a:txBody>
                    <a:bodyPr wrap="square"/>
                    <a:lstStyle/>
                    <a:p>
                      <a:pPr>
                        <a:defRPr sz="550">
                          <a:solidFill>
                            <a:srgbClr val="333333"/>
                          </a:solidFill>
                        </a:defRPr>
                      </a:pPr>
                      <a:r>
                        <a:t>Verified through quarterly CMDB audit and weekly spot checks</a:t>
                      </a:r>
                    </a:p>
                  </a:txBody>
                  <a:tcPr>
                    <a:solidFill>
                      <a:srgbClr val="FFFFFF"/>
                    </a:solidFill>
                  </a:tcPr>
                </a:tc>
              </a:tr>
              <a:tr h="182880">
                <a:tc>
                  <a:txBody>
                    <a:bodyPr wrap="square"/>
                    <a:lstStyle/>
                    <a:p>
                      <a:pPr>
                        <a:defRPr sz="550" b="1">
                          <a:solidFill>
                            <a:srgbClr val="1F3864"/>
                          </a:solidFill>
                        </a:defRPr>
                      </a:pPr>
                      <a:r>
                        <a:t>Orphan CIs</a:t>
                      </a:r>
                    </a:p>
                  </a:txBody>
                  <a:tcPr>
                    <a:solidFill>
                      <a:srgbClr val="E9F0F8"/>
                    </a:solidFill>
                  </a:tcPr>
                </a:tc>
                <a:tc>
                  <a:txBody>
                    <a:bodyPr wrap="square"/>
                    <a:lstStyle/>
                    <a:p>
                      <a:pPr>
                        <a:defRPr sz="550">
                          <a:solidFill>
                            <a:srgbClr val="333333"/>
                          </a:solidFill>
                        </a:defRPr>
                      </a:pPr>
                      <a:r>
                        <a:t>Number of CIs with no parent relationship or service linkage</a:t>
                      </a:r>
                    </a:p>
                  </a:txBody>
                  <a:tcPr>
                    <a:solidFill>
                      <a:srgbClr val="E9F0F8"/>
                    </a:solidFill>
                  </a:tcPr>
                </a:tc>
                <a:tc>
                  <a:txBody>
                    <a:bodyPr wrap="square"/>
                    <a:lstStyle/>
                    <a:p>
                      <a:pPr>
                        <a:defRPr sz="550">
                          <a:solidFill>
                            <a:srgbClr val="333333"/>
                          </a:solidFill>
                        </a:defRPr>
                      </a:pPr>
                      <a:r>
                        <a:t>CIs not linked to any business service or application in CMDB</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CIs</a:t>
                      </a:r>
                    </a:p>
                  </a:txBody>
                  <a:tcPr>
                    <a:solidFill>
                      <a:srgbClr val="CC0000"/>
                    </a:solidFill>
                  </a:tcPr>
                </a:tc>
                <a:tc>
                  <a:txBody>
                    <a:bodyPr wrap="square"/>
                    <a:lstStyle/>
                    <a:p>
                      <a:pPr algn="ctr">
                        <a:defRPr b="1" sz="550">
                          <a:solidFill>
                            <a:srgbClr val="FFFFFF"/>
                          </a:solidFill>
                        </a:defRPr>
                      </a:pPr>
                      <a:r>
                        <a:t>CIs Verified This Week</a:t>
                      </a:r>
                    </a:p>
                  </a:txBody>
                  <a:tcPr>
                    <a:solidFill>
                      <a:srgbClr val="CC0000"/>
                    </a:solidFill>
                  </a:tcPr>
                </a:tc>
                <a:tc>
                  <a:txBody>
                    <a:bodyPr wrap="square"/>
                    <a:lstStyle/>
                    <a:p>
                      <a:pPr algn="ctr">
                        <a:defRPr b="1" sz="550">
                          <a:solidFill>
                            <a:srgbClr val="FFFFFF"/>
                          </a:solidFill>
                        </a:defRPr>
                      </a:pPr>
                      <a:r>
                        <a:t>CI Accuracy</a:t>
                      </a:r>
                    </a:p>
                  </a:txBody>
                  <a:tcPr>
                    <a:solidFill>
                      <a:srgbClr val="CC0000"/>
                    </a:solidFill>
                  </a:tcPr>
                </a:tc>
                <a:tc>
                  <a:txBody>
                    <a:bodyPr wrap="square"/>
                    <a:lstStyle/>
                    <a:p>
                      <a:pPr algn="ctr">
                        <a:defRPr b="1" sz="550">
                          <a:solidFill>
                            <a:srgbClr val="FFFFFF"/>
                          </a:solidFill>
                        </a:defRPr>
                      </a:pPr>
                      <a:r>
                        <a:t>Orphan CIs</a:t>
                      </a:r>
                    </a:p>
                  </a:txBody>
                  <a:tcPr>
                    <a:solidFill>
                      <a:srgbClr val="CC0000"/>
                    </a:solidFill>
                  </a:tcPr>
                </a:tc>
                <a:tc>
                  <a:txBody>
                    <a:bodyPr wrap="square"/>
                    <a:lstStyle/>
                    <a:p>
                      <a:pPr algn="ctr">
                        <a:defRPr b="1" sz="550">
                          <a:solidFill>
                            <a:srgbClr val="FFFFFF"/>
                          </a:solidFill>
                        </a:defRPr>
                      </a:pPr>
                      <a:r>
                        <a:t>Stale Records</a:t>
                      </a:r>
                    </a:p>
                  </a:txBody>
                  <a:tcPr>
                    <a:solidFill>
                      <a:srgbClr val="CC0000"/>
                    </a:solidFill>
                  </a:tcPr>
                </a:tc>
                <a:tc>
                  <a:txBody>
                    <a:bodyPr wrap="square"/>
                    <a:lstStyle/>
                    <a:p>
                      <a:pPr algn="ctr">
                        <a:defRPr b="1" sz="550">
                          <a:solidFill>
                            <a:srgbClr val="FFFFFF"/>
                          </a:solidFill>
                        </a:defRPr>
                      </a:pPr>
                      <a:r>
                        <a:t>Audit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12524</a:t>
                      </a:r>
                    </a:p>
                  </a:txBody>
                  <a:tcPr>
                    <a:solidFill>
                      <a:srgbClr val="F5F5F5"/>
                    </a:solidFill>
                  </a:tcPr>
                </a:tc>
                <a:tc>
                  <a:txBody>
                    <a:bodyPr/>
                    <a:lstStyle/>
                    <a:p>
                      <a:pPr algn="ctr">
                        <a:defRPr sz="700" b="1">
                          <a:solidFill>
                            <a:srgbClr val="333333"/>
                          </a:solidFill>
                        </a:defRPr>
                      </a:pPr>
                      <a:r>
                        <a:t>141</a:t>
                      </a:r>
                    </a:p>
                  </a:txBody>
                  <a:tcPr>
                    <a:solidFill>
                      <a:srgbClr val="F5F5F5"/>
                    </a:solidFill>
                  </a:tcPr>
                </a:tc>
                <a:tc>
                  <a:txBody>
                    <a:bodyPr/>
                    <a:lstStyle/>
                    <a:p>
                      <a:pPr algn="ctr">
                        <a:defRPr sz="700" b="1">
                          <a:solidFill>
                            <a:srgbClr val="FFFFFF"/>
                          </a:solidFill>
                        </a:defRPr>
                      </a:pPr>
                      <a:r>
                        <a:t>98%</a:t>
                      </a:r>
                    </a:p>
                  </a:txBody>
                  <a:tcPr>
                    <a:solidFill>
                      <a:srgbClr val="1A7348"/>
                    </a:solidFill>
                  </a:tcPr>
                </a:tc>
                <a:tc>
                  <a:txBody>
                    <a:bodyPr/>
                    <a:lstStyle/>
                    <a:p>
                      <a:pPr algn="ctr">
                        <a:defRPr sz="700" b="1">
                          <a:solidFill>
                            <a:srgbClr val="FFFFFF"/>
                          </a:solidFill>
                        </a:defRPr>
                      </a:pPr>
                      <a:r>
                        <a:t>7</a:t>
                      </a:r>
                    </a:p>
                  </a:txBody>
                  <a:tcPr>
                    <a:solidFill>
                      <a:srgbClr val="1A7348"/>
                    </a:solidFill>
                  </a:tcPr>
                </a:tc>
                <a:tc>
                  <a:txBody>
                    <a:bodyPr/>
                    <a:lstStyle/>
                    <a:p>
                      <a:pPr algn="ctr">
                        <a:defRPr sz="700" b="1">
                          <a:solidFill>
                            <a:srgbClr val="FFFFFF"/>
                          </a:solidFill>
                        </a:defRPr>
                      </a:pPr>
                      <a:r>
                        <a:t>12</a:t>
                      </a:r>
                    </a:p>
                  </a:txBody>
                  <a:tcPr>
                    <a:solidFill>
                      <a:srgbClr val="1A7348"/>
                    </a:solidFill>
                  </a:tcPr>
                </a:tc>
                <a:tc>
                  <a:txBody>
                    <a:bodyPr/>
                    <a:lstStyle/>
                    <a:p>
                      <a:pPr algn="ctr">
                        <a:defRPr sz="700" b="1">
                          <a:solidFill>
                            <a:srgbClr val="FFFFFF"/>
                          </a:solidFill>
                        </a:defRPr>
                      </a:pPr>
                      <a:r>
                        <a:t>99%</a:t>
                      </a:r>
                    </a:p>
                  </a:txBody>
                  <a:tcPr>
                    <a:solidFill>
                      <a:srgbClr val="1A7348"/>
                    </a:solidFill>
                  </a:tcPr>
                </a:tc>
              </a:tr>
            </a:tbl>
          </a:graphicData>
        </a:graphic>
      </p:graphicFrame>
      <p:graphicFrame>
        <p:nvGraphicFramePr>
          <p:cNvPr id="35" name="Chart 34"/>
          <p:cNvGraphicFramePr>
            <a:graphicFrameLocks noGrp="1"/>
          </p:cNvGraphicFramePr>
          <p:nvPr/>
        </p:nvGraphicFramePr>
        <p:xfrm>
          <a:off x="5943600" y="978408"/>
          <a:ext cx="6245352" cy="4919472"/>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NOC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NOC team has 4 data record(s) in the current reporting window. Performance highlights indicate SLA Compliance (&gt;95%): 97.4%. Potential risk areas include SLA Compliance (&gt;95%): 97.4%.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NOC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NOC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Alerts Received</a:t>
                      </a:r>
                    </a:p>
                  </a:txBody>
                  <a:tcPr>
                    <a:solidFill>
                      <a:srgbClr val="FFFFFF"/>
                    </a:solidFill>
                  </a:tcPr>
                </a:tc>
                <a:tc>
                  <a:txBody>
                    <a:bodyPr wrap="square"/>
                    <a:lstStyle/>
                    <a:p>
                      <a:pPr>
                        <a:defRPr sz="550">
                          <a:solidFill>
                            <a:srgbClr val="333333"/>
                          </a:solidFill>
                        </a:defRPr>
                      </a:pPr>
                      <a:r>
                        <a:t>Total number of monitoring alerts received by NOC team</a:t>
                      </a:r>
                    </a:p>
                  </a:txBody>
                  <a:tcPr>
                    <a:solidFill>
                      <a:srgbClr val="FFFFFF"/>
                    </a:solidFill>
                  </a:tcPr>
                </a:tc>
                <a:tc>
                  <a:txBody>
                    <a:bodyPr wrap="square"/>
                    <a:lstStyle/>
                    <a:p>
                      <a:pPr>
                        <a:defRPr sz="550">
                          <a:solidFill>
                            <a:srgbClr val="333333"/>
                          </a:solidFill>
                        </a:defRPr>
                      </a:pPr>
                      <a:r>
                        <a:t>Includes all severity levels from all monitored infrastructure</a:t>
                      </a:r>
                    </a:p>
                  </a:txBody>
                  <a:tcPr>
                    <a:solidFill>
                      <a:srgbClr val="FFFFFF"/>
                    </a:solidFill>
                  </a:tcPr>
                </a:tc>
              </a:tr>
              <a:tr h="182880">
                <a:tc>
                  <a:txBody>
                    <a:bodyPr wrap="square"/>
                    <a:lstStyle/>
                    <a:p>
                      <a:pPr>
                        <a:defRPr sz="550" b="1">
                          <a:solidFill>
                            <a:srgbClr val="1F3864"/>
                          </a:solidFill>
                        </a:defRPr>
                      </a:pPr>
                      <a:r>
                        <a:t>Alerts Auto-Resolved</a:t>
                      </a:r>
                    </a:p>
                  </a:txBody>
                  <a:tcPr>
                    <a:solidFill>
                      <a:srgbClr val="E9F0F8"/>
                    </a:solidFill>
                  </a:tcPr>
                </a:tc>
                <a:tc>
                  <a:txBody>
                    <a:bodyPr wrap="square"/>
                    <a:lstStyle/>
                    <a:p>
                      <a:pPr>
                        <a:defRPr sz="550">
                          <a:solidFill>
                            <a:srgbClr val="333333"/>
                          </a:solidFill>
                        </a:defRPr>
                      </a:pPr>
                      <a:r>
                        <a:t>Number of alerts automatically resolved without NOC intervention</a:t>
                      </a:r>
                    </a:p>
                  </a:txBody>
                  <a:tcPr>
                    <a:solidFill>
                      <a:srgbClr val="E9F0F8"/>
                    </a:solidFill>
                  </a:tcPr>
                </a:tc>
                <a:tc>
                  <a:txBody>
                    <a:bodyPr wrap="square"/>
                    <a:lstStyle/>
                    <a:p>
                      <a:pPr>
                        <a:defRPr sz="550">
                          <a:solidFill>
                            <a:srgbClr val="333333"/>
                          </a:solidFill>
                        </a:defRPr>
                      </a:pPr>
                      <a:r>
                        <a:t>Auto-remediation scripts and rules resolving alerts without manual action</a:t>
                      </a:r>
                    </a:p>
                  </a:txBody>
                  <a:tcPr>
                    <a:solidFill>
                      <a:srgbClr val="E9F0F8"/>
                    </a:solidFill>
                  </a:tcPr>
                </a:tc>
              </a:tr>
              <a:tr h="182880">
                <a:tc>
                  <a:txBody>
                    <a:bodyPr wrap="square"/>
                    <a:lstStyle/>
                    <a:p>
                      <a:pPr>
                        <a:defRPr sz="550" b="1">
                          <a:solidFill>
                            <a:srgbClr val="1F3864"/>
                          </a:solidFill>
                        </a:defRPr>
                      </a:pPr>
                      <a:r>
                        <a:t>P1 Incidents</a:t>
                      </a:r>
                    </a:p>
                  </a:txBody>
                  <a:tcPr>
                    <a:solidFill>
                      <a:srgbClr val="FFFFFF"/>
                    </a:solidFill>
                  </a:tcPr>
                </a:tc>
                <a:tc>
                  <a:txBody>
                    <a:bodyPr wrap="square"/>
                    <a:lstStyle/>
                    <a:p>
                      <a:pPr>
                        <a:defRPr sz="550">
                          <a:solidFill>
                            <a:srgbClr val="333333"/>
                          </a:solidFill>
                        </a:defRPr>
                      </a:pPr>
                      <a:r>
                        <a:t>Number of Priority 1 incidents detected and managed by NOC</a:t>
                      </a:r>
                    </a:p>
                  </a:txBody>
                  <a:tcPr>
                    <a:solidFill>
                      <a:srgbClr val="FFFFFF"/>
                    </a:solidFill>
                  </a:tcPr>
                </a:tc>
                <a:tc>
                  <a:txBody>
                    <a:bodyPr wrap="square"/>
                    <a:lstStyle/>
                    <a:p>
                      <a:pPr>
                        <a:defRPr sz="550">
                          <a:solidFill>
                            <a:srgbClr val="333333"/>
                          </a:solidFill>
                        </a:defRPr>
                      </a:pPr>
                      <a:r>
                        <a:t>Critical outages requiring immediate NOC escalation to MIM team</a:t>
                      </a:r>
                    </a:p>
                  </a:txBody>
                  <a:tcPr>
                    <a:solidFill>
                      <a:srgbClr val="FFFFFF"/>
                    </a:solidFill>
                  </a:tcPr>
                </a:tc>
              </a:tr>
              <a:tr h="182880">
                <a:tc>
                  <a:txBody>
                    <a:bodyPr wrap="square"/>
                    <a:lstStyle/>
                    <a:p>
                      <a:pPr>
                        <a:defRPr sz="550" b="1">
                          <a:solidFill>
                            <a:srgbClr val="1F3864"/>
                          </a:solidFill>
                        </a:defRPr>
                      </a:pPr>
                      <a:r>
                        <a:t>P2 Incidents</a:t>
                      </a:r>
                    </a:p>
                  </a:txBody>
                  <a:tcPr>
                    <a:solidFill>
                      <a:srgbClr val="E9F0F8"/>
                    </a:solidFill>
                  </a:tcPr>
                </a:tc>
                <a:tc>
                  <a:txBody>
                    <a:bodyPr wrap="square"/>
                    <a:lstStyle/>
                    <a:p>
                      <a:pPr>
                        <a:defRPr sz="550">
                          <a:solidFill>
                            <a:srgbClr val="333333"/>
                          </a:solidFill>
                        </a:defRPr>
                      </a:pPr>
                      <a:r>
                        <a:t>Number of Priority 2 incidents detected and managed by NOC</a:t>
                      </a:r>
                    </a:p>
                  </a:txBody>
                  <a:tcPr>
                    <a:solidFill>
                      <a:srgbClr val="E9F0F8"/>
                    </a:solidFill>
                  </a:tcPr>
                </a:tc>
                <a:tc>
                  <a:txBody>
                    <a:bodyPr wrap="square"/>
                    <a:lstStyle/>
                    <a:p>
                      <a:pPr>
                        <a:defRPr sz="550">
                          <a:solidFill>
                            <a:srgbClr val="333333"/>
                          </a:solidFill>
                        </a:defRPr>
                      </a:pPr>
                      <a:r>
                        <a:t>High severity alerts requiring prompt NOC investigation and response</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Alerts Received</a:t>
                      </a:r>
                    </a:p>
                  </a:txBody>
                  <a:tcPr>
                    <a:solidFill>
                      <a:srgbClr val="CC0000"/>
                    </a:solidFill>
                  </a:tcPr>
                </a:tc>
                <a:tc>
                  <a:txBody>
                    <a:bodyPr wrap="square"/>
                    <a:lstStyle/>
                    <a:p>
                      <a:pPr algn="ctr">
                        <a:defRPr b="1" sz="550">
                          <a:solidFill>
                            <a:srgbClr val="FFFFFF"/>
                          </a:solidFill>
                        </a:defRPr>
                      </a:pPr>
                      <a:r>
                        <a:t>Alerts Auto-Resolved</a:t>
                      </a:r>
                    </a:p>
                  </a:txBody>
                  <a:tcPr>
                    <a:solidFill>
                      <a:srgbClr val="CC0000"/>
                    </a:solidFill>
                  </a:tcPr>
                </a:tc>
                <a:tc>
                  <a:txBody>
                    <a:bodyPr wrap="square"/>
                    <a:lstStyle/>
                    <a:p>
                      <a:pPr algn="ctr">
                        <a:defRPr b="1" sz="550">
                          <a:solidFill>
                            <a:srgbClr val="FFFFFF"/>
                          </a:solidFill>
                        </a:defRPr>
                      </a:pPr>
                      <a:r>
                        <a:t>P1 Incidents</a:t>
                      </a:r>
                    </a:p>
                  </a:txBody>
                  <a:tcPr>
                    <a:solidFill>
                      <a:srgbClr val="CC0000"/>
                    </a:solidFill>
                  </a:tcPr>
                </a:tc>
                <a:tc>
                  <a:txBody>
                    <a:bodyPr wrap="square"/>
                    <a:lstStyle/>
                    <a:p>
                      <a:pPr algn="ctr">
                        <a:defRPr b="1" sz="550">
                          <a:solidFill>
                            <a:srgbClr val="FFFFFF"/>
                          </a:solidFill>
                        </a:defRPr>
                      </a:pPr>
                      <a:r>
                        <a:t>P2 Incidents</a:t>
                      </a:r>
                    </a:p>
                  </a:txBody>
                  <a:tcPr>
                    <a:solidFill>
                      <a:srgbClr val="CC0000"/>
                    </a:solidFill>
                  </a:tcPr>
                </a:tc>
                <a:tc>
                  <a:txBody>
                    <a:bodyPr wrap="square"/>
                    <a:lstStyle/>
                    <a:p>
                      <a:pPr algn="ctr">
                        <a:defRPr b="1" sz="550">
                          <a:solidFill>
                            <a:srgbClr val="FFFFFF"/>
                          </a:solidFill>
                        </a:defRPr>
                      </a:pPr>
                      <a:r>
                        <a:t>MTTR Hours</a:t>
                      </a:r>
                    </a:p>
                  </a:txBody>
                  <a:tcPr>
                    <a:solidFill>
                      <a:srgbClr val="CC0000"/>
                    </a:solidFill>
                  </a:tcPr>
                </a:tc>
                <a:tc>
                  <a:txBody>
                    <a:bodyPr wrap="square"/>
                    <a:lstStyle/>
                    <a:p>
                      <a:pPr algn="ctr">
                        <a:defRPr b="1" sz="550">
                          <a:solidFill>
                            <a:srgbClr val="FFFFFF"/>
                          </a:solidFill>
                        </a:defRPr>
                      </a:pPr>
                      <a:r>
                        <a:t>SLA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1890</a:t>
                      </a:r>
                    </a:p>
                  </a:txBody>
                  <a:tcPr>
                    <a:solidFill>
                      <a:srgbClr val="F5F5F5"/>
                    </a:solidFill>
                  </a:tcPr>
                </a:tc>
                <a:tc>
                  <a:txBody>
                    <a:bodyPr/>
                    <a:lstStyle/>
                    <a:p>
                      <a:pPr algn="ctr">
                        <a:defRPr sz="700" b="1">
                          <a:solidFill>
                            <a:srgbClr val="333333"/>
                          </a:solidFill>
                        </a:defRPr>
                      </a:pPr>
                      <a:r>
                        <a:t>1610</a:t>
                      </a:r>
                    </a:p>
                  </a:txBody>
                  <a:tcPr>
                    <a:solidFill>
                      <a:srgbClr val="F5F5F5"/>
                    </a:solidFill>
                  </a:tcPr>
                </a:tc>
                <a:tc>
                  <a:txBody>
                    <a:bodyPr/>
                    <a:lstStyle/>
                    <a:p>
                      <a:pPr algn="ctr">
                        <a:defRPr sz="700" b="1">
                          <a:solidFill>
                            <a:srgbClr val="FFFFFF"/>
                          </a:solidFill>
                        </a:defRPr>
                      </a:pPr>
                      <a:r>
                        <a:t>2</a:t>
                      </a:r>
                    </a:p>
                  </a:txBody>
                  <a:tcPr>
                    <a:solidFill>
                      <a:srgbClr val="1A7348"/>
                    </a:solidFill>
                  </a:tcPr>
                </a:tc>
                <a:tc>
                  <a:txBody>
                    <a:bodyPr/>
                    <a:lstStyle/>
                    <a:p>
                      <a:pPr algn="ctr">
                        <a:defRPr sz="700" b="1">
                          <a:solidFill>
                            <a:srgbClr val="FFFFFF"/>
                          </a:solidFill>
                        </a:defRPr>
                      </a:pPr>
                      <a:r>
                        <a:t>5</a:t>
                      </a:r>
                    </a:p>
                  </a:txBody>
                  <a:tcPr>
                    <a:solidFill>
                      <a:srgbClr val="1A7348"/>
                    </a:solidFill>
                  </a:tcPr>
                </a:tc>
                <a:tc>
                  <a:txBody>
                    <a:bodyPr/>
                    <a:lstStyle/>
                    <a:p>
                      <a:pPr algn="ctr">
                        <a:defRPr sz="700" b="1">
                          <a:solidFill>
                            <a:srgbClr val="FFFFFF"/>
                          </a:solidFill>
                        </a:defRPr>
                      </a:pPr>
                      <a:r>
                        <a:t>1.7</a:t>
                      </a:r>
                    </a:p>
                  </a:txBody>
                  <a:tcPr>
                    <a:solidFill>
                      <a:srgbClr val="1A7348"/>
                    </a:solidFill>
                  </a:tcPr>
                </a:tc>
                <a:tc>
                  <a:txBody>
                    <a:bodyPr/>
                    <a:lstStyle/>
                    <a:p>
                      <a:pPr algn="ctr">
                        <a:defRPr sz="700" b="1">
                          <a:solidFill>
                            <a:srgbClr val="FFFFFF"/>
                          </a:solidFill>
                        </a:defRPr>
                      </a:pPr>
                      <a:r>
                        <a:t>97%</a:t>
                      </a:r>
                    </a:p>
                  </a:txBody>
                  <a:tcPr>
                    <a:solidFill>
                      <a:srgbClr val="1A7348"/>
                    </a:solidFill>
                  </a:tcPr>
                </a:tc>
              </a:tr>
            </a:tbl>
          </a:graphicData>
        </a:graphic>
      </p:graphicFrame>
      <p:pic>
        <p:nvPicPr>
          <p:cNvPr id="35" name="Picture 34" descr="image.png"/>
          <p:cNvPicPr>
            <a:picLocks noChangeAspect="1"/>
          </p:cNvPicPr>
          <p:nvPr/>
        </p:nvPicPr>
        <p:blipFill>
          <a:blip r:embed="rId2"/>
          <a:stretch>
            <a:fillRect/>
          </a:stretch>
        </p:blipFill>
        <p:spPr>
          <a:xfrm>
            <a:off x="5943600" y="978408"/>
            <a:ext cx="6245352" cy="2395728"/>
          </a:xfrm>
          <a:prstGeom prst="rect">
            <a:avLst/>
          </a:prstGeom>
        </p:spPr>
      </p:pic>
      <p:graphicFrame>
        <p:nvGraphicFramePr>
          <p:cNvPr id="36" name="Chart 35"/>
          <p:cNvGraphicFramePr>
            <a:graphicFrameLocks noGrp="1"/>
          </p:cNvGraphicFramePr>
          <p:nvPr/>
        </p:nvGraphicFramePr>
        <p:xfrm>
          <a:off x="5943600" y="3502152"/>
          <a:ext cx="6245352" cy="2395728"/>
        </p:xfrm>
        <a:graphic>
          <a:graphicData uri="http://schemas.openxmlformats.org/drawingml/2006/chart">
            <c:chart xmlns:c="http://schemas.openxmlformats.org/drawingml/2006/chart" r:id="rId4"/>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ServiceNow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ServiceNow team has 4 data record(s) in the current reporting window. Performance highlights indicate Resolution Rate (&gt;95%): 95.2%, First Call Resolution (&gt;80%): 84.0%. Potential risk areas include First Call Resolution (&gt;80%): 84.0%, Resolution Rate (&gt;95%): 95.2%.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ServiceNow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ServiceNow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Tickets</a:t>
                      </a:r>
                    </a:p>
                  </a:txBody>
                  <a:tcPr>
                    <a:solidFill>
                      <a:srgbClr val="FFFFFF"/>
                    </a:solidFill>
                  </a:tcPr>
                </a:tc>
                <a:tc>
                  <a:txBody>
                    <a:bodyPr wrap="square"/>
                    <a:lstStyle/>
                    <a:p>
                      <a:pPr>
                        <a:defRPr sz="550">
                          <a:solidFill>
                            <a:srgbClr val="333333"/>
                          </a:solidFill>
                        </a:defRPr>
                      </a:pPr>
                      <a:r>
                        <a:t>Total service requests and incidents logged in ServiceNow</a:t>
                      </a:r>
                    </a:p>
                  </a:txBody>
                  <a:tcPr>
                    <a:solidFill>
                      <a:srgbClr val="FFFFFF"/>
                    </a:solidFill>
                  </a:tcPr>
                </a:tc>
                <a:tc>
                  <a:txBody>
                    <a:bodyPr wrap="square"/>
                    <a:lstStyle/>
                    <a:p>
                      <a:pPr>
                        <a:defRPr sz="550">
                          <a:solidFill>
                            <a:srgbClr val="333333"/>
                          </a:solidFill>
                        </a:defRPr>
                      </a:pPr>
                      <a:r>
                        <a:t>Includes all request types and categories processed through the platform</a:t>
                      </a:r>
                    </a:p>
                  </a:txBody>
                  <a:tcPr>
                    <a:solidFill>
                      <a:srgbClr val="FFFFFF"/>
                    </a:solidFill>
                  </a:tcPr>
                </a:tc>
              </a:tr>
              <a:tr h="182880">
                <a:tc>
                  <a:txBody>
                    <a:bodyPr wrap="square"/>
                    <a:lstStyle/>
                    <a:p>
                      <a:pPr>
                        <a:defRPr sz="550" b="1">
                          <a:solidFill>
                            <a:srgbClr val="1F3864"/>
                          </a:solidFill>
                        </a:defRPr>
                      </a:pPr>
                      <a:r>
                        <a:t>Tickets Resolved</a:t>
                      </a:r>
                    </a:p>
                  </a:txBody>
                  <a:tcPr>
                    <a:solidFill>
                      <a:srgbClr val="E9F0F8"/>
                    </a:solidFill>
                  </a:tcPr>
                </a:tc>
                <a:tc>
                  <a:txBody>
                    <a:bodyPr wrap="square"/>
                    <a:lstStyle/>
                    <a:p>
                      <a:pPr>
                        <a:defRPr sz="550">
                          <a:solidFill>
                            <a:srgbClr val="333333"/>
                          </a:solidFill>
                        </a:defRPr>
                      </a:pPr>
                      <a:r>
                        <a:t>Number of tickets moved to resolved status in the period</a:t>
                      </a:r>
                    </a:p>
                  </a:txBody>
                  <a:tcPr>
                    <a:solidFill>
                      <a:srgbClr val="E9F0F8"/>
                    </a:solidFill>
                  </a:tcPr>
                </a:tc>
                <a:tc>
                  <a:txBody>
                    <a:bodyPr wrap="square"/>
                    <a:lstStyle/>
                    <a:p>
                      <a:pPr>
                        <a:defRPr sz="550">
                          <a:solidFill>
                            <a:srgbClr val="333333"/>
                          </a:solidFill>
                        </a:defRPr>
                      </a:pPr>
                      <a:r>
                        <a:t>Resolved tickets pending user confirmation closure after 5 days</a:t>
                      </a:r>
                    </a:p>
                  </a:txBody>
                  <a:tcPr>
                    <a:solidFill>
                      <a:srgbClr val="E9F0F8"/>
                    </a:solidFill>
                  </a:tcPr>
                </a:tc>
              </a:tr>
              <a:tr h="182880">
                <a:tc>
                  <a:txBody>
                    <a:bodyPr wrap="square"/>
                    <a:lstStyle/>
                    <a:p>
                      <a:pPr>
                        <a:defRPr sz="550" b="1">
                          <a:solidFill>
                            <a:srgbClr val="1F3864"/>
                          </a:solidFill>
                        </a:defRPr>
                      </a:pPr>
                      <a:r>
                        <a:t>Escalated Tickets</a:t>
                      </a:r>
                    </a:p>
                  </a:txBody>
                  <a:tcPr>
                    <a:solidFill>
                      <a:srgbClr val="FFFFFF"/>
                    </a:solidFill>
                  </a:tcPr>
                </a:tc>
                <a:tc>
                  <a:txBody>
                    <a:bodyPr wrap="square"/>
                    <a:lstStyle/>
                    <a:p>
                      <a:pPr>
                        <a:defRPr sz="550">
                          <a:solidFill>
                            <a:srgbClr val="333333"/>
                          </a:solidFill>
                        </a:defRPr>
                      </a:pPr>
                      <a:r>
                        <a:t>Number of tickets escalated to L2 or L3 support teams</a:t>
                      </a:r>
                    </a:p>
                  </a:txBody>
                  <a:tcPr>
                    <a:solidFill>
                      <a:srgbClr val="FFFFFF"/>
                    </a:solidFill>
                  </a:tcPr>
                </a:tc>
                <a:tc>
                  <a:txBody>
                    <a:bodyPr wrap="square"/>
                    <a:lstStyle/>
                    <a:p>
                      <a:pPr>
                        <a:defRPr sz="550">
                          <a:solidFill>
                            <a:srgbClr val="333333"/>
                          </a:solidFill>
                        </a:defRPr>
                      </a:pPr>
                      <a:r>
                        <a:t>Tickets that could not be resolved by first-line ServiceNow team</a:t>
                      </a:r>
                    </a:p>
                  </a:txBody>
                  <a:tcPr>
                    <a:solidFill>
                      <a:srgbClr val="FFFFFF"/>
                    </a:solidFill>
                  </a:tcPr>
                </a:tc>
              </a:tr>
              <a:tr h="182880">
                <a:tc>
                  <a:txBody>
                    <a:bodyPr wrap="square"/>
                    <a:lstStyle/>
                    <a:p>
                      <a:pPr>
                        <a:defRPr sz="550" b="1">
                          <a:solidFill>
                            <a:srgbClr val="1F3864"/>
                          </a:solidFill>
                        </a:defRPr>
                      </a:pPr>
                      <a:r>
                        <a:t>Resolution Rate</a:t>
                      </a:r>
                    </a:p>
                  </a:txBody>
                  <a:tcPr>
                    <a:solidFill>
                      <a:srgbClr val="E9F0F8"/>
                    </a:solidFill>
                  </a:tcPr>
                </a:tc>
                <a:tc>
                  <a:txBody>
                    <a:bodyPr wrap="square"/>
                    <a:lstStyle/>
                    <a:p>
                      <a:pPr>
                        <a:defRPr sz="550">
                          <a:solidFill>
                            <a:srgbClr val="333333"/>
                          </a:solidFill>
                        </a:defRPr>
                      </a:pPr>
                      <a:r>
                        <a:t>Percentage of tickets resolved within agreed SLA target</a:t>
                      </a:r>
                    </a:p>
                  </a:txBody>
                  <a:tcPr>
                    <a:solidFill>
                      <a:srgbClr val="E9F0F8"/>
                    </a:solidFill>
                  </a:tcPr>
                </a:tc>
                <a:tc>
                  <a:txBody>
                    <a:bodyPr wrap="square"/>
                    <a:lstStyle/>
                    <a:p>
                      <a:pPr>
                        <a:defRPr sz="550">
                          <a:solidFill>
                            <a:srgbClr val="333333"/>
                          </a:solidFill>
                        </a:defRPr>
                      </a:pPr>
                      <a:r>
                        <a:t>Calculated against resolution time targets by ticket category</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Tickets</a:t>
                      </a:r>
                    </a:p>
                  </a:txBody>
                  <a:tcPr>
                    <a:solidFill>
                      <a:srgbClr val="CC0000"/>
                    </a:solidFill>
                  </a:tcPr>
                </a:tc>
                <a:tc>
                  <a:txBody>
                    <a:bodyPr wrap="square"/>
                    <a:lstStyle/>
                    <a:p>
                      <a:pPr algn="ctr">
                        <a:defRPr b="1" sz="550">
                          <a:solidFill>
                            <a:srgbClr val="FFFFFF"/>
                          </a:solidFill>
                        </a:defRPr>
                      </a:pPr>
                      <a:r>
                        <a:t>Tickets Resolved</a:t>
                      </a:r>
                    </a:p>
                  </a:txBody>
                  <a:tcPr>
                    <a:solidFill>
                      <a:srgbClr val="CC0000"/>
                    </a:solidFill>
                  </a:tcPr>
                </a:tc>
                <a:tc>
                  <a:txBody>
                    <a:bodyPr wrap="square"/>
                    <a:lstStyle/>
                    <a:p>
                      <a:pPr algn="ctr">
                        <a:defRPr b="1" sz="550">
                          <a:solidFill>
                            <a:srgbClr val="FFFFFF"/>
                          </a:solidFill>
                        </a:defRPr>
                      </a:pPr>
                      <a:r>
                        <a:t>Escalated Tickets</a:t>
                      </a:r>
                    </a:p>
                  </a:txBody>
                  <a:tcPr>
                    <a:solidFill>
                      <a:srgbClr val="CC0000"/>
                    </a:solidFill>
                  </a:tcPr>
                </a:tc>
                <a:tc>
                  <a:txBody>
                    <a:bodyPr wrap="square"/>
                    <a:lstStyle/>
                    <a:p>
                      <a:pPr algn="ctr">
                        <a:defRPr b="1" sz="550">
                          <a:solidFill>
                            <a:srgbClr val="FFFFFF"/>
                          </a:solidFill>
                        </a:defRPr>
                      </a:pPr>
                      <a:r>
                        <a:t>Resolution Rate</a:t>
                      </a:r>
                    </a:p>
                  </a:txBody>
                  <a:tcPr>
                    <a:solidFill>
                      <a:srgbClr val="CC0000"/>
                    </a:solidFill>
                  </a:tcPr>
                </a:tc>
                <a:tc>
                  <a:txBody>
                    <a:bodyPr wrap="square"/>
                    <a:lstStyle/>
                    <a:p>
                      <a:pPr algn="ctr">
                        <a:defRPr b="1" sz="550">
                          <a:solidFill>
                            <a:srgbClr val="FFFFFF"/>
                          </a:solidFill>
                        </a:defRPr>
                      </a:pPr>
                      <a:r>
                        <a:t>CSAT Score</a:t>
                      </a:r>
                    </a:p>
                  </a:txBody>
                  <a:tcPr>
                    <a:solidFill>
                      <a:srgbClr val="CC0000"/>
                    </a:solidFill>
                  </a:tcPr>
                </a:tc>
                <a:tc>
                  <a:txBody>
                    <a:bodyPr wrap="square"/>
                    <a:lstStyle/>
                    <a:p>
                      <a:pPr algn="ctr">
                        <a:defRPr b="1" sz="550">
                          <a:solidFill>
                            <a:srgbClr val="FFFFFF"/>
                          </a:solidFill>
                        </a:defRPr>
                      </a:pPr>
                      <a:r>
                        <a:t>First Call Resolution</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230</a:t>
                      </a:r>
                    </a:p>
                  </a:txBody>
                  <a:tcPr>
                    <a:solidFill>
                      <a:srgbClr val="F5F5F5"/>
                    </a:solidFill>
                  </a:tcPr>
                </a:tc>
                <a:tc>
                  <a:txBody>
                    <a:bodyPr/>
                    <a:lstStyle/>
                    <a:p>
                      <a:pPr algn="ctr">
                        <a:defRPr sz="700" b="1">
                          <a:solidFill>
                            <a:srgbClr val="333333"/>
                          </a:solidFill>
                        </a:defRPr>
                      </a:pPr>
                      <a:r>
                        <a:t>219</a:t>
                      </a:r>
                    </a:p>
                  </a:txBody>
                  <a:tcPr>
                    <a:solidFill>
                      <a:srgbClr val="F5F5F5"/>
                    </a:solidFill>
                  </a:tcPr>
                </a:tc>
                <a:tc>
                  <a:txBody>
                    <a:bodyPr/>
                    <a:lstStyle/>
                    <a:p>
                      <a:pPr algn="ctr">
                        <a:defRPr sz="700" b="1">
                          <a:solidFill>
                            <a:srgbClr val="333333"/>
                          </a:solidFill>
                        </a:defRPr>
                      </a:pPr>
                      <a:r>
                        <a:t>9</a:t>
                      </a:r>
                    </a:p>
                  </a:txBody>
                  <a:tcPr>
                    <a:solidFill>
                      <a:srgbClr val="F5F5F5"/>
                    </a:solidFill>
                  </a:tcPr>
                </a:tc>
                <a:tc>
                  <a:txBody>
                    <a:bodyPr/>
                    <a:lstStyle/>
                    <a:p>
                      <a:pPr algn="ctr">
                        <a:defRPr sz="700" b="1">
                          <a:solidFill>
                            <a:srgbClr val="FFFFFF"/>
                          </a:solidFill>
                        </a:defRPr>
                      </a:pPr>
                      <a:r>
                        <a:t>95%</a:t>
                      </a:r>
                    </a:p>
                  </a:txBody>
                  <a:tcPr>
                    <a:solidFill>
                      <a:srgbClr val="1A7348"/>
                    </a:solidFill>
                  </a:tcPr>
                </a:tc>
                <a:tc>
                  <a:txBody>
                    <a:bodyPr/>
                    <a:lstStyle/>
                    <a:p>
                      <a:pPr algn="ctr">
                        <a:defRPr sz="700" b="1">
                          <a:solidFill>
                            <a:srgbClr val="333333"/>
                          </a:solidFill>
                        </a:defRPr>
                      </a:pPr>
                      <a:r>
                        <a:t>4.4</a:t>
                      </a:r>
                    </a:p>
                  </a:txBody>
                  <a:tcPr>
                    <a:solidFill>
                      <a:srgbClr val="F5F5F5"/>
                    </a:solidFill>
                  </a:tcPr>
                </a:tc>
                <a:tc>
                  <a:txBody>
                    <a:bodyPr/>
                    <a:lstStyle/>
                    <a:p>
                      <a:pPr algn="ctr">
                        <a:defRPr sz="700" b="1">
                          <a:solidFill>
                            <a:srgbClr val="FFFFFF"/>
                          </a:solidFill>
                        </a:defRPr>
                      </a:pPr>
                      <a:r>
                        <a:t>84%</a:t>
                      </a:r>
                    </a:p>
                  </a:txBody>
                  <a:tcPr>
                    <a:solidFill>
                      <a:srgbClr val="1A7348"/>
                    </a:solidFill>
                  </a:tcPr>
                </a:tc>
              </a:tr>
            </a:tbl>
          </a:graphicData>
        </a:graphic>
      </p:graphicFrame>
      <p:pic>
        <p:nvPicPr>
          <p:cNvPr id="35" name="Picture 34" descr="image.png"/>
          <p:cNvPicPr>
            <a:picLocks noChangeAspect="1"/>
          </p:cNvPicPr>
          <p:nvPr/>
        </p:nvPicPr>
        <p:blipFill>
          <a:blip r:embed="rId2"/>
          <a:stretch>
            <a:fillRect/>
          </a:stretch>
        </p:blipFill>
        <p:spPr>
          <a:xfrm>
            <a:off x="5943600" y="978408"/>
            <a:ext cx="6245352" cy="2395728"/>
          </a:xfrm>
          <a:prstGeom prst="rect">
            <a:avLst/>
          </a:prstGeom>
        </p:spPr>
      </p:pic>
      <p:graphicFrame>
        <p:nvGraphicFramePr>
          <p:cNvPr id="36" name="Chart 35"/>
          <p:cNvGraphicFramePr>
            <a:graphicFrameLocks noGrp="1"/>
          </p:cNvGraphicFramePr>
          <p:nvPr/>
        </p:nvGraphicFramePr>
        <p:xfrm>
          <a:off x="5943600" y="3502152"/>
          <a:ext cx="6245352" cy="2395728"/>
        </p:xfrm>
        <a:graphic>
          <a:graphicData uri="http://schemas.openxmlformats.org/drawingml/2006/chart">
            <c:chart xmlns:c="http://schemas.openxmlformats.org/drawingml/2006/chart" r:id="rId4"/>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 Desk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05156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Service Desk team has 4 data record(s) in the current reporting window. Performance highlights indicate SLA Compliance (&gt;95%): 96.5%, FCR Rate (&gt;80%): 82.9%. Potential risk areas include FCR Rate (&gt;80%): 82.9%, SLA Compliance (&gt;95%): 96.5%. Recommended action is to sustain high-performing KPIs while prioritizing targeted corrective actions for underperforming indicators in the next cycle.</a:t>
            </a:r>
          </a:p>
        </p:txBody>
      </p:sp>
      <p:sp>
        <p:nvSpPr>
          <p:cNvPr id="9" name="Rectangle 8"/>
          <p:cNvSpPr/>
          <p:nvPr/>
        </p:nvSpPr>
        <p:spPr>
          <a:xfrm>
            <a:off x="0" y="299008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99008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302666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3273552"/>
            <a:ext cx="5577840" cy="612648"/>
          </a:xfrm>
          <a:prstGeom prst="rect">
            <a:avLst/>
          </a:prstGeom>
          <a:noFill/>
        </p:spPr>
        <p:txBody>
          <a:bodyPr wrap="square">
            <a:spAutoFit/>
          </a:bodyPr>
          <a:lstStyle/>
          <a:p>
            <a:pPr>
              <a:defRPr sz="800" b="1">
                <a:solidFill>
                  <a:srgbClr val="1F3864"/>
                </a:solidFill>
              </a:defRPr>
            </a:pPr>
            <a:r>
              <a:t>▸  Service Desk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995928"/>
            <a:ext cx="2880360" cy="1911096"/>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95928"/>
            <a:ext cx="2880360" cy="1911096"/>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995928"/>
            <a:ext cx="5760720" cy="19110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995928"/>
            <a:ext cx="27432" cy="19110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99592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04164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99592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4164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34340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34340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398264"/>
            <a:ext cx="2624328" cy="475488"/>
          </a:xfrm>
          <a:prstGeom prst="rect">
            <a:avLst/>
          </a:prstGeom>
          <a:noFill/>
        </p:spPr>
        <p:txBody>
          <a:bodyPr wrap="square">
            <a:spAutoFit/>
          </a:bodyPr>
          <a:lstStyle/>
          <a:p>
            <a:pPr>
              <a:defRPr sz="800" b="1">
                <a:solidFill>
                  <a:srgbClr val="1A7348"/>
                </a:solidFill>
              </a:defRPr>
            </a:pPr>
            <a:r>
              <a:t>Service Desk data was processed successfully.</a:t>
            </a:r>
          </a:p>
        </p:txBody>
      </p:sp>
      <p:sp>
        <p:nvSpPr>
          <p:cNvPr id="24" name="Rectangle 23"/>
          <p:cNvSpPr/>
          <p:nvPr/>
        </p:nvSpPr>
        <p:spPr>
          <a:xfrm>
            <a:off x="64008" y="496519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96519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502005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34340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34340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39826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96519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96519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502005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Table 32"/>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Calls Received</a:t>
                      </a:r>
                    </a:p>
                  </a:txBody>
                  <a:tcPr>
                    <a:solidFill>
                      <a:srgbClr val="FFFFFF"/>
                    </a:solidFill>
                  </a:tcPr>
                </a:tc>
                <a:tc>
                  <a:txBody>
                    <a:bodyPr wrap="square"/>
                    <a:lstStyle/>
                    <a:p>
                      <a:pPr>
                        <a:defRPr sz="550">
                          <a:solidFill>
                            <a:srgbClr val="333333"/>
                          </a:solidFill>
                        </a:defRPr>
                      </a:pPr>
                      <a:r>
                        <a:t>Total inbound contacts handled by Service Desk in the period</a:t>
                      </a:r>
                    </a:p>
                  </a:txBody>
                  <a:tcPr>
                    <a:solidFill>
                      <a:srgbClr val="FFFFFF"/>
                    </a:solidFill>
                  </a:tcPr>
                </a:tc>
                <a:tc>
                  <a:txBody>
                    <a:bodyPr wrap="square"/>
                    <a:lstStyle/>
                    <a:p>
                      <a:pPr>
                        <a:defRPr sz="550">
                          <a:solidFill>
                            <a:srgbClr val="333333"/>
                          </a:solidFill>
                        </a:defRPr>
                      </a:pPr>
                      <a:r>
                        <a:t>Includes voice calls, chat sessions and email contacts</a:t>
                      </a:r>
                    </a:p>
                  </a:txBody>
                  <a:tcPr>
                    <a:solidFill>
                      <a:srgbClr val="FFFFFF"/>
                    </a:solidFill>
                  </a:tcPr>
                </a:tc>
              </a:tr>
              <a:tr h="182880">
                <a:tc>
                  <a:txBody>
                    <a:bodyPr wrap="square"/>
                    <a:lstStyle/>
                    <a:p>
                      <a:pPr>
                        <a:defRPr sz="550" b="1">
                          <a:solidFill>
                            <a:srgbClr val="1F3864"/>
                          </a:solidFill>
                        </a:defRPr>
                      </a:pPr>
                      <a:r>
                        <a:t>Calls Resolved</a:t>
                      </a:r>
                    </a:p>
                  </a:txBody>
                  <a:tcPr>
                    <a:solidFill>
                      <a:srgbClr val="E9F0F8"/>
                    </a:solidFill>
                  </a:tcPr>
                </a:tc>
                <a:tc>
                  <a:txBody>
                    <a:bodyPr wrap="square"/>
                    <a:lstStyle/>
                    <a:p>
                      <a:pPr>
                        <a:defRPr sz="550">
                          <a:solidFill>
                            <a:srgbClr val="333333"/>
                          </a:solidFill>
                        </a:defRPr>
                      </a:pPr>
                      <a:r>
                        <a:t>Total contacts resolved by first-line Service Desk agents</a:t>
                      </a:r>
                    </a:p>
                  </a:txBody>
                  <a:tcPr>
                    <a:solidFill>
                      <a:srgbClr val="E9F0F8"/>
                    </a:solidFill>
                  </a:tcPr>
                </a:tc>
                <a:tc>
                  <a:txBody>
                    <a:bodyPr wrap="square"/>
                    <a:lstStyle/>
                    <a:p>
                      <a:pPr>
                        <a:defRPr sz="550">
                          <a:solidFill>
                            <a:srgbClr val="333333"/>
                          </a:solidFill>
                        </a:defRPr>
                      </a:pPr>
                      <a:r>
                        <a:t>Direct resolution without L2/L3 escalation required</a:t>
                      </a:r>
                    </a:p>
                  </a:txBody>
                  <a:tcPr>
                    <a:solidFill>
                      <a:srgbClr val="E9F0F8"/>
                    </a:solidFill>
                  </a:tcPr>
                </a:tc>
              </a:tr>
              <a:tr h="182880">
                <a:tc>
                  <a:txBody>
                    <a:bodyPr wrap="square"/>
                    <a:lstStyle/>
                    <a:p>
                      <a:pPr>
                        <a:defRPr sz="550" b="1">
                          <a:solidFill>
                            <a:srgbClr val="1F3864"/>
                          </a:solidFill>
                        </a:defRPr>
                      </a:pPr>
                      <a:r>
                        <a:t>Abandoned Calls</a:t>
                      </a:r>
                    </a:p>
                  </a:txBody>
                  <a:tcPr>
                    <a:solidFill>
                      <a:srgbClr val="FFFFFF"/>
                    </a:solidFill>
                  </a:tcPr>
                </a:tc>
                <a:tc>
                  <a:txBody>
                    <a:bodyPr wrap="square"/>
                    <a:lstStyle/>
                    <a:p>
                      <a:pPr>
                        <a:defRPr sz="550">
                          <a:solidFill>
                            <a:srgbClr val="333333"/>
                          </a:solidFill>
                        </a:defRPr>
                      </a:pPr>
                      <a:r>
                        <a:t>Number of contacts abandoned before being answered by an agent</a:t>
                      </a:r>
                    </a:p>
                  </a:txBody>
                  <a:tcPr>
                    <a:solidFill>
                      <a:srgbClr val="FFFFFF"/>
                    </a:solidFill>
                  </a:tcPr>
                </a:tc>
                <a:tc>
                  <a:txBody>
                    <a:bodyPr wrap="square"/>
                    <a:lstStyle/>
                    <a:p>
                      <a:pPr>
                        <a:defRPr sz="550">
                          <a:solidFill>
                            <a:srgbClr val="333333"/>
                          </a:solidFill>
                        </a:defRPr>
                      </a:pPr>
                      <a:r>
                        <a:t>Key measure of queue management and staffing adequacy</a:t>
                      </a:r>
                    </a:p>
                  </a:txBody>
                  <a:tcPr>
                    <a:solidFill>
                      <a:srgbClr val="FFFFFF"/>
                    </a:solidFill>
                  </a:tcPr>
                </a:tc>
              </a:tr>
              <a:tr h="182880">
                <a:tc>
                  <a:txBody>
                    <a:bodyPr wrap="square"/>
                    <a:lstStyle/>
                    <a:p>
                      <a:pPr>
                        <a:defRPr sz="550" b="1">
                          <a:solidFill>
                            <a:srgbClr val="1F3864"/>
                          </a:solidFill>
                        </a:defRPr>
                      </a:pPr>
                      <a:r>
                        <a:t>FCR Rate</a:t>
                      </a:r>
                    </a:p>
                  </a:txBody>
                  <a:tcPr>
                    <a:solidFill>
                      <a:srgbClr val="E9F0F8"/>
                    </a:solidFill>
                  </a:tcPr>
                </a:tc>
                <a:tc>
                  <a:txBody>
                    <a:bodyPr wrap="square"/>
                    <a:lstStyle/>
                    <a:p>
                      <a:pPr>
                        <a:defRPr sz="550">
                          <a:solidFill>
                            <a:srgbClr val="333333"/>
                          </a:solidFill>
                        </a:defRPr>
                      </a:pPr>
                      <a:r>
                        <a:t>Percentage of contacts resolved on first contact without escalation</a:t>
                      </a:r>
                    </a:p>
                  </a:txBody>
                  <a:tcPr>
                    <a:solidFill>
                      <a:srgbClr val="E9F0F8"/>
                    </a:solidFill>
                  </a:tcPr>
                </a:tc>
                <a:tc>
                  <a:txBody>
                    <a:bodyPr wrap="square"/>
                    <a:lstStyle/>
                    <a:p>
                      <a:pPr>
                        <a:defRPr sz="550">
                          <a:solidFill>
                            <a:srgbClr val="333333"/>
                          </a:solidFill>
                        </a:defRPr>
                      </a:pPr>
                      <a:r>
                        <a:t>Primary measure of Service Desk effectiveness and knowledge quality</a:t>
                      </a:r>
                    </a:p>
                  </a:txBody>
                  <a:tcPr>
                    <a:solidFill>
                      <a:srgbClr val="E9F0F8"/>
                    </a:solidFill>
                  </a:tcPr>
                </a:tc>
              </a:tr>
            </a:tbl>
          </a:graphicData>
        </a:graphic>
      </p:graphicFrame>
      <p:graphicFrame>
        <p:nvGraphicFramePr>
          <p:cNvPr id="34" name="Table 33"/>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Calls Received</a:t>
                      </a:r>
                    </a:p>
                  </a:txBody>
                  <a:tcPr>
                    <a:solidFill>
                      <a:srgbClr val="CC0000"/>
                    </a:solidFill>
                  </a:tcPr>
                </a:tc>
                <a:tc>
                  <a:txBody>
                    <a:bodyPr wrap="square"/>
                    <a:lstStyle/>
                    <a:p>
                      <a:pPr algn="ctr">
                        <a:defRPr b="1" sz="550">
                          <a:solidFill>
                            <a:srgbClr val="FFFFFF"/>
                          </a:solidFill>
                        </a:defRPr>
                      </a:pPr>
                      <a:r>
                        <a:t>Calls Resolved</a:t>
                      </a:r>
                    </a:p>
                  </a:txBody>
                  <a:tcPr>
                    <a:solidFill>
                      <a:srgbClr val="CC0000"/>
                    </a:solidFill>
                  </a:tcPr>
                </a:tc>
                <a:tc>
                  <a:txBody>
                    <a:bodyPr wrap="square"/>
                    <a:lstStyle/>
                    <a:p>
                      <a:pPr algn="ctr">
                        <a:defRPr b="1" sz="550">
                          <a:solidFill>
                            <a:srgbClr val="FFFFFF"/>
                          </a:solidFill>
                        </a:defRPr>
                      </a:pPr>
                      <a:r>
                        <a:t>Abandoned Calls</a:t>
                      </a:r>
                    </a:p>
                  </a:txBody>
                  <a:tcPr>
                    <a:solidFill>
                      <a:srgbClr val="CC0000"/>
                    </a:solidFill>
                  </a:tcPr>
                </a:tc>
                <a:tc>
                  <a:txBody>
                    <a:bodyPr wrap="square"/>
                    <a:lstStyle/>
                    <a:p>
                      <a:pPr algn="ctr">
                        <a:defRPr b="1" sz="550">
                          <a:solidFill>
                            <a:srgbClr val="FFFFFF"/>
                          </a:solidFill>
                        </a:defRPr>
                      </a:pPr>
                      <a:r>
                        <a:t>FCR Rate</a:t>
                      </a:r>
                    </a:p>
                  </a:txBody>
                  <a:tcPr>
                    <a:solidFill>
                      <a:srgbClr val="CC0000"/>
                    </a:solidFill>
                  </a:tcPr>
                </a:tc>
                <a:tc>
                  <a:txBody>
                    <a:bodyPr wrap="square"/>
                    <a:lstStyle/>
                    <a:p>
                      <a:pPr algn="ctr">
                        <a:defRPr b="1" sz="550">
                          <a:solidFill>
                            <a:srgbClr val="FFFFFF"/>
                          </a:solidFill>
                        </a:defRPr>
                      </a:pPr>
                      <a:r>
                        <a:t>Avg Handle Time Mins</a:t>
                      </a:r>
                    </a:p>
                  </a:txBody>
                  <a:tcPr>
                    <a:solidFill>
                      <a:srgbClr val="CC0000"/>
                    </a:solidFill>
                  </a:tcPr>
                </a:tc>
                <a:tc>
                  <a:txBody>
                    <a:bodyPr wrap="square"/>
                    <a:lstStyle/>
                    <a:p>
                      <a:pPr algn="ctr">
                        <a:defRPr b="1" sz="550">
                          <a:solidFill>
                            <a:srgbClr val="FFFFFF"/>
                          </a:solidFill>
                        </a:defRPr>
                      </a:pPr>
                      <a:r>
                        <a:t>SLA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310</a:t>
                      </a:r>
                    </a:p>
                  </a:txBody>
                  <a:tcPr>
                    <a:solidFill>
                      <a:srgbClr val="F5F5F5"/>
                    </a:solidFill>
                  </a:tcPr>
                </a:tc>
                <a:tc>
                  <a:txBody>
                    <a:bodyPr/>
                    <a:lstStyle/>
                    <a:p>
                      <a:pPr algn="ctr">
                        <a:defRPr sz="700" b="1">
                          <a:solidFill>
                            <a:srgbClr val="333333"/>
                          </a:solidFill>
                        </a:defRPr>
                      </a:pPr>
                      <a:r>
                        <a:t>288</a:t>
                      </a:r>
                    </a:p>
                  </a:txBody>
                  <a:tcPr>
                    <a:solidFill>
                      <a:srgbClr val="F5F5F5"/>
                    </a:solidFill>
                  </a:tcPr>
                </a:tc>
                <a:tc>
                  <a:txBody>
                    <a:bodyPr/>
                    <a:lstStyle/>
                    <a:p>
                      <a:pPr algn="ctr">
                        <a:defRPr sz="700" b="1">
                          <a:solidFill>
                            <a:srgbClr val="333333"/>
                          </a:solidFill>
                        </a:defRPr>
                      </a:pPr>
                      <a:r>
                        <a:t>14</a:t>
                      </a:r>
                    </a:p>
                  </a:txBody>
                  <a:tcPr>
                    <a:solidFill>
                      <a:srgbClr val="F5F5F5"/>
                    </a:solidFill>
                  </a:tcPr>
                </a:tc>
                <a:tc>
                  <a:txBody>
                    <a:bodyPr/>
                    <a:lstStyle/>
                    <a:p>
                      <a:pPr algn="ctr">
                        <a:defRPr sz="700" b="1">
                          <a:solidFill>
                            <a:srgbClr val="FFFFFF"/>
                          </a:solidFill>
                        </a:defRPr>
                      </a:pPr>
                      <a:r>
                        <a:t>83%</a:t>
                      </a:r>
                    </a:p>
                  </a:txBody>
                  <a:tcPr>
                    <a:solidFill>
                      <a:srgbClr val="1A7348"/>
                    </a:solidFill>
                  </a:tcPr>
                </a:tc>
                <a:tc>
                  <a:txBody>
                    <a:bodyPr/>
                    <a:lstStyle/>
                    <a:p>
                      <a:pPr algn="ctr">
                        <a:defRPr sz="700" b="1">
                          <a:solidFill>
                            <a:srgbClr val="FFFFFF"/>
                          </a:solidFill>
                        </a:defRPr>
                      </a:pPr>
                      <a:r>
                        <a:t>8.4</a:t>
                      </a:r>
                    </a:p>
                  </a:txBody>
                  <a:tcPr>
                    <a:solidFill>
                      <a:srgbClr val="1A7348"/>
                    </a:solidFill>
                  </a:tcPr>
                </a:tc>
                <a:tc>
                  <a:txBody>
                    <a:bodyPr/>
                    <a:lstStyle/>
                    <a:p>
                      <a:pPr algn="ctr">
                        <a:defRPr sz="700" b="1">
                          <a:solidFill>
                            <a:srgbClr val="FFFFFF"/>
                          </a:solidFill>
                        </a:defRPr>
                      </a:pPr>
                      <a:r>
                        <a:t>96%</a:t>
                      </a:r>
                    </a:p>
                  </a:txBody>
                  <a:tcPr>
                    <a:solidFill>
                      <a:srgbClr val="1A7348"/>
                    </a:solidFill>
                  </a:tcPr>
                </a:tc>
              </a:tr>
            </a:tbl>
          </a:graphicData>
        </a:graphic>
      </p:graphicFrame>
      <p:graphicFrame>
        <p:nvGraphicFramePr>
          <p:cNvPr id="35" name="Chart 34"/>
          <p:cNvGraphicFramePr>
            <a:graphicFrameLocks noGrp="1"/>
          </p:cNvGraphicFramePr>
          <p:nvPr/>
        </p:nvGraphicFramePr>
        <p:xfrm>
          <a:off x="5943600" y="978408"/>
          <a:ext cx="6245352" cy="2395728"/>
        </p:xfrm>
        <a:graphic>
          <a:graphicData uri="http://schemas.openxmlformats.org/drawingml/2006/chart">
            <c:chart xmlns:c="http://schemas.openxmlformats.org/drawingml/2006/chart" r:id="rId4"/>
          </a:graphicData>
        </a:graphic>
      </p:graphicFrame>
      <p:pic>
        <p:nvPicPr>
          <p:cNvPr id="36" name="Picture 35" descr="image.png"/>
          <p:cNvPicPr>
            <a:picLocks noChangeAspect="1"/>
          </p:cNvPicPr>
          <p:nvPr/>
        </p:nvPicPr>
        <p:blipFill>
          <a:blip r:embed="rId3"/>
          <a:stretch>
            <a:fillRect/>
          </a:stretch>
        </p:blipFill>
        <p:spPr>
          <a:xfrm>
            <a:off x="5943600" y="3502152"/>
            <a:ext cx="6245352" cy="23957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