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P2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3.0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100% Adherence t…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Accurate stakeho…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 Causing MI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2.1</c:v>
                </c:pt>
                <c:pt idx="1">
                  <c:v>1.9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Failed Change Ra…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0.5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Compliance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97.1</c:v>
                </c:pt>
                <c:pt idx="1">
                  <c:v>96.8</c:v>
                </c:pt>
                <c:pt idx="2">
                  <c:v>97.2</c:v>
                </c:pt>
                <c:pt idx="3">
                  <c:v>97.4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 Rate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95.7</c:v>
                </c:pt>
                <c:pt idx="1">
                  <c:v>95.6</c:v>
                </c:pt>
                <c:pt idx="2">
                  <c:v>97.0</c:v>
                </c:pt>
                <c:pt idx="3">
                  <c:v>95.2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First Call Resol…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81.0</c:v>
                </c:pt>
                <c:pt idx="1">
                  <c:v>82.0</c:v>
                </c:pt>
                <c:pt idx="2">
                  <c:v>83.0</c:v>
                </c:pt>
                <c:pt idx="3">
                  <c:v>84.0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FCR Rate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82.2</c:v>
                </c:pt>
                <c:pt idx="1">
                  <c:v>81.8</c:v>
                </c:pt>
                <c:pt idx="2">
                  <c:v>82.6</c:v>
                </c:pt>
                <c:pt idx="3">
                  <c:v>82.9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SLA Compliance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96.2</c:v>
                </c:pt>
                <c:pt idx="1">
                  <c:v>95.8</c:v>
                </c:pt>
                <c:pt idx="2">
                  <c:v>97.1</c:v>
                </c:pt>
                <c:pt idx="3">
                  <c:v>96.5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CIs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12480.0</c:v>
                </c:pt>
                <c:pt idx="1">
                  <c:v>12495.0</c:v>
                </c:pt>
                <c:pt idx="2">
                  <c:v>12510.0</c:v>
                </c:pt>
                <c:pt idx="3">
                  <c:v>12524.0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CIs Verified Thi…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145.0</c:v>
                </c:pt>
                <c:pt idx="1">
                  <c:v>132.0</c:v>
                </c:pt>
                <c:pt idx="2">
                  <c:v>158.0</c:v>
                </c:pt>
                <c:pt idx="3">
                  <c:v>141.0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Orphan CIs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8.0</c:v>
                </c:pt>
                <c:pt idx="1">
                  <c:v>7.0</c:v>
                </c:pt>
                <c:pt idx="2">
                  <c:v>9.0</c:v>
                </c:pt>
                <c:pt idx="3">
                  <c:v>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 Accuracy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97.8</c:v>
                </c:pt>
                <c:pt idx="1">
                  <c:v>98.0</c:v>
                </c:pt>
                <c:pt idx="2">
                  <c:v>97.5</c:v>
                </c:pt>
                <c:pt idx="3">
                  <c:v>97.7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Audit Compliance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99.3</c:v>
                </c:pt>
                <c:pt idx="1">
                  <c:v>99.1</c:v>
                </c:pt>
                <c:pt idx="2">
                  <c:v>98.9</c:v>
                </c:pt>
                <c:pt idx="3">
                  <c:v>99.2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CIs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12480.0</c:v>
                </c:pt>
                <c:pt idx="1">
                  <c:v>12495.0</c:v>
                </c:pt>
                <c:pt idx="2">
                  <c:v>12510.0</c:v>
                </c:pt>
                <c:pt idx="3">
                  <c:v>12524.0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CIs Verified Thi…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145.0</c:v>
                </c:pt>
                <c:pt idx="1">
                  <c:v>132.0</c:v>
                </c:pt>
                <c:pt idx="2">
                  <c:v>158.0</c:v>
                </c:pt>
                <c:pt idx="3">
                  <c:v>141.0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CI Accuracy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97.8</c:v>
                </c:pt>
                <c:pt idx="1">
                  <c:v>98.0</c:v>
                </c:pt>
                <c:pt idx="2">
                  <c:v>97.5</c:v>
                </c:pt>
                <c:pt idx="3">
                  <c:v>97.7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Alerts Received</c:v>
                </c:pt>
                <c:pt idx="1">
                  <c:v>Alerts Auto-Resolved</c:v>
                </c:pt>
                <c:pt idx="2">
                  <c:v>P1 Incidents</c:v>
                </c:pt>
                <c:pt idx="3">
                  <c:v>P2 Incidents</c:v>
                </c:pt>
                <c:pt idx="4">
                  <c:v>MTTR Hours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1890.0</c:v>
                </c:pt>
                <c:pt idx="1">
                  <c:v>1610.0</c:v>
                </c:pt>
                <c:pt idx="2">
                  <c:v>2.0</c:v>
                </c:pt>
                <c:pt idx="3">
                  <c:v>5.0</c:v>
                </c:pt>
                <c:pt idx="4">
                  <c:v>1.7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Relationship Id="rId6" Type="http://schemas.openxmlformats.org/officeDocument/2006/relationships/chart" Target="../charts/chart26.xml"/><Relationship Id="rId7" Type="http://schemas.openxmlformats.org/officeDocument/2006/relationships/chart" Target="../charts/chart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17.xml"/><Relationship Id="rId5" Type="http://schemas.openxmlformats.org/officeDocument/2006/relationships/chart" Target="../charts/chart18.xml"/><Relationship Id="rId6" Type="http://schemas.openxmlformats.org/officeDocument/2006/relationships/chart" Target="../charts/chart28.xml"/><Relationship Id="rId7" Type="http://schemas.openxmlformats.org/officeDocument/2006/relationships/chart" Target="../charts/chart2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12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Relationship Id="rId6" Type="http://schemas.openxmlformats.org/officeDocument/2006/relationships/chart" Target="../charts/chart21.xml"/><Relationship Id="rId7" Type="http://schemas.openxmlformats.org/officeDocument/2006/relationships/chart" Target="../charts/chart3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24.xml"/><Relationship Id="rId5" Type="http://schemas.openxmlformats.org/officeDocument/2006/relationships/chart" Target="../charts/chart25.xml"/><Relationship Id="rId6" Type="http://schemas.openxmlformats.org/officeDocument/2006/relationships/chart" Target="../charts/chart31.xml"/><Relationship Id="rId7" Type="http://schemas.openxmlformats.org/officeDocument/2006/relationships/chart" Target="../charts/chart3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chart" Target="../charts/chart23.xml"/><Relationship Id="rId5" Type="http://schemas.openxmlformats.org/officeDocument/2006/relationships/chart" Target="../charts/chart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Relationship Id="rId4" Type="http://schemas.openxmlformats.org/officeDocument/2006/relationships/chart" Target="../charts/chart34.xml"/><Relationship Id="rId5" Type="http://schemas.openxmlformats.org/officeDocument/2006/relationships/chart" Target="../charts/chart3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20" b="1">
                <a:solidFill>
                  <a:srgbClr val="CC0000"/>
                </a:solidFill>
              </a:defRPr>
            </a:pPr>
            <a:r>
              <a:t>ITSM Weekly Report — 9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96">
                <a:solidFill>
                  <a:srgbClr val="595757"/>
                </a:solidFill>
              </a:defRPr>
            </a:pPr>
            <a:r>
              <a:t>Auto-generated | 7 groups | AI-powered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</a:defRPr>
            </a:pPr>
            <a:r>
              <a:t>Generated by ITSM Automation Agent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MIM  |  9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95 – 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Zero P1s this sprint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MIR timeline </a:t>
            </a:r>
            <a:r>
              <a:rPr sz="1100" b="1">
                <a:solidFill>
                  <a:srgbClr val="0D47A1"/>
                </a:solidFill>
              </a:rPr>
              <a:t>100%</a:t>
            </a:r>
            <a:r>
              <a:rPr sz="1100" b="0">
                <a:solidFill>
                  <a:srgbClr val="1F3864"/>
                </a:solidFill>
              </a:rPr>
              <a:t> met across all incidents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ACL communications improved following ELT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Continue P1 prevention measures and runbook reviews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Review ACL communication templates for ELT standards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SLA compliance dipped to </a:t>
            </a:r>
            <a:r>
              <a:rPr sz="1100" b="1">
                <a:solidFill>
                  <a:srgbClr val="0D47A1"/>
                </a:solidFill>
              </a:rPr>
              <a:t>97%</a:t>
            </a:r>
            <a:r>
              <a:rPr sz="1100" b="0">
                <a:solidFill>
                  <a:srgbClr val="1F3864"/>
                </a:solidFill>
              </a:rPr>
              <a:t> in Sprint </a:t>
            </a:r>
            <a:r>
              <a:rPr sz="1100" b="1">
                <a:solidFill>
                  <a:srgbClr val="0D47A1"/>
                </a:solidFill>
              </a:rPr>
              <a:t>13,</a:t>
            </a:r>
            <a:r>
              <a:rPr sz="1100" b="0">
                <a:solidFill>
                  <a:srgbClr val="1F3864"/>
                </a:solidFill>
              </a:rPr>
              <a:t> monitoring closely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no. of Major Incidents reported in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P1 and P2 incidents raised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Major Incident Review conducted after each P1/P2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Post-incident review to identify root cause and corrective actions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Critical incidents requiring immediate escalation to senior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High priority incidents requiring prompt resolution within 8 hours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Sprint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100% Adherence to the MIM process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Accurate stakeholder communications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Consistency in the Service now fields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MIR Timeline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SLA compliance P1/P2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SMS within 20 min P1/P2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Email within 20 min engaged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MI whiteboard accuracy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Effective handover for RCA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Sprint 14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452360" y="1298448"/>
          <a:ext cx="4526280" cy="220827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452360" y="3579876"/>
          <a:ext cx="4526280" cy="2208276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Change  |  9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95 – 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All changes implemented within approved window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Zero P1 impact from changes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emergency changes approved within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hrs of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Review change approval workflows for emergency category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Enhance CAB pre-screening for high-risk changes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Unauthorised change rate at </a:t>
            </a:r>
            <a:r>
              <a:rPr sz="1100" b="1">
                <a:solidFill>
                  <a:srgbClr val="0D47A1"/>
                </a:solidFill>
              </a:rPr>
              <a:t>0.6%</a:t>
            </a:r>
            <a:r>
              <a:rPr sz="1100" b="0">
                <a:solidFill>
                  <a:srgbClr val="1F3864"/>
                </a:solidFill>
              </a:rPr>
              <a:t>, approaching </a:t>
            </a:r>
            <a:r>
              <a:rPr sz="1100" b="1">
                <a:solidFill>
                  <a:srgbClr val="0D47A1"/>
                </a:solidFill>
              </a:rPr>
              <a:t>1%</a:t>
            </a:r>
            <a:r>
              <a:rPr sz="1100" b="0">
                <a:solidFill>
                  <a:srgbClr val="1F3864"/>
                </a:solidFill>
              </a:rPr>
              <a:t>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change requests raised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standard, normal and emergency change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emergency change requests raised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Changes bypassing standard CAB approval due to urgency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implemented successfully without incident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Change passes CAB, executes within planned window, no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that caused a Major Incident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Changes that directly triggered a P1 or P2 incident post-implementation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Failed Change Ratio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Unauthorised Change rate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452360" y="1298448"/>
          <a:ext cx="4526280" cy="220827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452360" y="3579876"/>
          <a:ext cx="4526280" cy="2208276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Problem  |  9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Closed </a:t>
            </a:r>
            <a:r>
              <a:rPr sz="1100" b="1">
                <a:solidFill>
                  <a:srgbClr val="0D47A1"/>
                </a:solidFill>
              </a:rPr>
              <a:t>3</a:t>
            </a:r>
            <a:r>
              <a:rPr sz="1100" b="0">
                <a:solidFill>
                  <a:srgbClr val="1F3864"/>
                </a:solidFill>
              </a:rPr>
              <a:t> aged problems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RCA submitted for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P1 incidents on time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Proactive monitoring added for top </a:t>
            </a:r>
            <a:r>
              <a:rPr sz="1100" b="1">
                <a:solidFill>
                  <a:srgbClr val="0D47A1"/>
                </a:solidFill>
              </a:rPr>
              <a:t>5</a:t>
            </a:r>
            <a:r>
              <a:rPr sz="1100" b="0">
                <a:solidFill>
                  <a:srgbClr val="1F3864"/>
                </a:solidFill>
              </a:rPr>
              <a:t> recurring incidents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Escalate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remaining aged problems to senior management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Conduct root cause analysis workshop for recurring issues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Avg resolution days increased to </a:t>
            </a:r>
            <a:r>
              <a:rPr sz="1100" b="1">
                <a:solidFill>
                  <a:srgbClr val="0D47A1"/>
                </a:solidFill>
              </a:rPr>
              <a:t>4.2</a:t>
            </a:r>
            <a:r>
              <a:rPr sz="1100" b="0">
                <a:solidFill>
                  <a:srgbClr val="1F3864"/>
                </a:solidFill>
              </a:rPr>
              <a:t>, approaching </a:t>
            </a:r>
            <a:r>
              <a:rPr sz="1100" b="1">
                <a:solidFill>
                  <a:srgbClr val="0D47A1"/>
                </a:solidFill>
              </a:rPr>
              <a:t>5</a:t>
            </a:r>
            <a:r>
              <a:rPr sz="1100" b="0">
                <a:solidFill>
                  <a:srgbClr val="1F3864"/>
                </a:solidFill>
              </a:rPr>
              <a:t>-day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recurring issues need additional root cause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number of open problem records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All active problem records regardless of priority or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problems closed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Problems moved to resolved or closed status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new problem records opened this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Problems raised from incident trends or proactive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Average calendar days from problem creation to closure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Measured from problem record creation date to closure date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Recurring Issues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Problems Aged &gt;30 days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452360" y="2494026"/>
          <a:ext cx="4526280" cy="2208276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Asset and Configuration Management  |  9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Stale Records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Audit Compliance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12524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1298448"/>
            <a:ext cx="4062984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" y="136245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CMDB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600200"/>
            <a:ext cx="4062984" cy="121615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600200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164592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1911095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Quarterly CMDB audit passed with </a:t>
            </a:r>
            <a:r>
              <a:rPr sz="750" b="1">
                <a:solidFill>
                  <a:srgbClr val="1F3864"/>
                </a:solidFill>
              </a:rPr>
              <a:t>97.7%</a:t>
            </a:r>
            <a:r>
              <a:rPr sz="750" b="0">
                <a:solidFill>
                  <a:srgbClr val="222222"/>
                </a:solidFill>
              </a:rPr>
              <a:t> accuracy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7</a:t>
            </a:r>
            <a:r>
              <a:rPr sz="750" b="0">
                <a:solidFill>
                  <a:srgbClr val="222222"/>
                </a:solidFill>
              </a:rPr>
              <a:t> orphan CIs resolved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Azure VM CI class successfully onboarded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816352"/>
            <a:ext cx="4062984" cy="121615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816352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" y="286207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3127248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15</a:t>
            </a:r>
            <a:r>
              <a:rPr sz="750" b="0">
                <a:solidFill>
                  <a:srgbClr val="222222"/>
                </a:solidFill>
              </a:rPr>
              <a:t> stale records still pending owner review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CI reconciliation delayed for </a:t>
            </a:r>
            <a:r>
              <a:rPr sz="750" b="1">
                <a:solidFill>
                  <a:srgbClr val="1F3864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business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032504"/>
            <a:ext cx="4062984" cy="121615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032504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" y="4078224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" y="4343400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Azure VM reconciliation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Onboard Network team CI class to CMDB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2984" y="1298448"/>
            <a:ext cx="4062984" cy="30175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2712" y="136245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HAM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2984" y="1600200"/>
            <a:ext cx="4062984" cy="121615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62984" y="1600200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2712" y="164592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2712" y="1911095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Hardware asset register fully updated for the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4</a:t>
            </a:r>
            <a:r>
              <a:rPr sz="750" b="0">
                <a:solidFill>
                  <a:srgbClr val="222222"/>
                </a:solidFill>
              </a:rPr>
              <a:t> end-of-life servers decommissioned and removed from register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2984" y="2816352"/>
            <a:ext cx="4062984" cy="121615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62984" y="2816352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2712" y="286207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2712" y="3127248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6</a:t>
            </a:r>
            <a:r>
              <a:rPr sz="750" b="0">
                <a:solidFill>
                  <a:srgbClr val="222222"/>
                </a:solidFill>
              </a:rPr>
              <a:t> active assets without valid vendor support contracts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3</a:t>
            </a:r>
            <a:r>
              <a:rPr sz="750" b="0">
                <a:solidFill>
                  <a:srgbClr val="222222"/>
                </a:solidFill>
              </a:rPr>
              <a:t> assets missing location tags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2984" y="4032504"/>
            <a:ext cx="4062984" cy="121615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62984" y="4032504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72712" y="4078224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2712" y="4343400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EoL review for remaining server estate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Update procurement tracker with </a:t>
            </a:r>
            <a:r>
              <a:rPr sz="750" b="1">
                <a:solidFill>
                  <a:srgbClr val="0F6E56"/>
                </a:solidFill>
              </a:rPr>
              <a:t>2026</a:t>
            </a:r>
            <a:r>
              <a:rPr sz="750" b="0">
                <a:solidFill>
                  <a:srgbClr val="222222"/>
                </a:solidFill>
              </a:rPr>
              <a:t> renewals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5968" y="1298448"/>
            <a:ext cx="4062984" cy="301752"/>
          </a:xfrm>
          <a:prstGeom prst="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5695" y="136245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5968" y="1600200"/>
            <a:ext cx="4062984" cy="1216152"/>
          </a:xfrm>
          <a:prstGeom prst="rect">
            <a:avLst/>
          </a:prstGeom>
          <a:solidFill>
            <a:srgbClr val="FDF9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5968" y="1600200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35695" y="164592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5695" y="1911095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Software license compliance at </a:t>
            </a:r>
            <a:r>
              <a:rPr sz="750" b="1">
                <a:solidFill>
                  <a:srgbClr val="8B4500"/>
                </a:solidFill>
              </a:rPr>
              <a:t>97%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8B4500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unused Oracle license sets reclaimed saving £</a:t>
            </a:r>
            <a:r>
              <a:rPr sz="750" b="1">
                <a:solidFill>
                  <a:srgbClr val="8B4500"/>
                </a:solidFill>
              </a:rPr>
              <a:t>18</a:t>
            </a:r>
            <a:r>
              <a:rPr sz="750" b="0">
                <a:solidFill>
                  <a:srgbClr val="222222"/>
                </a:solidFill>
              </a:rPr>
              <a:t>k annually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5968" y="2816352"/>
            <a:ext cx="4062984" cy="121615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25968" y="2816352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35695" y="286207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5695" y="3127248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Adobe Creative Cloud audit pending since last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AWS reserved instance reconciliation overdue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5968" y="4032504"/>
            <a:ext cx="4062984" cy="1216152"/>
          </a:xfrm>
          <a:prstGeom prst="rect">
            <a:avLst/>
          </a:prstGeom>
          <a:solidFill>
            <a:srgbClr val="F5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25968" y="4032504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35695" y="4078224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5695" y="4343400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Submit Adobe audit results to procurement by Friday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AWS reserved instance 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5321808"/>
            <a:ext cx="12188952" cy="621792"/>
          </a:xfrm>
          <a:prstGeom prst="rect">
            <a:avLst/>
          </a:prstGeom>
          <a:solidFill>
            <a:srgbClr val="F2F5FA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5321808"/>
            <a:ext cx="12188952" cy="2468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8016" y="5358384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solidFill>
                  <a:srgbClr val="FFFFFF"/>
                </a:solidFill>
              </a:defRPr>
            </a:pPr>
            <a:r>
              <a:t>TIMELINE  &amp;  KEY UPDATES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" y="5596128"/>
            <a:ext cx="1193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222222"/>
                </a:solidFill>
              </a:defRPr>
            </a:pPr>
            <a:r>
              <a:t>Week 1: CMDB audit kickoff — baseline accuracy 97.5% | Week 2: HAM EoL review initiated — 12 servers flagged | Week 3: SAM license reclaim completed — 2 Oracle sets returned | Week 4: Quarterly audit report submitted to CIO; CMDB accuracy 97.7%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Configuration Items in ServiceNow CMDB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All active CI records across all classes and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CIs verified and validated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CIs reviewed by CI owners and confirmed as accurate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CIs with accurate and up-to-date attribute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Verified through quarterly CMDB audit and weekly spot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CIs with no parent relationship or service linkage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CIs not linked to any business service or application in CMDB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NOC  |  9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Auto-resolution rate reached </a:t>
            </a:r>
            <a:r>
              <a:rPr sz="1100" b="1">
                <a:solidFill>
                  <a:srgbClr val="0D47A1"/>
                </a:solidFill>
              </a:rPr>
              <a:t>85%</a:t>
            </a:r>
            <a:r>
              <a:rPr sz="1100" b="0">
                <a:solidFill>
                  <a:srgbClr val="1F3864"/>
                </a:solidFill>
              </a:rPr>
              <a:t>, highest this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P1 incidents resolved in avg </a:t>
            </a:r>
            <a:r>
              <a:rPr sz="1100" b="1">
                <a:solidFill>
                  <a:srgbClr val="0D47A1"/>
                </a:solidFill>
              </a:rPr>
              <a:t>1.4</a:t>
            </a:r>
            <a:r>
              <a:rPr sz="1100" b="0">
                <a:solidFill>
                  <a:srgbClr val="1F3864"/>
                </a:solidFill>
              </a:rPr>
              <a:t> hrs, well within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-hr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New runbook deployed for DB alert cluster reducing false positives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Expand auto-remediation scripts to cover network alert category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Review P2 escalation path to reduce MTTR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P1 incidents detected this week, trend needs monitoring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MTTR at </a:t>
            </a:r>
            <a:r>
              <a:rPr sz="1100" b="1">
                <a:solidFill>
                  <a:srgbClr val="0D47A1"/>
                </a:solidFill>
              </a:rPr>
              <a:t>1.7</a:t>
            </a:r>
            <a:r>
              <a:rPr sz="1100" b="0">
                <a:solidFill>
                  <a:srgbClr val="1F3864"/>
                </a:solidFill>
              </a:rPr>
              <a:t> hrs for P2 incidents, slightly above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-hr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number of monitoring alerts received by NOC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all severity levels from all monitored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alerts automatically resolved without NOC intervention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Auto-remediation scripts and rules resolving alerts without manual action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detected and managed by NOC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Critical outages requiring immediate NOC escalation to MIM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detected and managed by NOC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High severity alerts requiring prompt NOC investigation and response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MTTR Hours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1890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1610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452360" y="1298448"/>
          <a:ext cx="4526280" cy="220827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452360" y="3579876"/>
          <a:ext cx="4526280" cy="2208276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452360" y="3579876"/>
          <a:ext cx="4526280" cy="2208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785"/>
                <a:gridCol w="565785"/>
                <a:gridCol w="565785"/>
                <a:gridCol w="565785"/>
                <a:gridCol w="565785"/>
                <a:gridCol w="565785"/>
                <a:gridCol w="565785"/>
                <a:gridCol w="565785"/>
              </a:tblGrid>
              <a:tr h="441655"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P1 Incidents (&lt;3)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P2 Incidents (&lt;8)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MTTR Hours (&lt;2)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SLA Compliance (&gt;95%)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Weekly Comments/Achievements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41655"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655"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t>Week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1975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1680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0.968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655"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t>Week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656"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1890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1610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0.974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t>Achievements</a:t>
                      </a:r>
                    </a:p>
                    <a:p>
                      <a:pPr algn="l">
                        <a:defRPr sz="700"/>
                      </a:pPr>
                      <a:r>
                        <a:t>Auto-resolution rate reached 85%, highest this quarter</a:t>
                      </a:r>
                    </a:p>
                    <a:p>
                      <a:pPr algn="l">
                        <a:defRPr sz="700"/>
                      </a:pPr>
                      <a:r>
                        <a:t>P1 incidents resolved in avg 1.4 hrs, well within 2-hr target</a:t>
                      </a:r>
                    </a:p>
                    <a:p>
                      <a:pPr algn="l">
                        <a:defRPr sz="700"/>
                      </a:pPr>
                      <a:r>
                        <a:t>New runbook deployed for DB alert cluster reducing false positives</a:t>
                      </a:r>
                    </a:p>
                    <a:p>
                      <a:pPr algn="l">
                        <a:defRPr sz="700"/>
                      </a:pPr>
                      <a:r>
                        <a:t>Concerns</a:t>
                      </a:r>
                    </a:p>
                    <a:p>
                      <a:pPr algn="l">
                        <a:defRPr sz="700"/>
                      </a:pPr>
                      <a:r>
                        <a:t>2 P1 incidents detected this week, trend needs monitoring</a:t>
                      </a:r>
                    </a:p>
                    <a:p>
                      <a:pPr algn="l">
                        <a:defRPr sz="700"/>
                      </a:pPr>
                      <a:r>
                        <a:t>MTTR at 1.7 hrs for P2 incidents, slightly above 2-hr target</a:t>
                      </a:r>
                    </a:p>
                    <a:p>
                      <a:pPr algn="l">
                        <a:defRPr sz="700"/>
                      </a:pPr>
                      <a:r>
                        <a:t>Next Week Focus</a:t>
                      </a:r>
                    </a:p>
                    <a:p>
                      <a:pPr algn="l">
                        <a:defRPr sz="700"/>
                      </a:pPr>
                      <a:r>
                        <a:t>Expand auto-remediation scripts to cover network alert category</a:t>
                      </a:r>
                    </a:p>
                    <a:p>
                      <a:pPr algn="l">
                        <a:defRPr sz="700"/>
                      </a:pPr>
                      <a:r>
                        <a:t>Review P2 escalation path to reduce MTTR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ServiceNow  |  9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CSAT improved to </a:t>
            </a:r>
            <a:r>
              <a:rPr sz="1100" b="1">
                <a:solidFill>
                  <a:srgbClr val="0D47A1"/>
                </a:solidFill>
              </a:rPr>
              <a:t>4.4</a:t>
            </a:r>
            <a:r>
              <a:rPr sz="1100" b="0">
                <a:solidFill>
                  <a:srgbClr val="1F3864"/>
                </a:solidFill>
              </a:rPr>
              <a:t> out of </a:t>
            </a:r>
            <a:r>
              <a:rPr sz="1100" b="1">
                <a:solidFill>
                  <a:srgbClr val="0D47A1"/>
                </a:solidFill>
              </a:rPr>
              <a:t>5,</a:t>
            </a:r>
            <a:r>
              <a:rPr sz="1100" b="0">
                <a:solidFill>
                  <a:srgbClr val="1F3864"/>
                </a:solidFill>
              </a:rPr>
              <a:t> best score this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FCR consistently above </a:t>
            </a:r>
            <a:r>
              <a:rPr sz="1100" b="1">
                <a:solidFill>
                  <a:srgbClr val="0D47A1"/>
                </a:solidFill>
              </a:rPr>
              <a:t>84%</a:t>
            </a:r>
            <a:r>
              <a:rPr sz="1100" b="0">
                <a:solidFill>
                  <a:srgbClr val="1F3864"/>
                </a:solidFill>
              </a:rPr>
              <a:t> for third consecutive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Escalations reduced </a:t>
            </a:r>
            <a:r>
              <a:rPr sz="1100" b="1">
                <a:solidFill>
                  <a:srgbClr val="0D47A1"/>
                </a:solidFill>
              </a:rPr>
              <a:t>25%</a:t>
            </a:r>
            <a:r>
              <a:rPr sz="1100" b="0">
                <a:solidFill>
                  <a:srgbClr val="1F3864"/>
                </a:solidFill>
              </a:rPr>
              <a:t> versus prior week through knowledge base improvements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Investigate root cause of borderline resolution rate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Publish </a:t>
            </a:r>
            <a:r>
              <a:rPr sz="1100" b="1">
                <a:solidFill>
                  <a:srgbClr val="0D47A1"/>
                </a:solidFill>
              </a:rPr>
              <a:t>10</a:t>
            </a:r>
            <a:r>
              <a:rPr sz="1100" b="0">
                <a:solidFill>
                  <a:srgbClr val="1F3864"/>
                </a:solidFill>
              </a:rPr>
              <a:t> additional knowledge articles for common request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Resolution rate at </a:t>
            </a:r>
            <a:r>
              <a:rPr sz="1100" b="1">
                <a:solidFill>
                  <a:srgbClr val="0D47A1"/>
                </a:solidFill>
              </a:rPr>
              <a:t>95.2%</a:t>
            </a:r>
            <a:r>
              <a:rPr sz="1100" b="0">
                <a:solidFill>
                  <a:srgbClr val="1F3864"/>
                </a:solidFill>
              </a:rPr>
              <a:t>, borderline against </a:t>
            </a:r>
            <a:r>
              <a:rPr sz="1100" b="1">
                <a:solidFill>
                  <a:srgbClr val="0D47A1"/>
                </a:solidFill>
              </a:rPr>
              <a:t>95%</a:t>
            </a:r>
            <a:r>
              <a:rPr sz="1100" b="0">
                <a:solidFill>
                  <a:srgbClr val="1F3864"/>
                </a:solidFill>
              </a:rPr>
              <a:t>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service requests and incidents logged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all request types and categories processed through the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moved to resolved status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Resolved tickets pending user confirmation closure after 5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escalated to L2 or L3 support 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Tickets that could not be resolved by first-line ServiceNow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tickets resolved within agreed SLA target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Calculated against resolution time targets by ticket category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CSAT Score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First Call Resolution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219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452360" y="2494026"/>
          <a:ext cx="4526280" cy="220827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 Desk  |  9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Handle time reduced to </a:t>
            </a:r>
            <a:r>
              <a:rPr sz="1100" b="1">
                <a:solidFill>
                  <a:srgbClr val="0D47A1"/>
                </a:solidFill>
              </a:rPr>
              <a:t>8.4</a:t>
            </a:r>
            <a:r>
              <a:rPr sz="1100" b="0">
                <a:solidFill>
                  <a:srgbClr val="1F3864"/>
                </a:solidFill>
              </a:rPr>
              <a:t> mins against </a:t>
            </a:r>
            <a:r>
              <a:rPr sz="1100" b="1">
                <a:solidFill>
                  <a:srgbClr val="0D47A1"/>
                </a:solidFill>
              </a:rPr>
              <a:t>10</a:t>
            </a:r>
            <a:r>
              <a:rPr sz="1100" b="0">
                <a:solidFill>
                  <a:srgbClr val="1F3864"/>
                </a:solidFill>
              </a:rPr>
              <a:t>-min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</a:t>
            </a:r>
            <a:r>
              <a:rPr sz="1100" b="1">
                <a:solidFill>
                  <a:srgbClr val="0D47A1"/>
                </a:solidFill>
              </a:rPr>
              <a:t>12</a:t>
            </a:r>
            <a:r>
              <a:rPr sz="1100" b="0">
                <a:solidFill>
                  <a:srgbClr val="1F3864"/>
                </a:solidFill>
              </a:rPr>
              <a:t> new knowledge articles published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Abandoned calls at </a:t>
            </a:r>
            <a:r>
              <a:rPr sz="1100" b="1">
                <a:solidFill>
                  <a:srgbClr val="0D47A1"/>
                </a:solidFill>
              </a:rPr>
              <a:t>14,</a:t>
            </a:r>
            <a:r>
              <a:rPr sz="1100" b="0">
                <a:solidFill>
                  <a:srgbClr val="1F3864"/>
                </a:solidFill>
              </a:rPr>
              <a:t> lowest point this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Deploy new chatbot for tier-</a:t>
            </a:r>
            <a:r>
              <a:rPr sz="1100" b="1">
                <a:solidFill>
                  <a:srgbClr val="0D47A1"/>
                </a:solidFill>
              </a:rPr>
              <a:t>1</a:t>
            </a:r>
            <a:r>
              <a:rPr sz="1100" b="0">
                <a:solidFill>
                  <a:srgbClr val="1F3864"/>
                </a:solidFill>
              </a:rPr>
              <a:t> queries to improve FCR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Review call routing rules to reduce abandonment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FCR at </a:t>
            </a:r>
            <a:r>
              <a:rPr sz="1100" b="1">
                <a:solidFill>
                  <a:srgbClr val="0D47A1"/>
                </a:solidFill>
              </a:rPr>
              <a:t>82.9%</a:t>
            </a:r>
            <a:r>
              <a:rPr sz="1100" b="0">
                <a:solidFill>
                  <a:srgbClr val="1F3864"/>
                </a:solidFill>
              </a:rPr>
              <a:t>, slightly below internal </a:t>
            </a:r>
            <a:r>
              <a:rPr sz="1100" b="1">
                <a:solidFill>
                  <a:srgbClr val="0D47A1"/>
                </a:solidFill>
              </a:rPr>
              <a:t>85%</a:t>
            </a:r>
            <a:r>
              <a:rPr sz="1100" b="0">
                <a:solidFill>
                  <a:srgbClr val="1F3864"/>
                </a:solidFill>
              </a:rPr>
              <a:t>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Abandoned calls still above sub-</a:t>
            </a:r>
            <a:r>
              <a:rPr sz="1100" b="1">
                <a:solidFill>
                  <a:srgbClr val="0D47A1"/>
                </a:solidFill>
              </a:rPr>
              <a:t>10</a:t>
            </a:r>
            <a:r>
              <a:rPr sz="1100" b="0">
                <a:solidFill>
                  <a:srgbClr val="1F3864"/>
                </a:solidFill>
              </a:rPr>
              <a:t> goal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inbound contacts handled by Service Desk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voice calls, chat sessions and email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contacts resolved by first-line Service Desk agents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Direct resolution without L2/L3 escalation required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contacts abandoned before being answered by an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Key measure of queue management and staffing adequacy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contacts resolved on first contact without escalation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Primary measure of Service Desk effectiveness and knowledge quality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Avg Handle Time Mins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8.4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452360" y="1298448"/>
          <a:ext cx="4526280" cy="220827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452360" y="3579876"/>
          <a:ext cx="4526280" cy="220827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566928"/>
          <a:ext cx="1218894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Stale Records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Audit Compliance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Group1_Name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Group1_Concerns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Group1_Focus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Group2_Name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Group2_Concerns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Group2_Focus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Group3_Name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Group3_Concerns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Group3_Focus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12524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CMDB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15 stale records still pending owner review; CI reconciliation delayed for 2 business services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Complete Azure VM reconciliation; Onboard Network team CI class to CMDB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HAM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6 active assets without valid vendor support contracts; 3 assets missing location tags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Complete EoL review for remaining server estate; Update procurement tracker with 2026 renewals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SAM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Adobe Creative Cloud audit pending since last quarter; AWS reserved instance reconciliation overdue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Submit Adobe audit results to procurement by Friday; Complete AWS reserved instance review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Asset and Configuration Managem  |  9 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CMDB audit passed. </a:t>
            </a:r>
            <a:r>
              <a:rPr sz="1100" b="1">
                <a:solidFill>
                  <a:srgbClr val="0D47A1"/>
                </a:solidFill>
              </a:rPr>
              <a:t>7</a:t>
            </a:r>
            <a:r>
              <a:rPr sz="1100" b="0">
                <a:solidFill>
                  <a:srgbClr val="1F3864"/>
                </a:solidFill>
              </a:rPr>
              <a:t> orphan CIs scheduled for cleanup. Stale records reduced by </a:t>
            </a:r>
            <a:r>
              <a:rPr sz="1100" b="1">
                <a:solidFill>
                  <a:srgbClr val="0D47A1"/>
                </a:solidFill>
              </a:rPr>
              <a:t>3</a:t>
            </a:r>
            <a:r>
              <a:rPr sz="1100" b="0">
                <a:solidFill>
                  <a:srgbClr val="1F3864"/>
                </a:solidFill>
              </a:rPr>
              <a:t> this week.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Sustain current performance levels across all KPIs.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Continue weekly data validation and reporting cadence.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No current concerns. All metrics performing at or above target thresholds.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