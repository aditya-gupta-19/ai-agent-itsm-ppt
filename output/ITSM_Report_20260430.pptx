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MI</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3.0</c:v>
                </c:pt>
                <c:pt idx="1">
                  <c:v>4.0</c:v>
                </c:pt>
                <c:pt idx="2">
                  <c:v>3.0</c:v>
                </c:pt>
                <c:pt idx="3">
                  <c:v>2.0</c:v>
                </c:pt>
              </c:numCache>
            </c:numRef>
          </c:val>
        </c:ser>
        <c:ser>
          <c:idx val="1"/>
          <c:order val="1"/>
          <c:tx>
            <c:strRef>
              <c:f>Sheet1!$C$1</c:f>
              <c:strCache>
                <c:ptCount val="1"/>
                <c:pt idx="0">
                  <c:v>MIR Conducted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3.0</c:v>
                </c:pt>
                <c:pt idx="1">
                  <c:v>4.0</c:v>
                </c:pt>
                <c:pt idx="2">
                  <c:v>3.0</c:v>
                </c:pt>
                <c:pt idx="3">
                  <c:v>5.0</c:v>
                </c:pt>
              </c:numCache>
            </c:numRef>
          </c:val>
        </c:ser>
        <c:ser>
          <c:idx val="2"/>
          <c:order val="2"/>
          <c:tx>
            <c:strRef>
              <c:f>Sheet1!$D$1</c:f>
              <c:strCache>
                <c:ptCount val="1"/>
                <c:pt idx="0">
                  <c:v># of P1</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1.0</c:v>
                </c:pt>
                <c:pt idx="2">
                  <c:v>0.0</c:v>
                </c:pt>
                <c:pt idx="3">
                  <c:v>0.0</c:v>
                </c:pt>
              </c:numCache>
            </c:numRef>
          </c:val>
        </c:ser>
        <c:ser>
          <c:idx val="3"/>
          <c:order val="3"/>
          <c:tx>
            <c:strRef>
              <c:f>Sheet1!$E$1</c:f>
              <c:strCache>
                <c:ptCount val="1"/>
                <c:pt idx="0">
                  <c:v># of P2</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2.0</c:v>
                </c:pt>
                <c:pt idx="1">
                  <c:v>3.0</c:v>
                </c:pt>
                <c:pt idx="2">
                  <c:v>3.0</c:v>
                </c:pt>
                <c:pt idx="3">
                  <c:v>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Total MI</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3.0</c:v>
                </c:pt>
                <c:pt idx="1">
                  <c:v>4.0</c:v>
                </c:pt>
                <c:pt idx="2">
                  <c:v>3.0</c:v>
                </c:pt>
                <c:pt idx="3">
                  <c:v>2.0</c:v>
                </c:pt>
              </c:numCache>
            </c:numRef>
          </c:val>
          <c:smooth val="0"/>
        </c:ser>
        <c:ser>
          <c:idx val="1"/>
          <c:order val="1"/>
          <c:tx>
            <c:strRef>
              <c:f>Sheet1!$C$1</c:f>
              <c:strCache>
                <c:ptCount val="1"/>
                <c:pt idx="0">
                  <c:v>MIR Conducted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3.0</c:v>
                </c:pt>
                <c:pt idx="1">
                  <c:v>4.0</c:v>
                </c:pt>
                <c:pt idx="2">
                  <c:v>3.0</c:v>
                </c:pt>
                <c:pt idx="3">
                  <c:v>5.0</c:v>
                </c:pt>
              </c:numCache>
            </c:numRef>
          </c:val>
          <c:smooth val="0"/>
        </c:ser>
        <c:ser>
          <c:idx val="2"/>
          <c:order val="2"/>
          <c:tx>
            <c:strRef>
              <c:f>Sheet1!$D$1</c:f>
              <c:strCache>
                <c:ptCount val="1"/>
                <c:pt idx="0">
                  <c:v># of P1</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1.0</c:v>
                </c:pt>
                <c:pt idx="2">
                  <c:v>0.0</c:v>
                </c:pt>
                <c:pt idx="3">
                  <c:v>0.0</c:v>
                </c:pt>
              </c:numCache>
            </c:numRef>
          </c:val>
          <c:smooth val="0"/>
        </c:ser>
        <c:ser>
          <c:idx val="3"/>
          <c:order val="3"/>
          <c:tx>
            <c:strRef>
              <c:f>Sheet1!$E$1</c:f>
              <c:strCache>
                <c:ptCount val="1"/>
                <c:pt idx="0">
                  <c:v># of P2</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2.0</c:v>
                </c:pt>
                <c:pt idx="1">
                  <c:v>3.0</c:v>
                </c:pt>
                <c:pt idx="2">
                  <c:v>3.0</c:v>
                </c:pt>
                <c:pt idx="3">
                  <c:v>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Changes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48.0</c:v>
                </c:pt>
                <c:pt idx="1">
                  <c:v>52.0</c:v>
                </c:pt>
                <c:pt idx="2">
                  <c:v>45.0</c:v>
                </c:pt>
                <c:pt idx="3">
                  <c:v>50.0</c:v>
                </c:pt>
              </c:numCache>
            </c:numRef>
          </c:val>
        </c:ser>
        <c:ser>
          <c:idx val="1"/>
          <c:order val="1"/>
          <c:tx>
            <c:strRef>
              <c:f>Sheet1!$C$1</c:f>
              <c:strCache>
                <c:ptCount val="1"/>
                <c:pt idx="0">
                  <c:v>Emergency Changes</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2.0</c:v>
                </c:pt>
                <c:pt idx="1">
                  <c:v>1.0</c:v>
                </c:pt>
                <c:pt idx="2">
                  <c:v>3.0</c:v>
                </c:pt>
                <c:pt idx="3">
                  <c:v>2.0</c:v>
                </c:pt>
              </c:numCache>
            </c:numRef>
          </c:val>
        </c:ser>
        <c:ser>
          <c:idx val="2"/>
          <c:order val="2"/>
          <c:tx>
            <c:strRef>
              <c:f>Sheet1!$D$1</c:f>
              <c:strCache>
                <c:ptCount val="1"/>
                <c:pt idx="0">
                  <c:v>Change Success Ratio</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100.0</c:v>
                </c:pt>
                <c:pt idx="1">
                  <c:v>99.0</c:v>
                </c:pt>
                <c:pt idx="2">
                  <c:v>100.0</c:v>
                </c:pt>
                <c:pt idx="3">
                  <c:v>100.0</c:v>
                </c:pt>
              </c:numCache>
            </c:numRef>
          </c:val>
        </c:ser>
        <c:ser>
          <c:idx val="3"/>
          <c:order val="3"/>
          <c:tx>
            <c:strRef>
              <c:f>Sheet1!$E$1</c:f>
              <c:strCache>
                <c:ptCount val="1"/>
                <c:pt idx="0">
                  <c:v>Change Causing MI</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2.1</c:v>
                </c:pt>
                <c:pt idx="1">
                  <c:v>1.9</c:v>
                </c:pt>
                <c:pt idx="2">
                  <c:v>0.0</c:v>
                </c:pt>
                <c:pt idx="3">
                  <c:v>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Problems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18.0</c:v>
                </c:pt>
                <c:pt idx="1">
                  <c:v>15.0</c:v>
                </c:pt>
                <c:pt idx="2">
                  <c:v>12.0</c:v>
                </c:pt>
                <c:pt idx="3">
                  <c:v>11.0</c:v>
                </c:pt>
              </c:numCache>
            </c:numRef>
          </c:val>
        </c:ser>
        <c:ser>
          <c:idx val="1"/>
          <c:order val="1"/>
          <c:tx>
            <c:strRef>
              <c:f>Sheet1!$C$1</c:f>
              <c:strCache>
                <c:ptCount val="1"/>
                <c:pt idx="0">
                  <c:v>Problems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8.0</c:v>
                </c:pt>
                <c:pt idx="1">
                  <c:v>9.0</c:v>
                </c:pt>
                <c:pt idx="2">
                  <c:v>8.0</c:v>
                </c:pt>
                <c:pt idx="3">
                  <c:v>8.0</c:v>
                </c:pt>
              </c:numCache>
            </c:numRef>
          </c:val>
        </c:ser>
        <c:ser>
          <c:idx val="2"/>
          <c:order val="2"/>
          <c:tx>
            <c:strRef>
              <c:f>Sheet1!$D$1</c:f>
              <c:strCache>
                <c:ptCount val="1"/>
                <c:pt idx="0">
                  <c:v>New Problems Raised</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5.0</c:v>
                </c:pt>
                <c:pt idx="1">
                  <c:v>4.0</c:v>
                </c:pt>
                <c:pt idx="2">
                  <c:v>3.0</c:v>
                </c:pt>
                <c:pt idx="3">
                  <c:v>3.0</c:v>
                </c:pt>
              </c:numCache>
            </c:numRef>
          </c:val>
        </c:ser>
        <c:ser>
          <c:idx val="3"/>
          <c:order val="3"/>
          <c:tx>
            <c:strRef>
              <c:f>Sheet1!$E$1</c:f>
              <c:strCache>
                <c:ptCount val="1"/>
                <c:pt idx="0">
                  <c:v>Avg Resolution Days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3.8</c:v>
                </c:pt>
                <c:pt idx="1">
                  <c:v>4.0</c:v>
                </c:pt>
                <c:pt idx="2">
                  <c:v>3.5</c:v>
                </c:pt>
                <c:pt idx="3">
                  <c:v>4.2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Open Problems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18.0</c:v>
                </c:pt>
                <c:pt idx="1">
                  <c:v>15.0</c:v>
                </c:pt>
                <c:pt idx="2">
                  <c:v>12.0</c:v>
                </c:pt>
                <c:pt idx="3">
                  <c:v>11.0</c:v>
                </c:pt>
              </c:numCache>
            </c:numRef>
          </c:val>
          <c:smooth val="0"/>
        </c:ser>
        <c:ser>
          <c:idx val="1"/>
          <c:order val="1"/>
          <c:tx>
            <c:strRef>
              <c:f>Sheet1!$C$1</c:f>
              <c:strCache>
                <c:ptCount val="1"/>
                <c:pt idx="0">
                  <c:v>Problems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8.0</c:v>
                </c:pt>
                <c:pt idx="1">
                  <c:v>9.0</c:v>
                </c:pt>
                <c:pt idx="2">
                  <c:v>8.0</c:v>
                </c:pt>
                <c:pt idx="3">
                  <c:v>8.0</c:v>
                </c:pt>
              </c:numCache>
            </c:numRef>
          </c:val>
          <c:smooth val="0"/>
        </c:ser>
        <c:ser>
          <c:idx val="2"/>
          <c:order val="2"/>
          <c:tx>
            <c:strRef>
              <c:f>Sheet1!$D$1</c:f>
              <c:strCache>
                <c:ptCount val="1"/>
                <c:pt idx="0">
                  <c:v>New Problems Raised</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5.0</c:v>
                </c:pt>
                <c:pt idx="1">
                  <c:v>4.0</c:v>
                </c:pt>
                <c:pt idx="2">
                  <c:v>3.0</c:v>
                </c:pt>
                <c:pt idx="3">
                  <c:v>3.0</c:v>
                </c:pt>
              </c:numCache>
            </c:numRef>
          </c:val>
          <c:smooth val="0"/>
        </c:ser>
        <c:ser>
          <c:idx val="3"/>
          <c:order val="3"/>
          <c:tx>
            <c:strRef>
              <c:f>Sheet1!$E$1</c:f>
              <c:strCache>
                <c:ptCount val="1"/>
                <c:pt idx="0">
                  <c:v>Avg Resolution Days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3.8</c:v>
                </c:pt>
                <c:pt idx="1">
                  <c:v>4.0</c:v>
                </c:pt>
                <c:pt idx="2">
                  <c:v>3.5</c:v>
                </c:pt>
                <c:pt idx="3">
                  <c:v>4.2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CIs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12480.0</c:v>
                </c:pt>
                <c:pt idx="1">
                  <c:v>12495.0</c:v>
                </c:pt>
                <c:pt idx="2">
                  <c:v>12510.0</c:v>
                </c:pt>
                <c:pt idx="3">
                  <c:v>12524.0</c:v>
                </c:pt>
              </c:numCache>
            </c:numRef>
          </c:val>
        </c:ser>
        <c:ser>
          <c:idx val="1"/>
          <c:order val="1"/>
          <c:tx>
            <c:strRef>
              <c:f>Sheet1!$C$1</c:f>
              <c:strCache>
                <c:ptCount val="1"/>
                <c:pt idx="0">
                  <c:v>CIs Verified This Week</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145.0</c:v>
                </c:pt>
                <c:pt idx="1">
                  <c:v>132.0</c:v>
                </c:pt>
                <c:pt idx="2">
                  <c:v>158.0</c:v>
                </c:pt>
                <c:pt idx="3">
                  <c:v>141.0</c:v>
                </c:pt>
              </c:numCache>
            </c:numRef>
          </c:val>
        </c:ser>
        <c:ser>
          <c:idx val="2"/>
          <c:order val="2"/>
          <c:tx>
            <c:strRef>
              <c:f>Sheet1!$D$1</c:f>
              <c:strCache>
                <c:ptCount val="1"/>
                <c:pt idx="0">
                  <c:v>CI Accuracy</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97.8</c:v>
                </c:pt>
                <c:pt idx="1">
                  <c:v>98.0</c:v>
                </c:pt>
                <c:pt idx="2">
                  <c:v>97.5</c:v>
                </c:pt>
                <c:pt idx="3">
                  <c:v>97.7</c:v>
                </c:pt>
              </c:numCache>
            </c:numRef>
          </c:val>
        </c:ser>
        <c:ser>
          <c:idx val="3"/>
          <c:order val="3"/>
          <c:tx>
            <c:strRef>
              <c:f>Sheet1!$E$1</c:f>
              <c:strCache>
                <c:ptCount val="1"/>
                <c:pt idx="0">
                  <c:v>Orphan CIs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8.0</c:v>
                </c:pt>
                <c:pt idx="1">
                  <c:v>7.0</c:v>
                </c:pt>
                <c:pt idx="2">
                  <c:v>9.0</c:v>
                </c:pt>
                <c:pt idx="3">
                  <c:v>7.0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Alerts Received</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1842.0</c:v>
                </c:pt>
                <c:pt idx="1">
                  <c:v>1975.0</c:v>
                </c:pt>
                <c:pt idx="2">
                  <c:v>1723.0</c:v>
                </c:pt>
                <c:pt idx="3">
                  <c:v>1890.0</c:v>
                </c:pt>
              </c:numCache>
            </c:numRef>
          </c:val>
        </c:ser>
        <c:ser>
          <c:idx val="1"/>
          <c:order val="1"/>
          <c:tx>
            <c:strRef>
              <c:f>Sheet1!$C$1</c:f>
              <c:strCache>
                <c:ptCount val="1"/>
                <c:pt idx="0">
                  <c:v>Alerts Auto-Resolved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1560.0</c:v>
                </c:pt>
                <c:pt idx="1">
                  <c:v>1680.0</c:v>
                </c:pt>
                <c:pt idx="2">
                  <c:v>1490.0</c:v>
                </c:pt>
                <c:pt idx="3">
                  <c:v>1610.0</c:v>
                </c:pt>
              </c:numCache>
            </c:numRef>
          </c:val>
        </c:ser>
        <c:ser>
          <c:idx val="2"/>
          <c:order val="2"/>
          <c:tx>
            <c:strRef>
              <c:f>Sheet1!$D$1</c:f>
              <c:strCache>
                <c:ptCount val="1"/>
                <c:pt idx="0">
                  <c:v>P1 Incidents</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2.0</c:v>
                </c:pt>
                <c:pt idx="2">
                  <c:v>1.0</c:v>
                </c:pt>
                <c:pt idx="3">
                  <c:v>2.0</c:v>
                </c:pt>
              </c:numCache>
            </c:numRef>
          </c:val>
        </c:ser>
        <c:ser>
          <c:idx val="3"/>
          <c:order val="3"/>
          <c:tx>
            <c:strRef>
              <c:f>Sheet1!$E$1</c:f>
              <c:strCache>
                <c:ptCount val="1"/>
                <c:pt idx="0">
                  <c:v>P2 Incidents</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5.0</c:v>
                </c:pt>
                <c:pt idx="1">
                  <c:v>6.0</c:v>
                </c:pt>
                <c:pt idx="2">
                  <c:v>7.0</c:v>
                </c:pt>
                <c:pt idx="3">
                  <c:v>5.0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Total Tickets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210.0</c:v>
                </c:pt>
                <c:pt idx="1">
                  <c:v>225.0</c:v>
                </c:pt>
                <c:pt idx="2">
                  <c:v>198.0</c:v>
                </c:pt>
                <c:pt idx="3">
                  <c:v>230.0</c:v>
                </c:pt>
              </c:numCache>
            </c:numRef>
          </c:val>
          <c:smooth val="0"/>
        </c:ser>
        <c:ser>
          <c:idx val="1"/>
          <c:order val="1"/>
          <c:tx>
            <c:strRef>
              <c:f>Sheet1!$C$1</c:f>
              <c:strCache>
                <c:ptCount val="1"/>
                <c:pt idx="0">
                  <c:v>Tickets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201.0</c:v>
                </c:pt>
                <c:pt idx="1">
                  <c:v>215.0</c:v>
                </c:pt>
                <c:pt idx="2">
                  <c:v>192.0</c:v>
                </c:pt>
                <c:pt idx="3">
                  <c:v>219.0</c:v>
                </c:pt>
              </c:numCache>
            </c:numRef>
          </c:val>
          <c:smooth val="0"/>
        </c:ser>
        <c:ser>
          <c:idx val="2"/>
          <c:order val="2"/>
          <c:tx>
            <c:strRef>
              <c:f>Sheet1!$D$1</c:f>
              <c:strCache>
                <c:ptCount val="1"/>
                <c:pt idx="0">
                  <c:v>Escalated Tickets</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12.0</c:v>
                </c:pt>
                <c:pt idx="1">
                  <c:v>10.0</c:v>
                </c:pt>
                <c:pt idx="2">
                  <c:v>8.0</c:v>
                </c:pt>
                <c:pt idx="3">
                  <c:v>9.0</c:v>
                </c:pt>
              </c:numCache>
            </c:numRef>
          </c:val>
          <c:smooth val="0"/>
        </c:ser>
        <c:ser>
          <c:idx val="3"/>
          <c:order val="3"/>
          <c:tx>
            <c:strRef>
              <c:f>Sheet1!$E$1</c:f>
              <c:strCache>
                <c:ptCount val="1"/>
                <c:pt idx="0">
                  <c:v>Resolution Rate</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95.7</c:v>
                </c:pt>
                <c:pt idx="1">
                  <c:v>95.6</c:v>
                </c:pt>
                <c:pt idx="2">
                  <c:v>97.0</c:v>
                </c:pt>
                <c:pt idx="3">
                  <c:v>95.2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 Received</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320.0</c:v>
                </c:pt>
                <c:pt idx="1">
                  <c:v>305.0</c:v>
                </c:pt>
                <c:pt idx="2">
                  <c:v>340.0</c:v>
                </c:pt>
                <c:pt idx="3">
                  <c:v>310.0</c:v>
                </c:pt>
              </c:numCache>
            </c:numRef>
          </c:val>
        </c:ser>
        <c:ser>
          <c:idx val="1"/>
          <c:order val="1"/>
          <c:tx>
            <c:strRef>
              <c:f>Sheet1!$C$1</c:f>
              <c:strCache>
                <c:ptCount val="1"/>
                <c:pt idx="0">
                  <c:v>Calls Resolved</c:v>
                </c:pt>
              </c:strCache>
            </c:strRef>
          </c:tx>
          <c:spPr>
            <a:solidFill>
              <a:srgbClr val="595757"/>
            </a:solidFill>
          </c:spPr>
          <c:cat>
            <c:strRef>
              <c:f>Sheet1!$A$2:$A$5</c:f>
              <c:strCache>
                <c:ptCount val="4"/>
                <c:pt idx="0">
                  <c:v>W1</c:v>
                </c:pt>
                <c:pt idx="1">
                  <c:v>W2</c:v>
                </c:pt>
                <c:pt idx="2">
                  <c:v>W3</c:v>
                </c:pt>
                <c:pt idx="3">
                  <c:v>W4</c:v>
                </c:pt>
              </c:strCache>
            </c:strRef>
          </c:cat>
          <c:val>
            <c:numRef>
              <c:f>Sheet1!$C$2:$C$5</c:f>
              <c:numCache>
                <c:formatCode>General</c:formatCode>
                <c:ptCount val="4"/>
                <c:pt idx="0">
                  <c:v>295.0</c:v>
                </c:pt>
                <c:pt idx="1">
                  <c:v>280.0</c:v>
                </c:pt>
                <c:pt idx="2">
                  <c:v>315.0</c:v>
                </c:pt>
                <c:pt idx="3">
                  <c:v>288.0</c:v>
                </c:pt>
              </c:numCache>
            </c:numRef>
          </c:val>
        </c:ser>
        <c:ser>
          <c:idx val="2"/>
          <c:order val="2"/>
          <c:tx>
            <c:strRef>
              <c:f>Sheet1!$D$1</c:f>
              <c:strCache>
                <c:ptCount val="1"/>
                <c:pt idx="0">
                  <c:v>Abandoned Calls</c:v>
                </c:pt>
              </c:strCache>
            </c:strRef>
          </c:tx>
          <c:spPr>
            <a:solidFill>
              <a:srgbClr val="404040"/>
            </a:solidFill>
          </c:spPr>
          <c:cat>
            <c:strRef>
              <c:f>Sheet1!$A$2:$A$5</c:f>
              <c:strCache>
                <c:ptCount val="4"/>
                <c:pt idx="0">
                  <c:v>W1</c:v>
                </c:pt>
                <c:pt idx="1">
                  <c:v>W2</c:v>
                </c:pt>
                <c:pt idx="2">
                  <c:v>W3</c:v>
                </c:pt>
                <c:pt idx="3">
                  <c:v>W4</c:v>
                </c:pt>
              </c:strCache>
            </c:strRef>
          </c:cat>
          <c:val>
            <c:numRef>
              <c:f>Sheet1!$D$2:$D$5</c:f>
              <c:numCache>
                <c:formatCode>General</c:formatCode>
                <c:ptCount val="4"/>
                <c:pt idx="0">
                  <c:v>18.0</c:v>
                </c:pt>
                <c:pt idx="1">
                  <c:v>22.0</c:v>
                </c:pt>
                <c:pt idx="2">
                  <c:v>15.0</c:v>
                </c:pt>
                <c:pt idx="3">
                  <c:v>14.0</c:v>
                </c:pt>
              </c:numCache>
            </c:numRef>
          </c:val>
        </c:ser>
        <c:ser>
          <c:idx val="3"/>
          <c:order val="3"/>
          <c:tx>
            <c:strRef>
              <c:f>Sheet1!$E$1</c:f>
              <c:strCache>
                <c:ptCount val="1"/>
                <c:pt idx="0">
                  <c:v>FCR Rate</c:v>
                </c:pt>
              </c:strCache>
            </c:strRef>
          </c:tx>
          <c:spPr>
            <a:solidFill>
              <a:srgbClr val="1F3864"/>
            </a:solidFill>
          </c:spPr>
          <c:cat>
            <c:strRef>
              <c:f>Sheet1!$A$2:$A$5</c:f>
              <c:strCache>
                <c:ptCount val="4"/>
                <c:pt idx="0">
                  <c:v>W1</c:v>
                </c:pt>
                <c:pt idx="1">
                  <c:v>W2</c:v>
                </c:pt>
                <c:pt idx="2">
                  <c:v>W3</c:v>
                </c:pt>
                <c:pt idx="3">
                  <c:v>W4</c:v>
                </c:pt>
              </c:strCache>
            </c:strRef>
          </c:cat>
          <c:val>
            <c:numRef>
              <c:f>Sheet1!$E$2:$E$5</c:f>
              <c:numCache>
                <c:formatCode>General</c:formatCode>
                <c:ptCount val="4"/>
                <c:pt idx="0">
                  <c:v>82.2</c:v>
                </c:pt>
                <c:pt idx="1">
                  <c:v>81.8</c:v>
                </c:pt>
                <c:pt idx="2">
                  <c:v>82.6</c:v>
                </c:pt>
                <c:pt idx="3">
                  <c:v>82.9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005840"/>
            <a:ext cx="12188952" cy="914400"/>
          </a:xfrm>
          <a:prstGeom prst="rect">
            <a:avLst/>
          </a:prstGeom>
          <a:noFill/>
        </p:spPr>
        <p:txBody>
          <a:bodyPr wrap="none">
            <a:spAutoFit/>
          </a:bodyPr>
          <a:lstStyle/>
          <a:p>
            <a:pPr algn="ctr">
              <a:defRPr sz="2520" b="1">
                <a:solidFill>
                  <a:srgbClr val="CC0000"/>
                </a:solidFill>
              </a:defRPr>
            </a:pPr>
            <a:r>
              <a:t>ITSM Weekly Report — 30 Apr 2026</a:t>
            </a:r>
          </a:p>
        </p:txBody>
      </p:sp>
      <p:sp>
        <p:nvSpPr>
          <p:cNvPr id="4" name="TextBox 3"/>
          <p:cNvSpPr txBox="1"/>
          <p:nvPr/>
        </p:nvSpPr>
        <p:spPr>
          <a:xfrm>
            <a:off x="0" y="1828800"/>
            <a:ext cx="12188952" cy="548640"/>
          </a:xfrm>
          <a:prstGeom prst="rect">
            <a:avLst/>
          </a:prstGeom>
          <a:noFill/>
        </p:spPr>
        <p:txBody>
          <a:bodyPr wrap="none">
            <a:spAutoFit/>
          </a:bodyPr>
          <a:lstStyle/>
          <a:p>
            <a:pPr algn="ctr">
              <a:defRPr sz="1296">
                <a:solidFill>
                  <a:srgbClr val="595757"/>
                </a:solidFill>
              </a:defRPr>
            </a:pPr>
            <a:r>
              <a:t>Auto-generated | 7 groups | AI-powered insights</a:t>
            </a:r>
          </a:p>
        </p:txBody>
      </p:sp>
      <p:sp>
        <p:nvSpPr>
          <p:cNvPr id="5" name="TextBox 4"/>
          <p:cNvSpPr txBox="1"/>
          <p:nvPr/>
        </p:nvSpPr>
        <p:spPr>
          <a:xfrm>
            <a:off x="0" y="6309360"/>
            <a:ext cx="12188952" cy="365760"/>
          </a:xfrm>
          <a:prstGeom prst="rect">
            <a:avLst/>
          </a:prstGeom>
          <a:noFill/>
        </p:spPr>
        <p:txBody>
          <a:bodyPr wrap="none">
            <a:spAutoFit/>
          </a:bodyPr>
          <a:lstStyle/>
          <a:p>
            <a:pPr algn="ctr">
              <a:defRPr sz="936">
                <a:solidFill>
                  <a:srgbClr val="333333"/>
                </a:solidFill>
              </a:defRPr>
            </a:pPr>
            <a:r>
              <a:t>Generated by ITSM Automation Agent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MIM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65836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73152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MIM team has 4 data record(s) in the current reporting window. Performance highlights indicate 100% Adherence to the MIM process (&gt;99%): 100.0%, Accurate stakeholder communications (&gt;99%): 100.0%. Potential risk areas include # of P1: 0.0%, 100% Adherence to the MIM process (&gt;99%): 100.0%. Recommended action is to sustain high-performing KPIs while prioritizing targeted corrective actions for underperforming indicators in the next cycle.</a:t>
            </a:r>
          </a:p>
        </p:txBody>
      </p:sp>
      <p:sp>
        <p:nvSpPr>
          <p:cNvPr id="9" name="Rectangle 8"/>
          <p:cNvSpPr/>
          <p:nvPr/>
        </p:nvSpPr>
        <p:spPr>
          <a:xfrm>
            <a:off x="0" y="267004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67004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270662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2953512"/>
            <a:ext cx="5577840" cy="612648"/>
          </a:xfrm>
          <a:prstGeom prst="rect">
            <a:avLst/>
          </a:prstGeom>
          <a:noFill/>
        </p:spPr>
        <p:txBody>
          <a:bodyPr wrap="square">
            <a:spAutoFit/>
          </a:bodyPr>
          <a:lstStyle/>
          <a:p>
            <a:pPr>
              <a:defRPr sz="800" b="1">
                <a:solidFill>
                  <a:srgbClr val="1F3864"/>
                </a:solidFill>
              </a:defRPr>
            </a:pPr>
            <a:r>
              <a:t>▸  MIM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675888"/>
            <a:ext cx="2880360" cy="2724912"/>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675888"/>
            <a:ext cx="2880360" cy="2724912"/>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675888"/>
            <a:ext cx="5760720" cy="2724912"/>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675888"/>
            <a:ext cx="27432" cy="272491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67588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372160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67588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72160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02336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02336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078224"/>
            <a:ext cx="2624328" cy="475488"/>
          </a:xfrm>
          <a:prstGeom prst="rect">
            <a:avLst/>
          </a:prstGeom>
          <a:noFill/>
        </p:spPr>
        <p:txBody>
          <a:bodyPr wrap="square">
            <a:spAutoFit/>
          </a:bodyPr>
          <a:lstStyle/>
          <a:p>
            <a:pPr>
              <a:defRPr sz="800" b="1">
                <a:solidFill>
                  <a:srgbClr val="1A7348"/>
                </a:solidFill>
              </a:defRPr>
            </a:pPr>
            <a:r>
              <a:t>MIM data was processed successfully.</a:t>
            </a:r>
          </a:p>
        </p:txBody>
      </p:sp>
      <p:sp>
        <p:nvSpPr>
          <p:cNvPr id="24" name="Rectangle 23"/>
          <p:cNvSpPr/>
          <p:nvPr/>
        </p:nvSpPr>
        <p:spPr>
          <a:xfrm>
            <a:off x="64008" y="464515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64515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470001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02336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02336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07822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64515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64515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470001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Chart 32"/>
          <p:cNvGraphicFramePr>
            <a:graphicFrameLocks noGrp="1"/>
          </p:cNvGraphicFramePr>
          <p:nvPr/>
        </p:nvGraphicFramePr>
        <p:xfrm>
          <a:off x="5943600" y="658368"/>
          <a:ext cx="6245352" cy="2802636"/>
        </p:xfrm>
        <a:graphic>
          <a:graphicData uri="http://schemas.openxmlformats.org/drawingml/2006/chart">
            <c:chart xmlns:c="http://schemas.openxmlformats.org/drawingml/2006/chart" r:id="rId2"/>
          </a:graphicData>
        </a:graphic>
      </p:graphicFrame>
      <p:graphicFrame>
        <p:nvGraphicFramePr>
          <p:cNvPr id="34" name="Chart 33"/>
          <p:cNvGraphicFramePr>
            <a:graphicFrameLocks noGrp="1"/>
          </p:cNvGraphicFramePr>
          <p:nvPr/>
        </p:nvGraphicFramePr>
        <p:xfrm>
          <a:off x="5943600" y="3589020"/>
          <a:ext cx="6245352" cy="2802636"/>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Change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65836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73152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Change team has 4 data record(s) in the current reporting window. Performance highlights indicate Change Success Ratio (&gt;99%): 100.0%, Unauthorised Change rate (&lt;1%): 0.6%. Potential risk areas include Change Causing MI (&lt;5%): 0.0%, Failed Change Ratio (&lt;1%): 0.0%. Recommended action is to sustain high-performing KPIs while prioritizing targeted corrective actions for underperforming indicators in the next cycle.</a:t>
            </a:r>
          </a:p>
        </p:txBody>
      </p:sp>
      <p:sp>
        <p:nvSpPr>
          <p:cNvPr id="9" name="Rectangle 8"/>
          <p:cNvSpPr/>
          <p:nvPr/>
        </p:nvSpPr>
        <p:spPr>
          <a:xfrm>
            <a:off x="0" y="267004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67004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270662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2953512"/>
            <a:ext cx="5577840" cy="612648"/>
          </a:xfrm>
          <a:prstGeom prst="rect">
            <a:avLst/>
          </a:prstGeom>
          <a:noFill/>
        </p:spPr>
        <p:txBody>
          <a:bodyPr wrap="square">
            <a:spAutoFit/>
          </a:bodyPr>
          <a:lstStyle/>
          <a:p>
            <a:pPr>
              <a:defRPr sz="800" b="1">
                <a:solidFill>
                  <a:srgbClr val="1F3864"/>
                </a:solidFill>
              </a:defRPr>
            </a:pPr>
            <a:r>
              <a:t>▸  Change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675888"/>
            <a:ext cx="2880360" cy="2724912"/>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675888"/>
            <a:ext cx="2880360" cy="2724912"/>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675888"/>
            <a:ext cx="5760720" cy="2724912"/>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675888"/>
            <a:ext cx="27432" cy="272491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67588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372160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67588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72160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02336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02336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078224"/>
            <a:ext cx="2624328" cy="475488"/>
          </a:xfrm>
          <a:prstGeom prst="rect">
            <a:avLst/>
          </a:prstGeom>
          <a:noFill/>
        </p:spPr>
        <p:txBody>
          <a:bodyPr wrap="square">
            <a:spAutoFit/>
          </a:bodyPr>
          <a:lstStyle/>
          <a:p>
            <a:pPr>
              <a:defRPr sz="800" b="1">
                <a:solidFill>
                  <a:srgbClr val="1A7348"/>
                </a:solidFill>
              </a:defRPr>
            </a:pPr>
            <a:r>
              <a:t>Change data was processed successfully.</a:t>
            </a:r>
          </a:p>
        </p:txBody>
      </p:sp>
      <p:sp>
        <p:nvSpPr>
          <p:cNvPr id="24" name="Rectangle 23"/>
          <p:cNvSpPr/>
          <p:nvPr/>
        </p:nvSpPr>
        <p:spPr>
          <a:xfrm>
            <a:off x="64008" y="464515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64515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470001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02336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02336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07822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64515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64515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470001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pic>
        <p:nvPicPr>
          <p:cNvPr id="33" name="Picture 32" descr="image.png"/>
          <p:cNvPicPr>
            <a:picLocks noChangeAspect="1"/>
          </p:cNvPicPr>
          <p:nvPr/>
        </p:nvPicPr>
        <p:blipFill>
          <a:blip r:embed="rId2"/>
          <a:stretch>
            <a:fillRect/>
          </a:stretch>
        </p:blipFill>
        <p:spPr>
          <a:xfrm>
            <a:off x="5943600" y="658368"/>
            <a:ext cx="6245352" cy="2802636"/>
          </a:xfrm>
          <a:prstGeom prst="rect">
            <a:avLst/>
          </a:prstGeom>
        </p:spPr>
      </p:pic>
      <p:graphicFrame>
        <p:nvGraphicFramePr>
          <p:cNvPr id="34" name="Chart 33"/>
          <p:cNvGraphicFramePr>
            <a:graphicFrameLocks noGrp="1"/>
          </p:cNvGraphicFramePr>
          <p:nvPr/>
        </p:nvGraphicFramePr>
        <p:xfrm>
          <a:off x="5943600" y="3589020"/>
          <a:ext cx="6245352" cy="2802636"/>
        </p:xfrm>
        <a:graphic>
          <a:graphicData uri="http://schemas.openxmlformats.org/drawingml/2006/chart">
            <c:chart xmlns:c="http://schemas.openxmlformats.org/drawingml/2006/chart" r:id="rId3"/>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Problem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65836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73152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Problem team has 4 data record(s) in the current reporting window. Performance highlights indicate no standout KPI values were detected. Potential risk areas include no clear risk KPI was detected. Recommended action is to sustain high-performing KPIs while prioritizing targeted corrective actions for underperforming indicators in the next cycle.</a:t>
            </a:r>
          </a:p>
        </p:txBody>
      </p:sp>
      <p:sp>
        <p:nvSpPr>
          <p:cNvPr id="9" name="Rectangle 8"/>
          <p:cNvSpPr/>
          <p:nvPr/>
        </p:nvSpPr>
        <p:spPr>
          <a:xfrm>
            <a:off x="0" y="267004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67004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270662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2953512"/>
            <a:ext cx="5577840" cy="612648"/>
          </a:xfrm>
          <a:prstGeom prst="rect">
            <a:avLst/>
          </a:prstGeom>
          <a:noFill/>
        </p:spPr>
        <p:txBody>
          <a:bodyPr wrap="square">
            <a:spAutoFit/>
          </a:bodyPr>
          <a:lstStyle/>
          <a:p>
            <a:pPr>
              <a:defRPr sz="800" b="1">
                <a:solidFill>
                  <a:srgbClr val="1F3864"/>
                </a:solidFill>
              </a:defRPr>
            </a:pPr>
            <a:r>
              <a:t>▸  Problem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675888"/>
            <a:ext cx="2880360" cy="2724912"/>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675888"/>
            <a:ext cx="2880360" cy="2724912"/>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675888"/>
            <a:ext cx="5760720" cy="2724912"/>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675888"/>
            <a:ext cx="27432" cy="272491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67588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372160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67588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72160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02336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02336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078224"/>
            <a:ext cx="2624328" cy="475488"/>
          </a:xfrm>
          <a:prstGeom prst="rect">
            <a:avLst/>
          </a:prstGeom>
          <a:noFill/>
        </p:spPr>
        <p:txBody>
          <a:bodyPr wrap="square">
            <a:spAutoFit/>
          </a:bodyPr>
          <a:lstStyle/>
          <a:p>
            <a:pPr>
              <a:defRPr sz="800" b="1">
                <a:solidFill>
                  <a:srgbClr val="1A7348"/>
                </a:solidFill>
              </a:defRPr>
            </a:pPr>
            <a:r>
              <a:t>Problem data was processed successfully.</a:t>
            </a:r>
          </a:p>
        </p:txBody>
      </p:sp>
      <p:sp>
        <p:nvSpPr>
          <p:cNvPr id="24" name="Rectangle 23"/>
          <p:cNvSpPr/>
          <p:nvPr/>
        </p:nvSpPr>
        <p:spPr>
          <a:xfrm>
            <a:off x="64008" y="464515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64515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470001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02336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02336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07822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64515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64515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470001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Chart 32"/>
          <p:cNvGraphicFramePr>
            <a:graphicFrameLocks noGrp="1"/>
          </p:cNvGraphicFramePr>
          <p:nvPr/>
        </p:nvGraphicFramePr>
        <p:xfrm>
          <a:off x="5943600" y="658368"/>
          <a:ext cx="6245352" cy="2802636"/>
        </p:xfrm>
        <a:graphic>
          <a:graphicData uri="http://schemas.openxmlformats.org/drawingml/2006/chart">
            <c:chart xmlns:c="http://schemas.openxmlformats.org/drawingml/2006/chart" r:id="rId2"/>
          </a:graphicData>
        </a:graphic>
      </p:graphicFrame>
      <p:graphicFrame>
        <p:nvGraphicFramePr>
          <p:cNvPr id="34" name="Chart 33"/>
          <p:cNvGraphicFramePr>
            <a:graphicFrameLocks noGrp="1"/>
          </p:cNvGraphicFramePr>
          <p:nvPr/>
        </p:nvGraphicFramePr>
        <p:xfrm>
          <a:off x="5943600" y="3589020"/>
          <a:ext cx="6245352" cy="2802636"/>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CMDB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65836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73152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CMDB team has 4 data record(s) in the current reporting window. Performance highlights indicate Audit Compliance (&gt;98%): 99.2%, CI Accuracy (&gt;95%): 97.7%. Potential risk areas include CI Accuracy (&gt;95%): 97.7%, Audit Compliance (&gt;98%): 99.2%. Recommended action is to sustain high-performing KPIs while prioritizing targeted corrective actions for underperforming indicators in the next cycle.</a:t>
            </a:r>
          </a:p>
        </p:txBody>
      </p:sp>
      <p:sp>
        <p:nvSpPr>
          <p:cNvPr id="9" name="Rectangle 8"/>
          <p:cNvSpPr/>
          <p:nvPr/>
        </p:nvSpPr>
        <p:spPr>
          <a:xfrm>
            <a:off x="0" y="267004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67004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270662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2953512"/>
            <a:ext cx="5577840" cy="612648"/>
          </a:xfrm>
          <a:prstGeom prst="rect">
            <a:avLst/>
          </a:prstGeom>
          <a:noFill/>
        </p:spPr>
        <p:txBody>
          <a:bodyPr wrap="square">
            <a:spAutoFit/>
          </a:bodyPr>
          <a:lstStyle/>
          <a:p>
            <a:pPr>
              <a:defRPr sz="800" b="1">
                <a:solidFill>
                  <a:srgbClr val="1F3864"/>
                </a:solidFill>
              </a:defRPr>
            </a:pPr>
            <a:r>
              <a:t>▸  CMDB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675888"/>
            <a:ext cx="2880360" cy="2724912"/>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675888"/>
            <a:ext cx="2880360" cy="2724912"/>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675888"/>
            <a:ext cx="5760720" cy="2724912"/>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675888"/>
            <a:ext cx="27432" cy="272491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67588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372160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67588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72160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02336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02336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078224"/>
            <a:ext cx="2624328" cy="475488"/>
          </a:xfrm>
          <a:prstGeom prst="rect">
            <a:avLst/>
          </a:prstGeom>
          <a:noFill/>
        </p:spPr>
        <p:txBody>
          <a:bodyPr wrap="square">
            <a:spAutoFit/>
          </a:bodyPr>
          <a:lstStyle/>
          <a:p>
            <a:pPr>
              <a:defRPr sz="800" b="1">
                <a:solidFill>
                  <a:srgbClr val="1A7348"/>
                </a:solidFill>
              </a:defRPr>
            </a:pPr>
            <a:r>
              <a:t>CMDB data was processed successfully.</a:t>
            </a:r>
          </a:p>
        </p:txBody>
      </p:sp>
      <p:sp>
        <p:nvSpPr>
          <p:cNvPr id="24" name="Rectangle 23"/>
          <p:cNvSpPr/>
          <p:nvPr/>
        </p:nvSpPr>
        <p:spPr>
          <a:xfrm>
            <a:off x="64008" y="464515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64515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470001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02336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02336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07822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64515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64515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470001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Chart 32"/>
          <p:cNvGraphicFramePr>
            <a:graphicFrameLocks noGrp="1"/>
          </p:cNvGraphicFramePr>
          <p:nvPr/>
        </p:nvGraphicFramePr>
        <p:xfrm>
          <a:off x="5943600" y="658368"/>
          <a:ext cx="6245352" cy="5733288"/>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NOC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65836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73152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NOC team has 4 data record(s) in the current reporting window. Performance highlights indicate SLA Compliance (&gt;95%): 97.4%. Potential risk areas include SLA Compliance (&gt;95%): 97.4%. Recommended action is to sustain high-performing KPIs while prioritizing targeted corrective actions for underperforming indicators in the next cycle.</a:t>
            </a:r>
          </a:p>
        </p:txBody>
      </p:sp>
      <p:sp>
        <p:nvSpPr>
          <p:cNvPr id="9" name="Rectangle 8"/>
          <p:cNvSpPr/>
          <p:nvPr/>
        </p:nvSpPr>
        <p:spPr>
          <a:xfrm>
            <a:off x="0" y="267004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67004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270662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2953512"/>
            <a:ext cx="5577840" cy="612648"/>
          </a:xfrm>
          <a:prstGeom prst="rect">
            <a:avLst/>
          </a:prstGeom>
          <a:noFill/>
        </p:spPr>
        <p:txBody>
          <a:bodyPr wrap="square">
            <a:spAutoFit/>
          </a:bodyPr>
          <a:lstStyle/>
          <a:p>
            <a:pPr>
              <a:defRPr sz="800" b="1">
                <a:solidFill>
                  <a:srgbClr val="1F3864"/>
                </a:solidFill>
              </a:defRPr>
            </a:pPr>
            <a:r>
              <a:t>▸  NOC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675888"/>
            <a:ext cx="2880360" cy="2724912"/>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675888"/>
            <a:ext cx="2880360" cy="2724912"/>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675888"/>
            <a:ext cx="5760720" cy="2724912"/>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675888"/>
            <a:ext cx="27432" cy="272491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67588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372160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67588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72160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02336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02336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078224"/>
            <a:ext cx="2624328" cy="475488"/>
          </a:xfrm>
          <a:prstGeom prst="rect">
            <a:avLst/>
          </a:prstGeom>
          <a:noFill/>
        </p:spPr>
        <p:txBody>
          <a:bodyPr wrap="square">
            <a:spAutoFit/>
          </a:bodyPr>
          <a:lstStyle/>
          <a:p>
            <a:pPr>
              <a:defRPr sz="800" b="1">
                <a:solidFill>
                  <a:srgbClr val="1A7348"/>
                </a:solidFill>
              </a:defRPr>
            </a:pPr>
            <a:r>
              <a:t>NOC data was processed successfully.</a:t>
            </a:r>
          </a:p>
        </p:txBody>
      </p:sp>
      <p:sp>
        <p:nvSpPr>
          <p:cNvPr id="24" name="Rectangle 23"/>
          <p:cNvSpPr/>
          <p:nvPr/>
        </p:nvSpPr>
        <p:spPr>
          <a:xfrm>
            <a:off x="64008" y="464515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64515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470001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02336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02336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07822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64515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64515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470001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pic>
        <p:nvPicPr>
          <p:cNvPr id="33" name="Picture 32" descr="image.png"/>
          <p:cNvPicPr>
            <a:picLocks noChangeAspect="1"/>
          </p:cNvPicPr>
          <p:nvPr/>
        </p:nvPicPr>
        <p:blipFill>
          <a:blip r:embed="rId2"/>
          <a:stretch>
            <a:fillRect/>
          </a:stretch>
        </p:blipFill>
        <p:spPr>
          <a:xfrm>
            <a:off x="5943600" y="658368"/>
            <a:ext cx="6245352" cy="2802636"/>
          </a:xfrm>
          <a:prstGeom prst="rect">
            <a:avLst/>
          </a:prstGeom>
        </p:spPr>
      </p:pic>
      <p:graphicFrame>
        <p:nvGraphicFramePr>
          <p:cNvPr id="34" name="Chart 33"/>
          <p:cNvGraphicFramePr>
            <a:graphicFrameLocks noGrp="1"/>
          </p:cNvGraphicFramePr>
          <p:nvPr/>
        </p:nvGraphicFramePr>
        <p:xfrm>
          <a:off x="5943600" y="3589020"/>
          <a:ext cx="6245352" cy="2802636"/>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ServiceNow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65836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73152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ServiceNow team has 4 data record(s) in the current reporting window. Performance highlights indicate Resolution Rate (&gt;95%): 95.2%, First Call Resolution (&gt;80%): 84.0%. Potential risk areas include First Call Resolution (&gt;80%): 84.0%, Resolution Rate (&gt;95%): 95.2%. Recommended action is to sustain high-performing KPIs while prioritizing targeted corrective actions for underperforming indicators in the next cycle.</a:t>
            </a:r>
          </a:p>
        </p:txBody>
      </p:sp>
      <p:sp>
        <p:nvSpPr>
          <p:cNvPr id="9" name="Rectangle 8"/>
          <p:cNvSpPr/>
          <p:nvPr/>
        </p:nvSpPr>
        <p:spPr>
          <a:xfrm>
            <a:off x="0" y="267004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67004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270662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2953512"/>
            <a:ext cx="5577840" cy="612648"/>
          </a:xfrm>
          <a:prstGeom prst="rect">
            <a:avLst/>
          </a:prstGeom>
          <a:noFill/>
        </p:spPr>
        <p:txBody>
          <a:bodyPr wrap="square">
            <a:spAutoFit/>
          </a:bodyPr>
          <a:lstStyle/>
          <a:p>
            <a:pPr>
              <a:defRPr sz="800" b="1">
                <a:solidFill>
                  <a:srgbClr val="1F3864"/>
                </a:solidFill>
              </a:defRPr>
            </a:pPr>
            <a:r>
              <a:t>▸  ServiceNow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675888"/>
            <a:ext cx="2880360" cy="2724912"/>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675888"/>
            <a:ext cx="2880360" cy="2724912"/>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675888"/>
            <a:ext cx="5760720" cy="2724912"/>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675888"/>
            <a:ext cx="27432" cy="272491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67588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372160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67588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72160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02336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02336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078224"/>
            <a:ext cx="2624328" cy="475488"/>
          </a:xfrm>
          <a:prstGeom prst="rect">
            <a:avLst/>
          </a:prstGeom>
          <a:noFill/>
        </p:spPr>
        <p:txBody>
          <a:bodyPr wrap="square">
            <a:spAutoFit/>
          </a:bodyPr>
          <a:lstStyle/>
          <a:p>
            <a:pPr>
              <a:defRPr sz="800" b="1">
                <a:solidFill>
                  <a:srgbClr val="1A7348"/>
                </a:solidFill>
              </a:defRPr>
            </a:pPr>
            <a:r>
              <a:t>ServiceNow data was processed successfully.</a:t>
            </a:r>
          </a:p>
        </p:txBody>
      </p:sp>
      <p:sp>
        <p:nvSpPr>
          <p:cNvPr id="24" name="Rectangle 23"/>
          <p:cNvSpPr/>
          <p:nvPr/>
        </p:nvSpPr>
        <p:spPr>
          <a:xfrm>
            <a:off x="64008" y="464515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64515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470001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02336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02336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07822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64515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64515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470001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pic>
        <p:nvPicPr>
          <p:cNvPr id="33" name="Picture 32" descr="image.png"/>
          <p:cNvPicPr>
            <a:picLocks noChangeAspect="1"/>
          </p:cNvPicPr>
          <p:nvPr/>
        </p:nvPicPr>
        <p:blipFill>
          <a:blip r:embed="rId2"/>
          <a:stretch>
            <a:fillRect/>
          </a:stretch>
        </p:blipFill>
        <p:spPr>
          <a:xfrm>
            <a:off x="5943600" y="658368"/>
            <a:ext cx="6245352" cy="2802636"/>
          </a:xfrm>
          <a:prstGeom prst="rect">
            <a:avLst/>
          </a:prstGeom>
        </p:spPr>
      </p:pic>
      <p:graphicFrame>
        <p:nvGraphicFramePr>
          <p:cNvPr id="34" name="Chart 33"/>
          <p:cNvGraphicFramePr>
            <a:graphicFrameLocks noGrp="1"/>
          </p:cNvGraphicFramePr>
          <p:nvPr/>
        </p:nvGraphicFramePr>
        <p:xfrm>
          <a:off x="5943600" y="3589020"/>
          <a:ext cx="6245352" cy="2802636"/>
        </p:xfrm>
        <a:graphic>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 Desk  |  30 Apr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658368"/>
            <a:ext cx="5760720" cy="1920240"/>
          </a:xfrm>
          <a:prstGeom prst="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
            <a:ext cx="64008" cy="19202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731520"/>
            <a:ext cx="5522976" cy="1828800"/>
          </a:xfrm>
          <a:prstGeom prst="rect">
            <a:avLst/>
          </a:prstGeom>
          <a:noFill/>
        </p:spPr>
        <p:txBody>
          <a:bodyPr wrap="square">
            <a:spAutoFit/>
          </a:bodyPr>
          <a:lstStyle/>
          <a:p>
            <a:pPr>
              <a:defRPr b="1" sz="750">
                <a:solidFill>
                  <a:srgbClr val="CC0000"/>
                </a:solidFill>
              </a:defRPr>
            </a:pPr>
            <a:r>
              <a:t>WEEKLY PERFORMANCE SUMMARY</a:t>
            </a:r>
          </a:p>
          <a:p>
            <a:pPr>
              <a:defRPr sz="850">
                <a:solidFill>
                  <a:srgbClr val="3A3A3A"/>
                </a:solidFill>
              </a:defRPr>
            </a:pPr>
            <a:r>
              <a:t>The Service Desk team has 4 data record(s) in the current reporting window. Performance highlights indicate SLA Compliance (&gt;95%): 96.5%, FCR Rate (&gt;80%): 82.9%. Potential risk areas include FCR Rate (&gt;80%): 82.9%, SLA Compliance (&gt;95%): 96.5%. Recommended action is to sustain high-performing KPIs while prioritizing targeted corrective actions for underperforming indicators in the next cycle.</a:t>
            </a:r>
          </a:p>
        </p:txBody>
      </p:sp>
      <p:sp>
        <p:nvSpPr>
          <p:cNvPr id="9" name="Rectangle 8"/>
          <p:cNvSpPr/>
          <p:nvPr/>
        </p:nvSpPr>
        <p:spPr>
          <a:xfrm>
            <a:off x="0" y="2670048"/>
            <a:ext cx="5760720" cy="914400"/>
          </a:xfrm>
          <a:prstGeom prst="rect">
            <a:avLst/>
          </a:prstGeom>
          <a:solidFill>
            <a:srgbClr val="EEF2F8"/>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2670048"/>
            <a:ext cx="5760720" cy="24688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 y="2706624"/>
            <a:ext cx="5623560" cy="210312"/>
          </a:xfrm>
          <a:prstGeom prst="rect">
            <a:avLst/>
          </a:prstGeom>
          <a:noFill/>
        </p:spPr>
        <p:txBody>
          <a:bodyPr wrap="none">
            <a:spAutoFit/>
          </a:bodyPr>
          <a:lstStyle/>
          <a:p>
            <a:pPr>
              <a:defRPr b="1" sz="950">
                <a:solidFill>
                  <a:srgbClr val="FFFFFF"/>
                </a:solidFill>
              </a:defRPr>
            </a:pPr>
            <a:r>
              <a:t>📋  THIS WEEK'S HIGHLIGHTS</a:t>
            </a:r>
          </a:p>
        </p:txBody>
      </p:sp>
      <p:sp>
        <p:nvSpPr>
          <p:cNvPr id="12" name="TextBox 11"/>
          <p:cNvSpPr txBox="1"/>
          <p:nvPr/>
        </p:nvSpPr>
        <p:spPr>
          <a:xfrm>
            <a:off x="137160" y="2953512"/>
            <a:ext cx="5577840" cy="612648"/>
          </a:xfrm>
          <a:prstGeom prst="rect">
            <a:avLst/>
          </a:prstGeom>
          <a:noFill/>
        </p:spPr>
        <p:txBody>
          <a:bodyPr wrap="square">
            <a:spAutoFit/>
          </a:bodyPr>
          <a:lstStyle/>
          <a:p>
            <a:pPr>
              <a:defRPr sz="800" b="1">
                <a:solidFill>
                  <a:srgbClr val="1F3864"/>
                </a:solidFill>
              </a:defRPr>
            </a:pPr>
            <a:r>
              <a:t>▸  Service Desk data was processed successfully.</a:t>
            </a:r>
          </a:p>
          <a:p>
            <a:pPr>
              <a:defRPr sz="800" b="0">
                <a:solidFill>
                  <a:srgbClr val="1F3864"/>
                </a:solidFill>
              </a:defRPr>
            </a:pPr>
            <a:r>
              <a:t>▸  Automated KPI snapshot generated for this period.</a:t>
            </a:r>
          </a:p>
        </p:txBody>
      </p:sp>
      <p:sp>
        <p:nvSpPr>
          <p:cNvPr id="13" name="Rectangle 12"/>
          <p:cNvSpPr/>
          <p:nvPr/>
        </p:nvSpPr>
        <p:spPr>
          <a:xfrm>
            <a:off x="0" y="3675888"/>
            <a:ext cx="2880360" cy="2724912"/>
          </a:xfrm>
          <a:prstGeom prst="rect">
            <a:avLst/>
          </a:prstGeom>
          <a:solidFill>
            <a:srgbClr val="F0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675888"/>
            <a:ext cx="2880360" cy="2724912"/>
          </a:xfrm>
          <a:prstGeom prst="rect">
            <a:avLst/>
          </a:prstGeom>
          <a:solidFill>
            <a:srgbClr val="F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675888"/>
            <a:ext cx="5760720" cy="2724912"/>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66644" y="3675888"/>
            <a:ext cx="27432" cy="2724912"/>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675888"/>
            <a:ext cx="288036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3721608"/>
            <a:ext cx="2743200" cy="246888"/>
          </a:xfrm>
          <a:prstGeom prst="rect">
            <a:avLst/>
          </a:prstGeom>
          <a:noFill/>
        </p:spPr>
        <p:txBody>
          <a:bodyPr wrap="none">
            <a:spAutoFit/>
          </a:bodyPr>
          <a:lstStyle/>
          <a:p>
            <a:pPr>
              <a:defRPr b="1" sz="1000">
                <a:solidFill>
                  <a:srgbClr val="FFFFFF"/>
                </a:solidFill>
              </a:defRPr>
            </a:pPr>
            <a:r>
              <a:t>🏆  KEY ACHIEVEMENTS</a:t>
            </a:r>
          </a:p>
        </p:txBody>
      </p:sp>
      <p:sp>
        <p:nvSpPr>
          <p:cNvPr id="19" name="Rectangle 18"/>
          <p:cNvSpPr/>
          <p:nvPr/>
        </p:nvSpPr>
        <p:spPr>
          <a:xfrm>
            <a:off x="2880360" y="3675888"/>
            <a:ext cx="2880360" cy="29260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3721608"/>
            <a:ext cx="2743200" cy="246888"/>
          </a:xfrm>
          <a:prstGeom prst="rect">
            <a:avLst/>
          </a:prstGeom>
          <a:noFill/>
        </p:spPr>
        <p:txBody>
          <a:bodyPr wrap="none">
            <a:spAutoFit/>
          </a:bodyPr>
          <a:lstStyle/>
          <a:p>
            <a:pPr>
              <a:defRPr b="1" sz="1000">
                <a:solidFill>
                  <a:srgbClr val="FFFFFF"/>
                </a:solidFill>
              </a:defRPr>
            </a:pPr>
            <a:r>
              <a:t>⚡  RECOMMENDED ACTIONS</a:t>
            </a:r>
          </a:p>
        </p:txBody>
      </p:sp>
      <p:sp>
        <p:nvSpPr>
          <p:cNvPr id="21" name="Rectangle 20"/>
          <p:cNvSpPr/>
          <p:nvPr/>
        </p:nvSpPr>
        <p:spPr>
          <a:xfrm>
            <a:off x="64008" y="4023360"/>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 y="4023360"/>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 y="4078224"/>
            <a:ext cx="2624328" cy="475488"/>
          </a:xfrm>
          <a:prstGeom prst="rect">
            <a:avLst/>
          </a:prstGeom>
          <a:noFill/>
        </p:spPr>
        <p:txBody>
          <a:bodyPr wrap="square">
            <a:spAutoFit/>
          </a:bodyPr>
          <a:lstStyle/>
          <a:p>
            <a:pPr>
              <a:defRPr sz="800" b="1">
                <a:solidFill>
                  <a:srgbClr val="1A7348"/>
                </a:solidFill>
              </a:defRPr>
            </a:pPr>
            <a:r>
              <a:t>Service Desk data was processed successfully.</a:t>
            </a:r>
          </a:p>
        </p:txBody>
      </p:sp>
      <p:sp>
        <p:nvSpPr>
          <p:cNvPr id="24" name="Rectangle 23"/>
          <p:cNvSpPr/>
          <p:nvPr/>
        </p:nvSpPr>
        <p:spPr>
          <a:xfrm>
            <a:off x="64008" y="4645152"/>
            <a:ext cx="2752344" cy="566928"/>
          </a:xfrm>
          <a:prstGeom prst="rect">
            <a:avLst/>
          </a:prstGeom>
          <a:solidFill>
            <a:srgbClr val="FFFFFF"/>
          </a:solidFill>
          <a:ln w="6350">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 y="4645152"/>
            <a:ext cx="54864" cy="566928"/>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4700016"/>
            <a:ext cx="2624328" cy="475488"/>
          </a:xfrm>
          <a:prstGeom prst="rect">
            <a:avLst/>
          </a:prstGeom>
          <a:noFill/>
        </p:spPr>
        <p:txBody>
          <a:bodyPr wrap="square">
            <a:spAutoFit/>
          </a:bodyPr>
          <a:lstStyle/>
          <a:p>
            <a:pPr>
              <a:defRPr sz="800" b="1">
                <a:solidFill>
                  <a:srgbClr val="1A7348"/>
                </a:solidFill>
              </a:defRPr>
            </a:pPr>
            <a:r>
              <a:t>Automated KPI snapshot generated for this period.</a:t>
            </a:r>
          </a:p>
        </p:txBody>
      </p:sp>
      <p:sp>
        <p:nvSpPr>
          <p:cNvPr id="27" name="Rectangle 26"/>
          <p:cNvSpPr/>
          <p:nvPr/>
        </p:nvSpPr>
        <p:spPr>
          <a:xfrm>
            <a:off x="2944368" y="4023360"/>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44368" y="4023360"/>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44952" y="4078224"/>
            <a:ext cx="2624328" cy="475488"/>
          </a:xfrm>
          <a:prstGeom prst="rect">
            <a:avLst/>
          </a:prstGeom>
          <a:noFill/>
        </p:spPr>
        <p:txBody>
          <a:bodyPr wrap="square">
            <a:spAutoFit/>
          </a:bodyPr>
          <a:lstStyle/>
          <a:p>
            <a:pPr>
              <a:defRPr sz="800" b="1">
                <a:solidFill>
                  <a:srgbClr val="CC0000"/>
                </a:solidFill>
              </a:defRPr>
            </a:pPr>
            <a:r>
              <a:t>AI analysis unavailable. Rule-based summary was applied.</a:t>
            </a:r>
          </a:p>
        </p:txBody>
      </p:sp>
      <p:sp>
        <p:nvSpPr>
          <p:cNvPr id="30" name="Rectangle 29"/>
          <p:cNvSpPr/>
          <p:nvPr/>
        </p:nvSpPr>
        <p:spPr>
          <a:xfrm>
            <a:off x="2944368" y="4645152"/>
            <a:ext cx="2752344" cy="566928"/>
          </a:xfrm>
          <a:prstGeom prst="rect">
            <a:avLst/>
          </a:prstGeom>
          <a:solidFill>
            <a:srgbClr val="FFFFFF"/>
          </a:solidFill>
          <a:ln w="6350">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44368" y="4645152"/>
            <a:ext cx="54864"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44952" y="4700016"/>
            <a:ext cx="2624328" cy="475488"/>
          </a:xfrm>
          <a:prstGeom prst="rect">
            <a:avLst/>
          </a:prstGeom>
          <a:noFill/>
        </p:spPr>
        <p:txBody>
          <a:bodyPr wrap="square">
            <a:spAutoFit/>
          </a:bodyPr>
          <a:lstStyle/>
          <a:p>
            <a:pPr>
              <a:defRPr sz="800" b="1">
                <a:solidFill>
                  <a:srgbClr val="CC0000"/>
                </a:solidFill>
              </a:defRPr>
            </a:pPr>
            <a:r>
              <a:t>Review low-performing KPIs and assign action owners.</a:t>
            </a:r>
          </a:p>
        </p:txBody>
      </p:sp>
      <p:graphicFrame>
        <p:nvGraphicFramePr>
          <p:cNvPr id="33" name="Chart 32"/>
          <p:cNvGraphicFramePr>
            <a:graphicFrameLocks noGrp="1"/>
          </p:cNvGraphicFramePr>
          <p:nvPr/>
        </p:nvGraphicFramePr>
        <p:xfrm>
          <a:off x="5943600" y="658368"/>
          <a:ext cx="6245352" cy="2802636"/>
        </p:xfrm>
        <a:graphic>
          <a:graphicData uri="http://schemas.openxmlformats.org/drawingml/2006/chart">
            <c:chart xmlns:c="http://schemas.openxmlformats.org/drawingml/2006/chart" r:id="rId2"/>
          </a:graphicData>
        </a:graphic>
      </p:graphicFrame>
      <p:pic>
        <p:nvPicPr>
          <p:cNvPr id="34" name="Picture 33" descr="image.png"/>
          <p:cNvPicPr>
            <a:picLocks noChangeAspect="1"/>
          </p:cNvPicPr>
          <p:nvPr/>
        </p:nvPicPr>
        <p:blipFill>
          <a:blip r:embed="rId3"/>
          <a:stretch>
            <a:fillRect/>
          </a:stretch>
        </p:blipFill>
        <p:spPr>
          <a:xfrm>
            <a:off x="5943600" y="3589020"/>
            <a:ext cx="6245352" cy="28026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