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3701453496936608E-2"/>
          <c:y val="0.27025214662538438"/>
          <c:w val="0.91189639911409315"/>
          <c:h val="0.50297000050642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5E-49CC-8D6D-D757E45FBC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B5E-49CC-8D6D-D757E45FBC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40404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B5E-49CC-8D6D-D757E45FBC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B5E-49CC-8D6D-D757E45FB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FE-4D91-964B-B534C52B25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FE-4D91-964B-B534C52B25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9FE-4D91-964B-B534C52B25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# of P2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9FE-4D91-964B-B534C52B2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52</c:v>
                </c:pt>
                <c:pt idx="2">
                  <c:v>45</c:v>
                </c:pt>
                <c:pt idx="3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3A-4B4B-A429-62C922F2E1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3A-4B4B-A429-62C922F2E1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Ratio</c:v>
                </c:pt>
              </c:strCache>
            </c:strRef>
          </c:tx>
          <c:spPr>
            <a:solidFill>
              <a:srgbClr val="40404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99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93A-4B4B-A429-62C922F2E1E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Change Causing MI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E93A-4B4B-A429-62C922F2E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D8-4D6D-AD34-086B4898DE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D8-4D6D-AD34-086B4898DE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Raised</c:v>
                </c:pt>
              </c:strCache>
            </c:strRef>
          </c:tx>
          <c:spPr>
            <a:solidFill>
              <a:srgbClr val="40404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1D8-4D6D-AD34-086B4898DED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 Resolution Days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3.8</c:v>
                </c:pt>
                <c:pt idx="1">
                  <c:v>4</c:v>
                </c:pt>
                <c:pt idx="2">
                  <c:v>3.5</c:v>
                </c:pt>
                <c:pt idx="3">
                  <c:v>4.2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1D8-4D6D-AD34-086B4898D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08-4AF9-8218-D37D48CF20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08-4AF9-8218-D37D48CF20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Raised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08-4AF9-8218-D37D48CF20C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 Resolution Days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3.8</c:v>
                </c:pt>
                <c:pt idx="1">
                  <c:v>4</c:v>
                </c:pt>
                <c:pt idx="2">
                  <c:v>3.5</c:v>
                </c:pt>
                <c:pt idx="3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08-4AF9-8218-D37D48CF20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CIs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12480</c:v>
                </c:pt>
                <c:pt idx="1">
                  <c:v>12495</c:v>
                </c:pt>
                <c:pt idx="2">
                  <c:v>12510</c:v>
                </c:pt>
                <c:pt idx="3">
                  <c:v>12524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8FD-4081-B2EA-21F2D5C427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 Verified This Week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145</c:v>
                </c:pt>
                <c:pt idx="1">
                  <c:v>132</c:v>
                </c:pt>
                <c:pt idx="2">
                  <c:v>158</c:v>
                </c:pt>
                <c:pt idx="3">
                  <c:v>141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8FD-4081-B2EA-21F2D5C427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 Accuracy</c:v>
                </c:pt>
              </c:strCache>
            </c:strRef>
          </c:tx>
          <c:spPr>
            <a:solidFill>
              <a:srgbClr val="40404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97.8</c:v>
                </c:pt>
                <c:pt idx="1">
                  <c:v>98</c:v>
                </c:pt>
                <c:pt idx="2">
                  <c:v>97.5</c:v>
                </c:pt>
                <c:pt idx="3">
                  <c:v>97.7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8FD-4081-B2EA-21F2D5C4278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Orphan CIs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9</c:v>
                </c:pt>
                <c:pt idx="3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8FD-4081-B2EA-21F2D5C42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</c:v>
                </c:pt>
                <c:pt idx="1">
                  <c:v>1975</c:v>
                </c:pt>
                <c:pt idx="2">
                  <c:v>1723</c:v>
                </c:pt>
                <c:pt idx="3">
                  <c:v>1890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7F8-4362-8F3C-04B6C8184E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Auto-Resolved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</c:v>
                </c:pt>
                <c:pt idx="1">
                  <c:v>1680</c:v>
                </c:pt>
                <c:pt idx="2">
                  <c:v>1490</c:v>
                </c:pt>
                <c:pt idx="3">
                  <c:v>1610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7F8-4362-8F3C-04B6C8184E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40404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7F8-4362-8F3C-04B6C8184E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P2 Incidents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B7F8-4362-8F3C-04B6C8184E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225</c:v>
                </c:pt>
                <c:pt idx="2">
                  <c:v>198</c:v>
                </c:pt>
                <c:pt idx="3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FF-4E6D-9716-181955E79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</c:v>
                </c:pt>
                <c:pt idx="1">
                  <c:v>215</c:v>
                </c:pt>
                <c:pt idx="2">
                  <c:v>192</c:v>
                </c:pt>
                <c:pt idx="3">
                  <c:v>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FF-4E6D-9716-181955E797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FF-4E6D-9716-181955E797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Resolution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</c:v>
                </c:pt>
                <c:pt idx="3">
                  <c:v>95.2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AFF-4E6D-9716-181955E79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305</c:v>
                </c:pt>
                <c:pt idx="2">
                  <c:v>340</c:v>
                </c:pt>
                <c:pt idx="3">
                  <c:v>310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AE3-4A5E-AB7C-2309BCF3CB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</c:v>
                </c:pt>
                <c:pt idx="1">
                  <c:v>280</c:v>
                </c:pt>
                <c:pt idx="2">
                  <c:v>315</c:v>
                </c:pt>
                <c:pt idx="3">
                  <c:v>288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AE3-4A5E-AB7C-2309BCF3CB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40404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15</c:v>
                </c:pt>
                <c:pt idx="3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AE3-4A5E-AB7C-2309BCF3CBF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FCR Rate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FAE3-4A5E-AB7C-2309BCF3C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24 Apr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24 Apr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5760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6696"/>
            <a:ext cx="54864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1051560"/>
            <a:ext cx="5541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0000"/>
                </a:solidFill>
              </a:defRPr>
            </a:pPr>
            <a:r>
              <a:t>Summary</a:t>
            </a:r>
          </a:p>
          <a:p>
            <a:pPr>
              <a:defRPr sz="750">
                <a:solidFill>
                  <a:srgbClr val="3A3A3A"/>
                </a:solidFill>
              </a:defRPr>
            </a:pPr>
            <a:r>
              <a:t>In Sprint 14, MIM teams demonstrated exceptional performance with a perfect adherence to critical KPIs and workflow processes while maintaining zero Priority 1 incidents.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1828800"/>
          <a:ext cx="57607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&gt;99.0%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&gt;99.0%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&gt;99.0%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3127248"/>
            <a:ext cx="2880360" cy="260604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3127248"/>
            <a:ext cx="2880360" cy="2606040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127248"/>
            <a:ext cx="5760720" cy="2606040"/>
          </a:xfrm>
          <a:prstGeom prst="rect">
            <a:avLst/>
          </a:prstGeom>
          <a:noFill/>
          <a:ln w="254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66644" y="3127248"/>
            <a:ext cx="27432" cy="26060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127248"/>
            <a:ext cx="2880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🏆  KEY ACHIEVEMENTS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127248"/>
            <a:ext cx="2880360" cy="274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⚡  RECOMMENDED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" y="344728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{'MI whiteboard accuracy (&gt;99%)': True}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" y="395020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{'Effective handover for RCA (&gt;99%)': True}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344728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4495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rPr dirty="0"/>
              <a:t>Continue the current MIM process adherence.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4368" y="395020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Maintain communication improvements and apply feedback from ELT.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5779008"/>
          <a:ext cx="1218895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73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6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66928"/>
          <a:ext cx="12188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Char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928081"/>
              </p:ext>
            </p:extLst>
          </p:nvPr>
        </p:nvGraphicFramePr>
        <p:xfrm>
          <a:off x="5943600" y="996696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943600" y="3415284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24 Apr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5760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6696"/>
            <a:ext cx="54864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1051560"/>
            <a:ext cx="5541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0000"/>
                </a:solidFill>
              </a:defRPr>
            </a:pPr>
            <a:r>
              <a:t>Summary</a:t>
            </a:r>
          </a:p>
          <a:p>
            <a:pPr>
              <a:defRPr sz="750">
                <a:solidFill>
                  <a:srgbClr val="3A3A3A"/>
                </a:solidFill>
              </a:defRPr>
            </a:pPr>
            <a:r>
              <a:t>The ITSM team maintained a perfect change success ratio at over 99% for the past two weeks, with no major incidents and minimal unauthorized changes. Notably, all emergency changes were approved promptly within an acceptable timeframe.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1828800"/>
          <a:ext cx="57607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&lt;1.0%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Overall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3127248"/>
            <a:ext cx="2880360" cy="260604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3127248"/>
            <a:ext cx="2880360" cy="2606040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127248"/>
            <a:ext cx="5760720" cy="2606040"/>
          </a:xfrm>
          <a:prstGeom prst="rect">
            <a:avLst/>
          </a:prstGeom>
          <a:noFill/>
          <a:ln w="254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66644" y="3127248"/>
            <a:ext cx="27432" cy="26060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127248"/>
            <a:ext cx="2880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🏆  KEY ACHIEVEMENTS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127248"/>
            <a:ext cx="2880360" cy="274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⚡  RECOMMENDED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" y="344728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{'week': 'Week 4', 'total_changes': 50, 'emergency_changes': 2}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" y="395020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{'change_success_ratio': 1.0, 'failed_change_ratio': 0.0, 'unauthorized_change_rate': 0.006}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344728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4495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Maintain the current change management process to preserve high success rates.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4368" y="395020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Investigate and address any potential security gaps that led to unauthorized changes.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5779008"/>
          <a:ext cx="1218895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73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6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66928"/>
          <a:ext cx="12188946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96696"/>
            <a:ext cx="6245352" cy="2290572"/>
          </a:xfrm>
          <a:prstGeom prst="rect">
            <a:avLst/>
          </a:prstGeom>
        </p:spPr>
      </p:pic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943600" y="3415284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24 Apr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5760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6696"/>
            <a:ext cx="54864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1051560"/>
            <a:ext cx="5541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0000"/>
                </a:solidFill>
              </a:defRPr>
            </a:pPr>
            <a:r>
              <a:t>Summary</a:t>
            </a:r>
          </a:p>
          <a:p>
            <a:pPr>
              <a:defRPr sz="750">
                <a:solidFill>
                  <a:srgbClr val="3A3A3A"/>
                </a:solidFill>
              </a:defRPr>
            </a:pPr>
            <a:r>
              <a:t>The ITSM team consistently closed problems, with an average resolution time of just over four days and a focus on addressing recurring issues.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1828800"/>
          <a:ext cx="57607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Overall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3127248"/>
            <a:ext cx="2880360" cy="260604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3127248"/>
            <a:ext cx="2880360" cy="2606040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127248"/>
            <a:ext cx="5760720" cy="2606040"/>
          </a:xfrm>
          <a:prstGeom prst="rect">
            <a:avLst/>
          </a:prstGeom>
          <a:noFill/>
          <a:ln w="254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66644" y="3127248"/>
            <a:ext cx="27432" cy="26060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127248"/>
            <a:ext cx="2880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🏆  KEY ACHIEVEMENTS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127248"/>
            <a:ext cx="2880360" cy="274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⚡  RECOMMENDED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" y="344728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{'description': 'Closed 8 problems', 'number': 8}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" y="395020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{'description': 'RCA submitted for 2 P1s', 'number': 2}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" y="445312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" y="445312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" y="449884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{'description': "Proactive monitoring added for repeat incidents, reducing recurring issues to 2 from the previous week's count of less than three.", 'number': 2}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4368" y="344728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rPr dirty="0"/>
              <a:t>Investigate and address root causes identified in RCA submissions promptly to prevent reopening of problems.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5779008"/>
          <a:ext cx="1218895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73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6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66928"/>
          <a:ext cx="12188946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943600" y="996696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943600" y="3415284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CMDB  |  24 Apr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5760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6696"/>
            <a:ext cx="54864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1051560"/>
            <a:ext cx="5541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0000"/>
                </a:solidFill>
              </a:defRPr>
            </a:pPr>
            <a:r>
              <a:t>Summary</a:t>
            </a:r>
          </a:p>
          <a:p>
            <a:pPr>
              <a:defRPr sz="750">
                <a:solidFill>
                  <a:srgbClr val="3A3A3A"/>
                </a:solidFill>
              </a:defRPr>
            </a:pPr>
            <a:r>
              <a:t>The CMDB team has demonstrated strong performance in Week 4 with an audit compliance rate of 99.2% and CI accuracy at 97.7%. The number of orphan CIs was reduced to seven, down from nine last week.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1828800"/>
          <a:ext cx="576072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97.7%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&lt;10.0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&gt;98.0%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Overall Performance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2980944"/>
            <a:ext cx="2880360" cy="26517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2980944"/>
            <a:ext cx="2880360" cy="2651760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980944"/>
            <a:ext cx="5760720" cy="2651760"/>
          </a:xfrm>
          <a:prstGeom prst="rect">
            <a:avLst/>
          </a:prstGeom>
          <a:noFill/>
          <a:ln w="254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66644" y="2980944"/>
            <a:ext cx="27432" cy="265176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2980944"/>
            <a:ext cx="2880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302666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🏆  KEY ACHIEVEMENTS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980944"/>
            <a:ext cx="2880360" cy="274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302666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⚡  RECOMMENDED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" y="3300984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" y="3300984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3346704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{'week': 'Week 4', 'orphan CIs cleaned up': 3, 'stale records reduced': 12}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" y="3803904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" y="3803904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" y="3849624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{'audit compliance rate achieved': '&gt;98%'}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3300984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3300984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44952" y="3346704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Schedule additional resources for orphan CI resolution.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3803904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4368" y="3803904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849624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Implement more frequent audits to maintain high accuracy and reduce stale records.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5779008"/>
          <a:ext cx="1218895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73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6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66928"/>
          <a:ext cx="12188946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943600" y="996696"/>
          <a:ext cx="6245352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24 Apr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5760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6696"/>
            <a:ext cx="54864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1051560"/>
            <a:ext cx="5541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0000"/>
                </a:solidFill>
              </a:defRPr>
            </a:pPr>
            <a:r>
              <a:t>Summary</a:t>
            </a:r>
          </a:p>
          <a:p>
            <a:pPr>
              <a:defRPr sz="750">
                <a:solidFill>
                  <a:srgbClr val="3A3A3A"/>
                </a:solidFill>
              </a:defRPr>
            </a:pPr>
            <a:r>
              <a:t>The NOC team has 4 data record(s) in the current reporting window. Performance highlights indicate SLA Compliance (&gt;95%): 97.4%. Potential risk areas include SLA Compliance (&gt;95%): 97.4%. Recommended action is to sustain high-performing KPIs while prioritizing targeted corrective actions for underperforming indicators in the next cycle.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1828800"/>
          <a:ext cx="57607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Overall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3127248"/>
            <a:ext cx="2880360" cy="260604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3127248"/>
            <a:ext cx="2880360" cy="2606040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127248"/>
            <a:ext cx="5760720" cy="2606040"/>
          </a:xfrm>
          <a:prstGeom prst="rect">
            <a:avLst/>
          </a:prstGeom>
          <a:noFill/>
          <a:ln w="254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66644" y="3127248"/>
            <a:ext cx="27432" cy="26060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127248"/>
            <a:ext cx="2880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🏆  KEY ACHIEVEMENTS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127248"/>
            <a:ext cx="2880360" cy="274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⚡  RECOMMENDED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" y="344728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NOC data was processed successfully.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" y="395020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Automated KPI snapshot generated for this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344728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4495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AI analysis unavailable. Rule-based summary was applied.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4368" y="395020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Review low-performing KPIs and assign action owners.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5779008"/>
          <a:ext cx="1218895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73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6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66928"/>
          <a:ext cx="12188946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96696"/>
            <a:ext cx="6245352" cy="2290572"/>
          </a:xfrm>
          <a:prstGeom prst="rect">
            <a:avLst/>
          </a:prstGeom>
        </p:spPr>
      </p:pic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943600" y="3415284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24 Apr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5760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6696"/>
            <a:ext cx="54864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1051560"/>
            <a:ext cx="5541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0000"/>
                </a:solidFill>
              </a:defRPr>
            </a:pPr>
            <a:r>
              <a:t>Summary</a:t>
            </a:r>
          </a:p>
          <a:p>
            <a:pPr>
              <a:defRPr sz="750">
                <a:solidFill>
                  <a:srgbClr val="3A3A3A"/>
                </a:solidFill>
              </a:defRPr>
            </a:pPr>
            <a:r>
              <a:t>The ServiceNow team has 4 data record(s) in the current reporting window. Performance highlights indicate Resolution Rate (&gt;95%): 95.2%, First Call Resolution (&gt;80%): 84.0%. Potential risk areas include First Call Resolution (&gt;80%): 84.0%, Resolution Rate (&gt;95%): 95.2%. Recommended action is to sustain high-performing KPIs while prioritizing targeted corrective actions for underperforming indicators in the next cycle.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1828800"/>
          <a:ext cx="57607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&gt;80.0%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CSAT Score (&gt;4.0 out of 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Overall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3127248"/>
            <a:ext cx="2880360" cy="260604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3127248"/>
            <a:ext cx="2880360" cy="2606040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127248"/>
            <a:ext cx="5760720" cy="2606040"/>
          </a:xfrm>
          <a:prstGeom prst="rect">
            <a:avLst/>
          </a:prstGeom>
          <a:noFill/>
          <a:ln w="254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66644" y="3127248"/>
            <a:ext cx="27432" cy="26060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127248"/>
            <a:ext cx="2880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🏆  KEY ACHIEVEMENTS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127248"/>
            <a:ext cx="2880360" cy="274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⚡  RECOMMENDED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" y="344728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ServiceNow data was processed successfully.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" y="395020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Automated KPI snapshot generated for this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344728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4495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AI analysis unavailable. Rule-based summary was applied.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4368" y="395020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Review low-performing KPIs and assign action owners.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5779008"/>
          <a:ext cx="1218895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73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6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66928"/>
          <a:ext cx="12188946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96696"/>
            <a:ext cx="6245352" cy="2290572"/>
          </a:xfrm>
          <a:prstGeom prst="rect">
            <a:avLst/>
          </a:prstGeom>
        </p:spPr>
      </p:pic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943600" y="3415284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24 Apr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5760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6696"/>
            <a:ext cx="54864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1051560"/>
            <a:ext cx="5541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0000"/>
                </a:solidFill>
              </a:defRPr>
            </a:pPr>
            <a:r>
              <a:t>Summary</a:t>
            </a:r>
          </a:p>
          <a:p>
            <a:pPr>
              <a:defRPr sz="750">
                <a:solidFill>
                  <a:srgbClr val="3A3A3A"/>
                </a:solidFill>
              </a:defRPr>
            </a:pPr>
            <a:r>
              <a:t>The Service Desk team has 4 data record(s) in the current reporting window. Performance highlights indicate SLA Compliance (&gt;95%): 96.5%, FCR Rate (&gt;80%): 82.9%. Potential risk areas include FCR Rate (&gt;80%): 82.9%, SLA Compliance (&gt;95%): 96.5%. Recommended action is to sustain high-performing KPIs while prioritizing targeted corrective actions for underperforming indicators in the next cycle.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1828800"/>
          <a:ext cx="57607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82.9%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&lt;10.0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96.5%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&gt;95.0%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FFFFFF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Overall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3127248"/>
            <a:ext cx="2880360" cy="260604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3127248"/>
            <a:ext cx="2880360" cy="2606040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127248"/>
            <a:ext cx="5760720" cy="2606040"/>
          </a:xfrm>
          <a:prstGeom prst="rect">
            <a:avLst/>
          </a:prstGeom>
          <a:noFill/>
          <a:ln w="254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66644" y="3127248"/>
            <a:ext cx="27432" cy="26060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127248"/>
            <a:ext cx="2880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🏆  KEY ACHIEVEMENTS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127248"/>
            <a:ext cx="2880360" cy="274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3172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⚡  RECOMMENDED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" y="344728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Service Desk data was processed successfully.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" y="3950208"/>
            <a:ext cx="54864" cy="457200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7348"/>
                </a:solidFill>
              </a:defRPr>
            </a:pPr>
            <a:r>
              <a:t>Automated KPI snapshot generated for this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344728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344728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44952" y="349300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rPr dirty="0"/>
              <a:t>AI analysis unavailable. Rule-based summary was applied.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3950208"/>
            <a:ext cx="27523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4368" y="3950208"/>
            <a:ext cx="54864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99592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CC0000"/>
                </a:solidFill>
              </a:defRPr>
            </a:pPr>
            <a:r>
              <a:t>Review low-performing KPIs and assign action owners.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5779008"/>
          <a:ext cx="1218895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73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3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6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66928"/>
          <a:ext cx="12188946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943600" y="996696"/>
          <a:ext cx="6245352" cy="2290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415284"/>
            <a:ext cx="6245352" cy="22905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1945</Words>
  <Application>Microsoft Office PowerPoint</Application>
  <PresentationFormat>Custom</PresentationFormat>
  <Paragraphs>473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Gupta</cp:lastModifiedBy>
  <cp:revision>3</cp:revision>
  <dcterms:created xsi:type="dcterms:W3CDTF">2013-01-27T09:14:16Z</dcterms:created>
  <dcterms:modified xsi:type="dcterms:W3CDTF">2026-04-24T19:23:45Z</dcterms:modified>
  <cp:category/>
</cp:coreProperties>
</file>