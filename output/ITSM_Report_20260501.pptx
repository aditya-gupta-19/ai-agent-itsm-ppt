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MI</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3.0</c:v>
                </c:pt>
                <c:pt idx="1">
                  <c:v>4.0</c:v>
                </c:pt>
                <c:pt idx="2">
                  <c:v>3.0</c:v>
                </c:pt>
                <c:pt idx="3">
                  <c:v>2.0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MIR Conducted</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3.0</c:v>
                </c:pt>
                <c:pt idx="1">
                  <c:v>4.0</c:v>
                </c:pt>
                <c:pt idx="2">
                  <c:v>3.0</c:v>
                </c:pt>
                <c:pt idx="3">
                  <c:v>5.0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2"/>
          <c:order val="2"/>
          <c:tx>
            <c:strRef>
              <c:f>Sheet1!$D$1</c:f>
              <c:strCache>
                <c:ptCount val="1"/>
                <c:pt idx="0">
                  <c:v># of P2</c:v>
                </c:pt>
              </c:strCache>
            </c:strRef>
          </c:tx>
          <c:spPr>
            <a:ln w="22860">
              <a:solidFill>
                <a:srgbClr val="1F3864"/>
              </a:solidFill>
            </a:ln>
          </c:spPr>
          <c:cat>
            <c:strRef>
              <c:f>Sheet1!$A$2:$A$5</c:f>
              <c:strCache>
                <c:ptCount val="4"/>
                <c:pt idx="0">
                  <c:v>W1</c:v>
                </c:pt>
                <c:pt idx="1">
                  <c:v>W2</c:v>
                </c:pt>
                <c:pt idx="2">
                  <c:v>W3</c:v>
                </c:pt>
                <c:pt idx="3">
                  <c:v>W4</c:v>
                </c:pt>
              </c:strCache>
            </c:strRef>
          </c:cat>
          <c:val>
            <c:numRef>
              <c:f>Sheet1!$D$2:$D$5</c:f>
              <c:numCache>
                <c:formatCode>General</c:formatCode>
                <c:ptCount val="4"/>
                <c:pt idx="0">
                  <c:v>2.0</c:v>
                </c:pt>
                <c:pt idx="1">
                  <c:v>3.0</c:v>
                </c:pt>
                <c:pt idx="2">
                  <c:v>3.0</c:v>
                </c:pt>
                <c:pt idx="3">
                  <c:v>2.0</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 of P1</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1.0</c:v>
                </c:pt>
                <c:pt idx="1">
                  <c:v>1.0</c:v>
                </c:pt>
                <c:pt idx="2">
                  <c:v>0.0</c:v>
                </c:pt>
                <c:pt idx="3">
                  <c:v>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1"/>
          <c:order val="1"/>
          <c:tx>
            <c:strRef>
              <c:f>Sheet1!$C$1</c:f>
              <c:strCache>
                <c:ptCount val="1"/>
                <c:pt idx="0">
                  <c:v>100% Adherence to the MIM process</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100.0</c:v>
                </c:pt>
                <c:pt idx="1">
                  <c:v>100.0</c:v>
                </c:pt>
                <c:pt idx="2">
                  <c:v>100.0</c:v>
                </c:pt>
                <c:pt idx="3">
                  <c:v>100.0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2"/>
          <c:order val="2"/>
          <c:tx>
            <c:strRef>
              <c:f>Sheet1!$D$1</c:f>
              <c:strCache>
                <c:ptCount val="1"/>
                <c:pt idx="0">
                  <c:v>Accurate stakeholder communications</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100.0</c:v>
                </c:pt>
                <c:pt idx="1">
                  <c:v>100.0</c:v>
                </c:pt>
                <c:pt idx="2">
                  <c:v>100.0</c:v>
                </c:pt>
                <c:pt idx="3">
                  <c:v>100.0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3"/>
          <c:order val="3"/>
          <c:tx>
            <c:strRef>
              <c:f>Sheet1!$E$1</c:f>
              <c:strCache>
                <c:ptCount val="1"/>
                <c:pt idx="0">
                  <c:v>Consistency in the Service now fields</c:v>
                </c:pt>
              </c:strCache>
            </c:strRef>
          </c:tx>
          <c:spPr>
            <a:solidFill>
              <a:srgbClr val="0F6E56"/>
            </a:solidFill>
          </c:spPr>
          <c:cat>
            <c:strRef>
              <c:f>Sheet1!$A$2:$A$5</c:f>
              <c:strCache>
                <c:ptCount val="4"/>
                <c:pt idx="0">
                  <c:v>W1</c:v>
                </c:pt>
                <c:pt idx="1">
                  <c:v>W2</c:v>
                </c:pt>
                <c:pt idx="2">
                  <c:v>W3</c:v>
                </c:pt>
                <c:pt idx="3">
                  <c:v>W4</c:v>
                </c:pt>
              </c:strCache>
            </c:strRef>
          </c:cat>
          <c:val>
            <c:numRef>
              <c:f>Sheet1!$E$2:$E$5</c:f>
              <c:numCache>
                <c:formatCode>General</c:formatCode>
                <c:ptCount val="4"/>
                <c:pt idx="0">
                  <c:v>100.0</c:v>
                </c:pt>
                <c:pt idx="1">
                  <c:v>100.0</c:v>
                </c:pt>
                <c:pt idx="2">
                  <c:v>100.0</c:v>
                </c:pt>
                <c:pt idx="3">
                  <c:v>100.0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legend>
      <c:legendPos val="b"/>
      <c:layout/>
      <c:overlay val="0"/>
      <c:txPr>
        <a:bodyPr/>
        <a:lstStyle/>
        <a:p>
          <a:pPr>
            <a:defRPr sz="900" b="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Changes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48.0</c:v>
                </c:pt>
                <c:pt idx="1">
                  <c:v>52.0</c:v>
                </c:pt>
                <c:pt idx="2">
                  <c:v>45.0</c:v>
                </c:pt>
                <c:pt idx="3">
                  <c:v>50.0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1"/>
          <c:order val="1"/>
          <c:tx>
            <c:strRef>
              <c:f>Sheet1!$C$1</c:f>
              <c:strCache>
                <c:ptCount val="1"/>
                <c:pt idx="0">
                  <c:v>Emergency Changes</c:v>
                </c:pt>
              </c:strCache>
            </c:strRef>
          </c:tx>
          <c:spPr>
            <a:ln w="22860">
              <a:solidFill>
                <a:srgbClr val="1F3864"/>
              </a:solidFill>
            </a:ln>
          </c:spPr>
          <c:cat>
            <c:strRef>
              <c:f>Sheet1!$A$2:$A$5</c:f>
              <c:strCache>
                <c:ptCount val="4"/>
                <c:pt idx="0">
                  <c:v>W1</c:v>
                </c:pt>
                <c:pt idx="1">
                  <c:v>W2</c:v>
                </c:pt>
                <c:pt idx="2">
                  <c:v>W3</c:v>
                </c:pt>
                <c:pt idx="3">
                  <c:v>W4</c:v>
                </c:pt>
              </c:strCache>
            </c:strRef>
          </c:cat>
          <c:val>
            <c:numRef>
              <c:f>Sheet1!$C$2:$C$5</c:f>
              <c:numCache>
                <c:formatCode>General</c:formatCode>
                <c:ptCount val="4"/>
                <c:pt idx="0">
                  <c:v>2.0</c:v>
                </c:pt>
                <c:pt idx="1">
                  <c:v>1.0</c:v>
                </c:pt>
                <c:pt idx="2">
                  <c:v>3.0</c:v>
                </c:pt>
                <c:pt idx="3">
                  <c:v>2.0</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Change Success Ratio</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100.0</c:v>
                </c:pt>
                <c:pt idx="1">
                  <c:v>99.0</c:v>
                </c:pt>
                <c:pt idx="2">
                  <c:v>100.0</c:v>
                </c:pt>
                <c:pt idx="3">
                  <c:v>100.0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1"/>
          <c:order val="1"/>
          <c:tx>
            <c:strRef>
              <c:f>Sheet1!$C$1</c:f>
              <c:strCache>
                <c:ptCount val="1"/>
                <c:pt idx="0">
                  <c:v>Change Causing MI</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2.1</c:v>
                </c:pt>
                <c:pt idx="1">
                  <c:v>1.9</c:v>
                </c:pt>
                <c:pt idx="2">
                  <c:v>0.0</c:v>
                </c:pt>
                <c:pt idx="3">
                  <c:v>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2"/>
          <c:order val="2"/>
          <c:tx>
            <c:strRef>
              <c:f>Sheet1!$D$1</c:f>
              <c:strCache>
                <c:ptCount val="1"/>
                <c:pt idx="0">
                  <c:v>Failed Change Ratio</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0.0</c:v>
                </c:pt>
                <c:pt idx="1">
                  <c:v>0.5</c:v>
                </c:pt>
                <c:pt idx="2">
                  <c:v>0.0</c:v>
                </c:pt>
                <c:pt idx="3">
                  <c:v>0.0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3"/>
          <c:order val="3"/>
          <c:tx>
            <c:strRef>
              <c:f>Sheet1!$E$1</c:f>
              <c:strCache>
                <c:ptCount val="1"/>
                <c:pt idx="0">
                  <c:v>Unauthorised Change rate</c:v>
                </c:pt>
              </c:strCache>
            </c:strRef>
          </c:tx>
          <c:spPr>
            <a:solidFill>
              <a:srgbClr val="0F6E56"/>
            </a:solidFill>
          </c:spPr>
          <c:cat>
            <c:strRef>
              <c:f>Sheet1!$A$2:$A$5</c:f>
              <c:strCache>
                <c:ptCount val="4"/>
                <c:pt idx="0">
                  <c:v>W1</c:v>
                </c:pt>
                <c:pt idx="1">
                  <c:v>W2</c:v>
                </c:pt>
                <c:pt idx="2">
                  <c:v>W3</c:v>
                </c:pt>
                <c:pt idx="3">
                  <c:v>W4</c:v>
                </c:pt>
              </c:strCache>
            </c:strRef>
          </c:cat>
          <c:val>
            <c:numRef>
              <c:f>Sheet1!$E$2:$E$5</c:f>
              <c:numCache>
                <c:formatCode>General</c:formatCode>
                <c:ptCount val="4"/>
                <c:pt idx="0">
                  <c:v>0.4</c:v>
                </c:pt>
                <c:pt idx="1">
                  <c:v>0.3</c:v>
                </c:pt>
                <c:pt idx="2">
                  <c:v>0.2</c:v>
                </c:pt>
                <c:pt idx="3">
                  <c:v>0.6</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legend>
      <c:legendPos val="b"/>
      <c:layout/>
      <c:overlay val="0"/>
      <c:txPr>
        <a:bodyPr/>
        <a:lstStyle/>
        <a:p>
          <a:pPr>
            <a:defRPr sz="900" b="0"/>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Problems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18.0</c:v>
                </c:pt>
                <c:pt idx="1">
                  <c:v>15.0</c:v>
                </c:pt>
                <c:pt idx="2">
                  <c:v>12.0</c:v>
                </c:pt>
                <c:pt idx="3">
                  <c:v>11.0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Problems Resolved</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8.0</c:v>
                </c:pt>
                <c:pt idx="1">
                  <c:v>9.0</c:v>
                </c:pt>
                <c:pt idx="2">
                  <c:v>8.0</c:v>
                </c:pt>
                <c:pt idx="3">
                  <c:v>8.0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2"/>
          <c:order val="2"/>
          <c:tx>
            <c:strRef>
              <c:f>Sheet1!$D$1</c:f>
              <c:strCache>
                <c:ptCount val="1"/>
                <c:pt idx="0">
                  <c:v>New Problems Raised</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5.0</c:v>
                </c:pt>
                <c:pt idx="1">
                  <c:v>4.0</c:v>
                </c:pt>
                <c:pt idx="2">
                  <c:v>3.0</c:v>
                </c:pt>
                <c:pt idx="3">
                  <c:v>3.0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3"/>
          <c:order val="3"/>
          <c:tx>
            <c:strRef>
              <c:f>Sheet1!$E$1</c:f>
              <c:strCache>
                <c:ptCount val="1"/>
                <c:pt idx="0">
                  <c:v>Avg Resolution Days</c:v>
                </c:pt>
              </c:strCache>
            </c:strRef>
          </c:tx>
          <c:spPr>
            <a:ln w="22860">
              <a:solidFill>
                <a:srgbClr val="1F3864"/>
              </a:solidFill>
            </a:ln>
          </c:spPr>
          <c:cat>
            <c:strRef>
              <c:f>Sheet1!$A$2:$A$5</c:f>
              <c:strCache>
                <c:ptCount val="4"/>
                <c:pt idx="0">
                  <c:v>W1</c:v>
                </c:pt>
                <c:pt idx="1">
                  <c:v>W2</c:v>
                </c:pt>
                <c:pt idx="2">
                  <c:v>W3</c:v>
                </c:pt>
                <c:pt idx="3">
                  <c:v>W4</c:v>
                </c:pt>
              </c:strCache>
            </c:strRef>
          </c:cat>
          <c:val>
            <c:numRef>
              <c:f>Sheet1!$E$2:$E$5</c:f>
              <c:numCache>
                <c:formatCode>General</c:formatCode>
                <c:ptCount val="4"/>
                <c:pt idx="0">
                  <c:v>3.8</c:v>
                </c:pt>
                <c:pt idx="1">
                  <c:v>4.0</c:v>
                </c:pt>
                <c:pt idx="2">
                  <c:v>3.5</c:v>
                </c:pt>
                <c:pt idx="3">
                  <c:v>4.2</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CIs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12480.0</c:v>
                </c:pt>
                <c:pt idx="1">
                  <c:v>12495.0</c:v>
                </c:pt>
                <c:pt idx="2">
                  <c:v>12510.0</c:v>
                </c:pt>
                <c:pt idx="3">
                  <c:v>12524.0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CIs Verified This Week</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145.0</c:v>
                </c:pt>
                <c:pt idx="1">
                  <c:v>132.0</c:v>
                </c:pt>
                <c:pt idx="2">
                  <c:v>158.0</c:v>
                </c:pt>
                <c:pt idx="3">
                  <c:v>141.0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2"/>
          <c:order val="2"/>
          <c:tx>
            <c:strRef>
              <c:f>Sheet1!$D$1</c:f>
              <c:strCache>
                <c:ptCount val="1"/>
                <c:pt idx="0">
                  <c:v>Orphan CIs</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8.0</c:v>
                </c:pt>
                <c:pt idx="1">
                  <c:v>7.0</c:v>
                </c:pt>
                <c:pt idx="2">
                  <c:v>9.0</c:v>
                </c:pt>
                <c:pt idx="3">
                  <c:v>7.0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3"/>
          <c:order val="3"/>
          <c:tx>
            <c:strRef>
              <c:f>Sheet1!$E$1</c:f>
              <c:strCache>
                <c:ptCount val="1"/>
                <c:pt idx="0">
                  <c:v>Stale Records</c:v>
                </c:pt>
              </c:strCache>
            </c:strRef>
          </c:tx>
          <c:spPr>
            <a:ln w="22860">
              <a:solidFill>
                <a:srgbClr val="1F3864"/>
              </a:solidFill>
            </a:ln>
          </c:spPr>
          <c:cat>
            <c:strRef>
              <c:f>Sheet1!$A$2:$A$5</c:f>
              <c:strCache>
                <c:ptCount val="4"/>
                <c:pt idx="0">
                  <c:v>W1</c:v>
                </c:pt>
                <c:pt idx="1">
                  <c:v>W2</c:v>
                </c:pt>
                <c:pt idx="2">
                  <c:v>W3</c:v>
                </c:pt>
                <c:pt idx="3">
                  <c:v>W4</c:v>
                </c:pt>
              </c:strCache>
            </c:strRef>
          </c:cat>
          <c:val>
            <c:numRef>
              <c:f>Sheet1!$E$2:$E$5</c:f>
              <c:numCache>
                <c:formatCode>General</c:formatCode>
                <c:ptCount val="4"/>
                <c:pt idx="0">
                  <c:v>14.0</c:v>
                </c:pt>
                <c:pt idx="1">
                  <c:v>13.0</c:v>
                </c:pt>
                <c:pt idx="2">
                  <c:v>15.0</c:v>
                </c:pt>
                <c:pt idx="3">
                  <c:v>12.0</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 Accuracy</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97.8</c:v>
                </c:pt>
                <c:pt idx="1">
                  <c:v>98.0</c:v>
                </c:pt>
                <c:pt idx="2">
                  <c:v>97.5</c:v>
                </c:pt>
                <c:pt idx="3">
                  <c:v>97.7</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1"/>
          <c:order val="1"/>
          <c:tx>
            <c:strRef>
              <c:f>Sheet1!$C$1</c:f>
              <c:strCache>
                <c:ptCount val="1"/>
                <c:pt idx="0">
                  <c:v>Audit Compliance</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99.3</c:v>
                </c:pt>
                <c:pt idx="1">
                  <c:v>99.1</c:v>
                </c:pt>
                <c:pt idx="2">
                  <c:v>98.9</c:v>
                </c:pt>
                <c:pt idx="3">
                  <c:v>99.2</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legend>
      <c:legendPos val="b"/>
      <c:layout/>
      <c:overlay val="0"/>
      <c:txPr>
        <a:bodyPr/>
        <a:lstStyle/>
        <a:p>
          <a:pPr>
            <a:defRPr sz="900" b="0"/>
          </a:pPr>
        </a:p>
      </c:txPr>
    </c:legend>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1842.0</c:v>
                </c:pt>
                <c:pt idx="1">
                  <c:v>1975.0</c:v>
                </c:pt>
                <c:pt idx="2">
                  <c:v>1723.0</c:v>
                </c:pt>
                <c:pt idx="3">
                  <c:v>1890.0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Alerts Auto-Resolved</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1560.0</c:v>
                </c:pt>
                <c:pt idx="1">
                  <c:v>1680.0</c:v>
                </c:pt>
                <c:pt idx="2">
                  <c:v>1490.0</c:v>
                </c:pt>
                <c:pt idx="3">
                  <c:v>1610.0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2"/>
          <c:order val="2"/>
          <c:tx>
            <c:strRef>
              <c:f>Sheet1!$D$1</c:f>
              <c:strCache>
                <c:ptCount val="1"/>
                <c:pt idx="0">
                  <c:v>P1 Incidents</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1.0</c:v>
                </c:pt>
                <c:pt idx="1">
                  <c:v>2.0</c:v>
                </c:pt>
                <c:pt idx="2">
                  <c:v>1.0</c:v>
                </c:pt>
                <c:pt idx="3">
                  <c:v>2.0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3"/>
          <c:order val="3"/>
          <c:tx>
            <c:strRef>
              <c:f>Sheet1!$E$1</c:f>
              <c:strCache>
                <c:ptCount val="1"/>
                <c:pt idx="0">
                  <c:v>P2 Incidents</c:v>
                </c:pt>
              </c:strCache>
            </c:strRef>
          </c:tx>
          <c:spPr>
            <a:ln w="22860">
              <a:solidFill>
                <a:srgbClr val="1F3864"/>
              </a:solidFill>
            </a:ln>
          </c:spPr>
          <c:cat>
            <c:strRef>
              <c:f>Sheet1!$A$2:$A$5</c:f>
              <c:strCache>
                <c:ptCount val="4"/>
                <c:pt idx="0">
                  <c:v>W1</c:v>
                </c:pt>
                <c:pt idx="1">
                  <c:v>W2</c:v>
                </c:pt>
                <c:pt idx="2">
                  <c:v>W3</c:v>
                </c:pt>
                <c:pt idx="3">
                  <c:v>W4</c:v>
                </c:pt>
              </c:strCache>
            </c:strRef>
          </c:cat>
          <c:val>
            <c:numRef>
              <c:f>Sheet1!$E$2:$E$5</c:f>
              <c:numCache>
                <c:formatCode>General</c:formatCode>
                <c:ptCount val="4"/>
                <c:pt idx="0">
                  <c:v>5.0</c:v>
                </c:pt>
                <c:pt idx="1">
                  <c:v>6.0</c:v>
                </c:pt>
                <c:pt idx="2">
                  <c:v>7.0</c:v>
                </c:pt>
                <c:pt idx="3">
                  <c:v>5.0</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SLA Compliance</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97.1</c:v>
                </c:pt>
                <c:pt idx="1">
                  <c:v>96.8</c:v>
                </c:pt>
                <c:pt idx="2">
                  <c:v>97.2</c:v>
                </c:pt>
                <c:pt idx="3">
                  <c:v>97.4</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Tickets</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210.0</c:v>
                </c:pt>
                <c:pt idx="1">
                  <c:v>225.0</c:v>
                </c:pt>
                <c:pt idx="2">
                  <c:v>198.0</c:v>
                </c:pt>
                <c:pt idx="3">
                  <c:v>230.0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Tickets Resolved</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201.0</c:v>
                </c:pt>
                <c:pt idx="1">
                  <c:v>215.0</c:v>
                </c:pt>
                <c:pt idx="2">
                  <c:v>192.0</c:v>
                </c:pt>
                <c:pt idx="3">
                  <c:v>219.0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2"/>
          <c:order val="2"/>
          <c:tx>
            <c:strRef>
              <c:f>Sheet1!$D$1</c:f>
              <c:strCache>
                <c:ptCount val="1"/>
                <c:pt idx="0">
                  <c:v>Escalated Tickets</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12.0</c:v>
                </c:pt>
                <c:pt idx="1">
                  <c:v>10.0</c:v>
                </c:pt>
                <c:pt idx="2">
                  <c:v>8.0</c:v>
                </c:pt>
                <c:pt idx="3">
                  <c:v>9.0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3"/>
          <c:order val="3"/>
          <c:tx>
            <c:strRef>
              <c:f>Sheet1!$E$1</c:f>
              <c:strCache>
                <c:ptCount val="1"/>
                <c:pt idx="0">
                  <c:v>CSAT Score</c:v>
                </c:pt>
              </c:strCache>
            </c:strRef>
          </c:tx>
          <c:spPr>
            <a:ln w="22860">
              <a:solidFill>
                <a:srgbClr val="1F3864"/>
              </a:solidFill>
            </a:ln>
          </c:spPr>
          <c:cat>
            <c:strRef>
              <c:f>Sheet1!$A$2:$A$5</c:f>
              <c:strCache>
                <c:ptCount val="4"/>
                <c:pt idx="0">
                  <c:v>W1</c:v>
                </c:pt>
                <c:pt idx="1">
                  <c:v>W2</c:v>
                </c:pt>
                <c:pt idx="2">
                  <c:v>W3</c:v>
                </c:pt>
                <c:pt idx="3">
                  <c:v>W4</c:v>
                </c:pt>
              </c:strCache>
            </c:strRef>
          </c:cat>
          <c:val>
            <c:numRef>
              <c:f>Sheet1!$E$2:$E$5</c:f>
              <c:numCache>
                <c:formatCode>General</c:formatCode>
                <c:ptCount val="4"/>
                <c:pt idx="0">
                  <c:v>4.2</c:v>
                </c:pt>
                <c:pt idx="1">
                  <c:v>4.3</c:v>
                </c:pt>
                <c:pt idx="2">
                  <c:v>4.1</c:v>
                </c:pt>
                <c:pt idx="3">
                  <c:v>4.4</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Resolution Rate</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95.7</c:v>
                </c:pt>
                <c:pt idx="1">
                  <c:v>95.6</c:v>
                </c:pt>
                <c:pt idx="2">
                  <c:v>97.0</c:v>
                </c:pt>
                <c:pt idx="3">
                  <c:v>95.2</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1"/>
          <c:order val="1"/>
          <c:tx>
            <c:strRef>
              <c:f>Sheet1!$C$1</c:f>
              <c:strCache>
                <c:ptCount val="1"/>
                <c:pt idx="0">
                  <c:v>First Call Resolution</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81.0</c:v>
                </c:pt>
                <c:pt idx="1">
                  <c:v>82.0</c:v>
                </c:pt>
                <c:pt idx="2">
                  <c:v>83.0</c:v>
                </c:pt>
                <c:pt idx="3">
                  <c:v>84.0</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legend>
      <c:legendPos val="b"/>
      <c:layout/>
      <c:overlay val="0"/>
      <c:txPr>
        <a:bodyPr/>
        <a:lstStyle/>
        <a:p>
          <a:pPr>
            <a:defRPr sz="900" b="0"/>
          </a:pPr>
        </a:p>
      </c:txPr>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Calls Received</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320.0</c:v>
                </c:pt>
                <c:pt idx="1">
                  <c:v>305.0</c:v>
                </c:pt>
                <c:pt idx="2">
                  <c:v>340.0</c:v>
                </c:pt>
                <c:pt idx="3">
                  <c:v>310.0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1"/>
          <c:order val="1"/>
          <c:tx>
            <c:strRef>
              <c:f>Sheet1!$C$1</c:f>
              <c:strCache>
                <c:ptCount val="1"/>
                <c:pt idx="0">
                  <c:v>Calls Resolved</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295.0</c:v>
                </c:pt>
                <c:pt idx="1">
                  <c:v>280.0</c:v>
                </c:pt>
                <c:pt idx="2">
                  <c:v>315.0</c:v>
                </c:pt>
                <c:pt idx="3">
                  <c:v>288.0</c:v>
                </c:pt>
              </c:numCache>
            </c:numRef>
          </c:val>
          <c:dLbls>
            <c:numFmt formatCode="General" sourceLinked="0"/>
            <c:txPr>
              <a:bodyPr/>
              <a:lstStyle/>
              <a:p>
                <a:pPr>
                  <a:defRPr sz="700"/>
                </a:pPr>
              </a:p>
            </c:txPr>
            <c:dLblPos val="inEnd"/>
            <c:showLegendKey val="0"/>
            <c:showVal val="1"/>
            <c:showCatName val="0"/>
            <c:showSerName val="0"/>
            <c:showPercent val="0"/>
            <c:showBubbleSize val="0"/>
          </c:dLbls>
        </c:ser>
        <c:ser>
          <c:idx val="2"/>
          <c:order val="2"/>
          <c:tx>
            <c:strRef>
              <c:f>Sheet1!$D$1</c:f>
              <c:strCache>
                <c:ptCount val="1"/>
                <c:pt idx="0">
                  <c:v>Abandoned Calls</c:v>
                </c:pt>
              </c:strCache>
            </c:strRef>
          </c:tx>
          <c:spPr>
            <a:solidFill>
              <a:srgbClr val="595757"/>
            </a:solidFill>
          </c:spPr>
          <c:cat>
            <c:strRef>
              <c:f>Sheet1!$A$2:$A$5</c:f>
              <c:strCache>
                <c:ptCount val="4"/>
                <c:pt idx="0">
                  <c:v>W1</c:v>
                </c:pt>
                <c:pt idx="1">
                  <c:v>W2</c:v>
                </c:pt>
                <c:pt idx="2">
                  <c:v>W3</c:v>
                </c:pt>
                <c:pt idx="3">
                  <c:v>W4</c:v>
                </c:pt>
              </c:strCache>
            </c:strRef>
          </c:cat>
          <c:val>
            <c:numRef>
              <c:f>Sheet1!$D$2:$D$5</c:f>
              <c:numCache>
                <c:formatCode>General</c:formatCode>
                <c:ptCount val="4"/>
                <c:pt idx="0">
                  <c:v>18.0</c:v>
                </c:pt>
                <c:pt idx="1">
                  <c:v>22.0</c:v>
                </c:pt>
                <c:pt idx="2">
                  <c:v>15.0</c:v>
                </c:pt>
                <c:pt idx="3">
                  <c:v>14.0</c:v>
                </c:pt>
              </c:numCache>
            </c:numRef>
          </c:val>
          <c:dLbls>
            <c:numFmt formatCode="General" sourceLinked="0"/>
            <c:txPr>
              <a:bodyPr/>
              <a:lstStyle/>
              <a:p>
                <a:pPr>
                  <a:defRPr sz="700"/>
                </a:pPr>
              </a:p>
            </c:txPr>
            <c:dLblPos val="inEnd"/>
            <c:showLegendKey val="0"/>
            <c:showVal val="1"/>
            <c:showCatName val="0"/>
            <c:showSerName val="0"/>
            <c:showPercent val="0"/>
            <c:showBubbleSize val="0"/>
          </c:dLbls>
        </c:ser>
        <c:axId val="-2068027336"/>
        <c:axId val="-2113994440"/>
      </c:barChart>
      <c:lineChart>
        <c:grouping val="standard"/>
        <c:varyColors val="0"/>
        <c:ser>
          <c:idx val="3"/>
          <c:order val="3"/>
          <c:tx>
            <c:strRef>
              <c:f>Sheet1!$E$1</c:f>
              <c:strCache>
                <c:ptCount val="1"/>
                <c:pt idx="0">
                  <c:v>Avg Handle Time Mins</c:v>
                </c:pt>
              </c:strCache>
            </c:strRef>
          </c:tx>
          <c:spPr>
            <a:ln w="22860">
              <a:solidFill>
                <a:srgbClr val="1F3864"/>
              </a:solidFill>
            </a:ln>
          </c:spPr>
          <c:cat>
            <c:strRef>
              <c:f>Sheet1!$A$2:$A$5</c:f>
              <c:strCache>
                <c:ptCount val="4"/>
                <c:pt idx="0">
                  <c:v>W1</c:v>
                </c:pt>
                <c:pt idx="1">
                  <c:v>W2</c:v>
                </c:pt>
                <c:pt idx="2">
                  <c:v>W3</c:v>
                </c:pt>
                <c:pt idx="3">
                  <c:v>W4</c:v>
                </c:pt>
              </c:strCache>
            </c:strRef>
          </c:cat>
          <c:val>
            <c:numRef>
              <c:f>Sheet1!$E$2:$E$5</c:f>
              <c:numCache>
                <c:formatCode>General</c:formatCode>
                <c:ptCount val="4"/>
                <c:pt idx="0">
                  <c:v>8.5</c:v>
                </c:pt>
                <c:pt idx="1">
                  <c:v>8.8</c:v>
                </c:pt>
                <c:pt idx="2">
                  <c:v>8.2</c:v>
                </c:pt>
                <c:pt idx="3">
                  <c:v>8.4</c:v>
                </c:pt>
              </c:numCache>
            </c:numRef>
          </c:val>
          <c:marker>
            <c:symbol val="circle"/>
            <c:size val="5"/>
          </c:marker>
          <c:smooth val="0"/>
          <c:dLbls>
            <c:numFmt formatCode="General" sourceLinked="0"/>
            <c:txPr>
              <a:bodyPr/>
              <a:lstStyle/>
              <a:p>
                <a:pPr>
                  <a:defRPr sz="700"/>
                </a:pPr>
              </a:p>
            </c:txPr>
            <c:dLblPos val="bestFit"/>
            <c:showLegendKey val="0"/>
            <c:showVal val="1"/>
            <c:showCatName val="0"/>
            <c:showSerName val="0"/>
            <c:showPercent val="0"/>
            <c:showBubbleSize val="0"/>
          </c:dLbls>
        </c:ser>
        <c:axId val="-2068027336"/>
        <c:axId val="-2113994439"/>
      </c:line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none"/>
        <c:minorTickMark val="none"/>
        <c:tickLblPos val="none"/>
        <c:crossAx val="-2068027336"/>
        <c:crosses val="autoZero"/>
      </c:valAx>
      <c:valAx>
        <c:axId val="-2113994439"/>
        <c:scaling>
          <c:orientation val="minMax"/>
        </c:scaling>
        <c:delete val="0"/>
        <c:axPos val="r"/>
        <c:numFmt formatCode="General" sourceLinked="0"/>
        <c:majorTickMark val="none"/>
        <c:minorTickMark val="none"/>
        <c:tickLblPos val="none"/>
        <c:crossAx val="-2068027336"/>
        <c:crosses val="max"/>
        <c:crossBetween val="midCat"/>
      </c:valAx>
    </c:plotArea>
    <c:legend>
      <c:legendPos val="b"/>
      <c:overlay val="0"/>
      <c:txPr>
        <a:bodyPr/>
        <a:lstStyle/>
        <a:p>
          <a:pPr>
            <a:defRPr sz="900" b="0"/>
          </a:pPr>
        </a:p>
      </c:txPr>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FCR Rate</c:v>
                </c:pt>
              </c:strCache>
            </c:strRef>
          </c:tx>
          <c:spPr>
            <a:solidFill>
              <a:srgbClr val="CC0000"/>
            </a:solidFill>
          </c:spPr>
          <c:cat>
            <c:strRef>
              <c:f>Sheet1!$A$2:$A$5</c:f>
              <c:strCache>
                <c:ptCount val="4"/>
                <c:pt idx="0">
                  <c:v>W1</c:v>
                </c:pt>
                <c:pt idx="1">
                  <c:v>W2</c:v>
                </c:pt>
                <c:pt idx="2">
                  <c:v>W3</c:v>
                </c:pt>
                <c:pt idx="3">
                  <c:v>W4</c:v>
                </c:pt>
              </c:strCache>
            </c:strRef>
          </c:cat>
          <c:val>
            <c:numRef>
              <c:f>Sheet1!$B$2:$B$5</c:f>
              <c:numCache>
                <c:formatCode>General</c:formatCode>
                <c:ptCount val="4"/>
                <c:pt idx="0">
                  <c:v>82.2</c:v>
                </c:pt>
                <c:pt idx="1">
                  <c:v>81.8</c:v>
                </c:pt>
                <c:pt idx="2">
                  <c:v>82.6</c:v>
                </c:pt>
                <c:pt idx="3">
                  <c:v>82.9</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ser>
          <c:idx val="1"/>
          <c:order val="1"/>
          <c:tx>
            <c:strRef>
              <c:f>Sheet1!$C$1</c:f>
              <c:strCache>
                <c:ptCount val="1"/>
                <c:pt idx="0">
                  <c:v>SLA Compliance</c:v>
                </c:pt>
              </c:strCache>
            </c:strRef>
          </c:tx>
          <c:spPr>
            <a:solidFill>
              <a:srgbClr val="1F3864"/>
            </a:solidFill>
          </c:spPr>
          <c:cat>
            <c:strRef>
              <c:f>Sheet1!$A$2:$A$5</c:f>
              <c:strCache>
                <c:ptCount val="4"/>
                <c:pt idx="0">
                  <c:v>W1</c:v>
                </c:pt>
                <c:pt idx="1">
                  <c:v>W2</c:v>
                </c:pt>
                <c:pt idx="2">
                  <c:v>W3</c:v>
                </c:pt>
                <c:pt idx="3">
                  <c:v>W4</c:v>
                </c:pt>
              </c:strCache>
            </c:strRef>
          </c:cat>
          <c:val>
            <c:numRef>
              <c:f>Sheet1!$C$2:$C$5</c:f>
              <c:numCache>
                <c:formatCode>General</c:formatCode>
                <c:ptCount val="4"/>
                <c:pt idx="0">
                  <c:v>96.2</c:v>
                </c:pt>
                <c:pt idx="1">
                  <c:v>95.8</c:v>
                </c:pt>
                <c:pt idx="2">
                  <c:v>97.1</c:v>
                </c:pt>
                <c:pt idx="3">
                  <c:v>96.5</c:v>
                </c:pt>
              </c:numCache>
            </c:numRef>
          </c:val>
          <c:smooth val="0"/>
          <c:dLbls>
            <c:numFmt formatCode="General" sourceLinked="0"/>
            <c:txPr>
              <a:bodyPr/>
              <a:lstStyle/>
              <a:p>
                <a:pPr>
                  <a:defRPr sz="700"/>
                </a:pPr>
              </a:p>
            </c:txPr>
            <c:dLblPos val="bestFit"/>
            <c:showLegendKey val="0"/>
            <c:showVal val="1"/>
            <c:showCatName val="0"/>
            <c:showSerName val="0"/>
            <c:showPercent val="0"/>
            <c:showBubbleSize val="0"/>
          </c:dLbls>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none"/>
        <c:minorTickMark val="none"/>
        <c:tickLblPos val="none"/>
        <c:crossAx val="2118791784"/>
        <c:crosses val="autoZero"/>
      </c:valAx>
    </c:plotArea>
    <c:legend>
      <c:legendPos val="b"/>
      <c:layout/>
      <c:overlay val="0"/>
      <c:txPr>
        <a:bodyPr/>
        <a:lstStyle/>
        <a:p>
          <a:pPr>
            <a:defRPr sz="900" b="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chart" Target="../charts/char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chart" Target="../charts/chart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CC0000"/>
                </a:solidFill>
              </a:defRPr>
            </a:pPr>
            <a:r>
              <a:t>ITSM Weekly Report — 1 May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595757"/>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MIM  |  1 May 2026</a:t>
            </a:r>
          </a:p>
        </p:txBody>
      </p:sp>
      <p:sp>
        <p:nvSpPr>
          <p:cNvPr id="4" name="Rectangle 3"/>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6" name="Rectangle 5"/>
          <p:cNvSpPr/>
          <p:nvPr/>
        </p:nvSpPr>
        <p:spPr>
          <a:xfrm>
            <a:off x="0" y="978408"/>
            <a:ext cx="7315200" cy="91440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548640"/>
          </a:xfrm>
          <a:prstGeom prst="rect">
            <a:avLst/>
          </a:prstGeom>
          <a:noFill/>
        </p:spPr>
        <p:txBody>
          <a:bodyPr wrap="square">
            <a:spAutoFit/>
          </a:bodyPr>
          <a:lstStyle/>
          <a:p>
            <a:pPr>
              <a:spcBef>
                <a:spcPts val="200"/>
              </a:spcBef>
              <a:spcAft>
                <a:spcPts val="100"/>
              </a:spcAft>
            </a:pPr>
            <a:r>
              <a:rPr sz="850" b="0">
                <a:solidFill>
                  <a:srgbClr val="3A3A3A"/>
                </a:solidFill>
              </a:rPr>
              <a:t>The MIM team has shown commendable performance this week, with a total of </a:t>
            </a:r>
            <a:r>
              <a:rPr sz="850" b="1">
                <a:solidFill>
                  <a:srgbClr val="1F3864"/>
                </a:solidFill>
              </a:rPr>
              <a:t>2</a:t>
            </a:r>
            <a:r>
              <a:rPr sz="850" b="0">
                <a:solidFill>
                  <a:srgbClr val="3A3A3A"/>
                </a:solidFill>
              </a:rPr>
              <a:t> Major Incidents (MI) and all conducted reviews meeting the timeline. Notably, there were zero Priority </a:t>
            </a:r>
            <a:r>
              <a:rPr sz="850" b="1">
                <a:solidFill>
                  <a:srgbClr val="1F3864"/>
                </a:solidFill>
              </a:rPr>
              <a:t>1</a:t>
            </a:r>
            <a:r>
              <a:rPr sz="850" b="0">
                <a:solidFill>
                  <a:srgbClr val="3A3A3A"/>
                </a:solidFill>
              </a:rPr>
              <a:t> incidents reported in Sprint </a:t>
            </a:r>
            <a:r>
              <a:rPr sz="850" b="1">
                <a:solidFill>
                  <a:srgbClr val="1F3864"/>
                </a:solidFill>
              </a:rPr>
              <a:t>14</a:t>
            </a:r>
            <a:r>
              <a:rPr sz="850" b="0">
                <a:solidFill>
                  <a:srgbClr val="3A3A3A"/>
                </a:solidFill>
              </a:rPr>
              <a:t>.</a:t>
            </a:r>
          </a:p>
        </p:txBody>
      </p:sp>
      <p:sp>
        <p:nvSpPr>
          <p:cNvPr id="10" name="Rectangle 9"/>
          <p:cNvSpPr/>
          <p:nvPr/>
        </p:nvSpPr>
        <p:spPr>
          <a:xfrm>
            <a:off x="0" y="1984248"/>
            <a:ext cx="7315200" cy="1207007"/>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98424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02996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322576"/>
            <a:ext cx="7059168" cy="841247"/>
          </a:xfrm>
          <a:prstGeom prst="rect">
            <a:avLst/>
          </a:prstGeom>
          <a:noFill/>
        </p:spPr>
        <p:txBody>
          <a:bodyPr wrap="square">
            <a:spAutoFit/>
          </a:bodyPr>
          <a:lstStyle/>
          <a:p>
            <a:pPr>
              <a:spcBef>
                <a:spcPts val="200"/>
              </a:spcBef>
              <a:spcAft>
                <a:spcPts val="100"/>
              </a:spcAft>
            </a:pPr>
            <a:r>
              <a:rPr sz="800" b="1">
                <a:solidFill>
                  <a:srgbClr val="1F3864"/>
                </a:solidFill>
              </a:rPr>
              <a:t>▸  Zero Priority </a:t>
            </a:r>
            <a:r>
              <a:rPr sz="800" b="1">
                <a:solidFill>
                  <a:srgbClr val="0D47A1"/>
                </a:solidFill>
              </a:rPr>
              <a:t>1</a:t>
            </a:r>
            <a:r>
              <a:rPr sz="800" b="0">
                <a:solidFill>
                  <a:srgbClr val="1F3864"/>
                </a:solidFill>
              </a:rPr>
              <a:t> incidents reported in Sprint </a:t>
            </a:r>
            <a:r>
              <a:rPr sz="800" b="1">
                <a:solidFill>
                  <a:srgbClr val="0D47A1"/>
                </a:solidFill>
              </a:rPr>
              <a:t>14</a:t>
            </a:r>
            <a:r>
              <a:rPr sz="800" b="0">
                <a:solidFill>
                  <a:srgbClr val="1F3864"/>
                </a:solidFill>
              </a:rPr>
              <a:t>.</a:t>
            </a:r>
          </a:p>
          <a:p>
            <a:pPr>
              <a:spcBef>
                <a:spcPts val="200"/>
              </a:spcBef>
              <a:spcAft>
                <a:spcPts val="100"/>
              </a:spcAft>
            </a:pPr>
            <a:r>
              <a:rPr sz="800" b="1">
                <a:solidFill>
                  <a:srgbClr val="1F3864"/>
                </a:solidFill>
              </a:rPr>
              <a:t>▸  Major Incident Review timeline was met for all conducted reviews this week, achieving a perfect score of </a:t>
            </a:r>
            <a:r>
              <a:rPr sz="800" b="1">
                <a:solidFill>
                  <a:srgbClr val="0D47A1"/>
                </a:solidFill>
              </a:rPr>
              <a:t>1.0</a:t>
            </a:r>
          </a:p>
          <a:p>
            <a:pPr>
              <a:spcBef>
                <a:spcPts val="200"/>
              </a:spcBef>
              <a:spcAft>
                <a:spcPts val="100"/>
              </a:spcAft>
            </a:pPr>
            <a:r>
              <a:rPr sz="800" b="1">
                <a:solidFill>
                  <a:srgbClr val="1F3864"/>
                </a:solidFill>
              </a:rPr>
              <a:t>▸  SMS within </a:t>
            </a:r>
            <a:r>
              <a:rPr sz="800" b="1">
                <a:solidFill>
                  <a:srgbClr val="0D47A1"/>
                </a:solidFill>
              </a:rPr>
              <a:t>20</a:t>
            </a:r>
            <a:r>
              <a:rPr sz="800" b="0">
                <a:solidFill>
                  <a:srgbClr val="1F3864"/>
                </a:solidFill>
              </a:rPr>
              <a:t> min P1/P2 and Email within </a:t>
            </a:r>
            <a:r>
              <a:rPr sz="800" b="1">
                <a:solidFill>
                  <a:srgbClr val="0D47A1"/>
                </a:solidFill>
              </a:rPr>
              <a:t>20</a:t>
            </a:r>
            <a:r>
              <a:rPr sz="800" b="0">
                <a:solidFill>
                  <a:srgbClr val="1F3864"/>
                </a:solidFill>
              </a:rPr>
              <a:t> min engaged metrics were both achieved with scores above </a:t>
            </a:r>
            <a:r>
              <a:rPr sz="800" b="1">
                <a:solidFill>
                  <a:srgbClr val="0D47A1"/>
                </a:solidFill>
              </a:rPr>
              <a:t>99%</a:t>
            </a:r>
            <a:r>
              <a:rPr sz="800" b="0">
                <a:solidFill>
                  <a:srgbClr val="1F3864"/>
                </a:solidFill>
              </a:rPr>
              <a:t> across the sprint.</a:t>
            </a:r>
          </a:p>
        </p:txBody>
      </p:sp>
      <p:sp>
        <p:nvSpPr>
          <p:cNvPr id="14" name="Rectangle 13"/>
          <p:cNvSpPr/>
          <p:nvPr/>
        </p:nvSpPr>
        <p:spPr>
          <a:xfrm>
            <a:off x="0" y="3282696"/>
            <a:ext cx="3657600" cy="2624327"/>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282696"/>
            <a:ext cx="3657600" cy="2624327"/>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282696"/>
            <a:ext cx="7315200" cy="2624327"/>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282696"/>
            <a:ext cx="27432" cy="2624327"/>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282696"/>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346704"/>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282696"/>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346704"/>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657599"/>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657599"/>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721607"/>
            <a:ext cx="3360420" cy="484632"/>
          </a:xfrm>
          <a:prstGeom prst="rect">
            <a:avLst/>
          </a:prstGeom>
          <a:noFill/>
        </p:spPr>
        <p:txBody>
          <a:bodyPr wrap="square">
            <a:spAutoFit/>
          </a:bodyPr>
          <a:lstStyle/>
          <a:p>
            <a:pPr>
              <a:spcBef>
                <a:spcPts val="200"/>
              </a:spcBef>
              <a:spcAft>
                <a:spcPts val="100"/>
              </a:spcAft>
            </a:pPr>
            <a:r>
              <a:rPr sz="800" b="1">
                <a:solidFill>
                  <a:srgbClr val="1A3A28"/>
                </a:solidFill>
              </a:rPr>
              <a:t>✓  Zero Priority </a:t>
            </a:r>
            <a:r>
              <a:rPr sz="800" b="1">
                <a:solidFill>
                  <a:srgbClr val="0A5030"/>
                </a:solidFill>
              </a:rPr>
              <a:t>1</a:t>
            </a:r>
            <a:r>
              <a:rPr sz="800" b="0">
                <a:solidFill>
                  <a:srgbClr val="1A3A28"/>
                </a:solidFill>
              </a:rPr>
              <a:t> incidents reported in Sprint </a:t>
            </a:r>
            <a:r>
              <a:rPr sz="800" b="1">
                <a:solidFill>
                  <a:srgbClr val="0A5030"/>
                </a:solidFill>
              </a:rPr>
              <a:t>14</a:t>
            </a:r>
            <a:r>
              <a:rPr sz="800" b="0">
                <a:solidFill>
                  <a:srgbClr val="1A3A28"/>
                </a:solidFill>
              </a:rPr>
              <a:t>.</a:t>
            </a:r>
          </a:p>
        </p:txBody>
      </p:sp>
      <p:sp>
        <p:nvSpPr>
          <p:cNvPr id="25" name="Rectangle 24"/>
          <p:cNvSpPr/>
          <p:nvPr/>
        </p:nvSpPr>
        <p:spPr>
          <a:xfrm>
            <a:off x="73152" y="431596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31596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379976"/>
            <a:ext cx="3360420" cy="484632"/>
          </a:xfrm>
          <a:prstGeom prst="rect">
            <a:avLst/>
          </a:prstGeom>
          <a:noFill/>
        </p:spPr>
        <p:txBody>
          <a:bodyPr wrap="square">
            <a:spAutoFit/>
          </a:bodyPr>
          <a:lstStyle/>
          <a:p>
            <a:pPr>
              <a:spcBef>
                <a:spcPts val="200"/>
              </a:spcBef>
              <a:spcAft>
                <a:spcPts val="100"/>
              </a:spcAft>
            </a:pPr>
            <a:r>
              <a:rPr sz="800" b="1">
                <a:solidFill>
                  <a:srgbClr val="1A3A28"/>
                </a:solidFill>
              </a:rPr>
              <a:t>✓  Major Incident Review timeline was met for all conducted reviews this week, achieving a perfect score of </a:t>
            </a:r>
            <a:r>
              <a:rPr sz="800" b="1">
                <a:solidFill>
                  <a:srgbClr val="0A5030"/>
                </a:solidFill>
              </a:rPr>
              <a:t>1.0</a:t>
            </a:r>
          </a:p>
        </p:txBody>
      </p:sp>
      <p:sp>
        <p:nvSpPr>
          <p:cNvPr id="28" name="Rectangle 27"/>
          <p:cNvSpPr/>
          <p:nvPr/>
        </p:nvSpPr>
        <p:spPr>
          <a:xfrm>
            <a:off x="73152" y="497433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 y="497433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6596" y="5038344"/>
            <a:ext cx="3360420" cy="484632"/>
          </a:xfrm>
          <a:prstGeom prst="rect">
            <a:avLst/>
          </a:prstGeom>
          <a:noFill/>
        </p:spPr>
        <p:txBody>
          <a:bodyPr wrap="square">
            <a:spAutoFit/>
          </a:bodyPr>
          <a:lstStyle/>
          <a:p>
            <a:pPr>
              <a:spcBef>
                <a:spcPts val="200"/>
              </a:spcBef>
              <a:spcAft>
                <a:spcPts val="100"/>
              </a:spcAft>
            </a:pPr>
            <a:r>
              <a:rPr sz="800" b="1">
                <a:solidFill>
                  <a:srgbClr val="1A3A28"/>
                </a:solidFill>
              </a:rPr>
              <a:t>✓  SMS within </a:t>
            </a:r>
            <a:r>
              <a:rPr sz="800" b="1">
                <a:solidFill>
                  <a:srgbClr val="0A5030"/>
                </a:solidFill>
              </a:rPr>
              <a:t>20</a:t>
            </a:r>
            <a:r>
              <a:rPr sz="800" b="0">
                <a:solidFill>
                  <a:srgbClr val="1A3A28"/>
                </a:solidFill>
              </a:rPr>
              <a:t> min P1/P2 and Email within </a:t>
            </a:r>
            <a:r>
              <a:rPr sz="800" b="1">
                <a:solidFill>
                  <a:srgbClr val="0A5030"/>
                </a:solidFill>
              </a:rPr>
              <a:t>20</a:t>
            </a:r>
            <a:r>
              <a:rPr sz="800" b="0">
                <a:solidFill>
                  <a:srgbClr val="1A3A28"/>
                </a:solidFill>
              </a:rPr>
              <a:t> min engaged metrics were both achieved with scores above </a:t>
            </a:r>
            <a:r>
              <a:rPr sz="800" b="1">
                <a:solidFill>
                  <a:srgbClr val="0A5030"/>
                </a:solidFill>
              </a:rPr>
              <a:t>99%</a:t>
            </a:r>
            <a:r>
              <a:rPr sz="800" b="0">
                <a:solidFill>
                  <a:srgbClr val="1A3A28"/>
                </a:solidFill>
              </a:rPr>
              <a:t> across the sprint.</a:t>
            </a:r>
          </a:p>
        </p:txBody>
      </p:sp>
      <p:sp>
        <p:nvSpPr>
          <p:cNvPr id="31" name="Rectangle 30"/>
          <p:cNvSpPr/>
          <p:nvPr/>
        </p:nvSpPr>
        <p:spPr>
          <a:xfrm>
            <a:off x="3730752" y="3657599"/>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3657599"/>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3721607"/>
            <a:ext cx="3360420" cy="484632"/>
          </a:xfrm>
          <a:prstGeom prst="rect">
            <a:avLst/>
          </a:prstGeom>
          <a:noFill/>
        </p:spPr>
        <p:txBody>
          <a:bodyPr wrap="square">
            <a:spAutoFit/>
          </a:bodyPr>
          <a:lstStyle/>
          <a:p>
            <a:pPr>
              <a:spcBef>
                <a:spcPts val="200"/>
              </a:spcBef>
              <a:spcAft>
                <a:spcPts val="100"/>
              </a:spcAft>
            </a:pPr>
            <a:r>
              <a:rPr sz="800" b="1">
                <a:solidFill>
                  <a:srgbClr val="3A2810"/>
                </a:solidFill>
              </a:rPr>
              <a:t>→  Maintain focus on preventing Priority </a:t>
            </a:r>
            <a:r>
              <a:rPr sz="800" b="1">
                <a:solidFill>
                  <a:srgbClr val="8B4500"/>
                </a:solidFill>
              </a:rPr>
              <a:t>1</a:t>
            </a:r>
            <a:r>
              <a:rPr sz="800" b="0">
                <a:solidFill>
                  <a:srgbClr val="3A2810"/>
                </a:solidFill>
              </a:rPr>
              <a:t> incidents to continue improving SLA compliance and MI timeline adherence.</a:t>
            </a:r>
          </a:p>
        </p:txBody>
      </p:sp>
      <p:sp>
        <p:nvSpPr>
          <p:cNvPr id="34" name="Rectangle 33"/>
          <p:cNvSpPr/>
          <p:nvPr/>
        </p:nvSpPr>
        <p:spPr>
          <a:xfrm>
            <a:off x="3730752" y="431596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30752" y="431596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4196" y="4379976"/>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refining the communication process with stakeholders, building upon recent improvements following ELT feedback.</a:t>
            </a:r>
          </a:p>
        </p:txBody>
      </p:sp>
      <p:sp>
        <p:nvSpPr>
          <p:cNvPr id="37" name="Rectangle 36"/>
          <p:cNvSpPr/>
          <p:nvPr/>
        </p:nvSpPr>
        <p:spPr>
          <a:xfrm>
            <a:off x="3730752" y="497433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30752" y="497433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54196" y="5038344"/>
            <a:ext cx="3360420" cy="484632"/>
          </a:xfrm>
          <a:prstGeom prst="rect">
            <a:avLst/>
          </a:prstGeom>
          <a:noFill/>
        </p:spPr>
        <p:txBody>
          <a:bodyPr wrap="square">
            <a:spAutoFit/>
          </a:bodyPr>
          <a:lstStyle/>
          <a:p>
            <a:pPr>
              <a:spcBef>
                <a:spcPts val="200"/>
              </a:spcBef>
              <a:spcAft>
                <a:spcPts val="100"/>
              </a:spcAft>
            </a:pPr>
            <a:r>
              <a:rPr sz="800" b="1">
                <a:solidFill>
                  <a:srgbClr val="3A2810"/>
                </a:solidFill>
              </a:rPr>
              <a:t>→  Ensure consistent categorization in ServiceNow to maintain accuracy and efficiency for future incident management.</a:t>
            </a:r>
          </a:p>
        </p:txBody>
      </p:sp>
      <p:graphicFrame>
        <p:nvGraphicFramePr>
          <p:cNvPr id="40" name="Table 39"/>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MI</a:t>
                      </a:r>
                    </a:p>
                  </a:txBody>
                  <a:tcPr>
                    <a:solidFill>
                      <a:srgbClr val="FFFFFF"/>
                    </a:solidFill>
                  </a:tcPr>
                </a:tc>
                <a:tc>
                  <a:txBody>
                    <a:bodyPr wrap="square"/>
                    <a:lstStyle/>
                    <a:p>
                      <a:pPr>
                        <a:defRPr sz="550">
                          <a:solidFill>
                            <a:srgbClr val="333333"/>
                          </a:solidFill>
                        </a:defRPr>
                      </a:pPr>
                      <a:r>
                        <a:t>Total no. of Major Incidents reported in period</a:t>
                      </a:r>
                    </a:p>
                  </a:txBody>
                  <a:tcPr>
                    <a:solidFill>
                      <a:srgbClr val="FFFFFF"/>
                    </a:solidFill>
                  </a:tcPr>
                </a:tc>
                <a:tc>
                  <a:txBody>
                    <a:bodyPr wrap="square"/>
                    <a:lstStyle/>
                    <a:p>
                      <a:pPr>
                        <a:defRPr sz="550">
                          <a:solidFill>
                            <a:srgbClr val="333333"/>
                          </a:solidFill>
                        </a:defRPr>
                      </a:pPr>
                      <a:r>
                        <a:t>Includes P1 and P2 incidents raised in ServiceNow</a:t>
                      </a:r>
                    </a:p>
                  </a:txBody>
                  <a:tcPr>
                    <a:solidFill>
                      <a:srgbClr val="FFFFFF"/>
                    </a:solidFill>
                  </a:tcPr>
                </a:tc>
              </a:tr>
              <a:tr h="182880">
                <a:tc>
                  <a:txBody>
                    <a:bodyPr wrap="square"/>
                    <a:lstStyle/>
                    <a:p>
                      <a:pPr>
                        <a:defRPr sz="550" b="1">
                          <a:solidFill>
                            <a:srgbClr val="1F3864"/>
                          </a:solidFill>
                        </a:defRPr>
                      </a:pPr>
                      <a:r>
                        <a:t>MIR Conducted</a:t>
                      </a:r>
                    </a:p>
                  </a:txBody>
                  <a:tcPr>
                    <a:solidFill>
                      <a:srgbClr val="E9F0F8"/>
                    </a:solidFill>
                  </a:tcPr>
                </a:tc>
                <a:tc>
                  <a:txBody>
                    <a:bodyPr wrap="square"/>
                    <a:lstStyle/>
                    <a:p>
                      <a:pPr>
                        <a:defRPr sz="550">
                          <a:solidFill>
                            <a:srgbClr val="333333"/>
                          </a:solidFill>
                        </a:defRPr>
                      </a:pPr>
                      <a:r>
                        <a:t>Major Incident Review conducted after each P1/P2</a:t>
                      </a:r>
                    </a:p>
                  </a:txBody>
                  <a:tcPr>
                    <a:solidFill>
                      <a:srgbClr val="E9F0F8"/>
                    </a:solidFill>
                  </a:tcPr>
                </a:tc>
                <a:tc>
                  <a:txBody>
                    <a:bodyPr wrap="square"/>
                    <a:lstStyle/>
                    <a:p>
                      <a:pPr>
                        <a:defRPr sz="550">
                          <a:solidFill>
                            <a:srgbClr val="333333"/>
                          </a:solidFill>
                        </a:defRPr>
                      </a:pPr>
                      <a:r>
                        <a:t>Post-incident review to identify root cause and corrective actions</a:t>
                      </a:r>
                    </a:p>
                  </a:txBody>
                  <a:tcPr>
                    <a:solidFill>
                      <a:srgbClr val="E9F0F8"/>
                    </a:solidFill>
                  </a:tcPr>
                </a:tc>
              </a:tr>
              <a:tr h="182880">
                <a:tc>
                  <a:txBody>
                    <a:bodyPr wrap="square"/>
                    <a:lstStyle/>
                    <a:p>
                      <a:pPr>
                        <a:defRPr sz="550" b="1">
                          <a:solidFill>
                            <a:srgbClr val="1F3864"/>
                          </a:solidFill>
                        </a:defRPr>
                      </a:pPr>
                      <a:r>
                        <a:t># of P1</a:t>
                      </a:r>
                    </a:p>
                  </a:txBody>
                  <a:tcPr>
                    <a:solidFill>
                      <a:srgbClr val="FFFFFF"/>
                    </a:solidFill>
                  </a:tcPr>
                </a:tc>
                <a:tc>
                  <a:txBody>
                    <a:bodyPr wrap="square"/>
                    <a:lstStyle/>
                    <a:p>
                      <a:pPr>
                        <a:defRPr sz="550">
                          <a:solidFill>
                            <a:srgbClr val="333333"/>
                          </a:solidFill>
                        </a:defRPr>
                      </a:pPr>
                      <a:r>
                        <a:t>Number of Priority 1 incidents in the period</a:t>
                      </a:r>
                    </a:p>
                  </a:txBody>
                  <a:tcPr>
                    <a:solidFill>
                      <a:srgbClr val="FFFFFF"/>
                    </a:solidFill>
                  </a:tcPr>
                </a:tc>
                <a:tc>
                  <a:txBody>
                    <a:bodyPr wrap="square"/>
                    <a:lstStyle/>
                    <a:p>
                      <a:pPr>
                        <a:defRPr sz="550">
                          <a:solidFill>
                            <a:srgbClr val="333333"/>
                          </a:solidFill>
                        </a:defRPr>
                      </a:pPr>
                      <a:r>
                        <a:t>Critical incidents requiring immediate escalation to senior management</a:t>
                      </a:r>
                    </a:p>
                  </a:txBody>
                  <a:tcPr>
                    <a:solidFill>
                      <a:srgbClr val="FFFFFF"/>
                    </a:solidFill>
                  </a:tcPr>
                </a:tc>
              </a:tr>
              <a:tr h="182880">
                <a:tc>
                  <a:txBody>
                    <a:bodyPr wrap="square"/>
                    <a:lstStyle/>
                    <a:p>
                      <a:pPr>
                        <a:defRPr sz="550" b="1">
                          <a:solidFill>
                            <a:srgbClr val="1F3864"/>
                          </a:solidFill>
                        </a:defRPr>
                      </a:pPr>
                      <a:r>
                        <a:t># of P2</a:t>
                      </a:r>
                    </a:p>
                  </a:txBody>
                  <a:tcPr>
                    <a:solidFill>
                      <a:srgbClr val="E9F0F8"/>
                    </a:solidFill>
                  </a:tcPr>
                </a:tc>
                <a:tc>
                  <a:txBody>
                    <a:bodyPr wrap="square"/>
                    <a:lstStyle/>
                    <a:p>
                      <a:pPr>
                        <a:defRPr sz="550">
                          <a:solidFill>
                            <a:srgbClr val="333333"/>
                          </a:solidFill>
                        </a:defRPr>
                      </a:pPr>
                      <a:r>
                        <a:t>Number of Priority 2 incidents in the period</a:t>
                      </a:r>
                    </a:p>
                  </a:txBody>
                  <a:tcPr>
                    <a:solidFill>
                      <a:srgbClr val="E9F0F8"/>
                    </a:solidFill>
                  </a:tcPr>
                </a:tc>
                <a:tc>
                  <a:txBody>
                    <a:bodyPr wrap="square"/>
                    <a:lstStyle/>
                    <a:p>
                      <a:pPr>
                        <a:defRPr sz="550">
                          <a:solidFill>
                            <a:srgbClr val="333333"/>
                          </a:solidFill>
                        </a:defRPr>
                      </a:pPr>
                      <a:r>
                        <a:t>High priority incidents requiring prompt resolution within 8 hours</a:t>
                      </a:r>
                    </a:p>
                  </a:txBody>
                  <a:tcPr>
                    <a:solidFill>
                      <a:srgbClr val="E9F0F8"/>
                    </a:solidFill>
                  </a:tcPr>
                </a:tc>
              </a:tr>
            </a:tbl>
          </a:graphicData>
        </a:graphic>
      </p:graphicFrame>
      <p:graphicFrame>
        <p:nvGraphicFramePr>
          <p:cNvPr id="41" name="Table 40"/>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870639"/>
                <a:gridCol w="870639"/>
                <a:gridCol w="870639"/>
                <a:gridCol w="870639"/>
                <a:gridCol w="870639"/>
                <a:gridCol w="870639"/>
                <a:gridCol w="870639"/>
                <a:gridCol w="870639"/>
                <a:gridCol w="870639"/>
                <a:gridCol w="870639"/>
                <a:gridCol w="870639"/>
                <a:gridCol w="870639"/>
                <a:gridCol w="870639"/>
                <a:gridCol w="870639"/>
              </a:tblGrid>
              <a:tr h="182880">
                <a:tc>
                  <a:txBody>
                    <a:bodyPr wrap="square"/>
                    <a:lstStyle/>
                    <a:p>
                      <a:pPr algn="ctr">
                        <a:defRPr b="1" sz="550">
                          <a:solidFill>
                            <a:srgbClr val="FFFFFF"/>
                          </a:solidFill>
                        </a:defRPr>
                      </a:pPr>
                      <a:r>
                        <a:t>Sprint No</a:t>
                      </a:r>
                    </a:p>
                  </a:txBody>
                  <a:tcPr>
                    <a:solidFill>
                      <a:srgbClr val="CC0000"/>
                    </a:solidFill>
                  </a:tcPr>
                </a:tc>
                <a:tc>
                  <a:txBody>
                    <a:bodyPr wrap="square"/>
                    <a:lstStyle/>
                    <a:p>
                      <a:pPr algn="ctr">
                        <a:defRPr b="1" sz="550">
                          <a:solidFill>
                            <a:srgbClr val="FFFFFF"/>
                          </a:solidFill>
                        </a:defRPr>
                      </a:pPr>
                      <a:r>
                        <a:t>Total MI</a:t>
                      </a:r>
                    </a:p>
                  </a:txBody>
                  <a:tcPr>
                    <a:solidFill>
                      <a:srgbClr val="CC0000"/>
                    </a:solidFill>
                  </a:tcPr>
                </a:tc>
                <a:tc>
                  <a:txBody>
                    <a:bodyPr wrap="square"/>
                    <a:lstStyle/>
                    <a:p>
                      <a:pPr algn="ctr">
                        <a:defRPr b="1" sz="550">
                          <a:solidFill>
                            <a:srgbClr val="FFFFFF"/>
                          </a:solidFill>
                        </a:defRPr>
                      </a:pPr>
                      <a:r>
                        <a:t>MIR Conducted</a:t>
                      </a:r>
                    </a:p>
                  </a:txBody>
                  <a:tcPr>
                    <a:solidFill>
                      <a:srgbClr val="CC0000"/>
                    </a:solidFill>
                  </a:tcPr>
                </a:tc>
                <a:tc>
                  <a:txBody>
                    <a:bodyPr wrap="square"/>
                    <a:lstStyle/>
                    <a:p>
                      <a:pPr algn="ctr">
                        <a:defRPr b="1" sz="550">
                          <a:solidFill>
                            <a:srgbClr val="FFFFFF"/>
                          </a:solidFill>
                        </a:defRPr>
                      </a:pPr>
                      <a:r>
                        <a:t># of P1</a:t>
                      </a:r>
                    </a:p>
                  </a:txBody>
                  <a:tcPr>
                    <a:solidFill>
                      <a:srgbClr val="CC0000"/>
                    </a:solidFill>
                  </a:tcPr>
                </a:tc>
                <a:tc>
                  <a:txBody>
                    <a:bodyPr wrap="square"/>
                    <a:lstStyle/>
                    <a:p>
                      <a:pPr algn="ctr">
                        <a:defRPr b="1" sz="550">
                          <a:solidFill>
                            <a:srgbClr val="FFFFFF"/>
                          </a:solidFill>
                        </a:defRPr>
                      </a:pPr>
                      <a:r>
                        <a:t># of P2</a:t>
                      </a:r>
                    </a:p>
                  </a:txBody>
                  <a:tcPr>
                    <a:solidFill>
                      <a:srgbClr val="CC0000"/>
                    </a:solidFill>
                  </a:tcPr>
                </a:tc>
                <a:tc>
                  <a:txBody>
                    <a:bodyPr wrap="square"/>
                    <a:lstStyle/>
                    <a:p>
                      <a:pPr algn="ctr">
                        <a:defRPr b="1" sz="550">
                          <a:solidFill>
                            <a:srgbClr val="FFFFFF"/>
                          </a:solidFill>
                        </a:defRPr>
                      </a:pPr>
                      <a:r>
                        <a:t>100% Adherence to the MIM process</a:t>
                      </a:r>
                    </a:p>
                  </a:txBody>
                  <a:tcPr>
                    <a:solidFill>
                      <a:srgbClr val="CC0000"/>
                    </a:solidFill>
                  </a:tcPr>
                </a:tc>
                <a:tc>
                  <a:txBody>
                    <a:bodyPr wrap="square"/>
                    <a:lstStyle/>
                    <a:p>
                      <a:pPr algn="ctr">
                        <a:defRPr b="1" sz="550">
                          <a:solidFill>
                            <a:srgbClr val="FFFFFF"/>
                          </a:solidFill>
                        </a:defRPr>
                      </a:pPr>
                      <a:r>
                        <a:t>Accurate stakeholder communications</a:t>
                      </a:r>
                    </a:p>
                  </a:txBody>
                  <a:tcPr>
                    <a:solidFill>
                      <a:srgbClr val="CC0000"/>
                    </a:solidFill>
                  </a:tcPr>
                </a:tc>
                <a:tc>
                  <a:txBody>
                    <a:bodyPr wrap="square"/>
                    <a:lstStyle/>
                    <a:p>
                      <a:pPr algn="ctr">
                        <a:defRPr b="1" sz="550">
                          <a:solidFill>
                            <a:srgbClr val="FFFFFF"/>
                          </a:solidFill>
                        </a:defRPr>
                      </a:pPr>
                      <a:r>
                        <a:t>Consistency in the Service now fields</a:t>
                      </a:r>
                    </a:p>
                  </a:txBody>
                  <a:tcPr>
                    <a:solidFill>
                      <a:srgbClr val="CC0000"/>
                    </a:solidFill>
                  </a:tcPr>
                </a:tc>
                <a:tc>
                  <a:txBody>
                    <a:bodyPr wrap="square"/>
                    <a:lstStyle/>
                    <a:p>
                      <a:pPr algn="ctr">
                        <a:defRPr b="1" sz="550">
                          <a:solidFill>
                            <a:srgbClr val="FFFFFF"/>
                          </a:solidFill>
                        </a:defRPr>
                      </a:pPr>
                      <a:r>
                        <a:t>MIR Timeline</a:t>
                      </a:r>
                    </a:p>
                  </a:txBody>
                  <a:tcPr>
                    <a:solidFill>
                      <a:srgbClr val="CC0000"/>
                    </a:solidFill>
                  </a:tcPr>
                </a:tc>
                <a:tc>
                  <a:txBody>
                    <a:bodyPr wrap="square"/>
                    <a:lstStyle/>
                    <a:p>
                      <a:pPr algn="ctr">
                        <a:defRPr b="1" sz="550">
                          <a:solidFill>
                            <a:srgbClr val="FFFFFF"/>
                          </a:solidFill>
                        </a:defRPr>
                      </a:pPr>
                      <a:r>
                        <a:t>SLA compliance P1/P2</a:t>
                      </a:r>
                    </a:p>
                  </a:txBody>
                  <a:tcPr>
                    <a:solidFill>
                      <a:srgbClr val="CC0000"/>
                    </a:solidFill>
                  </a:tcPr>
                </a:tc>
                <a:tc>
                  <a:txBody>
                    <a:bodyPr wrap="square"/>
                    <a:lstStyle/>
                    <a:p>
                      <a:pPr algn="ctr">
                        <a:defRPr b="1" sz="550">
                          <a:solidFill>
                            <a:srgbClr val="FFFFFF"/>
                          </a:solidFill>
                        </a:defRPr>
                      </a:pPr>
                      <a:r>
                        <a:t>SMS within 20 min P1/P2</a:t>
                      </a:r>
                    </a:p>
                  </a:txBody>
                  <a:tcPr>
                    <a:solidFill>
                      <a:srgbClr val="CC0000"/>
                    </a:solidFill>
                  </a:tcPr>
                </a:tc>
                <a:tc>
                  <a:txBody>
                    <a:bodyPr wrap="square"/>
                    <a:lstStyle/>
                    <a:p>
                      <a:pPr algn="ctr">
                        <a:defRPr b="1" sz="550">
                          <a:solidFill>
                            <a:srgbClr val="FFFFFF"/>
                          </a:solidFill>
                        </a:defRPr>
                      </a:pPr>
                      <a:r>
                        <a:t>Email within 20 min engaged</a:t>
                      </a:r>
                    </a:p>
                  </a:txBody>
                  <a:tcPr>
                    <a:solidFill>
                      <a:srgbClr val="CC0000"/>
                    </a:solidFill>
                  </a:tcPr>
                </a:tc>
                <a:tc>
                  <a:txBody>
                    <a:bodyPr wrap="square"/>
                    <a:lstStyle/>
                    <a:p>
                      <a:pPr algn="ctr">
                        <a:defRPr b="1" sz="550">
                          <a:solidFill>
                            <a:srgbClr val="FFFFFF"/>
                          </a:solidFill>
                        </a:defRPr>
                      </a:pPr>
                      <a:r>
                        <a:t>MI whiteboard accuracy</a:t>
                      </a:r>
                    </a:p>
                  </a:txBody>
                  <a:tcPr>
                    <a:solidFill>
                      <a:srgbClr val="CC0000"/>
                    </a:solidFill>
                  </a:tcPr>
                </a:tc>
                <a:tc>
                  <a:txBody>
                    <a:bodyPr wrap="square"/>
                    <a:lstStyle/>
                    <a:p>
                      <a:pPr algn="ctr">
                        <a:defRPr b="1" sz="550">
                          <a:solidFill>
                            <a:srgbClr val="FFFFFF"/>
                          </a:solidFill>
                        </a:defRPr>
                      </a:pPr>
                      <a:r>
                        <a:t>Effective handover for RCA</a:t>
                      </a:r>
                    </a:p>
                  </a:txBody>
                  <a:tcPr>
                    <a:solidFill>
                      <a:srgbClr val="CC0000"/>
                    </a:solidFill>
                  </a:tcPr>
                </a:tc>
              </a:tr>
              <a:tr h="228600">
                <a:tc>
                  <a:txBody>
                    <a:bodyPr/>
                    <a:lstStyle/>
                    <a:p>
                      <a:pPr algn="ctr">
                        <a:defRPr sz="700" b="1">
                          <a:solidFill>
                            <a:srgbClr val="333333"/>
                          </a:solidFill>
                        </a:defRPr>
                      </a:pPr>
                      <a:r>
                        <a:t>Sprint 14</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333333"/>
                          </a:solidFill>
                        </a:defRPr>
                      </a:pPr>
                      <a:r>
                        <a:t>5</a:t>
                      </a:r>
                    </a:p>
                  </a:txBody>
                  <a:tcPr>
                    <a:solidFill>
                      <a:srgbClr val="F5F5F5"/>
                    </a:solidFill>
                  </a:tcPr>
                </a:tc>
                <a:tc>
                  <a:txBody>
                    <a:bodyPr/>
                    <a:lstStyle/>
                    <a:p>
                      <a:pPr algn="ctr">
                        <a:defRPr sz="700" b="1">
                          <a:solidFill>
                            <a:srgbClr val="333333"/>
                          </a:solidFill>
                        </a:defRPr>
                      </a:pPr>
                      <a:r>
                        <a:t>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100%</a:t>
                      </a:r>
                    </a:p>
                  </a:txBody>
                  <a:tcPr>
                    <a:solidFill>
                      <a:srgbClr val="1A7348"/>
                    </a:solidFill>
                  </a:tcPr>
                </a:tc>
              </a:tr>
            </a:tbl>
          </a:graphicData>
        </a:graphic>
      </p:graphicFrame>
      <p:graphicFrame>
        <p:nvGraphicFramePr>
          <p:cNvPr id="42" name="Chart 41"/>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43" name="Chart 42"/>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Change  |  1 May 2026</a:t>
            </a:r>
          </a:p>
        </p:txBody>
      </p:sp>
      <p:sp>
        <p:nvSpPr>
          <p:cNvPr id="4" name="Rectangle 3"/>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6" name="Rectangle 5"/>
          <p:cNvSpPr/>
          <p:nvPr/>
        </p:nvSpPr>
        <p:spPr>
          <a:xfrm>
            <a:off x="0" y="978408"/>
            <a:ext cx="7315200" cy="100584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640080"/>
          </a:xfrm>
          <a:prstGeom prst="rect">
            <a:avLst/>
          </a:prstGeom>
          <a:noFill/>
        </p:spPr>
        <p:txBody>
          <a:bodyPr wrap="square">
            <a:spAutoFit/>
          </a:bodyPr>
          <a:lstStyle/>
          <a:p>
            <a:pPr>
              <a:spcBef>
                <a:spcPts val="200"/>
              </a:spcBef>
              <a:spcAft>
                <a:spcPts val="100"/>
              </a:spcAft>
            </a:pPr>
            <a:r>
              <a:rPr sz="850" b="0">
                <a:solidFill>
                  <a:srgbClr val="3A3A3A"/>
                </a:solidFill>
              </a:rPr>
              <a:t>The IT Change Management team successfully implemented all changes with a flawless success rate of over </a:t>
            </a:r>
            <a:r>
              <a:rPr sz="850" b="1">
                <a:solidFill>
                  <a:srgbClr val="1F3864"/>
                </a:solidFill>
              </a:rPr>
              <a:t>99%</a:t>
            </a:r>
            <a:r>
              <a:rPr sz="850" b="0">
                <a:solidFill>
                  <a:srgbClr val="3A3A3A"/>
                </a:solidFill>
              </a:rPr>
              <a:t> for the week, demonstrating strong performance and maintaining control over unauthorized activities. The emergency change requests were handled promptly within two hours as needed.</a:t>
            </a:r>
          </a:p>
        </p:txBody>
      </p:sp>
      <p:sp>
        <p:nvSpPr>
          <p:cNvPr id="10" name="Rectangle 9"/>
          <p:cNvSpPr/>
          <p:nvPr/>
        </p:nvSpPr>
        <p:spPr>
          <a:xfrm>
            <a:off x="0" y="2075688"/>
            <a:ext cx="7315200" cy="1042416"/>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07568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12140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414016"/>
            <a:ext cx="7059168" cy="676656"/>
          </a:xfrm>
          <a:prstGeom prst="rect">
            <a:avLst/>
          </a:prstGeom>
          <a:noFill/>
        </p:spPr>
        <p:txBody>
          <a:bodyPr wrap="square">
            <a:spAutoFit/>
          </a:bodyPr>
          <a:lstStyle/>
          <a:p>
            <a:pPr>
              <a:spcBef>
                <a:spcPts val="200"/>
              </a:spcBef>
              <a:spcAft>
                <a:spcPts val="100"/>
              </a:spcAft>
            </a:pPr>
            <a:r>
              <a:rPr sz="800" b="1">
                <a:solidFill>
                  <a:srgbClr val="1F3864"/>
                </a:solidFill>
              </a:rPr>
              <a:t>▸  Implemented all changes with a success ratio of over </a:t>
            </a:r>
            <a:r>
              <a:rPr sz="800" b="1">
                <a:solidFill>
                  <a:srgbClr val="0D47A1"/>
                </a:solidFill>
              </a:rPr>
              <a:t>99%</a:t>
            </a:r>
            <a:r>
              <a:rPr sz="800" b="0">
                <a:solidFill>
                  <a:srgbClr val="1F3864"/>
                </a:solidFill>
              </a:rPr>
              <a:t>.</a:t>
            </a:r>
          </a:p>
          <a:p>
            <a:pPr>
              <a:spcBef>
                <a:spcPts val="200"/>
              </a:spcBef>
              <a:spcAft>
                <a:spcPts val="100"/>
              </a:spcAft>
            </a:pPr>
            <a:r>
              <a:rPr sz="800" b="1">
                <a:solidFill>
                  <a:srgbClr val="1F3864"/>
                </a:solidFill>
              </a:rPr>
              <a:t>▸  Handled emergency change requests within the two-hour window, maintaining zero P1 impact.</a:t>
            </a:r>
          </a:p>
          <a:p>
            <a:pPr>
              <a:spcBef>
                <a:spcPts val="200"/>
              </a:spcBef>
              <a:spcAft>
                <a:spcPts val="100"/>
              </a:spcAft>
            </a:pPr>
            <a:r>
              <a:rPr sz="800" b="1">
                <a:solidFill>
                  <a:srgbClr val="1F3864"/>
                </a:solidFill>
              </a:rPr>
              <a:t>▸  Maintained an unauthorized change rate below </a:t>
            </a:r>
            <a:r>
              <a:rPr sz="800" b="1">
                <a:solidFill>
                  <a:srgbClr val="0D47A1"/>
                </a:solidFill>
              </a:rPr>
              <a:t>1%</a:t>
            </a:r>
            <a:r>
              <a:rPr sz="800" b="0">
                <a:solidFill>
                  <a:srgbClr val="1F3864"/>
                </a:solidFill>
              </a:rPr>
              <a:t>.</a:t>
            </a:r>
          </a:p>
        </p:txBody>
      </p:sp>
      <p:sp>
        <p:nvSpPr>
          <p:cNvPr id="14" name="Rectangle 13"/>
          <p:cNvSpPr/>
          <p:nvPr/>
        </p:nvSpPr>
        <p:spPr>
          <a:xfrm>
            <a:off x="0" y="3209544"/>
            <a:ext cx="3657600" cy="2697479"/>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209544"/>
            <a:ext cx="3657600" cy="2697479"/>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209544"/>
            <a:ext cx="7315200" cy="2697479"/>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209544"/>
            <a:ext cx="27432" cy="2697479"/>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209544"/>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273552"/>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209544"/>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273552"/>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58444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58444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648456"/>
            <a:ext cx="3360420" cy="484632"/>
          </a:xfrm>
          <a:prstGeom prst="rect">
            <a:avLst/>
          </a:prstGeom>
          <a:noFill/>
        </p:spPr>
        <p:txBody>
          <a:bodyPr wrap="square">
            <a:spAutoFit/>
          </a:bodyPr>
          <a:lstStyle/>
          <a:p>
            <a:pPr>
              <a:spcBef>
                <a:spcPts val="200"/>
              </a:spcBef>
              <a:spcAft>
                <a:spcPts val="100"/>
              </a:spcAft>
            </a:pPr>
            <a:r>
              <a:rPr sz="800" b="1">
                <a:solidFill>
                  <a:srgbClr val="1A3A28"/>
                </a:solidFill>
              </a:rPr>
              <a:t>✓  Implemented all changes with a success ratio of over </a:t>
            </a:r>
            <a:r>
              <a:rPr sz="800" b="1">
                <a:solidFill>
                  <a:srgbClr val="0A5030"/>
                </a:solidFill>
              </a:rPr>
              <a:t>99%</a:t>
            </a:r>
            <a:r>
              <a:rPr sz="800" b="0">
                <a:solidFill>
                  <a:srgbClr val="1A3A28"/>
                </a:solidFill>
              </a:rPr>
              <a:t>.</a:t>
            </a:r>
          </a:p>
        </p:txBody>
      </p:sp>
      <p:sp>
        <p:nvSpPr>
          <p:cNvPr id="25" name="Rectangle 24"/>
          <p:cNvSpPr/>
          <p:nvPr/>
        </p:nvSpPr>
        <p:spPr>
          <a:xfrm>
            <a:off x="73152" y="424281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24281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306824"/>
            <a:ext cx="3360420" cy="484632"/>
          </a:xfrm>
          <a:prstGeom prst="rect">
            <a:avLst/>
          </a:prstGeom>
          <a:noFill/>
        </p:spPr>
        <p:txBody>
          <a:bodyPr wrap="square">
            <a:spAutoFit/>
          </a:bodyPr>
          <a:lstStyle/>
          <a:p>
            <a:pPr>
              <a:spcBef>
                <a:spcPts val="200"/>
              </a:spcBef>
              <a:spcAft>
                <a:spcPts val="100"/>
              </a:spcAft>
            </a:pPr>
            <a:r>
              <a:rPr sz="800" b="1">
                <a:solidFill>
                  <a:srgbClr val="1A3A28"/>
                </a:solidFill>
              </a:rPr>
              <a:t>✓  Handled emergency change requests within the two-hour window, maintaining zero P1 impact.</a:t>
            </a:r>
          </a:p>
        </p:txBody>
      </p:sp>
      <p:sp>
        <p:nvSpPr>
          <p:cNvPr id="28" name="Rectangle 27"/>
          <p:cNvSpPr/>
          <p:nvPr/>
        </p:nvSpPr>
        <p:spPr>
          <a:xfrm>
            <a:off x="73152" y="4901184"/>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 y="4901184"/>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6596" y="4965192"/>
            <a:ext cx="3360420" cy="484632"/>
          </a:xfrm>
          <a:prstGeom prst="rect">
            <a:avLst/>
          </a:prstGeom>
          <a:noFill/>
        </p:spPr>
        <p:txBody>
          <a:bodyPr wrap="square">
            <a:spAutoFit/>
          </a:bodyPr>
          <a:lstStyle/>
          <a:p>
            <a:pPr>
              <a:spcBef>
                <a:spcPts val="200"/>
              </a:spcBef>
              <a:spcAft>
                <a:spcPts val="100"/>
              </a:spcAft>
            </a:pPr>
            <a:r>
              <a:rPr sz="800" b="1">
                <a:solidFill>
                  <a:srgbClr val="1A3A28"/>
                </a:solidFill>
              </a:rPr>
              <a:t>✓  Maintained an unauthorized change rate below </a:t>
            </a:r>
            <a:r>
              <a:rPr sz="800" b="1">
                <a:solidFill>
                  <a:srgbClr val="0A5030"/>
                </a:solidFill>
              </a:rPr>
              <a:t>1%</a:t>
            </a:r>
            <a:r>
              <a:rPr sz="800" b="0">
                <a:solidFill>
                  <a:srgbClr val="1A3A28"/>
                </a:solidFill>
              </a:rPr>
              <a:t>.</a:t>
            </a:r>
          </a:p>
        </p:txBody>
      </p:sp>
      <p:sp>
        <p:nvSpPr>
          <p:cNvPr id="31" name="Rectangle 30"/>
          <p:cNvSpPr/>
          <p:nvPr/>
        </p:nvSpPr>
        <p:spPr>
          <a:xfrm>
            <a:off x="3730752" y="358444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358444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3648456"/>
            <a:ext cx="3360420" cy="484632"/>
          </a:xfrm>
          <a:prstGeom prst="rect">
            <a:avLst/>
          </a:prstGeom>
          <a:noFill/>
        </p:spPr>
        <p:txBody>
          <a:bodyPr wrap="square">
            <a:spAutoFit/>
          </a:bodyPr>
          <a:lstStyle/>
          <a:p>
            <a:pPr>
              <a:spcBef>
                <a:spcPts val="200"/>
              </a:spcBef>
              <a:spcAft>
                <a:spcPts val="100"/>
              </a:spcAft>
            </a:pPr>
            <a:r>
              <a:rPr sz="800" b="1">
                <a:solidFill>
                  <a:srgbClr val="3A2810"/>
                </a:solidFill>
              </a:rPr>
              <a:t>→  Monitor and review the increase in emergency changes to ensure they remain within a manageable threshold without impacting service levels.</a:t>
            </a:r>
          </a:p>
        </p:txBody>
      </p:sp>
      <p:sp>
        <p:nvSpPr>
          <p:cNvPr id="34" name="Rectangle 33"/>
          <p:cNvSpPr/>
          <p:nvPr/>
        </p:nvSpPr>
        <p:spPr>
          <a:xfrm>
            <a:off x="3730752" y="424281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30752" y="424281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4196" y="4306824"/>
            <a:ext cx="3360420" cy="484632"/>
          </a:xfrm>
          <a:prstGeom prst="rect">
            <a:avLst/>
          </a:prstGeom>
          <a:noFill/>
        </p:spPr>
        <p:txBody>
          <a:bodyPr wrap="square">
            <a:spAutoFit/>
          </a:bodyPr>
          <a:lstStyle/>
          <a:p>
            <a:pPr>
              <a:spcBef>
                <a:spcPts val="200"/>
              </a:spcBef>
              <a:spcAft>
                <a:spcPts val="100"/>
              </a:spcAft>
            </a:pPr>
            <a:r>
              <a:rPr sz="800" b="1">
                <a:solidFill>
                  <a:srgbClr val="3A2810"/>
                </a:solidFill>
              </a:rPr>
              <a:t>→  Investigate the root cause of unauthorized changes, even at low rates, and implement additional safeguards to prevent future occurrences.</a:t>
            </a:r>
          </a:p>
        </p:txBody>
      </p:sp>
      <p:sp>
        <p:nvSpPr>
          <p:cNvPr id="37" name="Rectangle 36"/>
          <p:cNvSpPr/>
          <p:nvPr/>
        </p:nvSpPr>
        <p:spPr>
          <a:xfrm>
            <a:off x="3730752" y="4901184"/>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30752" y="4901184"/>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54196" y="4965192"/>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prioritizing change requests based on the impact level (P1, P2) and urgency to maintain efficiency in handling changes.</a:t>
            </a:r>
          </a:p>
        </p:txBody>
      </p:sp>
      <p:graphicFrame>
        <p:nvGraphicFramePr>
          <p:cNvPr id="40" name="Table 39"/>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Changes</a:t>
                      </a:r>
                    </a:p>
                  </a:txBody>
                  <a:tcPr>
                    <a:solidFill>
                      <a:srgbClr val="FFFFFF"/>
                    </a:solidFill>
                  </a:tcPr>
                </a:tc>
                <a:tc>
                  <a:txBody>
                    <a:bodyPr wrap="square"/>
                    <a:lstStyle/>
                    <a:p>
                      <a:pPr>
                        <a:defRPr sz="550">
                          <a:solidFill>
                            <a:srgbClr val="333333"/>
                          </a:solidFill>
                        </a:defRPr>
                      </a:pPr>
                      <a:r>
                        <a:t>Total number of change requests raised in the period</a:t>
                      </a:r>
                    </a:p>
                  </a:txBody>
                  <a:tcPr>
                    <a:solidFill>
                      <a:srgbClr val="FFFFFF"/>
                    </a:solidFill>
                  </a:tcPr>
                </a:tc>
                <a:tc>
                  <a:txBody>
                    <a:bodyPr wrap="square"/>
                    <a:lstStyle/>
                    <a:p>
                      <a:pPr>
                        <a:defRPr sz="550">
                          <a:solidFill>
                            <a:srgbClr val="333333"/>
                          </a:solidFill>
                        </a:defRPr>
                      </a:pPr>
                      <a:r>
                        <a:t>Includes standard, normal and emergency change types</a:t>
                      </a:r>
                    </a:p>
                  </a:txBody>
                  <a:tcPr>
                    <a:solidFill>
                      <a:srgbClr val="FFFFFF"/>
                    </a:solidFill>
                  </a:tcPr>
                </a:tc>
              </a:tr>
              <a:tr h="182880">
                <a:tc>
                  <a:txBody>
                    <a:bodyPr wrap="square"/>
                    <a:lstStyle/>
                    <a:p>
                      <a:pPr>
                        <a:defRPr sz="550" b="1">
                          <a:solidFill>
                            <a:srgbClr val="1F3864"/>
                          </a:solidFill>
                        </a:defRPr>
                      </a:pPr>
                      <a:r>
                        <a:t>Emergency Changes</a:t>
                      </a:r>
                    </a:p>
                  </a:txBody>
                  <a:tcPr>
                    <a:solidFill>
                      <a:srgbClr val="E9F0F8"/>
                    </a:solidFill>
                  </a:tcPr>
                </a:tc>
                <a:tc>
                  <a:txBody>
                    <a:bodyPr wrap="square"/>
                    <a:lstStyle/>
                    <a:p>
                      <a:pPr>
                        <a:defRPr sz="550">
                          <a:solidFill>
                            <a:srgbClr val="333333"/>
                          </a:solidFill>
                        </a:defRPr>
                      </a:pPr>
                      <a:r>
                        <a:t>Number of emergency change requests raised</a:t>
                      </a:r>
                    </a:p>
                  </a:txBody>
                  <a:tcPr>
                    <a:solidFill>
                      <a:srgbClr val="E9F0F8"/>
                    </a:solidFill>
                  </a:tcPr>
                </a:tc>
                <a:tc>
                  <a:txBody>
                    <a:bodyPr wrap="square"/>
                    <a:lstStyle/>
                    <a:p>
                      <a:pPr>
                        <a:defRPr sz="550">
                          <a:solidFill>
                            <a:srgbClr val="333333"/>
                          </a:solidFill>
                        </a:defRPr>
                      </a:pPr>
                      <a:r>
                        <a:t>Changes bypassing standard CAB approval due to urgency</a:t>
                      </a:r>
                    </a:p>
                  </a:txBody>
                  <a:tcPr>
                    <a:solidFill>
                      <a:srgbClr val="E9F0F8"/>
                    </a:solidFill>
                  </a:tcPr>
                </a:tc>
              </a:tr>
              <a:tr h="182880">
                <a:tc>
                  <a:txBody>
                    <a:bodyPr wrap="square"/>
                    <a:lstStyle/>
                    <a:p>
                      <a:pPr>
                        <a:defRPr sz="550" b="1">
                          <a:solidFill>
                            <a:srgbClr val="1F3864"/>
                          </a:solidFill>
                        </a:defRPr>
                      </a:pPr>
                      <a:r>
                        <a:t>Change Success Ratio</a:t>
                      </a:r>
                    </a:p>
                  </a:txBody>
                  <a:tcPr>
                    <a:solidFill>
                      <a:srgbClr val="FFFFFF"/>
                    </a:solidFill>
                  </a:tcPr>
                </a:tc>
                <a:tc>
                  <a:txBody>
                    <a:bodyPr wrap="square"/>
                    <a:lstStyle/>
                    <a:p>
                      <a:pPr>
                        <a:defRPr sz="550">
                          <a:solidFill>
                            <a:srgbClr val="333333"/>
                          </a:solidFill>
                        </a:defRPr>
                      </a:pPr>
                      <a:r>
                        <a:t>Percentage of changes implemented successfully without incident</a:t>
                      </a:r>
                    </a:p>
                  </a:txBody>
                  <a:tcPr>
                    <a:solidFill>
                      <a:srgbClr val="FFFFFF"/>
                    </a:solidFill>
                  </a:tcPr>
                </a:tc>
                <a:tc>
                  <a:txBody>
                    <a:bodyPr wrap="square"/>
                    <a:lstStyle/>
                    <a:p>
                      <a:pPr>
                        <a:defRPr sz="550">
                          <a:solidFill>
                            <a:srgbClr val="333333"/>
                          </a:solidFill>
                        </a:defRPr>
                      </a:pPr>
                      <a:r>
                        <a:t>Change passes CAB, executes within planned window, no rollback</a:t>
                      </a:r>
                    </a:p>
                  </a:txBody>
                  <a:tcPr>
                    <a:solidFill>
                      <a:srgbClr val="FFFFFF"/>
                    </a:solidFill>
                  </a:tcPr>
                </a:tc>
              </a:tr>
              <a:tr h="182880">
                <a:tc>
                  <a:txBody>
                    <a:bodyPr wrap="square"/>
                    <a:lstStyle/>
                    <a:p>
                      <a:pPr>
                        <a:defRPr sz="550" b="1">
                          <a:solidFill>
                            <a:srgbClr val="1F3864"/>
                          </a:solidFill>
                        </a:defRPr>
                      </a:pPr>
                      <a:r>
                        <a:t>Change Causing MI</a:t>
                      </a:r>
                    </a:p>
                  </a:txBody>
                  <a:tcPr>
                    <a:solidFill>
                      <a:srgbClr val="E9F0F8"/>
                    </a:solidFill>
                  </a:tcPr>
                </a:tc>
                <a:tc>
                  <a:txBody>
                    <a:bodyPr wrap="square"/>
                    <a:lstStyle/>
                    <a:p>
                      <a:pPr>
                        <a:defRPr sz="550">
                          <a:solidFill>
                            <a:srgbClr val="333333"/>
                          </a:solidFill>
                        </a:defRPr>
                      </a:pPr>
                      <a:r>
                        <a:t>Percentage of changes that caused a Major Incident</a:t>
                      </a:r>
                    </a:p>
                  </a:txBody>
                  <a:tcPr>
                    <a:solidFill>
                      <a:srgbClr val="E9F0F8"/>
                    </a:solidFill>
                  </a:tcPr>
                </a:tc>
                <a:tc>
                  <a:txBody>
                    <a:bodyPr wrap="square"/>
                    <a:lstStyle/>
                    <a:p>
                      <a:pPr>
                        <a:defRPr sz="550">
                          <a:solidFill>
                            <a:srgbClr val="333333"/>
                          </a:solidFill>
                        </a:defRPr>
                      </a:pPr>
                      <a:r>
                        <a:t>Changes that directly triggered a P1 or P2 incident post-implementation</a:t>
                      </a:r>
                    </a:p>
                  </a:txBody>
                  <a:tcPr>
                    <a:solidFill>
                      <a:srgbClr val="E9F0F8"/>
                    </a:solidFill>
                  </a:tcPr>
                </a:tc>
              </a:tr>
            </a:tbl>
          </a:graphicData>
        </a:graphic>
      </p:graphicFrame>
      <p:graphicFrame>
        <p:nvGraphicFramePr>
          <p:cNvPr id="41" name="Table 40"/>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Changes</a:t>
                      </a:r>
                    </a:p>
                  </a:txBody>
                  <a:tcPr>
                    <a:solidFill>
                      <a:srgbClr val="CC0000"/>
                    </a:solidFill>
                  </a:tcPr>
                </a:tc>
                <a:tc>
                  <a:txBody>
                    <a:bodyPr wrap="square"/>
                    <a:lstStyle/>
                    <a:p>
                      <a:pPr algn="ctr">
                        <a:defRPr b="1" sz="550">
                          <a:solidFill>
                            <a:srgbClr val="FFFFFF"/>
                          </a:solidFill>
                        </a:defRPr>
                      </a:pPr>
                      <a:r>
                        <a:t>Emergency Changes</a:t>
                      </a:r>
                    </a:p>
                  </a:txBody>
                  <a:tcPr>
                    <a:solidFill>
                      <a:srgbClr val="CC0000"/>
                    </a:solidFill>
                  </a:tcPr>
                </a:tc>
                <a:tc>
                  <a:txBody>
                    <a:bodyPr wrap="square"/>
                    <a:lstStyle/>
                    <a:p>
                      <a:pPr algn="ctr">
                        <a:defRPr b="1" sz="550">
                          <a:solidFill>
                            <a:srgbClr val="FFFFFF"/>
                          </a:solidFill>
                        </a:defRPr>
                      </a:pPr>
                      <a:r>
                        <a:t>Change Success Ratio</a:t>
                      </a:r>
                    </a:p>
                  </a:txBody>
                  <a:tcPr>
                    <a:solidFill>
                      <a:srgbClr val="CC0000"/>
                    </a:solidFill>
                  </a:tcPr>
                </a:tc>
                <a:tc>
                  <a:txBody>
                    <a:bodyPr wrap="square"/>
                    <a:lstStyle/>
                    <a:p>
                      <a:pPr algn="ctr">
                        <a:defRPr b="1" sz="550">
                          <a:solidFill>
                            <a:srgbClr val="FFFFFF"/>
                          </a:solidFill>
                        </a:defRPr>
                      </a:pPr>
                      <a:r>
                        <a:t>Change Causing MI</a:t>
                      </a:r>
                    </a:p>
                  </a:txBody>
                  <a:tcPr>
                    <a:solidFill>
                      <a:srgbClr val="CC0000"/>
                    </a:solidFill>
                  </a:tcPr>
                </a:tc>
                <a:tc>
                  <a:txBody>
                    <a:bodyPr wrap="square"/>
                    <a:lstStyle/>
                    <a:p>
                      <a:pPr algn="ctr">
                        <a:defRPr b="1" sz="550">
                          <a:solidFill>
                            <a:srgbClr val="FFFFFF"/>
                          </a:solidFill>
                        </a:defRPr>
                      </a:pPr>
                      <a:r>
                        <a:t>Failed Change Ratio</a:t>
                      </a:r>
                    </a:p>
                  </a:txBody>
                  <a:tcPr>
                    <a:solidFill>
                      <a:srgbClr val="CC0000"/>
                    </a:solidFill>
                  </a:tcPr>
                </a:tc>
                <a:tc>
                  <a:txBody>
                    <a:bodyPr wrap="square"/>
                    <a:lstStyle/>
                    <a:p>
                      <a:pPr algn="ctr">
                        <a:defRPr b="1" sz="550">
                          <a:solidFill>
                            <a:srgbClr val="FFFFFF"/>
                          </a:solidFill>
                        </a:defRPr>
                      </a:pPr>
                      <a:r>
                        <a:t>Unauthorised Change rate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50</a:t>
                      </a:r>
                    </a:p>
                  </a:txBody>
                  <a:tcPr>
                    <a:solidFill>
                      <a:srgbClr val="F5F5F5"/>
                    </a:solidFill>
                  </a:tcPr>
                </a:tc>
                <a:tc>
                  <a:txBody>
                    <a:bodyPr/>
                    <a:lstStyle/>
                    <a:p>
                      <a:pPr algn="ctr">
                        <a:defRPr sz="700" b="1">
                          <a:solidFill>
                            <a:srgbClr val="333333"/>
                          </a:solidFill>
                        </a:defRPr>
                      </a:pPr>
                      <a:r>
                        <a:t>2</a:t>
                      </a:r>
                    </a:p>
                  </a:txBody>
                  <a:tcPr>
                    <a:solidFill>
                      <a:srgbClr val="F5F5F5"/>
                    </a:solidFill>
                  </a:tcPr>
                </a:tc>
                <a:tc>
                  <a:txBody>
                    <a:bodyPr/>
                    <a:lstStyle/>
                    <a:p>
                      <a:pPr algn="ctr">
                        <a:defRPr sz="700" b="1">
                          <a:solidFill>
                            <a:srgbClr val="FFFFFF"/>
                          </a:solidFill>
                        </a:defRPr>
                      </a:pPr>
                      <a:r>
                        <a:t>100%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0</a:t>
                      </a:r>
                    </a:p>
                  </a:txBody>
                  <a:tcPr>
                    <a:solidFill>
                      <a:srgbClr val="1A7348"/>
                    </a:solidFill>
                  </a:tcPr>
                </a:tc>
                <a:tc>
                  <a:txBody>
                    <a:bodyPr/>
                    <a:lstStyle/>
                    <a:p>
                      <a:pPr algn="ctr">
                        <a:defRPr sz="700" b="1">
                          <a:solidFill>
                            <a:srgbClr val="FFFFFF"/>
                          </a:solidFill>
                        </a:defRPr>
                      </a:pPr>
                      <a:r>
                        <a:t>1%</a:t>
                      </a:r>
                    </a:p>
                  </a:txBody>
                  <a:tcPr>
                    <a:solidFill>
                      <a:srgbClr val="1A7348"/>
                    </a:solidFill>
                  </a:tcPr>
                </a:tc>
              </a:tr>
            </a:tbl>
          </a:graphicData>
        </a:graphic>
      </p:graphicFrame>
      <p:graphicFrame>
        <p:nvGraphicFramePr>
          <p:cNvPr id="42" name="Chart 41"/>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43" name="Chart 42"/>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Problem  |  1 May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7315200" cy="100584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640080"/>
          </a:xfrm>
          <a:prstGeom prst="rect">
            <a:avLst/>
          </a:prstGeom>
          <a:noFill/>
        </p:spPr>
        <p:txBody>
          <a:bodyPr wrap="square">
            <a:spAutoFit/>
          </a:bodyPr>
          <a:lstStyle/>
          <a:p>
            <a:pPr>
              <a:spcBef>
                <a:spcPts val="200"/>
              </a:spcBef>
              <a:spcAft>
                <a:spcPts val="100"/>
              </a:spcAft>
            </a:pPr>
            <a:r>
              <a:rPr sz="850" b="0">
                <a:solidFill>
                  <a:srgbClr val="3A3A3A"/>
                </a:solidFill>
              </a:rPr>
              <a:t>The Problem team has </a:t>
            </a:r>
            <a:r>
              <a:rPr sz="850" b="1">
                <a:solidFill>
                  <a:srgbClr val="1F3864"/>
                </a:solidFill>
              </a:rPr>
              <a:t>4</a:t>
            </a:r>
            <a:r>
              <a:rPr sz="850" b="0">
                <a:solidFill>
                  <a:srgbClr val="3A3A3A"/>
                </a:solidFill>
              </a:rPr>
              <a:t>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sp>
        <p:nvSpPr>
          <p:cNvPr id="10" name="Rectangle 9"/>
          <p:cNvSpPr/>
          <p:nvPr/>
        </p:nvSpPr>
        <p:spPr>
          <a:xfrm>
            <a:off x="0" y="2075688"/>
            <a:ext cx="7315200" cy="713231"/>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07568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12140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414016"/>
            <a:ext cx="7059168" cy="347471"/>
          </a:xfrm>
          <a:prstGeom prst="rect">
            <a:avLst/>
          </a:prstGeom>
          <a:noFill/>
        </p:spPr>
        <p:txBody>
          <a:bodyPr wrap="square">
            <a:spAutoFit/>
          </a:bodyPr>
          <a:lstStyle/>
          <a:p>
            <a:pPr>
              <a:spcBef>
                <a:spcPts val="200"/>
              </a:spcBef>
              <a:spcAft>
                <a:spcPts val="100"/>
              </a:spcAft>
            </a:pPr>
            <a:r>
              <a:rPr sz="800" b="1">
                <a:solidFill>
                  <a:srgbClr val="1F3864"/>
                </a:solidFill>
              </a:rPr>
              <a:t>▸  Problem data was processed successfully.</a:t>
            </a:r>
          </a:p>
          <a:p>
            <a:pPr>
              <a:spcBef>
                <a:spcPts val="200"/>
              </a:spcBef>
              <a:spcAft>
                <a:spcPts val="100"/>
              </a:spcAft>
            </a:pPr>
            <a:r>
              <a:rPr sz="800" b="1">
                <a:solidFill>
                  <a:srgbClr val="1F3864"/>
                </a:solidFill>
              </a:rPr>
              <a:t>▸  Automated KPI snapshot generated for this period.</a:t>
            </a:r>
          </a:p>
        </p:txBody>
      </p:sp>
      <p:sp>
        <p:nvSpPr>
          <p:cNvPr id="14" name="Rectangle 13"/>
          <p:cNvSpPr/>
          <p:nvPr/>
        </p:nvSpPr>
        <p:spPr>
          <a:xfrm>
            <a:off x="0" y="2880360"/>
            <a:ext cx="3657600" cy="3026664"/>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2880360"/>
            <a:ext cx="3657600" cy="3026664"/>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880360"/>
            <a:ext cx="7315200" cy="3026664"/>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2880360"/>
            <a:ext cx="27432" cy="3026664"/>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880360"/>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2944368"/>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2880360"/>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2944368"/>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255264"/>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255264"/>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319272"/>
            <a:ext cx="3360420" cy="484632"/>
          </a:xfrm>
          <a:prstGeom prst="rect">
            <a:avLst/>
          </a:prstGeom>
          <a:noFill/>
        </p:spPr>
        <p:txBody>
          <a:bodyPr wrap="square">
            <a:spAutoFit/>
          </a:bodyPr>
          <a:lstStyle/>
          <a:p>
            <a:pPr>
              <a:spcBef>
                <a:spcPts val="200"/>
              </a:spcBef>
              <a:spcAft>
                <a:spcPts val="100"/>
              </a:spcAft>
            </a:pPr>
            <a:r>
              <a:rPr sz="800" b="1">
                <a:solidFill>
                  <a:srgbClr val="1A3A28"/>
                </a:solidFill>
              </a:rPr>
              <a:t>✓  Problem data was processed successfully.</a:t>
            </a:r>
          </a:p>
        </p:txBody>
      </p:sp>
      <p:sp>
        <p:nvSpPr>
          <p:cNvPr id="25" name="Rectangle 24"/>
          <p:cNvSpPr/>
          <p:nvPr/>
        </p:nvSpPr>
        <p:spPr>
          <a:xfrm>
            <a:off x="73152" y="3913632"/>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3913632"/>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3977640"/>
            <a:ext cx="3360420" cy="484632"/>
          </a:xfrm>
          <a:prstGeom prst="rect">
            <a:avLst/>
          </a:prstGeom>
          <a:noFill/>
        </p:spPr>
        <p:txBody>
          <a:bodyPr wrap="square">
            <a:spAutoFit/>
          </a:bodyPr>
          <a:lstStyle/>
          <a:p>
            <a:pPr>
              <a:spcBef>
                <a:spcPts val="200"/>
              </a:spcBef>
              <a:spcAft>
                <a:spcPts val="100"/>
              </a:spcAft>
            </a:pPr>
            <a:r>
              <a:rPr sz="800" b="1">
                <a:solidFill>
                  <a:srgbClr val="1A3A28"/>
                </a:solidFill>
              </a:rPr>
              <a:t>✓  Automated KPI snapshot generated for this period.</a:t>
            </a:r>
          </a:p>
        </p:txBody>
      </p:sp>
      <p:sp>
        <p:nvSpPr>
          <p:cNvPr id="28" name="Rectangle 27"/>
          <p:cNvSpPr/>
          <p:nvPr/>
        </p:nvSpPr>
        <p:spPr>
          <a:xfrm>
            <a:off x="3730752" y="3255264"/>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30752" y="3255264"/>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54196" y="3319272"/>
            <a:ext cx="3360420" cy="484632"/>
          </a:xfrm>
          <a:prstGeom prst="rect">
            <a:avLst/>
          </a:prstGeom>
          <a:noFill/>
        </p:spPr>
        <p:txBody>
          <a:bodyPr wrap="square">
            <a:spAutoFit/>
          </a:bodyPr>
          <a:lstStyle/>
          <a:p>
            <a:pPr>
              <a:spcBef>
                <a:spcPts val="200"/>
              </a:spcBef>
              <a:spcAft>
                <a:spcPts val="100"/>
              </a:spcAft>
            </a:pPr>
            <a:r>
              <a:rPr sz="800" b="1">
                <a:solidFill>
                  <a:srgbClr val="3A2810"/>
                </a:solidFill>
              </a:rPr>
              <a:t>→  AI analysis unavailable. Rule-based summary was applied.</a:t>
            </a:r>
          </a:p>
        </p:txBody>
      </p:sp>
      <p:sp>
        <p:nvSpPr>
          <p:cNvPr id="31" name="Rectangle 30"/>
          <p:cNvSpPr/>
          <p:nvPr/>
        </p:nvSpPr>
        <p:spPr>
          <a:xfrm>
            <a:off x="3730752" y="3913632"/>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3913632"/>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3977640"/>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low-performing KPIs and assign action owners.</a:t>
            </a:r>
          </a:p>
        </p:txBody>
      </p:sp>
      <p:graphicFrame>
        <p:nvGraphicFramePr>
          <p:cNvPr id="34" name="Table 33"/>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Open Problems</a:t>
                      </a:r>
                    </a:p>
                  </a:txBody>
                  <a:tcPr>
                    <a:solidFill>
                      <a:srgbClr val="FFFFFF"/>
                    </a:solidFill>
                  </a:tcPr>
                </a:tc>
                <a:tc>
                  <a:txBody>
                    <a:bodyPr wrap="square"/>
                    <a:lstStyle/>
                    <a:p>
                      <a:pPr>
                        <a:defRPr sz="550">
                          <a:solidFill>
                            <a:srgbClr val="333333"/>
                          </a:solidFill>
                        </a:defRPr>
                      </a:pPr>
                      <a:r>
                        <a:t>Total number of open problem records in ServiceNow</a:t>
                      </a:r>
                    </a:p>
                  </a:txBody>
                  <a:tcPr>
                    <a:solidFill>
                      <a:srgbClr val="FFFFFF"/>
                    </a:solidFill>
                  </a:tcPr>
                </a:tc>
                <a:tc>
                  <a:txBody>
                    <a:bodyPr wrap="square"/>
                    <a:lstStyle/>
                    <a:p>
                      <a:pPr>
                        <a:defRPr sz="550">
                          <a:solidFill>
                            <a:srgbClr val="333333"/>
                          </a:solidFill>
                        </a:defRPr>
                      </a:pPr>
                      <a:r>
                        <a:t>All active problem records regardless of priority or age</a:t>
                      </a:r>
                    </a:p>
                  </a:txBody>
                  <a:tcPr>
                    <a:solidFill>
                      <a:srgbClr val="FFFFFF"/>
                    </a:solidFill>
                  </a:tcPr>
                </a:tc>
              </a:tr>
              <a:tr h="182880">
                <a:tc>
                  <a:txBody>
                    <a:bodyPr wrap="square"/>
                    <a:lstStyle/>
                    <a:p>
                      <a:pPr>
                        <a:defRPr sz="550" b="1">
                          <a:solidFill>
                            <a:srgbClr val="1F3864"/>
                          </a:solidFill>
                        </a:defRPr>
                      </a:pPr>
                      <a:r>
                        <a:t>Problems Resolved</a:t>
                      </a:r>
                    </a:p>
                  </a:txBody>
                  <a:tcPr>
                    <a:solidFill>
                      <a:srgbClr val="E9F0F8"/>
                    </a:solidFill>
                  </a:tcPr>
                </a:tc>
                <a:tc>
                  <a:txBody>
                    <a:bodyPr wrap="square"/>
                    <a:lstStyle/>
                    <a:p>
                      <a:pPr>
                        <a:defRPr sz="550">
                          <a:solidFill>
                            <a:srgbClr val="333333"/>
                          </a:solidFill>
                        </a:defRPr>
                      </a:pPr>
                      <a:r>
                        <a:t>Number of problems closed during the reporting period</a:t>
                      </a:r>
                    </a:p>
                  </a:txBody>
                  <a:tcPr>
                    <a:solidFill>
                      <a:srgbClr val="E9F0F8"/>
                    </a:solidFill>
                  </a:tcPr>
                </a:tc>
                <a:tc>
                  <a:txBody>
                    <a:bodyPr wrap="square"/>
                    <a:lstStyle/>
                    <a:p>
                      <a:pPr>
                        <a:defRPr sz="550">
                          <a:solidFill>
                            <a:srgbClr val="333333"/>
                          </a:solidFill>
                        </a:defRPr>
                      </a:pPr>
                      <a:r>
                        <a:t>Problems moved to resolved or closed status this week</a:t>
                      </a:r>
                    </a:p>
                  </a:txBody>
                  <a:tcPr>
                    <a:solidFill>
                      <a:srgbClr val="E9F0F8"/>
                    </a:solidFill>
                  </a:tcPr>
                </a:tc>
              </a:tr>
              <a:tr h="182880">
                <a:tc>
                  <a:txBody>
                    <a:bodyPr wrap="square"/>
                    <a:lstStyle/>
                    <a:p>
                      <a:pPr>
                        <a:defRPr sz="550" b="1">
                          <a:solidFill>
                            <a:srgbClr val="1F3864"/>
                          </a:solidFill>
                        </a:defRPr>
                      </a:pPr>
                      <a:r>
                        <a:t>New Problems Raised</a:t>
                      </a:r>
                    </a:p>
                  </a:txBody>
                  <a:tcPr>
                    <a:solidFill>
                      <a:srgbClr val="FFFFFF"/>
                    </a:solidFill>
                  </a:tcPr>
                </a:tc>
                <a:tc>
                  <a:txBody>
                    <a:bodyPr wrap="square"/>
                    <a:lstStyle/>
                    <a:p>
                      <a:pPr>
                        <a:defRPr sz="550">
                          <a:solidFill>
                            <a:srgbClr val="333333"/>
                          </a:solidFill>
                        </a:defRPr>
                      </a:pPr>
                      <a:r>
                        <a:t>Number of new problem records opened this period</a:t>
                      </a:r>
                    </a:p>
                  </a:txBody>
                  <a:tcPr>
                    <a:solidFill>
                      <a:srgbClr val="FFFFFF"/>
                    </a:solidFill>
                  </a:tcPr>
                </a:tc>
                <a:tc>
                  <a:txBody>
                    <a:bodyPr wrap="square"/>
                    <a:lstStyle/>
                    <a:p>
                      <a:pPr>
                        <a:defRPr sz="550">
                          <a:solidFill>
                            <a:srgbClr val="333333"/>
                          </a:solidFill>
                        </a:defRPr>
                      </a:pPr>
                      <a:r>
                        <a:t>Problems raised from incident trends or proactive analysis</a:t>
                      </a:r>
                    </a:p>
                  </a:txBody>
                  <a:tcPr>
                    <a:solidFill>
                      <a:srgbClr val="FFFFFF"/>
                    </a:solidFill>
                  </a:tcPr>
                </a:tc>
              </a:tr>
              <a:tr h="182880">
                <a:tc>
                  <a:txBody>
                    <a:bodyPr wrap="square"/>
                    <a:lstStyle/>
                    <a:p>
                      <a:pPr>
                        <a:defRPr sz="550" b="1">
                          <a:solidFill>
                            <a:srgbClr val="1F3864"/>
                          </a:solidFill>
                        </a:defRPr>
                      </a:pPr>
                      <a:r>
                        <a:t>Avg Resolution Days</a:t>
                      </a:r>
                    </a:p>
                  </a:txBody>
                  <a:tcPr>
                    <a:solidFill>
                      <a:srgbClr val="E9F0F8"/>
                    </a:solidFill>
                  </a:tcPr>
                </a:tc>
                <a:tc>
                  <a:txBody>
                    <a:bodyPr wrap="square"/>
                    <a:lstStyle/>
                    <a:p>
                      <a:pPr>
                        <a:defRPr sz="550">
                          <a:solidFill>
                            <a:srgbClr val="333333"/>
                          </a:solidFill>
                        </a:defRPr>
                      </a:pPr>
                      <a:r>
                        <a:t>Average calendar days from problem creation to closure</a:t>
                      </a:r>
                    </a:p>
                  </a:txBody>
                  <a:tcPr>
                    <a:solidFill>
                      <a:srgbClr val="E9F0F8"/>
                    </a:solidFill>
                  </a:tcPr>
                </a:tc>
                <a:tc>
                  <a:txBody>
                    <a:bodyPr wrap="square"/>
                    <a:lstStyle/>
                    <a:p>
                      <a:pPr>
                        <a:defRPr sz="550">
                          <a:solidFill>
                            <a:srgbClr val="333333"/>
                          </a:solidFill>
                        </a:defRPr>
                      </a:pPr>
                      <a:r>
                        <a:t>Measured from problem record creation date to closure date</a:t>
                      </a:r>
                    </a:p>
                  </a:txBody>
                  <a:tcPr>
                    <a:solidFill>
                      <a:srgbClr val="E9F0F8"/>
                    </a:solidFill>
                  </a:tcPr>
                </a:tc>
              </a:tr>
            </a:tbl>
          </a:graphicData>
        </a:graphic>
      </p:graphicFrame>
      <p:graphicFrame>
        <p:nvGraphicFramePr>
          <p:cNvPr id="35" name="Table 34"/>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Open Problems</a:t>
                      </a:r>
                    </a:p>
                  </a:txBody>
                  <a:tcPr>
                    <a:solidFill>
                      <a:srgbClr val="CC0000"/>
                    </a:solidFill>
                  </a:tcPr>
                </a:tc>
                <a:tc>
                  <a:txBody>
                    <a:bodyPr wrap="square"/>
                    <a:lstStyle/>
                    <a:p>
                      <a:pPr algn="ctr">
                        <a:defRPr b="1" sz="550">
                          <a:solidFill>
                            <a:srgbClr val="FFFFFF"/>
                          </a:solidFill>
                        </a:defRPr>
                      </a:pPr>
                      <a:r>
                        <a:t>Problems Resolved</a:t>
                      </a:r>
                    </a:p>
                  </a:txBody>
                  <a:tcPr>
                    <a:solidFill>
                      <a:srgbClr val="CC0000"/>
                    </a:solidFill>
                  </a:tcPr>
                </a:tc>
                <a:tc>
                  <a:txBody>
                    <a:bodyPr wrap="square"/>
                    <a:lstStyle/>
                    <a:p>
                      <a:pPr algn="ctr">
                        <a:defRPr b="1" sz="550">
                          <a:solidFill>
                            <a:srgbClr val="FFFFFF"/>
                          </a:solidFill>
                        </a:defRPr>
                      </a:pPr>
                      <a:r>
                        <a:t>New Problems Raised</a:t>
                      </a:r>
                    </a:p>
                  </a:txBody>
                  <a:tcPr>
                    <a:solidFill>
                      <a:srgbClr val="CC0000"/>
                    </a:solidFill>
                  </a:tcPr>
                </a:tc>
                <a:tc>
                  <a:txBody>
                    <a:bodyPr wrap="square"/>
                    <a:lstStyle/>
                    <a:p>
                      <a:pPr algn="ctr">
                        <a:defRPr b="1" sz="550">
                          <a:solidFill>
                            <a:srgbClr val="FFFFFF"/>
                          </a:solidFill>
                        </a:defRPr>
                      </a:pPr>
                      <a:r>
                        <a:t>Avg Resolution Days</a:t>
                      </a:r>
                    </a:p>
                  </a:txBody>
                  <a:tcPr>
                    <a:solidFill>
                      <a:srgbClr val="CC0000"/>
                    </a:solidFill>
                  </a:tcPr>
                </a:tc>
                <a:tc>
                  <a:txBody>
                    <a:bodyPr wrap="square"/>
                    <a:lstStyle/>
                    <a:p>
                      <a:pPr algn="ctr">
                        <a:defRPr b="1" sz="550">
                          <a:solidFill>
                            <a:srgbClr val="FFFFFF"/>
                          </a:solidFill>
                        </a:defRPr>
                      </a:pPr>
                      <a:r>
                        <a:t>Recurring Issues</a:t>
                      </a:r>
                    </a:p>
                  </a:txBody>
                  <a:tcPr>
                    <a:solidFill>
                      <a:srgbClr val="CC0000"/>
                    </a:solidFill>
                  </a:tcPr>
                </a:tc>
                <a:tc>
                  <a:txBody>
                    <a:bodyPr wrap="square"/>
                    <a:lstStyle/>
                    <a:p>
                      <a:pPr algn="ctr">
                        <a:defRPr b="1" sz="550">
                          <a:solidFill>
                            <a:srgbClr val="FFFFFF"/>
                          </a:solidFill>
                        </a:defRPr>
                      </a:pPr>
                      <a:r>
                        <a:t>Problems Aged &gt;30 days</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11</a:t>
                      </a:r>
                    </a:p>
                  </a:txBody>
                  <a:tcPr>
                    <a:solidFill>
                      <a:srgbClr val="F5F5F5"/>
                    </a:solidFill>
                  </a:tcPr>
                </a:tc>
                <a:tc>
                  <a:txBody>
                    <a:bodyPr/>
                    <a:lstStyle/>
                    <a:p>
                      <a:pPr algn="ctr">
                        <a:defRPr sz="700" b="1">
                          <a:solidFill>
                            <a:srgbClr val="333333"/>
                          </a:solidFill>
                        </a:defRPr>
                      </a:pPr>
                      <a:r>
                        <a:t>8</a:t>
                      </a:r>
                    </a:p>
                  </a:txBody>
                  <a:tcPr>
                    <a:solidFill>
                      <a:srgbClr val="F5F5F5"/>
                    </a:solidFill>
                  </a:tcPr>
                </a:tc>
                <a:tc>
                  <a:txBody>
                    <a:bodyPr/>
                    <a:lstStyle/>
                    <a:p>
                      <a:pPr algn="ctr">
                        <a:defRPr sz="700" b="1">
                          <a:solidFill>
                            <a:srgbClr val="333333"/>
                          </a:solidFill>
                        </a:defRPr>
                      </a:pPr>
                      <a:r>
                        <a:t>3</a:t>
                      </a:r>
                    </a:p>
                  </a:txBody>
                  <a:tcPr>
                    <a:solidFill>
                      <a:srgbClr val="F5F5F5"/>
                    </a:solidFill>
                  </a:tcPr>
                </a:tc>
                <a:tc>
                  <a:txBody>
                    <a:bodyPr/>
                    <a:lstStyle/>
                    <a:p>
                      <a:pPr algn="ctr">
                        <a:defRPr sz="700" b="1">
                          <a:solidFill>
                            <a:srgbClr val="FFFFFF"/>
                          </a:solidFill>
                        </a:defRPr>
                      </a:pPr>
                      <a:r>
                        <a:t>4.2</a:t>
                      </a:r>
                    </a:p>
                  </a:txBody>
                  <a:tcPr>
                    <a:solidFill>
                      <a:srgbClr val="1A7348"/>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2</a:t>
                      </a:r>
                    </a:p>
                  </a:txBody>
                  <a:tcPr>
                    <a:solidFill>
                      <a:srgbClr val="1A7348"/>
                    </a:solidFill>
                  </a:tcPr>
                </a:tc>
              </a:tr>
            </a:tbl>
          </a:graphicData>
        </a:graphic>
      </p:graphicFrame>
      <p:graphicFrame>
        <p:nvGraphicFramePr>
          <p:cNvPr id="36" name="Chart 35"/>
          <p:cNvGraphicFramePr>
            <a:graphicFrameLocks noGrp="1"/>
          </p:cNvGraphicFramePr>
          <p:nvPr/>
        </p:nvGraphicFramePr>
        <p:xfrm>
          <a:off x="7452360" y="2208276"/>
          <a:ext cx="4526280" cy="2459736"/>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CMDB  |  1 May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7315200" cy="1156716"/>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790956"/>
          </a:xfrm>
          <a:prstGeom prst="rect">
            <a:avLst/>
          </a:prstGeom>
          <a:noFill/>
        </p:spPr>
        <p:txBody>
          <a:bodyPr wrap="square">
            <a:spAutoFit/>
          </a:bodyPr>
          <a:lstStyle/>
          <a:p>
            <a:pPr>
              <a:spcBef>
                <a:spcPts val="200"/>
              </a:spcBef>
              <a:spcAft>
                <a:spcPts val="100"/>
              </a:spcAft>
            </a:pPr>
            <a:r>
              <a:rPr sz="850" b="0">
                <a:solidFill>
                  <a:srgbClr val="3A3A3A"/>
                </a:solidFill>
              </a:rPr>
              <a:t>The CMDB team has </a:t>
            </a:r>
            <a:r>
              <a:rPr sz="850" b="1">
                <a:solidFill>
                  <a:srgbClr val="1F3864"/>
                </a:solidFill>
              </a:rPr>
              <a:t>4</a:t>
            </a:r>
            <a:r>
              <a:rPr sz="850" b="0">
                <a:solidFill>
                  <a:srgbClr val="3A3A3A"/>
                </a:solidFill>
              </a:rPr>
              <a:t> data record(s) in the current reporting window. Performance highlights indicate Audit Compliance (&gt;</a:t>
            </a:r>
            <a:r>
              <a:rPr sz="850" b="1">
                <a:solidFill>
                  <a:srgbClr val="1F3864"/>
                </a:solidFill>
              </a:rPr>
              <a:t>98%</a:t>
            </a:r>
            <a:r>
              <a:rPr sz="850" b="0">
                <a:solidFill>
                  <a:srgbClr val="3A3A3A"/>
                </a:solidFill>
              </a:rPr>
              <a:t>): </a:t>
            </a:r>
            <a:r>
              <a:rPr sz="850" b="1">
                <a:solidFill>
                  <a:srgbClr val="1F3864"/>
                </a:solidFill>
              </a:rPr>
              <a:t>99.2%</a:t>
            </a:r>
            <a:r>
              <a:rPr sz="850" b="0">
                <a:solidFill>
                  <a:srgbClr val="3A3A3A"/>
                </a:solidFill>
              </a:rPr>
              <a:t>, CI Accuracy (&gt;</a:t>
            </a:r>
            <a:r>
              <a:rPr sz="850" b="1">
                <a:solidFill>
                  <a:srgbClr val="1F3864"/>
                </a:solidFill>
              </a:rPr>
              <a:t>95%</a:t>
            </a:r>
            <a:r>
              <a:rPr sz="850" b="0">
                <a:solidFill>
                  <a:srgbClr val="3A3A3A"/>
                </a:solidFill>
              </a:rPr>
              <a:t>): </a:t>
            </a:r>
            <a:r>
              <a:rPr sz="850" b="1">
                <a:solidFill>
                  <a:srgbClr val="1F3864"/>
                </a:solidFill>
              </a:rPr>
              <a:t>97.7%</a:t>
            </a:r>
            <a:r>
              <a:rPr sz="850" b="0">
                <a:solidFill>
                  <a:srgbClr val="3A3A3A"/>
                </a:solidFill>
              </a:rPr>
              <a:t>. Potential risk areas include CI Accuracy (&gt;</a:t>
            </a:r>
            <a:r>
              <a:rPr sz="850" b="1">
                <a:solidFill>
                  <a:srgbClr val="1F3864"/>
                </a:solidFill>
              </a:rPr>
              <a:t>95%</a:t>
            </a:r>
            <a:r>
              <a:rPr sz="850" b="0">
                <a:solidFill>
                  <a:srgbClr val="3A3A3A"/>
                </a:solidFill>
              </a:rPr>
              <a:t>): </a:t>
            </a:r>
            <a:r>
              <a:rPr sz="850" b="1">
                <a:solidFill>
                  <a:srgbClr val="1F3864"/>
                </a:solidFill>
              </a:rPr>
              <a:t>97.7%</a:t>
            </a:r>
            <a:r>
              <a:rPr sz="850" b="0">
                <a:solidFill>
                  <a:srgbClr val="3A3A3A"/>
                </a:solidFill>
              </a:rPr>
              <a:t>, Audit Compliance (&gt;</a:t>
            </a:r>
            <a:r>
              <a:rPr sz="850" b="1">
                <a:solidFill>
                  <a:srgbClr val="1F3864"/>
                </a:solidFill>
              </a:rPr>
              <a:t>98%</a:t>
            </a:r>
            <a:r>
              <a:rPr sz="850" b="0">
                <a:solidFill>
                  <a:srgbClr val="3A3A3A"/>
                </a:solidFill>
              </a:rPr>
              <a:t>): </a:t>
            </a:r>
            <a:r>
              <a:rPr sz="850" b="1">
                <a:solidFill>
                  <a:srgbClr val="1F3864"/>
                </a:solidFill>
              </a:rPr>
              <a:t>99.2%</a:t>
            </a:r>
            <a:r>
              <a:rPr sz="850" b="0">
                <a:solidFill>
                  <a:srgbClr val="3A3A3A"/>
                </a:solidFill>
              </a:rPr>
              <a:t>. Recommended action is to sustain high-performing KPIs while prioritizing targeted corrective actions for underperforming indicators in the next cycle.</a:t>
            </a:r>
          </a:p>
        </p:txBody>
      </p:sp>
      <p:sp>
        <p:nvSpPr>
          <p:cNvPr id="10" name="Rectangle 9"/>
          <p:cNvSpPr/>
          <p:nvPr/>
        </p:nvSpPr>
        <p:spPr>
          <a:xfrm>
            <a:off x="0" y="2226564"/>
            <a:ext cx="7315200" cy="713231"/>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226564"/>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272284"/>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564892"/>
            <a:ext cx="7059168" cy="347471"/>
          </a:xfrm>
          <a:prstGeom prst="rect">
            <a:avLst/>
          </a:prstGeom>
          <a:noFill/>
        </p:spPr>
        <p:txBody>
          <a:bodyPr wrap="square">
            <a:spAutoFit/>
          </a:bodyPr>
          <a:lstStyle/>
          <a:p>
            <a:pPr>
              <a:spcBef>
                <a:spcPts val="200"/>
              </a:spcBef>
              <a:spcAft>
                <a:spcPts val="100"/>
              </a:spcAft>
            </a:pPr>
            <a:r>
              <a:rPr sz="800" b="1">
                <a:solidFill>
                  <a:srgbClr val="1F3864"/>
                </a:solidFill>
              </a:rPr>
              <a:t>▸  CMDB data was processed successfully.</a:t>
            </a:r>
          </a:p>
          <a:p>
            <a:pPr>
              <a:spcBef>
                <a:spcPts val="200"/>
              </a:spcBef>
              <a:spcAft>
                <a:spcPts val="100"/>
              </a:spcAft>
            </a:pPr>
            <a:r>
              <a:rPr sz="800" b="1">
                <a:solidFill>
                  <a:srgbClr val="1F3864"/>
                </a:solidFill>
              </a:rPr>
              <a:t>▸  Automated KPI snapshot generated for this period.</a:t>
            </a:r>
          </a:p>
        </p:txBody>
      </p:sp>
      <p:sp>
        <p:nvSpPr>
          <p:cNvPr id="14" name="Rectangle 13"/>
          <p:cNvSpPr/>
          <p:nvPr/>
        </p:nvSpPr>
        <p:spPr>
          <a:xfrm>
            <a:off x="0" y="3031236"/>
            <a:ext cx="3657600" cy="2875788"/>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031236"/>
            <a:ext cx="3657600" cy="2875788"/>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031236"/>
            <a:ext cx="7315200" cy="2875788"/>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031236"/>
            <a:ext cx="27432" cy="287578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031236"/>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095244"/>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031236"/>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095244"/>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406140"/>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406140"/>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470148"/>
            <a:ext cx="3360420" cy="484632"/>
          </a:xfrm>
          <a:prstGeom prst="rect">
            <a:avLst/>
          </a:prstGeom>
          <a:noFill/>
        </p:spPr>
        <p:txBody>
          <a:bodyPr wrap="square">
            <a:spAutoFit/>
          </a:bodyPr>
          <a:lstStyle/>
          <a:p>
            <a:pPr>
              <a:spcBef>
                <a:spcPts val="200"/>
              </a:spcBef>
              <a:spcAft>
                <a:spcPts val="100"/>
              </a:spcAft>
            </a:pPr>
            <a:r>
              <a:rPr sz="800" b="1">
                <a:solidFill>
                  <a:srgbClr val="1A3A28"/>
                </a:solidFill>
              </a:rPr>
              <a:t>✓  CMDB data was processed successfully.</a:t>
            </a:r>
          </a:p>
        </p:txBody>
      </p:sp>
      <p:sp>
        <p:nvSpPr>
          <p:cNvPr id="25" name="Rectangle 24"/>
          <p:cNvSpPr/>
          <p:nvPr/>
        </p:nvSpPr>
        <p:spPr>
          <a:xfrm>
            <a:off x="73152" y="406450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06450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128516"/>
            <a:ext cx="3360420" cy="484632"/>
          </a:xfrm>
          <a:prstGeom prst="rect">
            <a:avLst/>
          </a:prstGeom>
          <a:noFill/>
        </p:spPr>
        <p:txBody>
          <a:bodyPr wrap="square">
            <a:spAutoFit/>
          </a:bodyPr>
          <a:lstStyle/>
          <a:p>
            <a:pPr>
              <a:spcBef>
                <a:spcPts val="200"/>
              </a:spcBef>
              <a:spcAft>
                <a:spcPts val="100"/>
              </a:spcAft>
            </a:pPr>
            <a:r>
              <a:rPr sz="800" b="1">
                <a:solidFill>
                  <a:srgbClr val="1A3A28"/>
                </a:solidFill>
              </a:rPr>
              <a:t>✓  Automated KPI snapshot generated for this period.</a:t>
            </a:r>
          </a:p>
        </p:txBody>
      </p:sp>
      <p:sp>
        <p:nvSpPr>
          <p:cNvPr id="28" name="Rectangle 27"/>
          <p:cNvSpPr/>
          <p:nvPr/>
        </p:nvSpPr>
        <p:spPr>
          <a:xfrm>
            <a:off x="3730752" y="3406140"/>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30752" y="3406140"/>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54196" y="3470148"/>
            <a:ext cx="3360420" cy="484632"/>
          </a:xfrm>
          <a:prstGeom prst="rect">
            <a:avLst/>
          </a:prstGeom>
          <a:noFill/>
        </p:spPr>
        <p:txBody>
          <a:bodyPr wrap="square">
            <a:spAutoFit/>
          </a:bodyPr>
          <a:lstStyle/>
          <a:p>
            <a:pPr>
              <a:spcBef>
                <a:spcPts val="200"/>
              </a:spcBef>
              <a:spcAft>
                <a:spcPts val="100"/>
              </a:spcAft>
            </a:pPr>
            <a:r>
              <a:rPr sz="800" b="1">
                <a:solidFill>
                  <a:srgbClr val="3A2810"/>
                </a:solidFill>
              </a:rPr>
              <a:t>→  AI analysis unavailable. Rule-based summary was applied.</a:t>
            </a:r>
          </a:p>
        </p:txBody>
      </p:sp>
      <p:sp>
        <p:nvSpPr>
          <p:cNvPr id="31" name="Rectangle 30"/>
          <p:cNvSpPr/>
          <p:nvPr/>
        </p:nvSpPr>
        <p:spPr>
          <a:xfrm>
            <a:off x="3730752" y="406450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406450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4128516"/>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low-performing KPIs and assign action owners.</a:t>
            </a:r>
          </a:p>
        </p:txBody>
      </p:sp>
      <p:graphicFrame>
        <p:nvGraphicFramePr>
          <p:cNvPr id="34" name="Table 33"/>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CIs</a:t>
                      </a:r>
                    </a:p>
                  </a:txBody>
                  <a:tcPr>
                    <a:solidFill>
                      <a:srgbClr val="FFFFFF"/>
                    </a:solidFill>
                  </a:tcPr>
                </a:tc>
                <a:tc>
                  <a:txBody>
                    <a:bodyPr wrap="square"/>
                    <a:lstStyle/>
                    <a:p>
                      <a:pPr>
                        <a:defRPr sz="550">
                          <a:solidFill>
                            <a:srgbClr val="333333"/>
                          </a:solidFill>
                        </a:defRPr>
                      </a:pPr>
                      <a:r>
                        <a:t>Total number of Configuration Items in ServiceNow CMDB</a:t>
                      </a:r>
                    </a:p>
                  </a:txBody>
                  <a:tcPr>
                    <a:solidFill>
                      <a:srgbClr val="FFFFFF"/>
                    </a:solidFill>
                  </a:tcPr>
                </a:tc>
                <a:tc>
                  <a:txBody>
                    <a:bodyPr wrap="square"/>
                    <a:lstStyle/>
                    <a:p>
                      <a:pPr>
                        <a:defRPr sz="550">
                          <a:solidFill>
                            <a:srgbClr val="333333"/>
                          </a:solidFill>
                        </a:defRPr>
                      </a:pPr>
                      <a:r>
                        <a:t>All active CI records across all classes and environments</a:t>
                      </a:r>
                    </a:p>
                  </a:txBody>
                  <a:tcPr>
                    <a:solidFill>
                      <a:srgbClr val="FFFFFF"/>
                    </a:solidFill>
                  </a:tcPr>
                </a:tc>
              </a:tr>
              <a:tr h="182880">
                <a:tc>
                  <a:txBody>
                    <a:bodyPr wrap="square"/>
                    <a:lstStyle/>
                    <a:p>
                      <a:pPr>
                        <a:defRPr sz="550" b="1">
                          <a:solidFill>
                            <a:srgbClr val="1F3864"/>
                          </a:solidFill>
                        </a:defRPr>
                      </a:pPr>
                      <a:r>
                        <a:t>CIs Verified This Week</a:t>
                      </a:r>
                    </a:p>
                  </a:txBody>
                  <a:tcPr>
                    <a:solidFill>
                      <a:srgbClr val="E9F0F8"/>
                    </a:solidFill>
                  </a:tcPr>
                </a:tc>
                <a:tc>
                  <a:txBody>
                    <a:bodyPr wrap="square"/>
                    <a:lstStyle/>
                    <a:p>
                      <a:pPr>
                        <a:defRPr sz="550">
                          <a:solidFill>
                            <a:srgbClr val="333333"/>
                          </a:solidFill>
                        </a:defRPr>
                      </a:pPr>
                      <a:r>
                        <a:t>Number of CIs verified and validated during the reporting period</a:t>
                      </a:r>
                    </a:p>
                  </a:txBody>
                  <a:tcPr>
                    <a:solidFill>
                      <a:srgbClr val="E9F0F8"/>
                    </a:solidFill>
                  </a:tcPr>
                </a:tc>
                <a:tc>
                  <a:txBody>
                    <a:bodyPr wrap="square"/>
                    <a:lstStyle/>
                    <a:p>
                      <a:pPr>
                        <a:defRPr sz="550">
                          <a:solidFill>
                            <a:srgbClr val="333333"/>
                          </a:solidFill>
                        </a:defRPr>
                      </a:pPr>
                      <a:r>
                        <a:t>CIs reviewed by CI owners and confirmed as accurate</a:t>
                      </a:r>
                    </a:p>
                  </a:txBody>
                  <a:tcPr>
                    <a:solidFill>
                      <a:srgbClr val="E9F0F8"/>
                    </a:solidFill>
                  </a:tcPr>
                </a:tc>
              </a:tr>
              <a:tr h="182880">
                <a:tc>
                  <a:txBody>
                    <a:bodyPr wrap="square"/>
                    <a:lstStyle/>
                    <a:p>
                      <a:pPr>
                        <a:defRPr sz="550" b="1">
                          <a:solidFill>
                            <a:srgbClr val="1F3864"/>
                          </a:solidFill>
                        </a:defRPr>
                      </a:pPr>
                      <a:r>
                        <a:t>CI Accuracy</a:t>
                      </a:r>
                    </a:p>
                  </a:txBody>
                  <a:tcPr>
                    <a:solidFill>
                      <a:srgbClr val="FFFFFF"/>
                    </a:solidFill>
                  </a:tcPr>
                </a:tc>
                <a:tc>
                  <a:txBody>
                    <a:bodyPr wrap="square"/>
                    <a:lstStyle/>
                    <a:p>
                      <a:pPr>
                        <a:defRPr sz="550">
                          <a:solidFill>
                            <a:srgbClr val="333333"/>
                          </a:solidFill>
                        </a:defRPr>
                      </a:pPr>
                      <a:r>
                        <a:t>Percentage of CIs with accurate and up-to-date attribute data</a:t>
                      </a:r>
                    </a:p>
                  </a:txBody>
                  <a:tcPr>
                    <a:solidFill>
                      <a:srgbClr val="FFFFFF"/>
                    </a:solidFill>
                  </a:tcPr>
                </a:tc>
                <a:tc>
                  <a:txBody>
                    <a:bodyPr wrap="square"/>
                    <a:lstStyle/>
                    <a:p>
                      <a:pPr>
                        <a:defRPr sz="550">
                          <a:solidFill>
                            <a:srgbClr val="333333"/>
                          </a:solidFill>
                        </a:defRPr>
                      </a:pPr>
                      <a:r>
                        <a:t>Verified through quarterly CMDB audit and weekly spot checks</a:t>
                      </a:r>
                    </a:p>
                  </a:txBody>
                  <a:tcPr>
                    <a:solidFill>
                      <a:srgbClr val="FFFFFF"/>
                    </a:solidFill>
                  </a:tcPr>
                </a:tc>
              </a:tr>
              <a:tr h="182880">
                <a:tc>
                  <a:txBody>
                    <a:bodyPr wrap="square"/>
                    <a:lstStyle/>
                    <a:p>
                      <a:pPr>
                        <a:defRPr sz="550" b="1">
                          <a:solidFill>
                            <a:srgbClr val="1F3864"/>
                          </a:solidFill>
                        </a:defRPr>
                      </a:pPr>
                      <a:r>
                        <a:t>Orphan CIs</a:t>
                      </a:r>
                    </a:p>
                  </a:txBody>
                  <a:tcPr>
                    <a:solidFill>
                      <a:srgbClr val="E9F0F8"/>
                    </a:solidFill>
                  </a:tcPr>
                </a:tc>
                <a:tc>
                  <a:txBody>
                    <a:bodyPr wrap="square"/>
                    <a:lstStyle/>
                    <a:p>
                      <a:pPr>
                        <a:defRPr sz="550">
                          <a:solidFill>
                            <a:srgbClr val="333333"/>
                          </a:solidFill>
                        </a:defRPr>
                      </a:pPr>
                      <a:r>
                        <a:t>Number of CIs with no parent relationship or service linkage</a:t>
                      </a:r>
                    </a:p>
                  </a:txBody>
                  <a:tcPr>
                    <a:solidFill>
                      <a:srgbClr val="E9F0F8"/>
                    </a:solidFill>
                  </a:tcPr>
                </a:tc>
                <a:tc>
                  <a:txBody>
                    <a:bodyPr wrap="square"/>
                    <a:lstStyle/>
                    <a:p>
                      <a:pPr>
                        <a:defRPr sz="550">
                          <a:solidFill>
                            <a:srgbClr val="333333"/>
                          </a:solidFill>
                        </a:defRPr>
                      </a:pPr>
                      <a:r>
                        <a:t>CIs not linked to any business service or application in CMDB</a:t>
                      </a:r>
                    </a:p>
                  </a:txBody>
                  <a:tcPr>
                    <a:solidFill>
                      <a:srgbClr val="E9F0F8"/>
                    </a:solidFill>
                  </a:tcPr>
                </a:tc>
              </a:tr>
            </a:tbl>
          </a:graphicData>
        </a:graphic>
      </p:graphicFrame>
      <p:graphicFrame>
        <p:nvGraphicFramePr>
          <p:cNvPr id="35" name="Table 34"/>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CIs</a:t>
                      </a:r>
                    </a:p>
                  </a:txBody>
                  <a:tcPr>
                    <a:solidFill>
                      <a:srgbClr val="CC0000"/>
                    </a:solidFill>
                  </a:tcPr>
                </a:tc>
                <a:tc>
                  <a:txBody>
                    <a:bodyPr wrap="square"/>
                    <a:lstStyle/>
                    <a:p>
                      <a:pPr algn="ctr">
                        <a:defRPr b="1" sz="550">
                          <a:solidFill>
                            <a:srgbClr val="FFFFFF"/>
                          </a:solidFill>
                        </a:defRPr>
                      </a:pPr>
                      <a:r>
                        <a:t>CIs Verified This Week</a:t>
                      </a:r>
                    </a:p>
                  </a:txBody>
                  <a:tcPr>
                    <a:solidFill>
                      <a:srgbClr val="CC0000"/>
                    </a:solidFill>
                  </a:tcPr>
                </a:tc>
                <a:tc>
                  <a:txBody>
                    <a:bodyPr wrap="square"/>
                    <a:lstStyle/>
                    <a:p>
                      <a:pPr algn="ctr">
                        <a:defRPr b="1" sz="550">
                          <a:solidFill>
                            <a:srgbClr val="FFFFFF"/>
                          </a:solidFill>
                        </a:defRPr>
                      </a:pPr>
                      <a:r>
                        <a:t>CI Accuracy</a:t>
                      </a:r>
                    </a:p>
                  </a:txBody>
                  <a:tcPr>
                    <a:solidFill>
                      <a:srgbClr val="CC0000"/>
                    </a:solidFill>
                  </a:tcPr>
                </a:tc>
                <a:tc>
                  <a:txBody>
                    <a:bodyPr wrap="square"/>
                    <a:lstStyle/>
                    <a:p>
                      <a:pPr algn="ctr">
                        <a:defRPr b="1" sz="550">
                          <a:solidFill>
                            <a:srgbClr val="FFFFFF"/>
                          </a:solidFill>
                        </a:defRPr>
                      </a:pPr>
                      <a:r>
                        <a:t>Orphan CIs</a:t>
                      </a:r>
                    </a:p>
                  </a:txBody>
                  <a:tcPr>
                    <a:solidFill>
                      <a:srgbClr val="CC0000"/>
                    </a:solidFill>
                  </a:tcPr>
                </a:tc>
                <a:tc>
                  <a:txBody>
                    <a:bodyPr wrap="square"/>
                    <a:lstStyle/>
                    <a:p>
                      <a:pPr algn="ctr">
                        <a:defRPr b="1" sz="550">
                          <a:solidFill>
                            <a:srgbClr val="FFFFFF"/>
                          </a:solidFill>
                        </a:defRPr>
                      </a:pPr>
                      <a:r>
                        <a:t>Stale Records</a:t>
                      </a:r>
                    </a:p>
                  </a:txBody>
                  <a:tcPr>
                    <a:solidFill>
                      <a:srgbClr val="CC0000"/>
                    </a:solidFill>
                  </a:tcPr>
                </a:tc>
                <a:tc>
                  <a:txBody>
                    <a:bodyPr wrap="square"/>
                    <a:lstStyle/>
                    <a:p>
                      <a:pPr algn="ctr">
                        <a:defRPr b="1" sz="550">
                          <a:solidFill>
                            <a:srgbClr val="FFFFFF"/>
                          </a:solidFill>
                        </a:defRPr>
                      </a:pPr>
                      <a:r>
                        <a:t>Audit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12524</a:t>
                      </a:r>
                    </a:p>
                  </a:txBody>
                  <a:tcPr>
                    <a:solidFill>
                      <a:srgbClr val="F5F5F5"/>
                    </a:solidFill>
                  </a:tcPr>
                </a:tc>
                <a:tc>
                  <a:txBody>
                    <a:bodyPr/>
                    <a:lstStyle/>
                    <a:p>
                      <a:pPr algn="ctr">
                        <a:defRPr sz="700" b="1">
                          <a:solidFill>
                            <a:srgbClr val="333333"/>
                          </a:solidFill>
                        </a:defRPr>
                      </a:pPr>
                      <a:r>
                        <a:t>141</a:t>
                      </a:r>
                    </a:p>
                  </a:txBody>
                  <a:tcPr>
                    <a:solidFill>
                      <a:srgbClr val="F5F5F5"/>
                    </a:solidFill>
                  </a:tcPr>
                </a:tc>
                <a:tc>
                  <a:txBody>
                    <a:bodyPr/>
                    <a:lstStyle/>
                    <a:p>
                      <a:pPr algn="ctr">
                        <a:defRPr sz="700" b="1">
                          <a:solidFill>
                            <a:srgbClr val="FFFFFF"/>
                          </a:solidFill>
                        </a:defRPr>
                      </a:pPr>
                      <a:r>
                        <a:t>98%</a:t>
                      </a:r>
                    </a:p>
                  </a:txBody>
                  <a:tcPr>
                    <a:solidFill>
                      <a:srgbClr val="1A7348"/>
                    </a:solidFill>
                  </a:tcPr>
                </a:tc>
                <a:tc>
                  <a:txBody>
                    <a:bodyPr/>
                    <a:lstStyle/>
                    <a:p>
                      <a:pPr algn="ctr">
                        <a:defRPr sz="700" b="1">
                          <a:solidFill>
                            <a:srgbClr val="FFFFFF"/>
                          </a:solidFill>
                        </a:defRPr>
                      </a:pPr>
                      <a:r>
                        <a:t>7</a:t>
                      </a:r>
                    </a:p>
                  </a:txBody>
                  <a:tcPr>
                    <a:solidFill>
                      <a:srgbClr val="1A7348"/>
                    </a:solidFill>
                  </a:tcPr>
                </a:tc>
                <a:tc>
                  <a:txBody>
                    <a:bodyPr/>
                    <a:lstStyle/>
                    <a:p>
                      <a:pPr algn="ctr">
                        <a:defRPr sz="700" b="1">
                          <a:solidFill>
                            <a:srgbClr val="FFFFFF"/>
                          </a:solidFill>
                        </a:defRPr>
                      </a:pPr>
                      <a:r>
                        <a:t>12</a:t>
                      </a:r>
                    </a:p>
                  </a:txBody>
                  <a:tcPr>
                    <a:solidFill>
                      <a:srgbClr val="1A7348"/>
                    </a:solidFill>
                  </a:tcPr>
                </a:tc>
                <a:tc>
                  <a:txBody>
                    <a:bodyPr/>
                    <a:lstStyle/>
                    <a:p>
                      <a:pPr algn="ctr">
                        <a:defRPr sz="700" b="1">
                          <a:solidFill>
                            <a:srgbClr val="FFFFFF"/>
                          </a:solidFill>
                        </a:defRPr>
                      </a:pPr>
                      <a:r>
                        <a:t>99%</a:t>
                      </a:r>
                    </a:p>
                  </a:txBody>
                  <a:tcPr>
                    <a:solidFill>
                      <a:srgbClr val="1A7348"/>
                    </a:solidFill>
                  </a:tcPr>
                </a:tc>
              </a:tr>
            </a:tbl>
          </a:graphicData>
        </a:graphic>
      </p:graphicFrame>
      <p:graphicFrame>
        <p:nvGraphicFramePr>
          <p:cNvPr id="36" name="Chart 35"/>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37" name="Chart 36"/>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NOC  |  1 May 2026</a:t>
            </a:r>
          </a:p>
        </p:txBody>
      </p:sp>
      <p:sp>
        <p:nvSpPr>
          <p:cNvPr id="4" name="Rectangle 3"/>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6" name="Rectangle 5"/>
          <p:cNvSpPr/>
          <p:nvPr/>
        </p:nvSpPr>
        <p:spPr>
          <a:xfrm>
            <a:off x="0" y="978408"/>
            <a:ext cx="7315200" cy="100584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640080"/>
          </a:xfrm>
          <a:prstGeom prst="rect">
            <a:avLst/>
          </a:prstGeom>
          <a:noFill/>
        </p:spPr>
        <p:txBody>
          <a:bodyPr wrap="square">
            <a:spAutoFit/>
          </a:bodyPr>
          <a:lstStyle/>
          <a:p>
            <a:pPr>
              <a:spcBef>
                <a:spcPts val="200"/>
              </a:spcBef>
              <a:spcAft>
                <a:spcPts val="100"/>
              </a:spcAft>
            </a:pPr>
            <a:r>
              <a:rPr sz="850" b="0">
                <a:solidFill>
                  <a:srgbClr val="3A3A3A"/>
                </a:solidFill>
              </a:rPr>
              <a:t>The IT Service Management (ITSM) team at MUFG has shown commendable performance this week, with a slight improvement in SLA compliance and auto-resolution rate. The number of alerts received increased to </a:t>
            </a:r>
            <a:r>
              <a:rPr sz="850" b="1">
                <a:solidFill>
                  <a:srgbClr val="1F3864"/>
                </a:solidFill>
              </a:rPr>
              <a:t>1890</a:t>
            </a:r>
            <a:r>
              <a:rPr sz="850" b="0">
                <a:solidFill>
                  <a:srgbClr val="3A3A3A"/>
                </a:solidFill>
              </a:rPr>
              <a:t> from the previous week's total of </a:t>
            </a:r>
            <a:r>
              <a:rPr sz="850" b="1">
                <a:solidFill>
                  <a:srgbClr val="1F3864"/>
                </a:solidFill>
              </a:rPr>
              <a:t>1723,</a:t>
            </a:r>
            <a:r>
              <a:rPr sz="850" b="0">
                <a:solidFill>
                  <a:srgbClr val="3A3A3A"/>
                </a:solidFill>
              </a:rPr>
              <a:t> while maintaining an impressive automatic resolution for most cases without NOC intervention.</a:t>
            </a:r>
          </a:p>
        </p:txBody>
      </p:sp>
      <p:sp>
        <p:nvSpPr>
          <p:cNvPr id="10" name="Rectangle 9"/>
          <p:cNvSpPr/>
          <p:nvPr/>
        </p:nvSpPr>
        <p:spPr>
          <a:xfrm>
            <a:off x="0" y="2075688"/>
            <a:ext cx="7315200" cy="1207007"/>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07568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12140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414016"/>
            <a:ext cx="7059168" cy="841247"/>
          </a:xfrm>
          <a:prstGeom prst="rect">
            <a:avLst/>
          </a:prstGeom>
          <a:noFill/>
        </p:spPr>
        <p:txBody>
          <a:bodyPr wrap="square">
            <a:spAutoFit/>
          </a:bodyPr>
          <a:lstStyle/>
          <a:p>
            <a:pPr>
              <a:spcBef>
                <a:spcPts val="200"/>
              </a:spcBef>
              <a:spcAft>
                <a:spcPts val="100"/>
              </a:spcAft>
            </a:pPr>
            <a:r>
              <a:rPr sz="800" b="1">
                <a:solidFill>
                  <a:srgbClr val="1F3864"/>
                </a:solidFill>
              </a:rPr>
              <a:t>▸  Auto-resolution rate of alerts improved to </a:t>
            </a:r>
            <a:r>
              <a:rPr sz="800" b="1">
                <a:solidFill>
                  <a:srgbClr val="0D47A1"/>
                </a:solidFill>
              </a:rPr>
              <a:t>85%</a:t>
            </a:r>
            <a:r>
              <a:rPr sz="800" b="0">
                <a:solidFill>
                  <a:srgbClr val="1F3864"/>
                </a:solidFill>
              </a:rPr>
              <a:t>.</a:t>
            </a:r>
          </a:p>
          <a:p>
            <a:pPr>
              <a:spcBef>
                <a:spcPts val="200"/>
              </a:spcBef>
              <a:spcAft>
                <a:spcPts val="100"/>
              </a:spcAft>
            </a:pPr>
            <a:r>
              <a:rPr sz="800" b="1">
                <a:solidFill>
                  <a:srgbClr val="1F3864"/>
                </a:solidFill>
              </a:rPr>
              <a:t>▸  P1 incidents managed successfully, with an average resolution time of just under two hours each.</a:t>
            </a:r>
          </a:p>
          <a:p>
            <a:pPr>
              <a:spcBef>
                <a:spcPts val="200"/>
              </a:spcBef>
              <a:spcAft>
                <a:spcPts val="100"/>
              </a:spcAft>
            </a:pPr>
            <a:r>
              <a:rPr sz="800" b="1">
                <a:solidFill>
                  <a:srgbClr val="1F3864"/>
                </a:solidFill>
              </a:rPr>
              <a:t>▸  New runbook deployed for the database alert cluster improves our response and management capabilities.</a:t>
            </a:r>
          </a:p>
        </p:txBody>
      </p:sp>
      <p:sp>
        <p:nvSpPr>
          <p:cNvPr id="14" name="Rectangle 13"/>
          <p:cNvSpPr/>
          <p:nvPr/>
        </p:nvSpPr>
        <p:spPr>
          <a:xfrm>
            <a:off x="0" y="3374136"/>
            <a:ext cx="3657600" cy="2532888"/>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374136"/>
            <a:ext cx="3657600" cy="2532888"/>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374136"/>
            <a:ext cx="7315200" cy="2532888"/>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374136"/>
            <a:ext cx="27432" cy="253288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374136"/>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438144"/>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374136"/>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438144"/>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749040"/>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749040"/>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813048"/>
            <a:ext cx="3360420" cy="484632"/>
          </a:xfrm>
          <a:prstGeom prst="rect">
            <a:avLst/>
          </a:prstGeom>
          <a:noFill/>
        </p:spPr>
        <p:txBody>
          <a:bodyPr wrap="square">
            <a:spAutoFit/>
          </a:bodyPr>
          <a:lstStyle/>
          <a:p>
            <a:pPr>
              <a:spcBef>
                <a:spcPts val="200"/>
              </a:spcBef>
              <a:spcAft>
                <a:spcPts val="100"/>
              </a:spcAft>
            </a:pPr>
            <a:r>
              <a:rPr sz="800" b="1">
                <a:solidFill>
                  <a:srgbClr val="1A3A28"/>
                </a:solidFill>
              </a:rPr>
              <a:t>✓  Auto-resolution rate of alerts improved to </a:t>
            </a:r>
            <a:r>
              <a:rPr sz="800" b="1">
                <a:solidFill>
                  <a:srgbClr val="0A5030"/>
                </a:solidFill>
              </a:rPr>
              <a:t>85%</a:t>
            </a:r>
            <a:r>
              <a:rPr sz="800" b="0">
                <a:solidFill>
                  <a:srgbClr val="1A3A28"/>
                </a:solidFill>
              </a:rPr>
              <a:t>.</a:t>
            </a:r>
          </a:p>
        </p:txBody>
      </p:sp>
      <p:sp>
        <p:nvSpPr>
          <p:cNvPr id="25" name="Rectangle 24"/>
          <p:cNvSpPr/>
          <p:nvPr/>
        </p:nvSpPr>
        <p:spPr>
          <a:xfrm>
            <a:off x="73152" y="440740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40740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471416"/>
            <a:ext cx="3360420" cy="484632"/>
          </a:xfrm>
          <a:prstGeom prst="rect">
            <a:avLst/>
          </a:prstGeom>
          <a:noFill/>
        </p:spPr>
        <p:txBody>
          <a:bodyPr wrap="square">
            <a:spAutoFit/>
          </a:bodyPr>
          <a:lstStyle/>
          <a:p>
            <a:pPr>
              <a:spcBef>
                <a:spcPts val="200"/>
              </a:spcBef>
              <a:spcAft>
                <a:spcPts val="100"/>
              </a:spcAft>
            </a:pPr>
            <a:r>
              <a:rPr sz="800" b="1">
                <a:solidFill>
                  <a:srgbClr val="1A3A28"/>
                </a:solidFill>
              </a:rPr>
              <a:t>✓  P1 incidents managed successfully, with an average resolution time of just under two hours each.</a:t>
            </a:r>
          </a:p>
        </p:txBody>
      </p:sp>
      <p:sp>
        <p:nvSpPr>
          <p:cNvPr id="28" name="Rectangle 27"/>
          <p:cNvSpPr/>
          <p:nvPr/>
        </p:nvSpPr>
        <p:spPr>
          <a:xfrm>
            <a:off x="73152" y="506577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 y="506577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6596" y="5129784"/>
            <a:ext cx="3360420" cy="484632"/>
          </a:xfrm>
          <a:prstGeom prst="rect">
            <a:avLst/>
          </a:prstGeom>
          <a:noFill/>
        </p:spPr>
        <p:txBody>
          <a:bodyPr wrap="square">
            <a:spAutoFit/>
          </a:bodyPr>
          <a:lstStyle/>
          <a:p>
            <a:pPr>
              <a:spcBef>
                <a:spcPts val="200"/>
              </a:spcBef>
              <a:spcAft>
                <a:spcPts val="100"/>
              </a:spcAft>
            </a:pPr>
            <a:r>
              <a:rPr sz="800" b="1">
                <a:solidFill>
                  <a:srgbClr val="1A3A28"/>
                </a:solidFill>
              </a:rPr>
              <a:t>✓  New runbook deployed for the database alert cluster improves our response and management capabilities.</a:t>
            </a:r>
          </a:p>
        </p:txBody>
      </p:sp>
      <p:sp>
        <p:nvSpPr>
          <p:cNvPr id="31" name="Rectangle 30"/>
          <p:cNvSpPr/>
          <p:nvPr/>
        </p:nvSpPr>
        <p:spPr>
          <a:xfrm>
            <a:off x="3730752" y="3749040"/>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3749040"/>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3813048"/>
            <a:ext cx="3360420" cy="484632"/>
          </a:xfrm>
          <a:prstGeom prst="rect">
            <a:avLst/>
          </a:prstGeom>
          <a:noFill/>
        </p:spPr>
        <p:txBody>
          <a:bodyPr wrap="square">
            <a:spAutoFit/>
          </a:bodyPr>
          <a:lstStyle/>
          <a:p>
            <a:pPr>
              <a:spcBef>
                <a:spcPts val="200"/>
              </a:spcBef>
              <a:spcAft>
                <a:spcPts val="100"/>
              </a:spcAft>
            </a:pPr>
            <a:r>
              <a:rPr sz="800" b="1">
                <a:solidFill>
                  <a:srgbClr val="3A2810"/>
                </a:solidFill>
              </a:rPr>
              <a:t>→  Maintain high auto-resolution rates to manage increasing volumes of incoming alerts effectively.</a:t>
            </a:r>
          </a:p>
        </p:txBody>
      </p:sp>
      <p:sp>
        <p:nvSpPr>
          <p:cNvPr id="34" name="Rectangle 33"/>
          <p:cNvSpPr/>
          <p:nvPr/>
        </p:nvSpPr>
        <p:spPr>
          <a:xfrm>
            <a:off x="3730752" y="440740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30752" y="440740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4196" y="4471416"/>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and optimize the new runbook deployed this week, ensuring it continues to enhance our incident management process.</a:t>
            </a:r>
          </a:p>
        </p:txBody>
      </p:sp>
      <p:sp>
        <p:nvSpPr>
          <p:cNvPr id="37" name="Rectangle 36"/>
          <p:cNvSpPr/>
          <p:nvPr/>
        </p:nvSpPr>
        <p:spPr>
          <a:xfrm>
            <a:off x="3730752" y="506577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30752" y="506577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54196" y="5129784"/>
            <a:ext cx="3360420" cy="484632"/>
          </a:xfrm>
          <a:prstGeom prst="rect">
            <a:avLst/>
          </a:prstGeom>
          <a:noFill/>
        </p:spPr>
        <p:txBody>
          <a:bodyPr wrap="square">
            <a:spAutoFit/>
          </a:bodyPr>
          <a:lstStyle/>
          <a:p>
            <a:pPr>
              <a:spcBef>
                <a:spcPts val="200"/>
              </a:spcBef>
              <a:spcAft>
                <a:spcPts val="100"/>
              </a:spcAft>
            </a:pPr>
            <a:r>
              <a:rPr sz="800" b="1">
                <a:solidFill>
                  <a:srgbClr val="3A2810"/>
                </a:solidFill>
              </a:rPr>
              <a:t>→  Monitor P2 incidents closely due to their higher number and potential impact on business operations, aiming for a reduction in the coming weeks.</a:t>
            </a:r>
          </a:p>
        </p:txBody>
      </p:sp>
      <p:graphicFrame>
        <p:nvGraphicFramePr>
          <p:cNvPr id="40" name="Table 39"/>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Alerts Received</a:t>
                      </a:r>
                    </a:p>
                  </a:txBody>
                  <a:tcPr>
                    <a:solidFill>
                      <a:srgbClr val="FFFFFF"/>
                    </a:solidFill>
                  </a:tcPr>
                </a:tc>
                <a:tc>
                  <a:txBody>
                    <a:bodyPr wrap="square"/>
                    <a:lstStyle/>
                    <a:p>
                      <a:pPr>
                        <a:defRPr sz="550">
                          <a:solidFill>
                            <a:srgbClr val="333333"/>
                          </a:solidFill>
                        </a:defRPr>
                      </a:pPr>
                      <a:r>
                        <a:t>Total number of monitoring alerts received by NOC team</a:t>
                      </a:r>
                    </a:p>
                  </a:txBody>
                  <a:tcPr>
                    <a:solidFill>
                      <a:srgbClr val="FFFFFF"/>
                    </a:solidFill>
                  </a:tcPr>
                </a:tc>
                <a:tc>
                  <a:txBody>
                    <a:bodyPr wrap="square"/>
                    <a:lstStyle/>
                    <a:p>
                      <a:pPr>
                        <a:defRPr sz="550">
                          <a:solidFill>
                            <a:srgbClr val="333333"/>
                          </a:solidFill>
                        </a:defRPr>
                      </a:pPr>
                      <a:r>
                        <a:t>Includes all severity levels from all monitored infrastructure</a:t>
                      </a:r>
                    </a:p>
                  </a:txBody>
                  <a:tcPr>
                    <a:solidFill>
                      <a:srgbClr val="FFFFFF"/>
                    </a:solidFill>
                  </a:tcPr>
                </a:tc>
              </a:tr>
              <a:tr h="182880">
                <a:tc>
                  <a:txBody>
                    <a:bodyPr wrap="square"/>
                    <a:lstStyle/>
                    <a:p>
                      <a:pPr>
                        <a:defRPr sz="550" b="1">
                          <a:solidFill>
                            <a:srgbClr val="1F3864"/>
                          </a:solidFill>
                        </a:defRPr>
                      </a:pPr>
                      <a:r>
                        <a:t>Alerts Auto-Resolved</a:t>
                      </a:r>
                    </a:p>
                  </a:txBody>
                  <a:tcPr>
                    <a:solidFill>
                      <a:srgbClr val="E9F0F8"/>
                    </a:solidFill>
                  </a:tcPr>
                </a:tc>
                <a:tc>
                  <a:txBody>
                    <a:bodyPr wrap="square"/>
                    <a:lstStyle/>
                    <a:p>
                      <a:pPr>
                        <a:defRPr sz="550">
                          <a:solidFill>
                            <a:srgbClr val="333333"/>
                          </a:solidFill>
                        </a:defRPr>
                      </a:pPr>
                      <a:r>
                        <a:t>Number of alerts automatically resolved without NOC intervention</a:t>
                      </a:r>
                    </a:p>
                  </a:txBody>
                  <a:tcPr>
                    <a:solidFill>
                      <a:srgbClr val="E9F0F8"/>
                    </a:solidFill>
                  </a:tcPr>
                </a:tc>
                <a:tc>
                  <a:txBody>
                    <a:bodyPr wrap="square"/>
                    <a:lstStyle/>
                    <a:p>
                      <a:pPr>
                        <a:defRPr sz="550">
                          <a:solidFill>
                            <a:srgbClr val="333333"/>
                          </a:solidFill>
                        </a:defRPr>
                      </a:pPr>
                      <a:r>
                        <a:t>Auto-remediation scripts and rules resolving alerts without manual action</a:t>
                      </a:r>
                    </a:p>
                  </a:txBody>
                  <a:tcPr>
                    <a:solidFill>
                      <a:srgbClr val="E9F0F8"/>
                    </a:solidFill>
                  </a:tcPr>
                </a:tc>
              </a:tr>
              <a:tr h="182880">
                <a:tc>
                  <a:txBody>
                    <a:bodyPr wrap="square"/>
                    <a:lstStyle/>
                    <a:p>
                      <a:pPr>
                        <a:defRPr sz="550" b="1">
                          <a:solidFill>
                            <a:srgbClr val="1F3864"/>
                          </a:solidFill>
                        </a:defRPr>
                      </a:pPr>
                      <a:r>
                        <a:t>P1 Incidents</a:t>
                      </a:r>
                    </a:p>
                  </a:txBody>
                  <a:tcPr>
                    <a:solidFill>
                      <a:srgbClr val="FFFFFF"/>
                    </a:solidFill>
                  </a:tcPr>
                </a:tc>
                <a:tc>
                  <a:txBody>
                    <a:bodyPr wrap="square"/>
                    <a:lstStyle/>
                    <a:p>
                      <a:pPr>
                        <a:defRPr sz="550">
                          <a:solidFill>
                            <a:srgbClr val="333333"/>
                          </a:solidFill>
                        </a:defRPr>
                      </a:pPr>
                      <a:r>
                        <a:t>Number of Priority 1 incidents detected and managed by NOC</a:t>
                      </a:r>
                    </a:p>
                  </a:txBody>
                  <a:tcPr>
                    <a:solidFill>
                      <a:srgbClr val="FFFFFF"/>
                    </a:solidFill>
                  </a:tcPr>
                </a:tc>
                <a:tc>
                  <a:txBody>
                    <a:bodyPr wrap="square"/>
                    <a:lstStyle/>
                    <a:p>
                      <a:pPr>
                        <a:defRPr sz="550">
                          <a:solidFill>
                            <a:srgbClr val="333333"/>
                          </a:solidFill>
                        </a:defRPr>
                      </a:pPr>
                      <a:r>
                        <a:t>Critical outages requiring immediate NOC escalation to MIM team</a:t>
                      </a:r>
                    </a:p>
                  </a:txBody>
                  <a:tcPr>
                    <a:solidFill>
                      <a:srgbClr val="FFFFFF"/>
                    </a:solidFill>
                  </a:tcPr>
                </a:tc>
              </a:tr>
              <a:tr h="182880">
                <a:tc>
                  <a:txBody>
                    <a:bodyPr wrap="square"/>
                    <a:lstStyle/>
                    <a:p>
                      <a:pPr>
                        <a:defRPr sz="550" b="1">
                          <a:solidFill>
                            <a:srgbClr val="1F3864"/>
                          </a:solidFill>
                        </a:defRPr>
                      </a:pPr>
                      <a:r>
                        <a:t>P2 Incidents</a:t>
                      </a:r>
                    </a:p>
                  </a:txBody>
                  <a:tcPr>
                    <a:solidFill>
                      <a:srgbClr val="E9F0F8"/>
                    </a:solidFill>
                  </a:tcPr>
                </a:tc>
                <a:tc>
                  <a:txBody>
                    <a:bodyPr wrap="square"/>
                    <a:lstStyle/>
                    <a:p>
                      <a:pPr>
                        <a:defRPr sz="550">
                          <a:solidFill>
                            <a:srgbClr val="333333"/>
                          </a:solidFill>
                        </a:defRPr>
                      </a:pPr>
                      <a:r>
                        <a:t>Number of Priority 2 incidents detected and managed by NOC</a:t>
                      </a:r>
                    </a:p>
                  </a:txBody>
                  <a:tcPr>
                    <a:solidFill>
                      <a:srgbClr val="E9F0F8"/>
                    </a:solidFill>
                  </a:tcPr>
                </a:tc>
                <a:tc>
                  <a:txBody>
                    <a:bodyPr wrap="square"/>
                    <a:lstStyle/>
                    <a:p>
                      <a:pPr>
                        <a:defRPr sz="550">
                          <a:solidFill>
                            <a:srgbClr val="333333"/>
                          </a:solidFill>
                        </a:defRPr>
                      </a:pPr>
                      <a:r>
                        <a:t>High severity alerts requiring prompt NOC investigation and response</a:t>
                      </a:r>
                    </a:p>
                  </a:txBody>
                  <a:tcPr>
                    <a:solidFill>
                      <a:srgbClr val="E9F0F8"/>
                    </a:solidFill>
                  </a:tcPr>
                </a:tc>
              </a:tr>
            </a:tbl>
          </a:graphicData>
        </a:graphic>
      </p:graphicFrame>
      <p:graphicFrame>
        <p:nvGraphicFramePr>
          <p:cNvPr id="41" name="Table 40"/>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Alerts Received</a:t>
                      </a:r>
                    </a:p>
                  </a:txBody>
                  <a:tcPr>
                    <a:solidFill>
                      <a:srgbClr val="CC0000"/>
                    </a:solidFill>
                  </a:tcPr>
                </a:tc>
                <a:tc>
                  <a:txBody>
                    <a:bodyPr wrap="square"/>
                    <a:lstStyle/>
                    <a:p>
                      <a:pPr algn="ctr">
                        <a:defRPr b="1" sz="550">
                          <a:solidFill>
                            <a:srgbClr val="FFFFFF"/>
                          </a:solidFill>
                        </a:defRPr>
                      </a:pPr>
                      <a:r>
                        <a:t>Alerts Auto-Resolved</a:t>
                      </a:r>
                    </a:p>
                  </a:txBody>
                  <a:tcPr>
                    <a:solidFill>
                      <a:srgbClr val="CC0000"/>
                    </a:solidFill>
                  </a:tcPr>
                </a:tc>
                <a:tc>
                  <a:txBody>
                    <a:bodyPr wrap="square"/>
                    <a:lstStyle/>
                    <a:p>
                      <a:pPr algn="ctr">
                        <a:defRPr b="1" sz="550">
                          <a:solidFill>
                            <a:srgbClr val="FFFFFF"/>
                          </a:solidFill>
                        </a:defRPr>
                      </a:pPr>
                      <a:r>
                        <a:t>P1 Incidents</a:t>
                      </a:r>
                    </a:p>
                  </a:txBody>
                  <a:tcPr>
                    <a:solidFill>
                      <a:srgbClr val="CC0000"/>
                    </a:solidFill>
                  </a:tcPr>
                </a:tc>
                <a:tc>
                  <a:txBody>
                    <a:bodyPr wrap="square"/>
                    <a:lstStyle/>
                    <a:p>
                      <a:pPr algn="ctr">
                        <a:defRPr b="1" sz="550">
                          <a:solidFill>
                            <a:srgbClr val="FFFFFF"/>
                          </a:solidFill>
                        </a:defRPr>
                      </a:pPr>
                      <a:r>
                        <a:t>P2 Incidents</a:t>
                      </a:r>
                    </a:p>
                  </a:txBody>
                  <a:tcPr>
                    <a:solidFill>
                      <a:srgbClr val="CC0000"/>
                    </a:solidFill>
                  </a:tcPr>
                </a:tc>
                <a:tc>
                  <a:txBody>
                    <a:bodyPr wrap="square"/>
                    <a:lstStyle/>
                    <a:p>
                      <a:pPr algn="ctr">
                        <a:defRPr b="1" sz="550">
                          <a:solidFill>
                            <a:srgbClr val="FFFFFF"/>
                          </a:solidFill>
                        </a:defRPr>
                      </a:pPr>
                      <a:r>
                        <a:t>MTTR Hours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1890</a:t>
                      </a:r>
                    </a:p>
                  </a:txBody>
                  <a:tcPr>
                    <a:solidFill>
                      <a:srgbClr val="F5F5F5"/>
                    </a:solidFill>
                  </a:tcPr>
                </a:tc>
                <a:tc>
                  <a:txBody>
                    <a:bodyPr/>
                    <a:lstStyle/>
                    <a:p>
                      <a:pPr algn="ctr">
                        <a:defRPr sz="700" b="1">
                          <a:solidFill>
                            <a:srgbClr val="333333"/>
                          </a:solidFill>
                        </a:defRPr>
                      </a:pPr>
                      <a:r>
                        <a:t>1610</a:t>
                      </a:r>
                    </a:p>
                  </a:txBody>
                  <a:tcPr>
                    <a:solidFill>
                      <a:srgbClr val="F5F5F5"/>
                    </a:solidFill>
                  </a:tcPr>
                </a:tc>
                <a:tc>
                  <a:txBody>
                    <a:bodyPr/>
                    <a:lstStyle/>
                    <a:p>
                      <a:pPr algn="ctr">
                        <a:defRPr sz="700" b="1">
                          <a:solidFill>
                            <a:srgbClr val="FFFFFF"/>
                          </a:solidFill>
                        </a:defRPr>
                      </a:pPr>
                      <a:r>
                        <a:t>2</a:t>
                      </a:r>
                    </a:p>
                  </a:txBody>
                  <a:tcPr>
                    <a:solidFill>
                      <a:srgbClr val="1A7348"/>
                    </a:solidFill>
                  </a:tcPr>
                </a:tc>
                <a:tc>
                  <a:txBody>
                    <a:bodyPr/>
                    <a:lstStyle/>
                    <a:p>
                      <a:pPr algn="ctr">
                        <a:defRPr sz="700" b="1">
                          <a:solidFill>
                            <a:srgbClr val="FFFFFF"/>
                          </a:solidFill>
                        </a:defRPr>
                      </a:pPr>
                      <a:r>
                        <a:t>5</a:t>
                      </a:r>
                    </a:p>
                  </a:txBody>
                  <a:tcPr>
                    <a:solidFill>
                      <a:srgbClr val="1A7348"/>
                    </a:solidFill>
                  </a:tcPr>
                </a:tc>
                <a:tc>
                  <a:txBody>
                    <a:bodyPr/>
                    <a:lstStyle/>
                    <a:p>
                      <a:pPr algn="ctr">
                        <a:defRPr sz="700" b="1">
                          <a:solidFill>
                            <a:srgbClr val="FFFFFF"/>
                          </a:solidFill>
                        </a:defRPr>
                      </a:pPr>
                      <a:r>
                        <a:t>1.7</a:t>
                      </a:r>
                    </a:p>
                  </a:txBody>
                  <a:tcPr>
                    <a:solidFill>
                      <a:srgbClr val="1A7348"/>
                    </a:solidFill>
                  </a:tcPr>
                </a:tc>
                <a:tc>
                  <a:txBody>
                    <a:bodyPr/>
                    <a:lstStyle/>
                    <a:p>
                      <a:pPr algn="ctr">
                        <a:defRPr sz="700" b="1">
                          <a:solidFill>
                            <a:srgbClr val="FFFFFF"/>
                          </a:solidFill>
                        </a:defRPr>
                      </a:pPr>
                      <a:r>
                        <a:t>97%</a:t>
                      </a:r>
                    </a:p>
                  </a:txBody>
                  <a:tcPr>
                    <a:solidFill>
                      <a:srgbClr val="1A7348"/>
                    </a:solidFill>
                  </a:tcPr>
                </a:tc>
              </a:tr>
            </a:tbl>
          </a:graphicData>
        </a:graphic>
      </p:graphicFrame>
      <p:graphicFrame>
        <p:nvGraphicFramePr>
          <p:cNvPr id="42" name="Chart 41"/>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43" name="Chart 42"/>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ServiceNow  |  1 May 2026</a:t>
            </a:r>
          </a:p>
        </p:txBody>
      </p:sp>
      <p:sp>
        <p:nvSpPr>
          <p:cNvPr id="4" name="Rectangle 3"/>
          <p:cNvSpPr/>
          <p:nvPr/>
        </p:nvSpPr>
        <p:spPr>
          <a:xfrm>
            <a:off x="10332720" y="82296"/>
            <a:ext cx="1737360" cy="39319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333333"/>
                </a:solidFill>
              </a:defRPr>
            </a:pPr>
            <a:r>
              <a:t>Overall: AMBER</a:t>
            </a:r>
          </a:p>
        </p:txBody>
      </p:sp>
      <p:sp>
        <p:nvSpPr>
          <p:cNvPr id="6" name="Rectangle 5"/>
          <p:cNvSpPr/>
          <p:nvPr/>
        </p:nvSpPr>
        <p:spPr>
          <a:xfrm>
            <a:off x="0" y="978408"/>
            <a:ext cx="7315200" cy="1156716"/>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790956"/>
          </a:xfrm>
          <a:prstGeom prst="rect">
            <a:avLst/>
          </a:prstGeom>
          <a:noFill/>
        </p:spPr>
        <p:txBody>
          <a:bodyPr wrap="square">
            <a:spAutoFit/>
          </a:bodyPr>
          <a:lstStyle/>
          <a:p>
            <a:pPr>
              <a:spcBef>
                <a:spcPts val="200"/>
              </a:spcBef>
              <a:spcAft>
                <a:spcPts val="100"/>
              </a:spcAft>
            </a:pPr>
            <a:r>
              <a:rPr sz="850" b="0">
                <a:solidFill>
                  <a:srgbClr val="3A3A3A"/>
                </a:solidFill>
              </a:rPr>
              <a:t>The ServiceNow team has </a:t>
            </a:r>
            <a:r>
              <a:rPr sz="850" b="1">
                <a:solidFill>
                  <a:srgbClr val="1F3864"/>
                </a:solidFill>
              </a:rPr>
              <a:t>4</a:t>
            </a:r>
            <a:r>
              <a:rPr sz="850" b="0">
                <a:solidFill>
                  <a:srgbClr val="3A3A3A"/>
                </a:solidFill>
              </a:rPr>
              <a:t> data record(s) in the current reporting window. Performance highlights indicate Resolution Rate (&gt;</a:t>
            </a:r>
            <a:r>
              <a:rPr sz="850" b="1">
                <a:solidFill>
                  <a:srgbClr val="1F3864"/>
                </a:solidFill>
              </a:rPr>
              <a:t>95%</a:t>
            </a:r>
            <a:r>
              <a:rPr sz="850" b="0">
                <a:solidFill>
                  <a:srgbClr val="3A3A3A"/>
                </a:solidFill>
              </a:rPr>
              <a:t>): </a:t>
            </a:r>
            <a:r>
              <a:rPr sz="850" b="1">
                <a:solidFill>
                  <a:srgbClr val="1F3864"/>
                </a:solidFill>
              </a:rPr>
              <a:t>95.2%</a:t>
            </a:r>
            <a:r>
              <a:rPr sz="850" b="0">
                <a:solidFill>
                  <a:srgbClr val="3A3A3A"/>
                </a:solidFill>
              </a:rPr>
              <a:t>, First Call Resolution (&gt;</a:t>
            </a:r>
            <a:r>
              <a:rPr sz="850" b="1">
                <a:solidFill>
                  <a:srgbClr val="1F3864"/>
                </a:solidFill>
              </a:rPr>
              <a:t>80%</a:t>
            </a:r>
            <a:r>
              <a:rPr sz="850" b="0">
                <a:solidFill>
                  <a:srgbClr val="3A3A3A"/>
                </a:solidFill>
              </a:rPr>
              <a:t>): </a:t>
            </a:r>
            <a:r>
              <a:rPr sz="850" b="1">
                <a:solidFill>
                  <a:srgbClr val="1F3864"/>
                </a:solidFill>
              </a:rPr>
              <a:t>84.0%</a:t>
            </a:r>
            <a:r>
              <a:rPr sz="850" b="0">
                <a:solidFill>
                  <a:srgbClr val="3A3A3A"/>
                </a:solidFill>
              </a:rPr>
              <a:t>. Potential risk areas include First Call Resolution (&gt;</a:t>
            </a:r>
            <a:r>
              <a:rPr sz="850" b="1">
                <a:solidFill>
                  <a:srgbClr val="1F3864"/>
                </a:solidFill>
              </a:rPr>
              <a:t>80%</a:t>
            </a:r>
            <a:r>
              <a:rPr sz="850" b="0">
                <a:solidFill>
                  <a:srgbClr val="3A3A3A"/>
                </a:solidFill>
              </a:rPr>
              <a:t>): </a:t>
            </a:r>
            <a:r>
              <a:rPr sz="850" b="1">
                <a:solidFill>
                  <a:srgbClr val="1F3864"/>
                </a:solidFill>
              </a:rPr>
              <a:t>84.0%</a:t>
            </a:r>
            <a:r>
              <a:rPr sz="850" b="0">
                <a:solidFill>
                  <a:srgbClr val="3A3A3A"/>
                </a:solidFill>
              </a:rPr>
              <a:t>, Resolution Rate (&gt;</a:t>
            </a:r>
            <a:r>
              <a:rPr sz="850" b="1">
                <a:solidFill>
                  <a:srgbClr val="1F3864"/>
                </a:solidFill>
              </a:rPr>
              <a:t>95%</a:t>
            </a:r>
            <a:r>
              <a:rPr sz="850" b="0">
                <a:solidFill>
                  <a:srgbClr val="3A3A3A"/>
                </a:solidFill>
              </a:rPr>
              <a:t>): </a:t>
            </a:r>
            <a:r>
              <a:rPr sz="850" b="1">
                <a:solidFill>
                  <a:srgbClr val="1F3864"/>
                </a:solidFill>
              </a:rPr>
              <a:t>95.2%</a:t>
            </a:r>
            <a:r>
              <a:rPr sz="850" b="0">
                <a:solidFill>
                  <a:srgbClr val="3A3A3A"/>
                </a:solidFill>
              </a:rPr>
              <a:t>. Recommended action is to sustain high-performing KPIs while prioritizing targeted corrective actions for underperforming indicators in the next cycle.</a:t>
            </a:r>
          </a:p>
        </p:txBody>
      </p:sp>
      <p:sp>
        <p:nvSpPr>
          <p:cNvPr id="10" name="Rectangle 9"/>
          <p:cNvSpPr/>
          <p:nvPr/>
        </p:nvSpPr>
        <p:spPr>
          <a:xfrm>
            <a:off x="0" y="2226564"/>
            <a:ext cx="7315200" cy="713231"/>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2226564"/>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272284"/>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564892"/>
            <a:ext cx="7059168" cy="347471"/>
          </a:xfrm>
          <a:prstGeom prst="rect">
            <a:avLst/>
          </a:prstGeom>
          <a:noFill/>
        </p:spPr>
        <p:txBody>
          <a:bodyPr wrap="square">
            <a:spAutoFit/>
          </a:bodyPr>
          <a:lstStyle/>
          <a:p>
            <a:pPr>
              <a:spcBef>
                <a:spcPts val="200"/>
              </a:spcBef>
              <a:spcAft>
                <a:spcPts val="100"/>
              </a:spcAft>
            </a:pPr>
            <a:r>
              <a:rPr sz="800" b="1">
                <a:solidFill>
                  <a:srgbClr val="1F3864"/>
                </a:solidFill>
              </a:rPr>
              <a:t>▸  ServiceNow data was processed successfully.</a:t>
            </a:r>
          </a:p>
          <a:p>
            <a:pPr>
              <a:spcBef>
                <a:spcPts val="200"/>
              </a:spcBef>
              <a:spcAft>
                <a:spcPts val="100"/>
              </a:spcAft>
            </a:pPr>
            <a:r>
              <a:rPr sz="800" b="1">
                <a:solidFill>
                  <a:srgbClr val="1F3864"/>
                </a:solidFill>
              </a:rPr>
              <a:t>▸  Automated KPI snapshot generated for this period.</a:t>
            </a:r>
          </a:p>
        </p:txBody>
      </p:sp>
      <p:sp>
        <p:nvSpPr>
          <p:cNvPr id="14" name="Rectangle 13"/>
          <p:cNvSpPr/>
          <p:nvPr/>
        </p:nvSpPr>
        <p:spPr>
          <a:xfrm>
            <a:off x="0" y="3031236"/>
            <a:ext cx="3657600" cy="2875788"/>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031236"/>
            <a:ext cx="3657600" cy="2875788"/>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031236"/>
            <a:ext cx="7315200" cy="2875788"/>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031236"/>
            <a:ext cx="27432" cy="2875788"/>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031236"/>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095244"/>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031236"/>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095244"/>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406140"/>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406140"/>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470148"/>
            <a:ext cx="3360420" cy="484632"/>
          </a:xfrm>
          <a:prstGeom prst="rect">
            <a:avLst/>
          </a:prstGeom>
          <a:noFill/>
        </p:spPr>
        <p:txBody>
          <a:bodyPr wrap="square">
            <a:spAutoFit/>
          </a:bodyPr>
          <a:lstStyle/>
          <a:p>
            <a:pPr>
              <a:spcBef>
                <a:spcPts val="200"/>
              </a:spcBef>
              <a:spcAft>
                <a:spcPts val="100"/>
              </a:spcAft>
            </a:pPr>
            <a:r>
              <a:rPr sz="800" b="1">
                <a:solidFill>
                  <a:srgbClr val="1A3A28"/>
                </a:solidFill>
              </a:rPr>
              <a:t>✓  ServiceNow data was processed successfully.</a:t>
            </a:r>
          </a:p>
        </p:txBody>
      </p:sp>
      <p:sp>
        <p:nvSpPr>
          <p:cNvPr id="25" name="Rectangle 24"/>
          <p:cNvSpPr/>
          <p:nvPr/>
        </p:nvSpPr>
        <p:spPr>
          <a:xfrm>
            <a:off x="73152" y="406450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06450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128516"/>
            <a:ext cx="3360420" cy="484632"/>
          </a:xfrm>
          <a:prstGeom prst="rect">
            <a:avLst/>
          </a:prstGeom>
          <a:noFill/>
        </p:spPr>
        <p:txBody>
          <a:bodyPr wrap="square">
            <a:spAutoFit/>
          </a:bodyPr>
          <a:lstStyle/>
          <a:p>
            <a:pPr>
              <a:spcBef>
                <a:spcPts val="200"/>
              </a:spcBef>
              <a:spcAft>
                <a:spcPts val="100"/>
              </a:spcAft>
            </a:pPr>
            <a:r>
              <a:rPr sz="800" b="1">
                <a:solidFill>
                  <a:srgbClr val="1A3A28"/>
                </a:solidFill>
              </a:rPr>
              <a:t>✓  Automated KPI snapshot generated for this period.</a:t>
            </a:r>
          </a:p>
        </p:txBody>
      </p:sp>
      <p:sp>
        <p:nvSpPr>
          <p:cNvPr id="28" name="Rectangle 27"/>
          <p:cNvSpPr/>
          <p:nvPr/>
        </p:nvSpPr>
        <p:spPr>
          <a:xfrm>
            <a:off x="3730752" y="3406140"/>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30752" y="3406140"/>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54196" y="3470148"/>
            <a:ext cx="3360420" cy="484632"/>
          </a:xfrm>
          <a:prstGeom prst="rect">
            <a:avLst/>
          </a:prstGeom>
          <a:noFill/>
        </p:spPr>
        <p:txBody>
          <a:bodyPr wrap="square">
            <a:spAutoFit/>
          </a:bodyPr>
          <a:lstStyle/>
          <a:p>
            <a:pPr>
              <a:spcBef>
                <a:spcPts val="200"/>
              </a:spcBef>
              <a:spcAft>
                <a:spcPts val="100"/>
              </a:spcAft>
            </a:pPr>
            <a:r>
              <a:rPr sz="800" b="1">
                <a:solidFill>
                  <a:srgbClr val="3A2810"/>
                </a:solidFill>
              </a:rPr>
              <a:t>→  AI analysis unavailable. Rule-based summary was applied.</a:t>
            </a:r>
          </a:p>
        </p:txBody>
      </p:sp>
      <p:sp>
        <p:nvSpPr>
          <p:cNvPr id="31" name="Rectangle 30"/>
          <p:cNvSpPr/>
          <p:nvPr/>
        </p:nvSpPr>
        <p:spPr>
          <a:xfrm>
            <a:off x="3730752" y="406450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406450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4128516"/>
            <a:ext cx="3360420" cy="484632"/>
          </a:xfrm>
          <a:prstGeom prst="rect">
            <a:avLst/>
          </a:prstGeom>
          <a:noFill/>
        </p:spPr>
        <p:txBody>
          <a:bodyPr wrap="square">
            <a:spAutoFit/>
          </a:bodyPr>
          <a:lstStyle/>
          <a:p>
            <a:pPr>
              <a:spcBef>
                <a:spcPts val="200"/>
              </a:spcBef>
              <a:spcAft>
                <a:spcPts val="100"/>
              </a:spcAft>
            </a:pPr>
            <a:r>
              <a:rPr sz="800" b="1">
                <a:solidFill>
                  <a:srgbClr val="3A2810"/>
                </a:solidFill>
              </a:rPr>
              <a:t>→  Review low-performing KPIs and assign action owners.</a:t>
            </a:r>
          </a:p>
        </p:txBody>
      </p:sp>
      <p:graphicFrame>
        <p:nvGraphicFramePr>
          <p:cNvPr id="34" name="Table 33"/>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Total Tickets</a:t>
                      </a:r>
                    </a:p>
                  </a:txBody>
                  <a:tcPr>
                    <a:solidFill>
                      <a:srgbClr val="FFFFFF"/>
                    </a:solidFill>
                  </a:tcPr>
                </a:tc>
                <a:tc>
                  <a:txBody>
                    <a:bodyPr wrap="square"/>
                    <a:lstStyle/>
                    <a:p>
                      <a:pPr>
                        <a:defRPr sz="550">
                          <a:solidFill>
                            <a:srgbClr val="333333"/>
                          </a:solidFill>
                        </a:defRPr>
                      </a:pPr>
                      <a:r>
                        <a:t>Total service requests and incidents logged in ServiceNow</a:t>
                      </a:r>
                    </a:p>
                  </a:txBody>
                  <a:tcPr>
                    <a:solidFill>
                      <a:srgbClr val="FFFFFF"/>
                    </a:solidFill>
                  </a:tcPr>
                </a:tc>
                <a:tc>
                  <a:txBody>
                    <a:bodyPr wrap="square"/>
                    <a:lstStyle/>
                    <a:p>
                      <a:pPr>
                        <a:defRPr sz="550">
                          <a:solidFill>
                            <a:srgbClr val="333333"/>
                          </a:solidFill>
                        </a:defRPr>
                      </a:pPr>
                      <a:r>
                        <a:t>Includes all request types and categories processed through the platform</a:t>
                      </a:r>
                    </a:p>
                  </a:txBody>
                  <a:tcPr>
                    <a:solidFill>
                      <a:srgbClr val="FFFFFF"/>
                    </a:solidFill>
                  </a:tcPr>
                </a:tc>
              </a:tr>
              <a:tr h="182880">
                <a:tc>
                  <a:txBody>
                    <a:bodyPr wrap="square"/>
                    <a:lstStyle/>
                    <a:p>
                      <a:pPr>
                        <a:defRPr sz="550" b="1">
                          <a:solidFill>
                            <a:srgbClr val="1F3864"/>
                          </a:solidFill>
                        </a:defRPr>
                      </a:pPr>
                      <a:r>
                        <a:t>Tickets Resolved</a:t>
                      </a:r>
                    </a:p>
                  </a:txBody>
                  <a:tcPr>
                    <a:solidFill>
                      <a:srgbClr val="E9F0F8"/>
                    </a:solidFill>
                  </a:tcPr>
                </a:tc>
                <a:tc>
                  <a:txBody>
                    <a:bodyPr wrap="square"/>
                    <a:lstStyle/>
                    <a:p>
                      <a:pPr>
                        <a:defRPr sz="550">
                          <a:solidFill>
                            <a:srgbClr val="333333"/>
                          </a:solidFill>
                        </a:defRPr>
                      </a:pPr>
                      <a:r>
                        <a:t>Number of tickets moved to resolved status in the period</a:t>
                      </a:r>
                    </a:p>
                  </a:txBody>
                  <a:tcPr>
                    <a:solidFill>
                      <a:srgbClr val="E9F0F8"/>
                    </a:solidFill>
                  </a:tcPr>
                </a:tc>
                <a:tc>
                  <a:txBody>
                    <a:bodyPr wrap="square"/>
                    <a:lstStyle/>
                    <a:p>
                      <a:pPr>
                        <a:defRPr sz="550">
                          <a:solidFill>
                            <a:srgbClr val="333333"/>
                          </a:solidFill>
                        </a:defRPr>
                      </a:pPr>
                      <a:r>
                        <a:t>Resolved tickets pending user confirmation closure after 5 days</a:t>
                      </a:r>
                    </a:p>
                  </a:txBody>
                  <a:tcPr>
                    <a:solidFill>
                      <a:srgbClr val="E9F0F8"/>
                    </a:solidFill>
                  </a:tcPr>
                </a:tc>
              </a:tr>
              <a:tr h="182880">
                <a:tc>
                  <a:txBody>
                    <a:bodyPr wrap="square"/>
                    <a:lstStyle/>
                    <a:p>
                      <a:pPr>
                        <a:defRPr sz="550" b="1">
                          <a:solidFill>
                            <a:srgbClr val="1F3864"/>
                          </a:solidFill>
                        </a:defRPr>
                      </a:pPr>
                      <a:r>
                        <a:t>Escalated Tickets</a:t>
                      </a:r>
                    </a:p>
                  </a:txBody>
                  <a:tcPr>
                    <a:solidFill>
                      <a:srgbClr val="FFFFFF"/>
                    </a:solidFill>
                  </a:tcPr>
                </a:tc>
                <a:tc>
                  <a:txBody>
                    <a:bodyPr wrap="square"/>
                    <a:lstStyle/>
                    <a:p>
                      <a:pPr>
                        <a:defRPr sz="550">
                          <a:solidFill>
                            <a:srgbClr val="333333"/>
                          </a:solidFill>
                        </a:defRPr>
                      </a:pPr>
                      <a:r>
                        <a:t>Number of tickets escalated to L2 or L3 support teams</a:t>
                      </a:r>
                    </a:p>
                  </a:txBody>
                  <a:tcPr>
                    <a:solidFill>
                      <a:srgbClr val="FFFFFF"/>
                    </a:solidFill>
                  </a:tcPr>
                </a:tc>
                <a:tc>
                  <a:txBody>
                    <a:bodyPr wrap="square"/>
                    <a:lstStyle/>
                    <a:p>
                      <a:pPr>
                        <a:defRPr sz="550">
                          <a:solidFill>
                            <a:srgbClr val="333333"/>
                          </a:solidFill>
                        </a:defRPr>
                      </a:pPr>
                      <a:r>
                        <a:t>Tickets that could not be resolved by first-line ServiceNow team</a:t>
                      </a:r>
                    </a:p>
                  </a:txBody>
                  <a:tcPr>
                    <a:solidFill>
                      <a:srgbClr val="FFFFFF"/>
                    </a:solidFill>
                  </a:tcPr>
                </a:tc>
              </a:tr>
              <a:tr h="182880">
                <a:tc>
                  <a:txBody>
                    <a:bodyPr wrap="square"/>
                    <a:lstStyle/>
                    <a:p>
                      <a:pPr>
                        <a:defRPr sz="550" b="1">
                          <a:solidFill>
                            <a:srgbClr val="1F3864"/>
                          </a:solidFill>
                        </a:defRPr>
                      </a:pPr>
                      <a:r>
                        <a:t>Resolution Rate</a:t>
                      </a:r>
                    </a:p>
                  </a:txBody>
                  <a:tcPr>
                    <a:solidFill>
                      <a:srgbClr val="E9F0F8"/>
                    </a:solidFill>
                  </a:tcPr>
                </a:tc>
                <a:tc>
                  <a:txBody>
                    <a:bodyPr wrap="square"/>
                    <a:lstStyle/>
                    <a:p>
                      <a:pPr>
                        <a:defRPr sz="550">
                          <a:solidFill>
                            <a:srgbClr val="333333"/>
                          </a:solidFill>
                        </a:defRPr>
                      </a:pPr>
                      <a:r>
                        <a:t>Percentage of tickets resolved within agreed SLA target</a:t>
                      </a:r>
                    </a:p>
                  </a:txBody>
                  <a:tcPr>
                    <a:solidFill>
                      <a:srgbClr val="E9F0F8"/>
                    </a:solidFill>
                  </a:tcPr>
                </a:tc>
                <a:tc>
                  <a:txBody>
                    <a:bodyPr wrap="square"/>
                    <a:lstStyle/>
                    <a:p>
                      <a:pPr>
                        <a:defRPr sz="550">
                          <a:solidFill>
                            <a:srgbClr val="333333"/>
                          </a:solidFill>
                        </a:defRPr>
                      </a:pPr>
                      <a:r>
                        <a:t>Calculated against resolution time targets by ticket category</a:t>
                      </a:r>
                    </a:p>
                  </a:txBody>
                  <a:tcPr>
                    <a:solidFill>
                      <a:srgbClr val="E9F0F8"/>
                    </a:solidFill>
                  </a:tcPr>
                </a:tc>
              </a:tr>
            </a:tbl>
          </a:graphicData>
        </a:graphic>
      </p:graphicFrame>
      <p:graphicFrame>
        <p:nvGraphicFramePr>
          <p:cNvPr id="35" name="Table 34"/>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Total Tickets</a:t>
                      </a:r>
                    </a:p>
                  </a:txBody>
                  <a:tcPr>
                    <a:solidFill>
                      <a:srgbClr val="CC0000"/>
                    </a:solidFill>
                  </a:tcPr>
                </a:tc>
                <a:tc>
                  <a:txBody>
                    <a:bodyPr wrap="square"/>
                    <a:lstStyle/>
                    <a:p>
                      <a:pPr algn="ctr">
                        <a:defRPr b="1" sz="550">
                          <a:solidFill>
                            <a:srgbClr val="FFFFFF"/>
                          </a:solidFill>
                        </a:defRPr>
                      </a:pPr>
                      <a:r>
                        <a:t>Tickets Resolved</a:t>
                      </a:r>
                    </a:p>
                  </a:txBody>
                  <a:tcPr>
                    <a:solidFill>
                      <a:srgbClr val="CC0000"/>
                    </a:solidFill>
                  </a:tcPr>
                </a:tc>
                <a:tc>
                  <a:txBody>
                    <a:bodyPr wrap="square"/>
                    <a:lstStyle/>
                    <a:p>
                      <a:pPr algn="ctr">
                        <a:defRPr b="1" sz="550">
                          <a:solidFill>
                            <a:srgbClr val="FFFFFF"/>
                          </a:solidFill>
                        </a:defRPr>
                      </a:pPr>
                      <a:r>
                        <a:t>Escalated Tickets</a:t>
                      </a:r>
                    </a:p>
                  </a:txBody>
                  <a:tcPr>
                    <a:solidFill>
                      <a:srgbClr val="CC0000"/>
                    </a:solidFill>
                  </a:tcPr>
                </a:tc>
                <a:tc>
                  <a:txBody>
                    <a:bodyPr wrap="square"/>
                    <a:lstStyle/>
                    <a:p>
                      <a:pPr algn="ctr">
                        <a:defRPr b="1" sz="550">
                          <a:solidFill>
                            <a:srgbClr val="FFFFFF"/>
                          </a:solidFill>
                        </a:defRPr>
                      </a:pPr>
                      <a:r>
                        <a:t>Resolution Rate</a:t>
                      </a:r>
                    </a:p>
                  </a:txBody>
                  <a:tcPr>
                    <a:solidFill>
                      <a:srgbClr val="CC0000"/>
                    </a:solidFill>
                  </a:tcPr>
                </a:tc>
                <a:tc>
                  <a:txBody>
                    <a:bodyPr wrap="square"/>
                    <a:lstStyle/>
                    <a:p>
                      <a:pPr algn="ctr">
                        <a:defRPr b="1" sz="550">
                          <a:solidFill>
                            <a:srgbClr val="FFFFFF"/>
                          </a:solidFill>
                        </a:defRPr>
                      </a:pPr>
                      <a:r>
                        <a:t>CSAT Score</a:t>
                      </a:r>
                    </a:p>
                  </a:txBody>
                  <a:tcPr>
                    <a:solidFill>
                      <a:srgbClr val="CC0000"/>
                    </a:solidFill>
                  </a:tcPr>
                </a:tc>
                <a:tc>
                  <a:txBody>
                    <a:bodyPr wrap="square"/>
                    <a:lstStyle/>
                    <a:p>
                      <a:pPr algn="ctr">
                        <a:defRPr b="1" sz="550">
                          <a:solidFill>
                            <a:srgbClr val="FFFFFF"/>
                          </a:solidFill>
                        </a:defRPr>
                      </a:pPr>
                      <a:r>
                        <a:t>First Call Resolution</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230</a:t>
                      </a:r>
                    </a:p>
                  </a:txBody>
                  <a:tcPr>
                    <a:solidFill>
                      <a:srgbClr val="F5F5F5"/>
                    </a:solidFill>
                  </a:tcPr>
                </a:tc>
                <a:tc>
                  <a:txBody>
                    <a:bodyPr/>
                    <a:lstStyle/>
                    <a:p>
                      <a:pPr algn="ctr">
                        <a:defRPr sz="700" b="1">
                          <a:solidFill>
                            <a:srgbClr val="333333"/>
                          </a:solidFill>
                        </a:defRPr>
                      </a:pPr>
                      <a:r>
                        <a:t>219</a:t>
                      </a:r>
                    </a:p>
                  </a:txBody>
                  <a:tcPr>
                    <a:solidFill>
                      <a:srgbClr val="F5F5F5"/>
                    </a:solidFill>
                  </a:tcPr>
                </a:tc>
                <a:tc>
                  <a:txBody>
                    <a:bodyPr/>
                    <a:lstStyle/>
                    <a:p>
                      <a:pPr algn="ctr">
                        <a:defRPr sz="700" b="1">
                          <a:solidFill>
                            <a:srgbClr val="333333"/>
                          </a:solidFill>
                        </a:defRPr>
                      </a:pPr>
                      <a:r>
                        <a:t>9</a:t>
                      </a:r>
                    </a:p>
                  </a:txBody>
                  <a:tcPr>
                    <a:solidFill>
                      <a:srgbClr val="F5F5F5"/>
                    </a:solidFill>
                  </a:tcPr>
                </a:tc>
                <a:tc>
                  <a:txBody>
                    <a:bodyPr/>
                    <a:lstStyle/>
                    <a:p>
                      <a:pPr algn="ctr">
                        <a:defRPr sz="700" b="1">
                          <a:solidFill>
                            <a:srgbClr val="FFFFFF"/>
                          </a:solidFill>
                        </a:defRPr>
                      </a:pPr>
                      <a:r>
                        <a:t>95%</a:t>
                      </a:r>
                    </a:p>
                  </a:txBody>
                  <a:tcPr>
                    <a:solidFill>
                      <a:srgbClr val="1A7348"/>
                    </a:solidFill>
                  </a:tcPr>
                </a:tc>
                <a:tc>
                  <a:txBody>
                    <a:bodyPr/>
                    <a:lstStyle/>
                    <a:p>
                      <a:pPr algn="ctr">
                        <a:defRPr sz="700" b="1">
                          <a:solidFill>
                            <a:srgbClr val="333333"/>
                          </a:solidFill>
                        </a:defRPr>
                      </a:pPr>
                      <a:r>
                        <a:t>4.4</a:t>
                      </a:r>
                    </a:p>
                  </a:txBody>
                  <a:tcPr>
                    <a:solidFill>
                      <a:srgbClr val="F5F5F5"/>
                    </a:solidFill>
                  </a:tcPr>
                </a:tc>
                <a:tc>
                  <a:txBody>
                    <a:bodyPr/>
                    <a:lstStyle/>
                    <a:p>
                      <a:pPr algn="ctr">
                        <a:defRPr sz="700" b="1">
                          <a:solidFill>
                            <a:srgbClr val="FFFFFF"/>
                          </a:solidFill>
                        </a:defRPr>
                      </a:pPr>
                      <a:r>
                        <a:t>84%</a:t>
                      </a:r>
                    </a:p>
                  </a:txBody>
                  <a:tcPr>
                    <a:solidFill>
                      <a:srgbClr val="1A7348"/>
                    </a:solidFill>
                  </a:tcPr>
                </a:tc>
              </a:tr>
            </a:tbl>
          </a:graphicData>
        </a:graphic>
      </p:graphicFrame>
      <p:graphicFrame>
        <p:nvGraphicFramePr>
          <p:cNvPr id="36" name="Chart 35"/>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37" name="Chart 36"/>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9144000" cy="493776"/>
          </a:xfrm>
          <a:prstGeom prst="rect">
            <a:avLst/>
          </a:prstGeom>
          <a:noFill/>
        </p:spPr>
        <p:txBody>
          <a:bodyPr wrap="none">
            <a:spAutoFit/>
          </a:bodyPr>
          <a:lstStyle/>
          <a:p>
            <a:pPr>
              <a:defRPr sz="1400" b="1">
                <a:solidFill>
                  <a:srgbClr val="FFFFFF"/>
                </a:solidFill>
              </a:defRPr>
            </a:pPr>
            <a:r>
              <a:t>Service Desk  |  1 May 2026</a:t>
            </a:r>
          </a:p>
        </p:txBody>
      </p:sp>
      <p:sp>
        <p:nvSpPr>
          <p:cNvPr id="4" name="Rectangle 3"/>
          <p:cNvSpPr/>
          <p:nvPr/>
        </p:nvSpPr>
        <p:spPr>
          <a:xfrm>
            <a:off x="10332720" y="82296"/>
            <a:ext cx="1737360" cy="393192"/>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0" y="82296"/>
            <a:ext cx="1737360" cy="393192"/>
          </a:xfrm>
          <a:prstGeom prst="rect">
            <a:avLst/>
          </a:prstGeom>
          <a:noFill/>
        </p:spPr>
        <p:txBody>
          <a:bodyPr wrap="none">
            <a:spAutoFit/>
          </a:bodyPr>
          <a:lstStyle/>
          <a:p>
            <a:pPr algn="ctr">
              <a:defRPr b="1" sz="1100">
                <a:solidFill>
                  <a:srgbClr val="FFFFFF"/>
                </a:solidFill>
              </a:defRPr>
            </a:pPr>
            <a:r>
              <a:t>Overall: GREEN</a:t>
            </a:r>
          </a:p>
        </p:txBody>
      </p:sp>
      <p:sp>
        <p:nvSpPr>
          <p:cNvPr id="6" name="Rectangle 5"/>
          <p:cNvSpPr/>
          <p:nvPr/>
        </p:nvSpPr>
        <p:spPr>
          <a:xfrm>
            <a:off x="0" y="978408"/>
            <a:ext cx="7315200" cy="914400"/>
          </a:xfrm>
          <a:prstGeom prst="rect">
            <a:avLst/>
          </a:prstGeom>
          <a:solidFill>
            <a:srgbClr val="EFF4FA"/>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78408"/>
            <a:ext cx="73152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 y="1024128"/>
            <a:ext cx="7150608" cy="237744"/>
          </a:xfrm>
          <a:prstGeom prst="rect">
            <a:avLst/>
          </a:prstGeom>
          <a:noFill/>
        </p:spPr>
        <p:txBody>
          <a:bodyPr wrap="none">
            <a:spAutoFit/>
          </a:bodyPr>
          <a:lstStyle/>
          <a:p>
            <a:pPr>
              <a:defRPr b="1" sz="1050">
                <a:solidFill>
                  <a:srgbClr val="FFFFFF"/>
                </a:solidFill>
              </a:defRPr>
            </a:pPr>
            <a:r>
              <a:t>WEEKLY PERFORMANCE SUMMARY</a:t>
            </a:r>
          </a:p>
        </p:txBody>
      </p:sp>
      <p:sp>
        <p:nvSpPr>
          <p:cNvPr id="9" name="TextBox 8"/>
          <p:cNvSpPr txBox="1"/>
          <p:nvPr/>
        </p:nvSpPr>
        <p:spPr>
          <a:xfrm>
            <a:off x="128016" y="1316736"/>
            <a:ext cx="7059168" cy="548640"/>
          </a:xfrm>
          <a:prstGeom prst="rect">
            <a:avLst/>
          </a:prstGeom>
          <a:noFill/>
        </p:spPr>
        <p:txBody>
          <a:bodyPr wrap="square">
            <a:spAutoFit/>
          </a:bodyPr>
          <a:lstStyle/>
          <a:p>
            <a:pPr>
              <a:spcBef>
                <a:spcPts val="200"/>
              </a:spcBef>
              <a:spcAft>
                <a:spcPts val="100"/>
              </a:spcAft>
            </a:pPr>
            <a:r>
              <a:rPr sz="850" b="0">
                <a:solidFill>
                  <a:srgbClr val="3A3A3A"/>
                </a:solidFill>
              </a:rPr>
              <a:t>In Week </a:t>
            </a:r>
            <a:r>
              <a:rPr sz="850" b="1">
                <a:solidFill>
                  <a:srgbClr val="1F3864"/>
                </a:solidFill>
              </a:rPr>
              <a:t>4,</a:t>
            </a:r>
            <a:r>
              <a:rPr sz="850" b="0">
                <a:solidFill>
                  <a:srgbClr val="3A3A3A"/>
                </a:solidFill>
              </a:rPr>
              <a:t> our Service Desk team maintained a high level of performance with an FCR Rate of </a:t>
            </a:r>
            <a:r>
              <a:rPr sz="850" b="1">
                <a:solidFill>
                  <a:srgbClr val="1F3864"/>
                </a:solidFill>
              </a:rPr>
              <a:t>82.9%</a:t>
            </a:r>
            <a:r>
              <a:rPr sz="850" b="0">
                <a:solidFill>
                  <a:srgbClr val="3A3A3A"/>
                </a:solidFill>
              </a:rPr>
              <a:t> and SLA Compliance at </a:t>
            </a:r>
            <a:r>
              <a:rPr sz="850" b="1">
                <a:solidFill>
                  <a:srgbClr val="1F3864"/>
                </a:solidFill>
              </a:rPr>
              <a:t>96.5%</a:t>
            </a:r>
            <a:r>
              <a:rPr sz="850" b="0">
                <a:solidFill>
                  <a:srgbClr val="3A3A3A"/>
                </a:solidFill>
              </a:rPr>
              <a:t>, slightly above the target rates for both metrics.</a:t>
            </a:r>
          </a:p>
        </p:txBody>
      </p:sp>
      <p:sp>
        <p:nvSpPr>
          <p:cNvPr id="10" name="Rectangle 9"/>
          <p:cNvSpPr/>
          <p:nvPr/>
        </p:nvSpPr>
        <p:spPr>
          <a:xfrm>
            <a:off x="0" y="1984248"/>
            <a:ext cx="7315200" cy="1042416"/>
          </a:xfrm>
          <a:prstGeom prst="rect">
            <a:avLst/>
          </a:prstGeom>
          <a:solidFill>
            <a:srgbClr val="E8F0FB"/>
          </a:solidFill>
          <a:ln w="12700">
            <a:solidFill>
              <a:srgbClr val="1F38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984248"/>
            <a:ext cx="7315200" cy="2743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 y="2029968"/>
            <a:ext cx="7150608" cy="237744"/>
          </a:xfrm>
          <a:prstGeom prst="rect">
            <a:avLst/>
          </a:prstGeom>
          <a:noFill/>
        </p:spPr>
        <p:txBody>
          <a:bodyPr wrap="none">
            <a:spAutoFit/>
          </a:bodyPr>
          <a:lstStyle/>
          <a:p>
            <a:pPr>
              <a:defRPr b="1" sz="1050">
                <a:solidFill>
                  <a:srgbClr val="FFFFFF"/>
                </a:solidFill>
              </a:defRPr>
            </a:pPr>
            <a:r>
              <a:t>THIS WEEK'S HIGHLIGHTS</a:t>
            </a:r>
          </a:p>
        </p:txBody>
      </p:sp>
      <p:sp>
        <p:nvSpPr>
          <p:cNvPr id="13" name="TextBox 12"/>
          <p:cNvSpPr txBox="1"/>
          <p:nvPr/>
        </p:nvSpPr>
        <p:spPr>
          <a:xfrm>
            <a:off x="128016" y="2322576"/>
            <a:ext cx="7059168" cy="676656"/>
          </a:xfrm>
          <a:prstGeom prst="rect">
            <a:avLst/>
          </a:prstGeom>
          <a:noFill/>
        </p:spPr>
        <p:txBody>
          <a:bodyPr wrap="square">
            <a:spAutoFit/>
          </a:bodyPr>
          <a:lstStyle/>
          <a:p>
            <a:pPr>
              <a:spcBef>
                <a:spcPts val="200"/>
              </a:spcBef>
              <a:spcAft>
                <a:spcPts val="100"/>
              </a:spcAft>
            </a:pPr>
            <a:r>
              <a:rPr sz="800" b="1">
                <a:solidFill>
                  <a:srgbClr val="1F3864"/>
                </a:solidFill>
              </a:rPr>
              <a:t>▸  Handle time reduced to an average of </a:t>
            </a:r>
            <a:r>
              <a:rPr sz="800" b="1">
                <a:solidFill>
                  <a:srgbClr val="0D47A1"/>
                </a:solidFill>
              </a:rPr>
              <a:t>8.4</a:t>
            </a:r>
            <a:r>
              <a:rPr sz="800" b="0">
                <a:solidFill>
                  <a:srgbClr val="1F3864"/>
                </a:solidFill>
              </a:rPr>
              <a:t> minutes per contact.</a:t>
            </a:r>
          </a:p>
          <a:p>
            <a:pPr>
              <a:spcBef>
                <a:spcPts val="200"/>
              </a:spcBef>
              <a:spcAft>
                <a:spcPts val="100"/>
              </a:spcAft>
            </a:pPr>
            <a:r>
              <a:rPr sz="800" b="1">
                <a:solidFill>
                  <a:srgbClr val="1F3864"/>
                </a:solidFill>
              </a:rPr>
              <a:t>▸  Published </a:t>
            </a:r>
            <a:r>
              <a:rPr sz="800" b="1">
                <a:solidFill>
                  <a:srgbClr val="0D47A1"/>
                </a:solidFill>
              </a:rPr>
              <a:t>12</a:t>
            </a:r>
            <a:r>
              <a:rPr sz="800" b="0">
                <a:solidFill>
                  <a:srgbClr val="1F3864"/>
                </a:solidFill>
              </a:rPr>
              <a:t> new knowledge articles, enhancing our internal resources and support materials.</a:t>
            </a:r>
          </a:p>
          <a:p>
            <a:pPr>
              <a:spcBef>
                <a:spcPts val="200"/>
              </a:spcBef>
              <a:spcAft>
                <a:spcPts val="100"/>
              </a:spcAft>
            </a:pPr>
            <a:r>
              <a:rPr sz="800" b="1">
                <a:solidFill>
                  <a:srgbClr val="1F3864"/>
                </a:solidFill>
              </a:rPr>
              <a:t>▸  Achieved the lowest number of abandoned calls this month at just </a:t>
            </a:r>
            <a:r>
              <a:rPr sz="800" b="1">
                <a:solidFill>
                  <a:srgbClr val="0D47A1"/>
                </a:solidFill>
              </a:rPr>
              <a:t>14</a:t>
            </a:r>
            <a:r>
              <a:rPr sz="800" b="0">
                <a:solidFill>
                  <a:srgbClr val="1F3864"/>
                </a:solidFill>
              </a:rPr>
              <a:t>.</a:t>
            </a:r>
          </a:p>
        </p:txBody>
      </p:sp>
      <p:sp>
        <p:nvSpPr>
          <p:cNvPr id="14" name="Rectangle 13"/>
          <p:cNvSpPr/>
          <p:nvPr/>
        </p:nvSpPr>
        <p:spPr>
          <a:xfrm>
            <a:off x="0" y="3118104"/>
            <a:ext cx="3657600" cy="2788919"/>
          </a:xfrm>
          <a:prstGeom prst="rect">
            <a:avLst/>
          </a:prstGeom>
          <a:solidFill>
            <a:srgbClr val="ED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118104"/>
            <a:ext cx="3657600" cy="2788919"/>
          </a:xfrm>
          <a:prstGeom prst="rect">
            <a:avLst/>
          </a:prstGeom>
          <a:solidFill>
            <a:srgbClr val="FF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118104"/>
            <a:ext cx="7315200" cy="2788919"/>
          </a:xfrm>
          <a:prstGeom prst="rect">
            <a:avLst/>
          </a:prstGeom>
          <a:noFill/>
          <a:ln w="25400">
            <a:solidFill>
              <a:srgbClr val="F5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43884" y="3118104"/>
            <a:ext cx="27432" cy="2788919"/>
          </a:xfrm>
          <a:prstGeom prst="rect">
            <a:avLst/>
          </a:prstGeom>
          <a:solidFill>
            <a:srgbClr val="F5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3118104"/>
            <a:ext cx="3657600" cy="310896"/>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 y="3182112"/>
            <a:ext cx="3502152" cy="246888"/>
          </a:xfrm>
          <a:prstGeom prst="rect">
            <a:avLst/>
          </a:prstGeom>
          <a:noFill/>
        </p:spPr>
        <p:txBody>
          <a:bodyPr wrap="none">
            <a:spAutoFit/>
          </a:bodyPr>
          <a:lstStyle/>
          <a:p>
            <a:pPr>
              <a:defRPr b="1" sz="1050">
                <a:solidFill>
                  <a:srgbClr val="FFFFFF"/>
                </a:solidFill>
              </a:defRPr>
            </a:pPr>
            <a:r>
              <a:t>KEY ACHIEVEMENTS</a:t>
            </a:r>
          </a:p>
        </p:txBody>
      </p:sp>
      <p:sp>
        <p:nvSpPr>
          <p:cNvPr id="20" name="Rectangle 19"/>
          <p:cNvSpPr/>
          <p:nvPr/>
        </p:nvSpPr>
        <p:spPr>
          <a:xfrm>
            <a:off x="3657600" y="3118104"/>
            <a:ext cx="3657600" cy="310896"/>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6472" y="3182112"/>
            <a:ext cx="3502152" cy="246888"/>
          </a:xfrm>
          <a:prstGeom prst="rect">
            <a:avLst/>
          </a:prstGeom>
          <a:noFill/>
        </p:spPr>
        <p:txBody>
          <a:bodyPr wrap="none">
            <a:spAutoFit/>
          </a:bodyPr>
          <a:lstStyle/>
          <a:p>
            <a:pPr>
              <a:defRPr b="1" sz="1050">
                <a:solidFill>
                  <a:srgbClr val="FFFFFF"/>
                </a:solidFill>
              </a:defRPr>
            </a:pPr>
            <a:r>
              <a:t>RECOMMENDED ACTIONS</a:t>
            </a:r>
          </a:p>
        </p:txBody>
      </p:sp>
      <p:sp>
        <p:nvSpPr>
          <p:cNvPr id="22" name="Rectangle 21"/>
          <p:cNvSpPr/>
          <p:nvPr/>
        </p:nvSpPr>
        <p:spPr>
          <a:xfrm>
            <a:off x="73152" y="3493008"/>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 y="3493008"/>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6596" y="3557016"/>
            <a:ext cx="3360420" cy="484632"/>
          </a:xfrm>
          <a:prstGeom prst="rect">
            <a:avLst/>
          </a:prstGeom>
          <a:noFill/>
        </p:spPr>
        <p:txBody>
          <a:bodyPr wrap="square">
            <a:spAutoFit/>
          </a:bodyPr>
          <a:lstStyle/>
          <a:p>
            <a:pPr>
              <a:spcBef>
                <a:spcPts val="200"/>
              </a:spcBef>
              <a:spcAft>
                <a:spcPts val="100"/>
              </a:spcAft>
            </a:pPr>
            <a:r>
              <a:rPr sz="800" b="1">
                <a:solidFill>
                  <a:srgbClr val="1A3A28"/>
                </a:solidFill>
              </a:rPr>
              <a:t>✓  Handle time reduced to an average of </a:t>
            </a:r>
            <a:r>
              <a:rPr sz="800" b="1">
                <a:solidFill>
                  <a:srgbClr val="0A5030"/>
                </a:solidFill>
              </a:rPr>
              <a:t>8.4</a:t>
            </a:r>
            <a:r>
              <a:rPr sz="800" b="0">
                <a:solidFill>
                  <a:srgbClr val="1A3A28"/>
                </a:solidFill>
              </a:rPr>
              <a:t> minutes per contact.</a:t>
            </a:r>
          </a:p>
        </p:txBody>
      </p:sp>
      <p:sp>
        <p:nvSpPr>
          <p:cNvPr id="25" name="Rectangle 24"/>
          <p:cNvSpPr/>
          <p:nvPr/>
        </p:nvSpPr>
        <p:spPr>
          <a:xfrm>
            <a:off x="73152" y="4151376"/>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 y="4151376"/>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 y="4215384"/>
            <a:ext cx="3360420" cy="484632"/>
          </a:xfrm>
          <a:prstGeom prst="rect">
            <a:avLst/>
          </a:prstGeom>
          <a:noFill/>
        </p:spPr>
        <p:txBody>
          <a:bodyPr wrap="square">
            <a:spAutoFit/>
          </a:bodyPr>
          <a:lstStyle/>
          <a:p>
            <a:pPr>
              <a:spcBef>
                <a:spcPts val="200"/>
              </a:spcBef>
              <a:spcAft>
                <a:spcPts val="100"/>
              </a:spcAft>
            </a:pPr>
            <a:r>
              <a:rPr sz="800" b="1">
                <a:solidFill>
                  <a:srgbClr val="1A3A28"/>
                </a:solidFill>
              </a:rPr>
              <a:t>✓  Published </a:t>
            </a:r>
            <a:r>
              <a:rPr sz="800" b="1">
                <a:solidFill>
                  <a:srgbClr val="0A5030"/>
                </a:solidFill>
              </a:rPr>
              <a:t>12</a:t>
            </a:r>
            <a:r>
              <a:rPr sz="800" b="0">
                <a:solidFill>
                  <a:srgbClr val="1A3A28"/>
                </a:solidFill>
              </a:rPr>
              <a:t> new knowledge articles, enhancing our internal resources and support materials.</a:t>
            </a:r>
          </a:p>
        </p:txBody>
      </p:sp>
      <p:sp>
        <p:nvSpPr>
          <p:cNvPr id="28" name="Rectangle 27"/>
          <p:cNvSpPr/>
          <p:nvPr/>
        </p:nvSpPr>
        <p:spPr>
          <a:xfrm>
            <a:off x="73152" y="4809744"/>
            <a:ext cx="3511296" cy="594360"/>
          </a:xfrm>
          <a:prstGeom prst="rect">
            <a:avLst/>
          </a:prstGeom>
          <a:solidFill>
            <a:srgbClr val="FFFFFF"/>
          </a:solidFill>
          <a:ln w="9525">
            <a:solidFill>
              <a:srgbClr val="C8E6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 y="4809744"/>
            <a:ext cx="59436" cy="594360"/>
          </a:xfrm>
          <a:prstGeom prst="rect">
            <a:avLst/>
          </a:prstGeom>
          <a:solidFill>
            <a:srgbClr val="1A73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6596" y="4873752"/>
            <a:ext cx="3360420" cy="484632"/>
          </a:xfrm>
          <a:prstGeom prst="rect">
            <a:avLst/>
          </a:prstGeom>
          <a:noFill/>
        </p:spPr>
        <p:txBody>
          <a:bodyPr wrap="square">
            <a:spAutoFit/>
          </a:bodyPr>
          <a:lstStyle/>
          <a:p>
            <a:pPr>
              <a:spcBef>
                <a:spcPts val="200"/>
              </a:spcBef>
              <a:spcAft>
                <a:spcPts val="100"/>
              </a:spcAft>
            </a:pPr>
            <a:r>
              <a:rPr sz="800" b="1">
                <a:solidFill>
                  <a:srgbClr val="1A3A28"/>
                </a:solidFill>
              </a:rPr>
              <a:t>✓  Achieved the lowest number of abandoned calls this month at just </a:t>
            </a:r>
            <a:r>
              <a:rPr sz="800" b="1">
                <a:solidFill>
                  <a:srgbClr val="0A5030"/>
                </a:solidFill>
              </a:rPr>
              <a:t>14</a:t>
            </a:r>
            <a:r>
              <a:rPr sz="800" b="0">
                <a:solidFill>
                  <a:srgbClr val="1A3A28"/>
                </a:solidFill>
              </a:rPr>
              <a:t>.</a:t>
            </a:r>
          </a:p>
        </p:txBody>
      </p:sp>
      <p:sp>
        <p:nvSpPr>
          <p:cNvPr id="31" name="Rectangle 30"/>
          <p:cNvSpPr/>
          <p:nvPr/>
        </p:nvSpPr>
        <p:spPr>
          <a:xfrm>
            <a:off x="3730752" y="3493008"/>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30752" y="3493008"/>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54196" y="3557016"/>
            <a:ext cx="3360420" cy="484632"/>
          </a:xfrm>
          <a:prstGeom prst="rect">
            <a:avLst/>
          </a:prstGeom>
          <a:noFill/>
        </p:spPr>
        <p:txBody>
          <a:bodyPr wrap="square">
            <a:spAutoFit/>
          </a:bodyPr>
          <a:lstStyle/>
          <a:p>
            <a:pPr>
              <a:spcBef>
                <a:spcPts val="200"/>
              </a:spcBef>
              <a:spcAft>
                <a:spcPts val="100"/>
              </a:spcAft>
            </a:pPr>
            <a:r>
              <a:rPr sz="800" b="1">
                <a:solidFill>
                  <a:srgbClr val="3A2810"/>
                </a:solidFill>
              </a:rPr>
              <a:t>→  Continue to monitor FCR Rate and SLA Compliance closely, aiming for consistent performance above targets in Week </a:t>
            </a:r>
            <a:r>
              <a:rPr sz="800" b="1">
                <a:solidFill>
                  <a:srgbClr val="8B4500"/>
                </a:solidFill>
              </a:rPr>
              <a:t>5</a:t>
            </a:r>
            <a:r>
              <a:rPr sz="800" b="0">
                <a:solidFill>
                  <a:srgbClr val="3A2810"/>
                </a:solidFill>
              </a:rPr>
              <a:t>.</a:t>
            </a:r>
          </a:p>
        </p:txBody>
      </p:sp>
      <p:sp>
        <p:nvSpPr>
          <p:cNvPr id="34" name="Rectangle 33"/>
          <p:cNvSpPr/>
          <p:nvPr/>
        </p:nvSpPr>
        <p:spPr>
          <a:xfrm>
            <a:off x="3730752" y="4151376"/>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730752" y="4151376"/>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4196" y="4215384"/>
            <a:ext cx="3360420" cy="484632"/>
          </a:xfrm>
          <a:prstGeom prst="rect">
            <a:avLst/>
          </a:prstGeom>
          <a:noFill/>
        </p:spPr>
        <p:txBody>
          <a:bodyPr wrap="square">
            <a:spAutoFit/>
          </a:bodyPr>
          <a:lstStyle/>
          <a:p>
            <a:pPr>
              <a:spcBef>
                <a:spcPts val="200"/>
              </a:spcBef>
              <a:spcAft>
                <a:spcPts val="100"/>
              </a:spcAft>
            </a:pPr>
            <a:r>
              <a:rPr sz="800" b="1">
                <a:solidFill>
                  <a:srgbClr val="3A2810"/>
                </a:solidFill>
              </a:rPr>
              <a:t>→  Implement additional training sessions focused on reducing handle time without compromising service quality or resolution effectiveness.</a:t>
            </a:r>
          </a:p>
        </p:txBody>
      </p:sp>
      <p:sp>
        <p:nvSpPr>
          <p:cNvPr id="37" name="Rectangle 36"/>
          <p:cNvSpPr/>
          <p:nvPr/>
        </p:nvSpPr>
        <p:spPr>
          <a:xfrm>
            <a:off x="3730752" y="4809744"/>
            <a:ext cx="3511296" cy="594360"/>
          </a:xfrm>
          <a:prstGeom prst="rect">
            <a:avLst/>
          </a:prstGeom>
          <a:solidFill>
            <a:srgbClr val="FFFFFF"/>
          </a:solidFill>
          <a:ln w="9525">
            <a:solidFill>
              <a:srgbClr val="F0D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30752" y="4809744"/>
            <a:ext cx="59436" cy="594360"/>
          </a:xfrm>
          <a:prstGeom prst="rect">
            <a:avLst/>
          </a:prstGeom>
          <a:solidFill>
            <a:srgbClr val="B35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54196" y="4873752"/>
            <a:ext cx="3360420" cy="484632"/>
          </a:xfrm>
          <a:prstGeom prst="rect">
            <a:avLst/>
          </a:prstGeom>
          <a:noFill/>
        </p:spPr>
        <p:txBody>
          <a:bodyPr wrap="square">
            <a:spAutoFit/>
          </a:bodyPr>
          <a:lstStyle/>
          <a:p>
            <a:pPr>
              <a:spcBef>
                <a:spcPts val="200"/>
              </a:spcBef>
              <a:spcAft>
                <a:spcPts val="100"/>
              </a:spcAft>
            </a:pPr>
            <a:r>
              <a:rPr sz="800" b="1">
                <a:solidFill>
                  <a:srgbClr val="3A2810"/>
                </a:solidFill>
              </a:rPr>
              <a:t>→  Expand the knowledge base with more articles to further decrease abandoned calls and improve customer satisfaction.</a:t>
            </a:r>
          </a:p>
        </p:txBody>
      </p:sp>
      <p:graphicFrame>
        <p:nvGraphicFramePr>
          <p:cNvPr id="40" name="Table 39"/>
          <p:cNvGraphicFramePr>
            <a:graphicFrameLocks noGrp="1"/>
          </p:cNvGraphicFramePr>
          <p:nvPr/>
        </p:nvGraphicFramePr>
        <p:xfrm>
          <a:off x="0" y="5943600"/>
          <a:ext cx="12188952" cy="914400"/>
        </p:xfrm>
        <a:graphic>
          <a:graphicData uri="http://schemas.openxmlformats.org/drawingml/2006/table">
            <a:tbl>
              <a:tblPr firstRow="1" bandRow="1">
                <a:tableStyleId>{5C22544A-7EE6-4342-B048-85BDC9FD1C3A}</a:tableStyleId>
              </a:tblPr>
              <a:tblGrid>
                <a:gridCol w="2560320"/>
                <a:gridCol w="4937760"/>
                <a:gridCol w="4690872"/>
              </a:tblGrid>
              <a:tr h="182880">
                <a:tc>
                  <a:txBody>
                    <a:bodyPr/>
                    <a:lstStyle/>
                    <a:p>
                      <a:pPr>
                        <a:defRPr b="1" sz="600">
                          <a:solidFill>
                            <a:srgbClr val="FFFFFF"/>
                          </a:solidFill>
                        </a:defRPr>
                      </a:pPr>
                      <a:r>
                        <a:t>KPI / Metric</a:t>
                      </a:r>
                    </a:p>
                  </a:txBody>
                  <a:tcPr>
                    <a:solidFill>
                      <a:srgbClr val="CC0000"/>
                    </a:solidFill>
                  </a:tcPr>
                </a:tc>
                <a:tc>
                  <a:txBody>
                    <a:bodyPr/>
                    <a:lstStyle/>
                    <a:p>
                      <a:pPr>
                        <a:defRPr b="1" sz="600">
                          <a:solidFill>
                            <a:srgbClr val="FFFFFF"/>
                          </a:solidFill>
                        </a:defRPr>
                      </a:pPr>
                      <a:r>
                        <a:t>Definition</a:t>
                      </a:r>
                    </a:p>
                  </a:txBody>
                  <a:tcPr>
                    <a:solidFill>
                      <a:srgbClr val="CC0000"/>
                    </a:solidFill>
                  </a:tcPr>
                </a:tc>
                <a:tc>
                  <a:txBody>
                    <a:bodyPr/>
                    <a:lstStyle/>
                    <a:p>
                      <a:pPr>
                        <a:defRPr b="1" sz="600">
                          <a:solidFill>
                            <a:srgbClr val="FFFFFF"/>
                          </a:solidFill>
                        </a:defRPr>
                      </a:pPr>
                      <a:r>
                        <a:t>Details / Sub-Definition</a:t>
                      </a:r>
                    </a:p>
                  </a:txBody>
                  <a:tcPr>
                    <a:solidFill>
                      <a:srgbClr val="CC0000"/>
                    </a:solidFill>
                  </a:tcPr>
                </a:tc>
              </a:tr>
              <a:tr h="182880">
                <a:tc>
                  <a:txBody>
                    <a:bodyPr wrap="square"/>
                    <a:lstStyle/>
                    <a:p>
                      <a:pPr>
                        <a:defRPr sz="550" b="1">
                          <a:solidFill>
                            <a:srgbClr val="1F3864"/>
                          </a:solidFill>
                        </a:defRPr>
                      </a:pPr>
                      <a:r>
                        <a:t>Calls Received</a:t>
                      </a:r>
                    </a:p>
                  </a:txBody>
                  <a:tcPr>
                    <a:solidFill>
                      <a:srgbClr val="FFFFFF"/>
                    </a:solidFill>
                  </a:tcPr>
                </a:tc>
                <a:tc>
                  <a:txBody>
                    <a:bodyPr wrap="square"/>
                    <a:lstStyle/>
                    <a:p>
                      <a:pPr>
                        <a:defRPr sz="550">
                          <a:solidFill>
                            <a:srgbClr val="333333"/>
                          </a:solidFill>
                        </a:defRPr>
                      </a:pPr>
                      <a:r>
                        <a:t>Total inbound contacts handled by Service Desk in the period</a:t>
                      </a:r>
                    </a:p>
                  </a:txBody>
                  <a:tcPr>
                    <a:solidFill>
                      <a:srgbClr val="FFFFFF"/>
                    </a:solidFill>
                  </a:tcPr>
                </a:tc>
                <a:tc>
                  <a:txBody>
                    <a:bodyPr wrap="square"/>
                    <a:lstStyle/>
                    <a:p>
                      <a:pPr>
                        <a:defRPr sz="550">
                          <a:solidFill>
                            <a:srgbClr val="333333"/>
                          </a:solidFill>
                        </a:defRPr>
                      </a:pPr>
                      <a:r>
                        <a:t>Includes voice calls, chat sessions and email contacts</a:t>
                      </a:r>
                    </a:p>
                  </a:txBody>
                  <a:tcPr>
                    <a:solidFill>
                      <a:srgbClr val="FFFFFF"/>
                    </a:solidFill>
                  </a:tcPr>
                </a:tc>
              </a:tr>
              <a:tr h="182880">
                <a:tc>
                  <a:txBody>
                    <a:bodyPr wrap="square"/>
                    <a:lstStyle/>
                    <a:p>
                      <a:pPr>
                        <a:defRPr sz="550" b="1">
                          <a:solidFill>
                            <a:srgbClr val="1F3864"/>
                          </a:solidFill>
                        </a:defRPr>
                      </a:pPr>
                      <a:r>
                        <a:t>Calls Resolved</a:t>
                      </a:r>
                    </a:p>
                  </a:txBody>
                  <a:tcPr>
                    <a:solidFill>
                      <a:srgbClr val="E9F0F8"/>
                    </a:solidFill>
                  </a:tcPr>
                </a:tc>
                <a:tc>
                  <a:txBody>
                    <a:bodyPr wrap="square"/>
                    <a:lstStyle/>
                    <a:p>
                      <a:pPr>
                        <a:defRPr sz="550">
                          <a:solidFill>
                            <a:srgbClr val="333333"/>
                          </a:solidFill>
                        </a:defRPr>
                      </a:pPr>
                      <a:r>
                        <a:t>Total contacts resolved by first-line Service Desk agents</a:t>
                      </a:r>
                    </a:p>
                  </a:txBody>
                  <a:tcPr>
                    <a:solidFill>
                      <a:srgbClr val="E9F0F8"/>
                    </a:solidFill>
                  </a:tcPr>
                </a:tc>
                <a:tc>
                  <a:txBody>
                    <a:bodyPr wrap="square"/>
                    <a:lstStyle/>
                    <a:p>
                      <a:pPr>
                        <a:defRPr sz="550">
                          <a:solidFill>
                            <a:srgbClr val="333333"/>
                          </a:solidFill>
                        </a:defRPr>
                      </a:pPr>
                      <a:r>
                        <a:t>Direct resolution without L2/L3 escalation required</a:t>
                      </a:r>
                    </a:p>
                  </a:txBody>
                  <a:tcPr>
                    <a:solidFill>
                      <a:srgbClr val="E9F0F8"/>
                    </a:solidFill>
                  </a:tcPr>
                </a:tc>
              </a:tr>
              <a:tr h="182880">
                <a:tc>
                  <a:txBody>
                    <a:bodyPr wrap="square"/>
                    <a:lstStyle/>
                    <a:p>
                      <a:pPr>
                        <a:defRPr sz="550" b="1">
                          <a:solidFill>
                            <a:srgbClr val="1F3864"/>
                          </a:solidFill>
                        </a:defRPr>
                      </a:pPr>
                      <a:r>
                        <a:t>Abandoned Calls</a:t>
                      </a:r>
                    </a:p>
                  </a:txBody>
                  <a:tcPr>
                    <a:solidFill>
                      <a:srgbClr val="FFFFFF"/>
                    </a:solidFill>
                  </a:tcPr>
                </a:tc>
                <a:tc>
                  <a:txBody>
                    <a:bodyPr wrap="square"/>
                    <a:lstStyle/>
                    <a:p>
                      <a:pPr>
                        <a:defRPr sz="550">
                          <a:solidFill>
                            <a:srgbClr val="333333"/>
                          </a:solidFill>
                        </a:defRPr>
                      </a:pPr>
                      <a:r>
                        <a:t>Number of contacts abandoned before being answered by an agent</a:t>
                      </a:r>
                    </a:p>
                  </a:txBody>
                  <a:tcPr>
                    <a:solidFill>
                      <a:srgbClr val="FFFFFF"/>
                    </a:solidFill>
                  </a:tcPr>
                </a:tc>
                <a:tc>
                  <a:txBody>
                    <a:bodyPr wrap="square"/>
                    <a:lstStyle/>
                    <a:p>
                      <a:pPr>
                        <a:defRPr sz="550">
                          <a:solidFill>
                            <a:srgbClr val="333333"/>
                          </a:solidFill>
                        </a:defRPr>
                      </a:pPr>
                      <a:r>
                        <a:t>Key measure of queue management and staffing adequacy</a:t>
                      </a:r>
                    </a:p>
                  </a:txBody>
                  <a:tcPr>
                    <a:solidFill>
                      <a:srgbClr val="FFFFFF"/>
                    </a:solidFill>
                  </a:tcPr>
                </a:tc>
              </a:tr>
              <a:tr h="182880">
                <a:tc>
                  <a:txBody>
                    <a:bodyPr wrap="square"/>
                    <a:lstStyle/>
                    <a:p>
                      <a:pPr>
                        <a:defRPr sz="550" b="1">
                          <a:solidFill>
                            <a:srgbClr val="1F3864"/>
                          </a:solidFill>
                        </a:defRPr>
                      </a:pPr>
                      <a:r>
                        <a:t>FCR Rate</a:t>
                      </a:r>
                    </a:p>
                  </a:txBody>
                  <a:tcPr>
                    <a:solidFill>
                      <a:srgbClr val="E9F0F8"/>
                    </a:solidFill>
                  </a:tcPr>
                </a:tc>
                <a:tc>
                  <a:txBody>
                    <a:bodyPr wrap="square"/>
                    <a:lstStyle/>
                    <a:p>
                      <a:pPr>
                        <a:defRPr sz="550">
                          <a:solidFill>
                            <a:srgbClr val="333333"/>
                          </a:solidFill>
                        </a:defRPr>
                      </a:pPr>
                      <a:r>
                        <a:t>Percentage of contacts resolved on first contact without escalation</a:t>
                      </a:r>
                    </a:p>
                  </a:txBody>
                  <a:tcPr>
                    <a:solidFill>
                      <a:srgbClr val="E9F0F8"/>
                    </a:solidFill>
                  </a:tcPr>
                </a:tc>
                <a:tc>
                  <a:txBody>
                    <a:bodyPr wrap="square"/>
                    <a:lstStyle/>
                    <a:p>
                      <a:pPr>
                        <a:defRPr sz="550">
                          <a:solidFill>
                            <a:srgbClr val="333333"/>
                          </a:solidFill>
                        </a:defRPr>
                      </a:pPr>
                      <a:r>
                        <a:t>Primary measure of Service Desk effectiveness and knowledge quality</a:t>
                      </a:r>
                    </a:p>
                  </a:txBody>
                  <a:tcPr>
                    <a:solidFill>
                      <a:srgbClr val="E9F0F8"/>
                    </a:solidFill>
                  </a:tcPr>
                </a:tc>
              </a:tr>
            </a:tbl>
          </a:graphicData>
        </a:graphic>
      </p:graphicFrame>
      <p:graphicFrame>
        <p:nvGraphicFramePr>
          <p:cNvPr id="41" name="Table 40"/>
          <p:cNvGraphicFramePr>
            <a:graphicFrameLocks noGrp="1"/>
          </p:cNvGraphicFramePr>
          <p:nvPr/>
        </p:nvGraphicFramePr>
        <p:xfrm>
          <a:off x="0" y="566928"/>
          <a:ext cx="12188946" cy="411480"/>
        </p:xfrm>
        <a:graphic>
          <a:graphicData uri="http://schemas.openxmlformats.org/drawingml/2006/table">
            <a:tbl>
              <a:tblPr firstRow="1" bandRow="1">
                <a:tableStyleId>{5C22544A-7EE6-4342-B048-85BDC9FD1C3A}</a:tableStyleId>
              </a:tblPr>
              <a:tblGrid>
                <a:gridCol w="1741278"/>
                <a:gridCol w="1741278"/>
                <a:gridCol w="1741278"/>
                <a:gridCol w="1741278"/>
                <a:gridCol w="1741278"/>
                <a:gridCol w="1741278"/>
                <a:gridCol w="1741278"/>
              </a:tblGrid>
              <a:tr h="182880">
                <a:tc>
                  <a:txBody>
                    <a:bodyPr wrap="square"/>
                    <a:lstStyle/>
                    <a:p>
                      <a:pPr algn="ctr">
                        <a:defRPr b="1" sz="550">
                          <a:solidFill>
                            <a:srgbClr val="FFFFFF"/>
                          </a:solidFill>
                        </a:defRPr>
                      </a:pPr>
                      <a:r>
                        <a:t>Week No</a:t>
                      </a:r>
                    </a:p>
                  </a:txBody>
                  <a:tcPr>
                    <a:solidFill>
                      <a:srgbClr val="CC0000"/>
                    </a:solidFill>
                  </a:tcPr>
                </a:tc>
                <a:tc>
                  <a:txBody>
                    <a:bodyPr wrap="square"/>
                    <a:lstStyle/>
                    <a:p>
                      <a:pPr algn="ctr">
                        <a:defRPr b="1" sz="550">
                          <a:solidFill>
                            <a:srgbClr val="FFFFFF"/>
                          </a:solidFill>
                        </a:defRPr>
                      </a:pPr>
                      <a:r>
                        <a:t>Calls Received</a:t>
                      </a:r>
                    </a:p>
                  </a:txBody>
                  <a:tcPr>
                    <a:solidFill>
                      <a:srgbClr val="CC0000"/>
                    </a:solidFill>
                  </a:tcPr>
                </a:tc>
                <a:tc>
                  <a:txBody>
                    <a:bodyPr wrap="square"/>
                    <a:lstStyle/>
                    <a:p>
                      <a:pPr algn="ctr">
                        <a:defRPr b="1" sz="550">
                          <a:solidFill>
                            <a:srgbClr val="FFFFFF"/>
                          </a:solidFill>
                        </a:defRPr>
                      </a:pPr>
                      <a:r>
                        <a:t>Calls Resolved</a:t>
                      </a:r>
                    </a:p>
                  </a:txBody>
                  <a:tcPr>
                    <a:solidFill>
                      <a:srgbClr val="CC0000"/>
                    </a:solidFill>
                  </a:tcPr>
                </a:tc>
                <a:tc>
                  <a:txBody>
                    <a:bodyPr wrap="square"/>
                    <a:lstStyle/>
                    <a:p>
                      <a:pPr algn="ctr">
                        <a:defRPr b="1" sz="550">
                          <a:solidFill>
                            <a:srgbClr val="FFFFFF"/>
                          </a:solidFill>
                        </a:defRPr>
                      </a:pPr>
                      <a:r>
                        <a:t>Abandoned Calls</a:t>
                      </a:r>
                    </a:p>
                  </a:txBody>
                  <a:tcPr>
                    <a:solidFill>
                      <a:srgbClr val="CC0000"/>
                    </a:solidFill>
                  </a:tcPr>
                </a:tc>
                <a:tc>
                  <a:txBody>
                    <a:bodyPr wrap="square"/>
                    <a:lstStyle/>
                    <a:p>
                      <a:pPr algn="ctr">
                        <a:defRPr b="1" sz="550">
                          <a:solidFill>
                            <a:srgbClr val="FFFFFF"/>
                          </a:solidFill>
                        </a:defRPr>
                      </a:pPr>
                      <a:r>
                        <a:t>FCR Rate</a:t>
                      </a:r>
                    </a:p>
                  </a:txBody>
                  <a:tcPr>
                    <a:solidFill>
                      <a:srgbClr val="CC0000"/>
                    </a:solidFill>
                  </a:tcPr>
                </a:tc>
                <a:tc>
                  <a:txBody>
                    <a:bodyPr wrap="square"/>
                    <a:lstStyle/>
                    <a:p>
                      <a:pPr algn="ctr">
                        <a:defRPr b="1" sz="550">
                          <a:solidFill>
                            <a:srgbClr val="FFFFFF"/>
                          </a:solidFill>
                        </a:defRPr>
                      </a:pPr>
                      <a:r>
                        <a:t>Avg Handle Time Mins</a:t>
                      </a:r>
                    </a:p>
                  </a:txBody>
                  <a:tcPr>
                    <a:solidFill>
                      <a:srgbClr val="CC0000"/>
                    </a:solidFill>
                  </a:tcPr>
                </a:tc>
                <a:tc>
                  <a:txBody>
                    <a:bodyPr wrap="square"/>
                    <a:lstStyle/>
                    <a:p>
                      <a:pPr algn="ctr">
                        <a:defRPr b="1" sz="550">
                          <a:solidFill>
                            <a:srgbClr val="FFFFFF"/>
                          </a:solidFill>
                        </a:defRPr>
                      </a:pPr>
                      <a:r>
                        <a:t>SLA Compliance</a:t>
                      </a:r>
                    </a:p>
                  </a:txBody>
                  <a:tcPr>
                    <a:solidFill>
                      <a:srgbClr val="CC0000"/>
                    </a:solidFill>
                  </a:tcPr>
                </a:tc>
              </a:tr>
              <a:tr h="228600">
                <a:tc>
                  <a:txBody>
                    <a:bodyPr/>
                    <a:lstStyle/>
                    <a:p>
                      <a:pPr algn="ctr">
                        <a:defRPr sz="700" b="1">
                          <a:solidFill>
                            <a:srgbClr val="333333"/>
                          </a:solidFill>
                        </a:defRPr>
                      </a:pPr>
                      <a:r>
                        <a:t>Week 4</a:t>
                      </a:r>
                    </a:p>
                  </a:txBody>
                  <a:tcPr>
                    <a:solidFill>
                      <a:srgbClr val="F5F5F5"/>
                    </a:solidFill>
                  </a:tcPr>
                </a:tc>
                <a:tc>
                  <a:txBody>
                    <a:bodyPr/>
                    <a:lstStyle/>
                    <a:p>
                      <a:pPr algn="ctr">
                        <a:defRPr sz="700" b="1">
                          <a:solidFill>
                            <a:srgbClr val="333333"/>
                          </a:solidFill>
                        </a:defRPr>
                      </a:pPr>
                      <a:r>
                        <a:t>310</a:t>
                      </a:r>
                    </a:p>
                  </a:txBody>
                  <a:tcPr>
                    <a:solidFill>
                      <a:srgbClr val="F5F5F5"/>
                    </a:solidFill>
                  </a:tcPr>
                </a:tc>
                <a:tc>
                  <a:txBody>
                    <a:bodyPr/>
                    <a:lstStyle/>
                    <a:p>
                      <a:pPr algn="ctr">
                        <a:defRPr sz="700" b="1">
                          <a:solidFill>
                            <a:srgbClr val="333333"/>
                          </a:solidFill>
                        </a:defRPr>
                      </a:pPr>
                      <a:r>
                        <a:t>288</a:t>
                      </a:r>
                    </a:p>
                  </a:txBody>
                  <a:tcPr>
                    <a:solidFill>
                      <a:srgbClr val="F5F5F5"/>
                    </a:solidFill>
                  </a:tcPr>
                </a:tc>
                <a:tc>
                  <a:txBody>
                    <a:bodyPr/>
                    <a:lstStyle/>
                    <a:p>
                      <a:pPr algn="ctr">
                        <a:defRPr sz="700" b="1">
                          <a:solidFill>
                            <a:srgbClr val="333333"/>
                          </a:solidFill>
                        </a:defRPr>
                      </a:pPr>
                      <a:r>
                        <a:t>14</a:t>
                      </a:r>
                    </a:p>
                  </a:txBody>
                  <a:tcPr>
                    <a:solidFill>
                      <a:srgbClr val="F5F5F5"/>
                    </a:solidFill>
                  </a:tcPr>
                </a:tc>
                <a:tc>
                  <a:txBody>
                    <a:bodyPr/>
                    <a:lstStyle/>
                    <a:p>
                      <a:pPr algn="ctr">
                        <a:defRPr sz="700" b="1">
                          <a:solidFill>
                            <a:srgbClr val="FFFFFF"/>
                          </a:solidFill>
                        </a:defRPr>
                      </a:pPr>
                      <a:r>
                        <a:t>83%</a:t>
                      </a:r>
                    </a:p>
                  </a:txBody>
                  <a:tcPr>
                    <a:solidFill>
                      <a:srgbClr val="1A7348"/>
                    </a:solidFill>
                  </a:tcPr>
                </a:tc>
                <a:tc>
                  <a:txBody>
                    <a:bodyPr/>
                    <a:lstStyle/>
                    <a:p>
                      <a:pPr algn="ctr">
                        <a:defRPr sz="700" b="1">
                          <a:solidFill>
                            <a:srgbClr val="FFFFFF"/>
                          </a:solidFill>
                        </a:defRPr>
                      </a:pPr>
                      <a:r>
                        <a:t>8.4</a:t>
                      </a:r>
                    </a:p>
                  </a:txBody>
                  <a:tcPr>
                    <a:solidFill>
                      <a:srgbClr val="1A7348"/>
                    </a:solidFill>
                  </a:tcPr>
                </a:tc>
                <a:tc>
                  <a:txBody>
                    <a:bodyPr/>
                    <a:lstStyle/>
                    <a:p>
                      <a:pPr algn="ctr">
                        <a:defRPr sz="700" b="1">
                          <a:solidFill>
                            <a:srgbClr val="FFFFFF"/>
                          </a:solidFill>
                        </a:defRPr>
                      </a:pPr>
                      <a:r>
                        <a:t>96%</a:t>
                      </a:r>
                    </a:p>
                  </a:txBody>
                  <a:tcPr>
                    <a:solidFill>
                      <a:srgbClr val="1A7348"/>
                    </a:solidFill>
                  </a:tcPr>
                </a:tc>
              </a:tr>
            </a:tbl>
          </a:graphicData>
        </a:graphic>
      </p:graphicFrame>
      <p:graphicFrame>
        <p:nvGraphicFramePr>
          <p:cNvPr id="42" name="Chart 41"/>
          <p:cNvGraphicFramePr>
            <a:graphicFrameLocks noGrp="1"/>
          </p:cNvGraphicFramePr>
          <p:nvPr/>
        </p:nvGraphicFramePr>
        <p:xfrm>
          <a:off x="7452360" y="978408"/>
          <a:ext cx="4526280" cy="2391156"/>
        </p:xfrm>
        <a:graphic>
          <a:graphicData uri="http://schemas.openxmlformats.org/drawingml/2006/chart">
            <c:chart xmlns:c="http://schemas.openxmlformats.org/drawingml/2006/chart" r:id="rId2"/>
          </a:graphicData>
        </a:graphic>
      </p:graphicFrame>
      <p:graphicFrame>
        <p:nvGraphicFramePr>
          <p:cNvPr id="43" name="Chart 42"/>
          <p:cNvGraphicFramePr>
            <a:graphicFrameLocks noGrp="1"/>
          </p:cNvGraphicFramePr>
          <p:nvPr/>
        </p:nvGraphicFramePr>
        <p:xfrm>
          <a:off x="7452360" y="3506723"/>
          <a:ext cx="4526280" cy="2391156"/>
        </p:xfrm>
        <a:graphic>
          <a:graphicData uri="http://schemas.openxmlformats.org/drawingml/2006/chart">
            <c:chart xmlns:c="http://schemas.openxmlformats.org/drawingml/2006/chart" r:id="rId3"/>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