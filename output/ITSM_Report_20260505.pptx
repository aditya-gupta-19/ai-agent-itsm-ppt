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P2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Adherence t…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Accurate stakeho…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Causing MI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1.9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 Change Ra…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0.5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CIs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12480.0</c:v>
                </c:pt>
                <c:pt idx="1">
                  <c:v>12495.0</c:v>
                </c:pt>
                <c:pt idx="2">
                  <c:v>12510.0</c:v>
                </c:pt>
                <c:pt idx="3">
                  <c:v>12524.0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 Verified Thi…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145.0</c:v>
                </c:pt>
                <c:pt idx="1">
                  <c:v>132.0</c:v>
                </c:pt>
                <c:pt idx="2">
                  <c:v>158.0</c:v>
                </c:pt>
                <c:pt idx="3">
                  <c:v>141.0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Orphan CIs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8.0</c:v>
                </c:pt>
                <c:pt idx="1">
                  <c:v>7.0</c:v>
                </c:pt>
                <c:pt idx="2">
                  <c:v>9.0</c:v>
                </c:pt>
                <c:pt idx="3">
                  <c:v>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 Accuracy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97.8</c:v>
                </c:pt>
                <c:pt idx="1">
                  <c:v>98.0</c:v>
                </c:pt>
                <c:pt idx="2">
                  <c:v>97.5</c:v>
                </c:pt>
                <c:pt idx="3">
                  <c:v>97.7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Audit Compliance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CMDB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99.3</c:v>
                </c:pt>
                <c:pt idx="1">
                  <c:v>99.1</c:v>
                </c:pt>
                <c:pt idx="2">
                  <c:v>98.9</c:v>
                </c:pt>
                <c:pt idx="3">
                  <c:v>99.2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96.8</c:v>
                </c:pt>
                <c:pt idx="2">
                  <c:v>97.2</c:v>
                </c:pt>
                <c:pt idx="3">
                  <c:v>97.4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95.7</c:v>
                </c:pt>
                <c:pt idx="1">
                  <c:v>95.6</c:v>
                </c:pt>
                <c:pt idx="2">
                  <c:v>97.0</c:v>
                </c:pt>
                <c:pt idx="3">
                  <c:v>95.2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Call Resol…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81.0</c:v>
                </c:pt>
                <c:pt idx="1">
                  <c:v>82.0</c:v>
                </c:pt>
                <c:pt idx="2">
                  <c:v>88.0</c:v>
                </c:pt>
                <c:pt idx="3">
                  <c:v>89.0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FCR Rate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81.8</c:v>
                </c:pt>
                <c:pt idx="2">
                  <c:v>82.6</c:v>
                </c:pt>
                <c:pt idx="3">
                  <c:v>82.9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</c:v>
                </c:pt>
                <c:pt idx="1">
                  <c:v>95.8</c:v>
                </c:pt>
                <c:pt idx="2">
                  <c:v>97.1</c:v>
                </c:pt>
                <c:pt idx="3">
                  <c:v>96.5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CC0000"/>
                </a:solidFill>
              </a:defRPr>
            </a:pPr>
            <a:r>
              <a:t>ITSM Weekly Report — 5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595757"/>
                </a:solidFill>
              </a:defRPr>
            </a:pPr>
            <a:r>
              <a:t>Auto-generated | 7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MIM  |  5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15568"/>
            <a:ext cx="7315200" cy="228600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115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170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490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490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554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Zero P1s this sprint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130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130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194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MIR timeline </a:t>
            </a:r>
            <a:r>
              <a:rPr sz="800" b="1">
                <a:solidFill>
                  <a:srgbClr val="0D47A1"/>
                </a:solidFill>
              </a:rPr>
              <a:t>100%</a:t>
            </a:r>
            <a:r>
              <a:rPr sz="800" b="0">
                <a:solidFill>
                  <a:srgbClr val="1F3864"/>
                </a:solidFill>
              </a:rPr>
              <a:t> met across all incidents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7706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" y="27706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" y="28346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ACL communications improved following ELT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49300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49300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" y="35478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8679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386791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39319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Continue P1 prevention measures and runbook reviews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5079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" y="450799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" y="45720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ACL communication templates for ELT standards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39512"/>
            <a:ext cx="7315200" cy="704088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23951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" y="528523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577840"/>
            <a:ext cx="70591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SLA compliance dipped to </a:t>
            </a:r>
            <a:r>
              <a:rPr sz="850" b="1">
                <a:solidFill>
                  <a:srgbClr val="CC0000"/>
                </a:solidFill>
              </a:rPr>
              <a:t>97%</a:t>
            </a:r>
            <a:r>
              <a:rPr sz="850" b="0">
                <a:solidFill>
                  <a:srgbClr val="3A3A3A"/>
                </a:solidFill>
              </a:rPr>
              <a:t> in Sprint </a:t>
            </a:r>
            <a:r>
              <a:rPr sz="850" b="1">
                <a:solidFill>
                  <a:srgbClr val="CC0000"/>
                </a:solidFill>
              </a:rPr>
              <a:t>13,</a:t>
            </a:r>
            <a:r>
              <a:rPr sz="850" b="0">
                <a:solidFill>
                  <a:srgbClr val="3A3A3A"/>
                </a:solidFill>
              </a:rPr>
              <a:t> monitoring closely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no. of Major Incidents reported in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P1 and P2 incidents raised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Major Incident Review conducted after each P1/P2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Post-incident review to identify root cause and corrective actions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incidents requiring immediate escalation to senior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priority incidents requiring prompt resolution within 8 hours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Sprint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MI whiteboard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Effective handover for RCA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Sprint 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1115568"/>
          <a:ext cx="4526280" cy="2354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543300"/>
          <a:ext cx="4526280" cy="23545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Change  |  5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15568"/>
            <a:ext cx="7315200" cy="228600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115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170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490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490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554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All changes implemented within approved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130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130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194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Zero P1 impact from changes this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7706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" y="27706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" y="28346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 emergency changes approved within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 hrs of 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49300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49300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" y="35478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8679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386791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39319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change approval workflows for emergency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5079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" y="450799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" y="45720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Enhance CAB pre-screening for high-risk changes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39512"/>
            <a:ext cx="7315200" cy="704088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23951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" y="528523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577840"/>
            <a:ext cx="70591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Unauthorised change rate at </a:t>
            </a:r>
            <a:r>
              <a:rPr sz="850" b="1">
                <a:solidFill>
                  <a:srgbClr val="CC0000"/>
                </a:solidFill>
              </a:rPr>
              <a:t>0.6%</a:t>
            </a:r>
            <a:r>
              <a:rPr sz="850" b="0">
                <a:solidFill>
                  <a:srgbClr val="3A3A3A"/>
                </a:solidFill>
              </a:rPr>
              <a:t>, approaching </a:t>
            </a:r>
            <a:r>
              <a:rPr sz="850" b="1">
                <a:solidFill>
                  <a:srgbClr val="CC0000"/>
                </a:solidFill>
              </a:rPr>
              <a:t>1%</a:t>
            </a:r>
            <a:r>
              <a:rPr sz="850" b="0">
                <a:solidFill>
                  <a:srgbClr val="3A3A3A"/>
                </a:solidFill>
              </a:rPr>
              <a:t> threshold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change requests raised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standard, normal and emergency change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emergency change requests raised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bypassing standard CAB approval due to urgency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implemented successfully without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 passes CAB, executes within planned window,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that caused a Major Incident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that directly triggered a P1 or P2 incident post-implementation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1115568"/>
          <a:ext cx="4526280" cy="2354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543300"/>
          <a:ext cx="4526280" cy="23545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Problem  |  5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15568"/>
            <a:ext cx="7315200" cy="228600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115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170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490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490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554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Closed </a:t>
            </a:r>
            <a:r>
              <a:rPr sz="800" b="1">
                <a:solidFill>
                  <a:srgbClr val="0D47A1"/>
                </a:solidFill>
              </a:rPr>
              <a:t>3</a:t>
            </a:r>
            <a:r>
              <a:rPr sz="800" b="0">
                <a:solidFill>
                  <a:srgbClr val="1F3864"/>
                </a:solidFill>
              </a:rPr>
              <a:t> aged problems this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130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130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194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RCA submitted for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 P1 incidents on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7706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" y="27706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" y="28346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Proactive monitoring added for top </a:t>
            </a:r>
            <a:r>
              <a:rPr sz="800" b="1">
                <a:solidFill>
                  <a:srgbClr val="0D47A1"/>
                </a:solidFill>
              </a:rPr>
              <a:t>5</a:t>
            </a:r>
            <a:r>
              <a:rPr sz="800" b="0">
                <a:solidFill>
                  <a:srgbClr val="1F3864"/>
                </a:solidFill>
              </a:rPr>
              <a:t> recurring incidents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49300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49300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" y="35478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8679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386791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39319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Escalate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 remaining aged problems to senior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5079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" y="450799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" y="45720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Conduct root cause analysis workshop for recurring issues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39512"/>
            <a:ext cx="7315200" cy="704088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23951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" y="528523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577840"/>
            <a:ext cx="70591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Avg resolution days increased to </a:t>
            </a:r>
            <a:r>
              <a:rPr sz="850" b="1">
                <a:solidFill>
                  <a:srgbClr val="CC0000"/>
                </a:solidFill>
              </a:rPr>
              <a:t>4.2</a:t>
            </a:r>
            <a:r>
              <a:rPr sz="850" b="0">
                <a:solidFill>
                  <a:srgbClr val="3A3A3A"/>
                </a:solidFill>
              </a:rPr>
              <a:t>, approaching </a:t>
            </a:r>
            <a:r>
              <a:rPr sz="850" b="1">
                <a:solidFill>
                  <a:srgbClr val="CC0000"/>
                </a:solidFill>
              </a:rPr>
              <a:t>5</a:t>
            </a:r>
            <a:r>
              <a:rPr sz="850" b="0">
                <a:solidFill>
                  <a:srgbClr val="3A3A3A"/>
                </a:solidFill>
              </a:rPr>
              <a:t>-day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 recurring issues need additional root cause analysis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open problem records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problem records regardless of priority 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problems closed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moved to resolved or closed status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new problem records opened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raised from incident trends or proactive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Average calendar days from problem creation to closure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Measured from problem record creation date to closure date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2311146"/>
          <a:ext cx="4526280" cy="23911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Asset and Configuration Managem  |  5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15568"/>
            <a:ext cx="7315200" cy="118872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115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170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490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490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554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CMDB audit passed. </a:t>
            </a:r>
            <a:r>
              <a:rPr sz="800" b="1">
                <a:solidFill>
                  <a:srgbClr val="0D47A1"/>
                </a:solidFill>
              </a:rPr>
              <a:t>7</a:t>
            </a:r>
            <a:r>
              <a:rPr sz="800" b="0">
                <a:solidFill>
                  <a:srgbClr val="1F3864"/>
                </a:solidFill>
              </a:rPr>
              <a:t> orphan CIs scheduled for cleanup. Stale records reduced by </a:t>
            </a:r>
            <a:r>
              <a:rPr sz="800" b="1">
                <a:solidFill>
                  <a:srgbClr val="0D47A1"/>
                </a:solidFill>
              </a:rPr>
              <a:t>3</a:t>
            </a:r>
            <a:r>
              <a:rPr sz="800" b="0">
                <a:solidFill>
                  <a:srgbClr val="1F3864"/>
                </a:solidFill>
              </a:rPr>
              <a:t> this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39572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39572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" y="245059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7706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" y="27706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" y="28346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Sustain current performance levels across all KPIs.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" y="3410711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" y="3410711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" y="3474719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Continue weekly data validation and reporting cadence.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142232"/>
            <a:ext cx="7315200" cy="1801368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14223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" y="418795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" y="4480560"/>
            <a:ext cx="705916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No current concerns. All metrics performing at or above target thresholds.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0" y="566928"/>
          <a:ext cx="1218894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  <a:gridCol w="761809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Group1_Name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Group1_Concerns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Group1_Focus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Group2_Name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Group2_Concerns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Group2_Focus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Group3_Name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Group3_Concerns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Group3_Focus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CMDB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15 stale records still pending owner review; CI reconciliation delayed for 2 business 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Complete Azure VM reconciliation; Onboard Network team CI class to CMDB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HAM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6 active assets without valid vendor support contracts; 3 assets missing location tags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Complete EoL review for remaining server estate; Update procurement tracker with 2026 renewals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SAM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Adobe Creative Cloud audit pending since last quarter; AWS reserved instance reconciliation overdue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Submit Adobe audit results to procurement by Friday; Complete AWS reserved instance review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7452360" y="1115568"/>
          <a:ext cx="4526280" cy="2354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7452360" y="3543300"/>
          <a:ext cx="4526280" cy="23545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NOC  |  5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15568"/>
            <a:ext cx="7315200" cy="228600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115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170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490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490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554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Auto-resolution rate reached </a:t>
            </a:r>
            <a:r>
              <a:rPr sz="800" b="1">
                <a:solidFill>
                  <a:srgbClr val="0D47A1"/>
                </a:solidFill>
              </a:rPr>
              <a:t>85%</a:t>
            </a:r>
            <a:r>
              <a:rPr sz="800" b="0">
                <a:solidFill>
                  <a:srgbClr val="1F3864"/>
                </a:solidFill>
              </a:rPr>
              <a:t>, highest this quarter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130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130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194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P1 incidents resolved in avg </a:t>
            </a:r>
            <a:r>
              <a:rPr sz="800" b="1">
                <a:solidFill>
                  <a:srgbClr val="0D47A1"/>
                </a:solidFill>
              </a:rPr>
              <a:t>1.4</a:t>
            </a:r>
            <a:r>
              <a:rPr sz="800" b="0">
                <a:solidFill>
                  <a:srgbClr val="1F3864"/>
                </a:solidFill>
              </a:rPr>
              <a:t> hrs, well within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-hr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7706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" y="27706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" y="28346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New runbook deployed for DB alert cluster reducing false positives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49300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49300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" y="35478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8679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386791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39319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Expand auto-remediation scripts to cover network alert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5079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" y="450799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" y="45720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P2 escalation path to reduce MTTR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39512"/>
            <a:ext cx="7315200" cy="704088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23951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" y="528523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577840"/>
            <a:ext cx="70591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 P1 incidents detected this week, trend needs monitoring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MTTR at </a:t>
            </a:r>
            <a:r>
              <a:rPr sz="850" b="1">
                <a:solidFill>
                  <a:srgbClr val="CC0000"/>
                </a:solidFill>
              </a:rPr>
              <a:t>1.7</a:t>
            </a:r>
            <a:r>
              <a:rPr sz="850" b="0">
                <a:solidFill>
                  <a:srgbClr val="3A3A3A"/>
                </a:solidFill>
              </a:rPr>
              <a:t> hrs for P2 incidents, slightly above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-hr target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monitoring alerts received by NOC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severity levels from all monitored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alerts automatically resolved without NOC intervention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Auto-remediation scripts and rules resolving alerts without manual action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detected and managed by NOC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outages requiring immediate NOC escalation to MIM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detected and managed by NOC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severity alerts requiring prompt NOC investigation and response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1115568"/>
          <a:ext cx="4526280" cy="2354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543300"/>
          <a:ext cx="4526280" cy="23545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ServiceNow  |  5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15568"/>
            <a:ext cx="7315200" cy="228600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115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170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490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490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554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CSAT improved to </a:t>
            </a:r>
            <a:r>
              <a:rPr sz="800" b="1">
                <a:solidFill>
                  <a:srgbClr val="0D47A1"/>
                </a:solidFill>
              </a:rPr>
              <a:t>4.4</a:t>
            </a:r>
            <a:r>
              <a:rPr sz="800" b="0">
                <a:solidFill>
                  <a:srgbClr val="1F3864"/>
                </a:solidFill>
              </a:rPr>
              <a:t> out of </a:t>
            </a:r>
            <a:r>
              <a:rPr sz="800" b="1">
                <a:solidFill>
                  <a:srgbClr val="0D47A1"/>
                </a:solidFill>
              </a:rPr>
              <a:t>5,</a:t>
            </a:r>
            <a:r>
              <a:rPr sz="800" b="0">
                <a:solidFill>
                  <a:srgbClr val="1F3864"/>
                </a:solidFill>
              </a:rPr>
              <a:t> best score this quarter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130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130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194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FCR consistently above </a:t>
            </a:r>
            <a:r>
              <a:rPr sz="800" b="1">
                <a:solidFill>
                  <a:srgbClr val="0D47A1"/>
                </a:solidFill>
              </a:rPr>
              <a:t>84%</a:t>
            </a:r>
            <a:r>
              <a:rPr sz="800" b="0">
                <a:solidFill>
                  <a:srgbClr val="1F3864"/>
                </a:solidFill>
              </a:rPr>
              <a:t> for third consecutive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7706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" y="27706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" y="28346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Escalations reduced </a:t>
            </a:r>
            <a:r>
              <a:rPr sz="800" b="1">
                <a:solidFill>
                  <a:srgbClr val="0D47A1"/>
                </a:solidFill>
              </a:rPr>
              <a:t>25%</a:t>
            </a:r>
            <a:r>
              <a:rPr sz="800" b="0">
                <a:solidFill>
                  <a:srgbClr val="1F3864"/>
                </a:solidFill>
              </a:rPr>
              <a:t> versus prior week through knowledge base improvements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49300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49300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" y="35478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8679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386791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39319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Investigate root cause of borderline resolution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5079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" y="450799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" y="45720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Publish </a:t>
            </a:r>
            <a:r>
              <a:rPr sz="800" b="1">
                <a:solidFill>
                  <a:srgbClr val="0D47A1"/>
                </a:solidFill>
              </a:rPr>
              <a:t>10</a:t>
            </a:r>
            <a:r>
              <a:rPr sz="800" b="0">
                <a:solidFill>
                  <a:srgbClr val="1F3864"/>
                </a:solidFill>
              </a:rPr>
              <a:t> additional knowledge articles for common request types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39512"/>
            <a:ext cx="7315200" cy="704088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23951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" y="528523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577840"/>
            <a:ext cx="70591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Resolution rate at </a:t>
            </a:r>
            <a:r>
              <a:rPr sz="850" b="1">
                <a:solidFill>
                  <a:srgbClr val="CC0000"/>
                </a:solidFill>
              </a:rPr>
              <a:t>95.2%</a:t>
            </a:r>
            <a:r>
              <a:rPr sz="850" b="0">
                <a:solidFill>
                  <a:srgbClr val="3A3A3A"/>
                </a:solidFill>
              </a:rPr>
              <a:t>, borderline against </a:t>
            </a:r>
            <a:r>
              <a:rPr sz="850" b="1">
                <a:solidFill>
                  <a:srgbClr val="CC0000"/>
                </a:solidFill>
              </a:rPr>
              <a:t>95%</a:t>
            </a:r>
            <a:r>
              <a:rPr sz="850" b="0">
                <a:solidFill>
                  <a:srgbClr val="3A3A3A"/>
                </a:solidFill>
              </a:rPr>
              <a:t> target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service requests and incidents logged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request types and categories processed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moved to resolved status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Resolved tickets pending user confirmation closure after 5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escalated to L2 or L3 support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Tickets that could not be resolved by first-line ServiceNow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tickets resolved within agreed SLA target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Calculated against resolution time targets by ticket category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CSAT Score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1115568"/>
          <a:ext cx="4526280" cy="2354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543300"/>
          <a:ext cx="4526280" cy="23545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Desk  |  5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15568"/>
            <a:ext cx="7315200" cy="228600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115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170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490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490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554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Handle time reduced to </a:t>
            </a:r>
            <a:r>
              <a:rPr sz="800" b="1">
                <a:solidFill>
                  <a:srgbClr val="0D47A1"/>
                </a:solidFill>
              </a:rPr>
              <a:t>8.4</a:t>
            </a:r>
            <a:r>
              <a:rPr sz="800" b="0">
                <a:solidFill>
                  <a:srgbClr val="1F3864"/>
                </a:solidFill>
              </a:rPr>
              <a:t> mins against </a:t>
            </a:r>
            <a:r>
              <a:rPr sz="800" b="1">
                <a:solidFill>
                  <a:srgbClr val="0D47A1"/>
                </a:solidFill>
              </a:rPr>
              <a:t>10</a:t>
            </a:r>
            <a:r>
              <a:rPr sz="800" b="0">
                <a:solidFill>
                  <a:srgbClr val="1F3864"/>
                </a:solidFill>
              </a:rPr>
              <a:t>-min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130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130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194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</a:t>
            </a:r>
            <a:r>
              <a:rPr sz="800" b="1">
                <a:solidFill>
                  <a:srgbClr val="0D47A1"/>
                </a:solidFill>
              </a:rPr>
              <a:t>12</a:t>
            </a:r>
            <a:r>
              <a:rPr sz="800" b="0">
                <a:solidFill>
                  <a:srgbClr val="1F3864"/>
                </a:solidFill>
              </a:rPr>
              <a:t> new knowledge articles published this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7706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" y="27706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" y="28346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Abandoned calls at </a:t>
            </a:r>
            <a:r>
              <a:rPr sz="800" b="1">
                <a:solidFill>
                  <a:srgbClr val="0D47A1"/>
                </a:solidFill>
              </a:rPr>
              <a:t>14,</a:t>
            </a:r>
            <a:r>
              <a:rPr sz="800" b="0">
                <a:solidFill>
                  <a:srgbClr val="1F3864"/>
                </a:solidFill>
              </a:rPr>
              <a:t> lowest point this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49300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49300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" y="35478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8679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386791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39319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Deploy new chatbot for tier-</a:t>
            </a:r>
            <a:r>
              <a:rPr sz="800" b="1">
                <a:solidFill>
                  <a:srgbClr val="0D47A1"/>
                </a:solidFill>
              </a:rPr>
              <a:t>1</a:t>
            </a:r>
            <a:r>
              <a:rPr sz="800" b="0">
                <a:solidFill>
                  <a:srgbClr val="1F3864"/>
                </a:solidFill>
              </a:rPr>
              <a:t> queries to improve FCR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5079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" y="450799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" y="45720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call routing rules to reduce abandonment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39512"/>
            <a:ext cx="7315200" cy="704088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23951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" y="528523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577840"/>
            <a:ext cx="70591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FCR at </a:t>
            </a:r>
            <a:r>
              <a:rPr sz="850" b="1">
                <a:solidFill>
                  <a:srgbClr val="CC0000"/>
                </a:solidFill>
              </a:rPr>
              <a:t>82.9%</a:t>
            </a:r>
            <a:r>
              <a:rPr sz="850" b="0">
                <a:solidFill>
                  <a:srgbClr val="3A3A3A"/>
                </a:solidFill>
              </a:rPr>
              <a:t>, slightly below internal </a:t>
            </a:r>
            <a:r>
              <a:rPr sz="850" b="1">
                <a:solidFill>
                  <a:srgbClr val="CC0000"/>
                </a:solidFill>
              </a:rPr>
              <a:t>85%</a:t>
            </a:r>
            <a:r>
              <a:rPr sz="850" b="0">
                <a:solidFill>
                  <a:srgbClr val="3A3A3A"/>
                </a:solidFill>
              </a:rPr>
              <a:t>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Abandoned calls still above sub-</a:t>
            </a:r>
            <a:r>
              <a:rPr sz="850" b="1">
                <a:solidFill>
                  <a:srgbClr val="CC0000"/>
                </a:solidFill>
              </a:rPr>
              <a:t>10</a:t>
            </a:r>
            <a:r>
              <a:rPr sz="850" b="0">
                <a:solidFill>
                  <a:srgbClr val="3A3A3A"/>
                </a:solidFill>
              </a:rPr>
              <a:t> goal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inbound contacts handled by Service Desk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voice calls, chat sessions and email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contacts resolved by first-line Service Desk agents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Direct resolution without L2/L3 escalation required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contacts abandoned before being answered by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Key measure of queue management and staffing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contacts resolved on first contact without escalation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Primary measure of Service Desk effectiveness and knowledge quality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1115568"/>
          <a:ext cx="4526280" cy="2354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543300"/>
          <a:ext cx="4526280" cy="23545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