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BC9-4643-AAF6-C0F5BDAF7E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BC9-4643-AAF6-C0F5BDAF7ED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P2</c:v>
                </c:pt>
              </c:strCache>
            </c:strRef>
          </c:tx>
          <c:spPr>
            <a:solidFill>
              <a:srgbClr val="59575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5BC9-4643-AAF6-C0F5BDAF7E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# of P1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A6-47F9-B5FC-BA63AB756E5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100% Adherence t…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A6-47F9-B5FC-BA63AB756E5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Accurate stakeho…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4A6-47F9-B5FC-BA63AB756E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52</c:v>
                </c:pt>
                <c:pt idx="2">
                  <c:v>45</c:v>
                </c:pt>
                <c:pt idx="3">
                  <c:v>50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0A5-4849-A6A8-88FAF6A796C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0A5-4849-A6A8-88FAF6A796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Success R…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99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EC1-4BB9-AD55-82A8B88616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Change Causing MI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2.1</c:v>
                </c:pt>
                <c:pt idx="1">
                  <c:v>1.9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EC1-4BB9-AD55-82A8B886164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Failed Change Ra…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0.5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EC1-4BB9-AD55-82A8B88616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15</c:v>
                </c:pt>
                <c:pt idx="2">
                  <c:v>12</c:v>
                </c:pt>
                <c:pt idx="3">
                  <c:v>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46A-458C-9AF7-BBBE983D05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9</c:v>
                </c:pt>
                <c:pt idx="2">
                  <c:v>8</c:v>
                </c:pt>
                <c:pt idx="3">
                  <c:v>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46A-458C-9AF7-BBBE983D05E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846A-458C-9AF7-BBBE983D05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Alerts Received</c:v>
                </c:pt>
              </c:strCache>
            </c:strRef>
          </c:tx>
          <c:spPr>
            <a:solidFill>
              <a:srgbClr val="CC00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1842</c:v>
                </c:pt>
                <c:pt idx="1">
                  <c:v>1975</c:v>
                </c:pt>
                <c:pt idx="2">
                  <c:v>1723</c:v>
                </c:pt>
                <c:pt idx="3">
                  <c:v>1890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1CD-42B0-B918-9C44217651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Alerts Auto-Reso…</c:v>
                </c:pt>
              </c:strCache>
            </c:strRef>
          </c:tx>
          <c:spPr>
            <a:solidFill>
              <a:srgbClr val="1F386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1560</c:v>
                </c:pt>
                <c:pt idx="1">
                  <c:v>1680</c:v>
                </c:pt>
                <c:pt idx="2">
                  <c:v>1490</c:v>
                </c:pt>
                <c:pt idx="3">
                  <c:v>1610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1CD-42B0-B918-9C442176518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 Incidents</c:v>
                </c:pt>
              </c:strCache>
            </c:strRef>
          </c:tx>
          <c:spPr>
            <a:solidFill>
              <a:srgbClr val="59575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F1CD-42B0-B918-9C44217651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 Compliance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97.1</c:v>
                </c:pt>
                <c:pt idx="1">
                  <c:v>96.8</c:v>
                </c:pt>
                <c:pt idx="2">
                  <c:v>97.2</c:v>
                </c:pt>
                <c:pt idx="3">
                  <c:v>97.4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B2-43B9-B3A0-17EA675F1B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</c:v>
                </c:pt>
                <c:pt idx="1">
                  <c:v>225</c:v>
                </c:pt>
                <c:pt idx="2">
                  <c:v>198</c:v>
                </c:pt>
                <c:pt idx="3">
                  <c:v>230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DA1-4902-9BAA-9A51EF5C5F8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</c:v>
                </c:pt>
                <c:pt idx="1">
                  <c:v>215</c:v>
                </c:pt>
                <c:pt idx="2">
                  <c:v>192</c:v>
                </c:pt>
                <c:pt idx="3">
                  <c:v>219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0DA1-4902-9BAA-9A51EF5C5F8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</c:v>
                </c:pt>
                <c:pt idx="1">
                  <c:v>10</c:v>
                </c:pt>
                <c:pt idx="2">
                  <c:v>8</c:v>
                </c:pt>
                <c:pt idx="3">
                  <c:v>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0DA1-4902-9BAA-9A51EF5C5F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Resolution Rate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95.7</c:v>
                </c:pt>
                <c:pt idx="1">
                  <c:v>95.6</c:v>
                </c:pt>
                <c:pt idx="2">
                  <c:v>97</c:v>
                </c:pt>
                <c:pt idx="3">
                  <c:v>95.2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4B4-4CAF-9A75-F391F896E2D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First Call Resol…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81</c:v>
                </c:pt>
                <c:pt idx="1">
                  <c:v>82</c:v>
                </c:pt>
                <c:pt idx="2">
                  <c:v>83</c:v>
                </c:pt>
                <c:pt idx="3">
                  <c:v>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4B4-4CAF-9A75-F391F896E2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</c:v>
                </c:pt>
                <c:pt idx="1">
                  <c:v>305</c:v>
                </c:pt>
                <c:pt idx="2">
                  <c:v>340</c:v>
                </c:pt>
                <c:pt idx="3">
                  <c:v>310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DBD-4CFC-92A7-E805D499E5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</c:v>
                </c:pt>
                <c:pt idx="1">
                  <c:v>280</c:v>
                </c:pt>
                <c:pt idx="2">
                  <c:v>315</c:v>
                </c:pt>
                <c:pt idx="3">
                  <c:v>288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DBD-4CFC-92A7-E805D499E5E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</c:v>
                </c:pt>
                <c:pt idx="1">
                  <c:v>22</c:v>
                </c:pt>
                <c:pt idx="2">
                  <c:v>15</c:v>
                </c:pt>
                <c:pt idx="3">
                  <c:v>14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4DBD-4CFC-92A7-E805D499E5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FCR Rate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82.2</c:v>
                </c:pt>
                <c:pt idx="1">
                  <c:v>81.8</c:v>
                </c:pt>
                <c:pt idx="2">
                  <c:v>82.6</c:v>
                </c:pt>
                <c:pt idx="3">
                  <c:v>82.9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5E-48C9-A0BD-1C0C6D16AD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SLA Compliance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96.2</c:v>
                </c:pt>
                <c:pt idx="1">
                  <c:v>95.8</c:v>
                </c:pt>
                <c:pt idx="2">
                  <c:v>97.1</c:v>
                </c:pt>
                <c:pt idx="3">
                  <c:v>96.5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A5E-48C9-A0BD-1C0C6D16AD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20" b="1">
                <a:solidFill>
                  <a:srgbClr val="CC0000"/>
                </a:solidFill>
              </a:defRPr>
            </a:pPr>
            <a:r>
              <a:t>ITSM Weekly Report — 3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889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96">
                <a:solidFill>
                  <a:srgbClr val="595757"/>
                </a:solidFill>
              </a:defRPr>
            </a:pPr>
            <a:r>
              <a:t>Auto-generated | 7 groups | AI-powered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6">
                <a:solidFill>
                  <a:srgbClr val="333333"/>
                </a:solidFill>
              </a:defRPr>
            </a:pPr>
            <a:r>
              <a:t>Generated by ITSM Automation Agent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MIM  |  3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≥99%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95 – 98%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&lt;95%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78408"/>
            <a:ext cx="7315200" cy="2286000"/>
          </a:xfrm>
          <a:prstGeom prst="rect">
            <a:avLst/>
          </a:prstGeom>
          <a:solidFill>
            <a:srgbClr val="EDFBF3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978408"/>
            <a:ext cx="7315200" cy="310896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" y="103327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" y="135331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" y="135331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596" y="141732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Zero P1s this sprint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" y="199339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" y="199339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6596" y="205740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MIR timeline </a:t>
            </a:r>
            <a:r>
              <a:rPr sz="800" b="1">
                <a:solidFill>
                  <a:srgbClr val="0A5030"/>
                </a:solidFill>
              </a:rPr>
              <a:t>100%</a:t>
            </a:r>
            <a:r>
              <a:rPr sz="800" b="0">
                <a:solidFill>
                  <a:srgbClr val="1A3A28"/>
                </a:solidFill>
              </a:rPr>
              <a:t> met across all incidents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" y="263347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" y="263347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6596" y="269748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ACL communications improved following ELT feedback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355848"/>
            <a:ext cx="7315200" cy="165506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335584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" y="341071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" y="37307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" y="373075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6596" y="37947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Continue P1 prevention measures and runbook reviews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" y="437083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" y="437083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96596" y="443484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Review ACL communication templates for ELT standards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102352"/>
            <a:ext cx="7315200" cy="841247"/>
          </a:xfrm>
          <a:prstGeom prst="rect">
            <a:avLst/>
          </a:prstGeom>
          <a:solidFill>
            <a:srgbClr val="EFF4FA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5102352"/>
            <a:ext cx="731520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8016" y="5148072"/>
            <a:ext cx="71506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" y="5440680"/>
            <a:ext cx="7059168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3A3A3A"/>
                </a:solidFill>
              </a:rPr>
              <a:t>SLA compliance dipped to </a:t>
            </a:r>
            <a:r>
              <a:rPr sz="850" b="1">
                <a:solidFill>
                  <a:srgbClr val="CC0000"/>
                </a:solidFill>
              </a:rPr>
              <a:t>97%</a:t>
            </a:r>
            <a:r>
              <a:rPr sz="850" b="0">
                <a:solidFill>
                  <a:srgbClr val="3A3A3A"/>
                </a:solidFill>
              </a:rPr>
              <a:t> in Sprint </a:t>
            </a:r>
            <a:r>
              <a:rPr sz="850" b="1">
                <a:solidFill>
                  <a:srgbClr val="CC0000"/>
                </a:solidFill>
              </a:rPr>
              <a:t>13,</a:t>
            </a:r>
            <a:r>
              <a:rPr sz="850" b="0">
                <a:solidFill>
                  <a:srgbClr val="3A3A3A"/>
                </a:solidFill>
              </a:rPr>
              <a:t> monitoring closely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Total 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no. of Major Incidents reported in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Includes P1 and P2 incidents raised in ServiceNow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MIR Conducted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Major Incident Review conducted after each P1/P2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Post-incident review to identify root cause and corrective actions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# of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1 incidents in the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Critical incidents requiring immediate escalation to senior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# of P2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2 incidents in the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High priority incidents requiring prompt resolution within 8 hours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0" y="566928"/>
          <a:ext cx="12188946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706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Sprint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Total MI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MIR Conducted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# of P1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# of P2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100% Adherence to the MIM process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Accurate stakeholder communications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Consistency in the Service now fields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MIR Timeline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SLA compliance P1/P2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SMS within 20 min P1/P2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Email within 20 min engaged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MI whiteboard accuracy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Effective handover for RCA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Sprint 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Chart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894126"/>
              </p:ext>
            </p:extLst>
          </p:nvPr>
        </p:nvGraphicFramePr>
        <p:xfrm>
          <a:off x="7452360" y="978408"/>
          <a:ext cx="45262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7452360" y="3474720"/>
          <a:ext cx="45262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Change  |  3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≥99%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95 – 98%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&lt;95%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78408"/>
            <a:ext cx="7315200" cy="2286000"/>
          </a:xfrm>
          <a:prstGeom prst="rect">
            <a:avLst/>
          </a:prstGeom>
          <a:solidFill>
            <a:srgbClr val="EDFBF3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978408"/>
            <a:ext cx="7315200" cy="310896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" y="103327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" y="135331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" y="135331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596" y="141732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All changes implemented within approved window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" y="199339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" y="199339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6596" y="205740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Zero P1 impact from changes this week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" y="263347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" y="263347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6596" y="269748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</a:t>
            </a:r>
            <a:r>
              <a:rPr sz="800" b="1">
                <a:solidFill>
                  <a:srgbClr val="0A5030"/>
                </a:solidFill>
              </a:rPr>
              <a:t>2</a:t>
            </a:r>
            <a:r>
              <a:rPr sz="800" b="0">
                <a:solidFill>
                  <a:srgbClr val="1A3A28"/>
                </a:solidFill>
              </a:rPr>
              <a:t> emergency changes approved within </a:t>
            </a:r>
            <a:r>
              <a:rPr sz="800" b="1">
                <a:solidFill>
                  <a:srgbClr val="0A5030"/>
                </a:solidFill>
              </a:rPr>
              <a:t>2</a:t>
            </a:r>
            <a:r>
              <a:rPr sz="800" b="0">
                <a:solidFill>
                  <a:srgbClr val="1A3A28"/>
                </a:solidFill>
              </a:rPr>
              <a:t> hrs of request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355848"/>
            <a:ext cx="7315200" cy="165506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335584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" y="341071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" y="37307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" y="373075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6596" y="37947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Review change approval workflows for emergency category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" y="437083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" y="437083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96596" y="443484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Enhance CAB pre-screening for high-risk changes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102352"/>
            <a:ext cx="7315200" cy="841247"/>
          </a:xfrm>
          <a:prstGeom prst="rect">
            <a:avLst/>
          </a:prstGeom>
          <a:solidFill>
            <a:srgbClr val="EFF4FA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5102352"/>
            <a:ext cx="731520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8016" y="5148072"/>
            <a:ext cx="71506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" y="5440680"/>
            <a:ext cx="7059168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3A3A3A"/>
                </a:solidFill>
              </a:rPr>
              <a:t>Unauthorised change rate at </a:t>
            </a:r>
            <a:r>
              <a:rPr sz="850" b="1">
                <a:solidFill>
                  <a:srgbClr val="CC0000"/>
                </a:solidFill>
              </a:rPr>
              <a:t>0.6%</a:t>
            </a:r>
            <a:r>
              <a:rPr sz="850" b="0">
                <a:solidFill>
                  <a:srgbClr val="3A3A3A"/>
                </a:solidFill>
              </a:rPr>
              <a:t>, approaching </a:t>
            </a:r>
            <a:r>
              <a:rPr sz="850" b="1">
                <a:solidFill>
                  <a:srgbClr val="CC0000"/>
                </a:solidFill>
              </a:rPr>
              <a:t>1%</a:t>
            </a:r>
            <a:r>
              <a:rPr sz="850" b="0">
                <a:solidFill>
                  <a:srgbClr val="3A3A3A"/>
                </a:solidFill>
              </a:rPr>
              <a:t> threshold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Total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number of change requests raised in the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Includes standard, normal and emergency change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Emergency Changes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emergency change requests raised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Changes bypassing standard CAB approval due to urgency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Change Success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Percentage of changes implemented successfully without incident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Change passes CAB, executes within planned window, no rollback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Change Causing MI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Percentage of changes that caused a Major Incident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Changes that directly triggered a P1 or P2 incident post-implementation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0" y="566928"/>
          <a:ext cx="12188946" cy="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Total Changes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Emergency Changes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Change Success Ratio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Change Causing MI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Failed Change Ratio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Unauthorised Change rate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7452360" y="978408"/>
          <a:ext cx="45262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7452360" y="3474720"/>
          <a:ext cx="45262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Problem  |  3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Overall: AMBER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78408"/>
            <a:ext cx="7315200" cy="2286000"/>
          </a:xfrm>
          <a:prstGeom prst="rect">
            <a:avLst/>
          </a:prstGeom>
          <a:solidFill>
            <a:srgbClr val="EDFBF3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978408"/>
            <a:ext cx="7315200" cy="310896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" y="103327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" y="135331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" y="135331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596" y="141732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Closed </a:t>
            </a:r>
            <a:r>
              <a:rPr sz="800" b="1">
                <a:solidFill>
                  <a:srgbClr val="0A5030"/>
                </a:solidFill>
              </a:rPr>
              <a:t>3</a:t>
            </a:r>
            <a:r>
              <a:rPr sz="800" b="0">
                <a:solidFill>
                  <a:srgbClr val="1A3A28"/>
                </a:solidFill>
              </a:rPr>
              <a:t> aged problems this week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" y="199339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" y="199339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6596" y="205740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RCA submitted for </a:t>
            </a:r>
            <a:r>
              <a:rPr sz="800" b="1">
                <a:solidFill>
                  <a:srgbClr val="0A5030"/>
                </a:solidFill>
              </a:rPr>
              <a:t>2</a:t>
            </a:r>
            <a:r>
              <a:rPr sz="800" b="0">
                <a:solidFill>
                  <a:srgbClr val="1A3A28"/>
                </a:solidFill>
              </a:rPr>
              <a:t> P1 incidents on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" y="263347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" y="263347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6596" y="269748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Proactive monitoring added for top </a:t>
            </a:r>
            <a:r>
              <a:rPr sz="800" b="1">
                <a:solidFill>
                  <a:srgbClr val="0A5030"/>
                </a:solidFill>
              </a:rPr>
              <a:t>5</a:t>
            </a:r>
            <a:r>
              <a:rPr sz="800" b="0">
                <a:solidFill>
                  <a:srgbClr val="1A3A28"/>
                </a:solidFill>
              </a:rPr>
              <a:t> recurring incidents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355848"/>
            <a:ext cx="7315200" cy="165506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335584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" y="341071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" y="37307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" y="373075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6596" y="37947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Escalate </a:t>
            </a:r>
            <a:r>
              <a:rPr sz="800" b="1">
                <a:solidFill>
                  <a:srgbClr val="0D47A1"/>
                </a:solidFill>
              </a:rPr>
              <a:t>2</a:t>
            </a:r>
            <a:r>
              <a:rPr sz="800" b="0">
                <a:solidFill>
                  <a:srgbClr val="1F3864"/>
                </a:solidFill>
              </a:rPr>
              <a:t> remaining aged problems to senior management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" y="437083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" y="437083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96596" y="443484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Conduct root cause analysis workshop for recurring issues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102352"/>
            <a:ext cx="7315200" cy="841247"/>
          </a:xfrm>
          <a:prstGeom prst="rect">
            <a:avLst/>
          </a:prstGeom>
          <a:solidFill>
            <a:srgbClr val="EFF4FA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5102352"/>
            <a:ext cx="731520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8016" y="5148072"/>
            <a:ext cx="71506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" y="5440680"/>
            <a:ext cx="7059168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1">
                <a:solidFill>
                  <a:srgbClr val="3A3A3A"/>
                </a:solidFill>
              </a:rPr>
              <a:t>▸  Avg resolution days increased to </a:t>
            </a:r>
            <a:r>
              <a:rPr sz="850" b="1">
                <a:solidFill>
                  <a:srgbClr val="CC0000"/>
                </a:solidFill>
              </a:rPr>
              <a:t>4.2</a:t>
            </a:r>
            <a:r>
              <a:rPr sz="850" b="0">
                <a:solidFill>
                  <a:srgbClr val="3A3A3A"/>
                </a:solidFill>
              </a:rPr>
              <a:t>, approaching </a:t>
            </a:r>
            <a:r>
              <a:rPr sz="850" b="1">
                <a:solidFill>
                  <a:srgbClr val="CC0000"/>
                </a:solidFill>
              </a:rPr>
              <a:t>5</a:t>
            </a:r>
            <a:r>
              <a:rPr sz="850" b="0">
                <a:solidFill>
                  <a:srgbClr val="3A3A3A"/>
                </a:solidFill>
              </a:rPr>
              <a:t>-day target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1">
                <a:solidFill>
                  <a:srgbClr val="3A3A3A"/>
                </a:solidFill>
              </a:rPr>
              <a:t>▸  </a:t>
            </a:r>
            <a:r>
              <a:rPr sz="850" b="1">
                <a:solidFill>
                  <a:srgbClr val="CC0000"/>
                </a:solidFill>
              </a:rPr>
              <a:t>2</a:t>
            </a:r>
            <a:r>
              <a:rPr sz="850" b="0">
                <a:solidFill>
                  <a:srgbClr val="3A3A3A"/>
                </a:solidFill>
              </a:rPr>
              <a:t> recurring issues need additional root cause analysis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Open Problems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number of open problem records in ServiceNow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All active problem records regardless of priority or 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Problems 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problems closed during the reporting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Problems moved to resolved or closed status this week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New Problems Raised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new problem records opened this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Problems raised from incident trends or proactive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Avg Resolution Days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Average calendar days from problem creation to closure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Measured from problem record creation date to closure date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0" y="566928"/>
          <a:ext cx="12188946" cy="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Open Problems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Problems Resolved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New Problems Raised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Avg Resolution Days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Recurring Issues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Problems Aged &gt;30 days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4.2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7452360" y="2208276"/>
          <a:ext cx="4526280" cy="2459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Asset and Configuration Management  |  3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Overall: AMBER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0" y="566928"/>
          <a:ext cx="12188946" cy="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Total CIs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CIs Verified This Week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CI Accuracy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Orphan CIs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Stale Records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Audit Compliance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12524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98%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99%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978408"/>
            <a:ext cx="4062984" cy="3017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" y="1042416"/>
            <a:ext cx="3925823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CMDB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1280160"/>
            <a:ext cx="4062984" cy="1322832"/>
          </a:xfrm>
          <a:prstGeom prst="rect">
            <a:avLst/>
          </a:prstGeom>
          <a:solidFill>
            <a:srgbClr val="EDFBF3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1280160"/>
            <a:ext cx="4062984" cy="246888"/>
          </a:xfrm>
          <a:prstGeom prst="rect">
            <a:avLst/>
          </a:prstGeom>
          <a:solidFill>
            <a:srgbClr val="2E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" y="1325880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ACHIEVEMENTS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" y="1591056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Quarterly CMDB audit passed with </a:t>
            </a:r>
            <a:r>
              <a:rPr sz="750" b="1">
                <a:solidFill>
                  <a:srgbClr val="1F3864"/>
                </a:solidFill>
              </a:rPr>
              <a:t>97.7%</a:t>
            </a:r>
            <a:r>
              <a:rPr sz="750" b="0">
                <a:solidFill>
                  <a:srgbClr val="222222"/>
                </a:solidFill>
              </a:rPr>
              <a:t> accuracy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1F3864"/>
                </a:solidFill>
              </a:rPr>
              <a:t>7</a:t>
            </a:r>
            <a:r>
              <a:rPr sz="750" b="0">
                <a:solidFill>
                  <a:srgbClr val="222222"/>
                </a:solidFill>
              </a:rPr>
              <a:t> orphan CIs resolved this week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Azure VM CI class successfully onboarded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2602992"/>
            <a:ext cx="4062984" cy="1322832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2602992"/>
            <a:ext cx="4062984" cy="246888"/>
          </a:xfrm>
          <a:prstGeom prst="rect">
            <a:avLst/>
          </a:prstGeom>
          <a:solidFill>
            <a:srgbClr val="2E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" y="2648712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" y="2913888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1F3864"/>
                </a:solidFill>
              </a:rPr>
              <a:t>15</a:t>
            </a:r>
            <a:r>
              <a:rPr sz="750" b="0">
                <a:solidFill>
                  <a:srgbClr val="222222"/>
                </a:solidFill>
              </a:rPr>
              <a:t> stale records still pending owner review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CI reconciliation delayed for </a:t>
            </a:r>
            <a:r>
              <a:rPr sz="750" b="1">
                <a:solidFill>
                  <a:srgbClr val="1F3864"/>
                </a:solidFill>
              </a:rPr>
              <a:t>2</a:t>
            </a:r>
            <a:r>
              <a:rPr sz="750" b="0">
                <a:solidFill>
                  <a:srgbClr val="222222"/>
                </a:solidFill>
              </a:rPr>
              <a:t> business services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3925823"/>
            <a:ext cx="4062984" cy="1322832"/>
          </a:xfrm>
          <a:prstGeom prst="rect">
            <a:avLst/>
          </a:prstGeom>
          <a:solidFill>
            <a:srgbClr val="F0F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3925823"/>
            <a:ext cx="4062984" cy="246888"/>
          </a:xfrm>
          <a:prstGeom prst="rect">
            <a:avLst/>
          </a:prstGeom>
          <a:solidFill>
            <a:srgbClr val="2E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" y="3971543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" y="4236720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Complete Azure VM reconciliation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Onboard Network team CI class to CMDB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2984" y="978408"/>
            <a:ext cx="4062984" cy="301752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72712" y="1042416"/>
            <a:ext cx="3925823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HAM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2984" y="1280160"/>
            <a:ext cx="4062984" cy="1322832"/>
          </a:xfrm>
          <a:prstGeom prst="rect">
            <a:avLst/>
          </a:prstGeom>
          <a:solidFill>
            <a:srgbClr val="EDFBF3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062984" y="1280160"/>
            <a:ext cx="4062984" cy="246888"/>
          </a:xfrm>
          <a:prstGeom prst="rect">
            <a:avLst/>
          </a:prstGeom>
          <a:solidFill>
            <a:srgbClr val="178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72712" y="1325880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ACHIEVEMENTS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2712" y="1591056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Hardware asset register fully updated for the quarter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0F6E56"/>
                </a:solidFill>
              </a:rPr>
              <a:t>4</a:t>
            </a:r>
            <a:r>
              <a:rPr sz="750" b="0">
                <a:solidFill>
                  <a:srgbClr val="222222"/>
                </a:solidFill>
              </a:rPr>
              <a:t> end-of-life servers decommissioned and removed from register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62984" y="2602992"/>
            <a:ext cx="4062984" cy="1322832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062984" y="2602992"/>
            <a:ext cx="4062984" cy="246888"/>
          </a:xfrm>
          <a:prstGeom prst="rect">
            <a:avLst/>
          </a:prstGeom>
          <a:solidFill>
            <a:srgbClr val="178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72712" y="2648712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72712" y="2913888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0F6E56"/>
                </a:solidFill>
              </a:rPr>
              <a:t>6</a:t>
            </a:r>
            <a:r>
              <a:rPr sz="750" b="0">
                <a:solidFill>
                  <a:srgbClr val="222222"/>
                </a:solidFill>
              </a:rPr>
              <a:t> active assets without valid vendor support contracts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0F6E56"/>
                </a:solidFill>
              </a:rPr>
              <a:t>3</a:t>
            </a:r>
            <a:r>
              <a:rPr sz="750" b="0">
                <a:solidFill>
                  <a:srgbClr val="222222"/>
                </a:solidFill>
              </a:rPr>
              <a:t> assets missing location tags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62984" y="3925823"/>
            <a:ext cx="4062984" cy="1322832"/>
          </a:xfrm>
          <a:prstGeom prst="rect">
            <a:avLst/>
          </a:prstGeom>
          <a:solidFill>
            <a:srgbClr val="F0F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062984" y="3925823"/>
            <a:ext cx="4062984" cy="246888"/>
          </a:xfrm>
          <a:prstGeom prst="rect">
            <a:avLst/>
          </a:prstGeom>
          <a:solidFill>
            <a:srgbClr val="178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72712" y="3971543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72712" y="4236720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Complete EoL review for remaining server estate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Update procurement tracker with </a:t>
            </a:r>
            <a:r>
              <a:rPr sz="750" b="1">
                <a:solidFill>
                  <a:srgbClr val="0F6E56"/>
                </a:solidFill>
              </a:rPr>
              <a:t>2026</a:t>
            </a:r>
            <a:r>
              <a:rPr sz="750" b="0">
                <a:solidFill>
                  <a:srgbClr val="222222"/>
                </a:solidFill>
              </a:rPr>
              <a:t> renewals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25968" y="978408"/>
            <a:ext cx="4062984" cy="301752"/>
          </a:xfrm>
          <a:prstGeom prst="rect">
            <a:avLst/>
          </a:prstGeom>
          <a:solidFill>
            <a:srgbClr val="8B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35695" y="1042416"/>
            <a:ext cx="3925823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SAM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25968" y="1280160"/>
            <a:ext cx="4062984" cy="1322832"/>
          </a:xfrm>
          <a:prstGeom prst="rect">
            <a:avLst/>
          </a:prstGeom>
          <a:solidFill>
            <a:srgbClr val="FDF9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125968" y="1280160"/>
            <a:ext cx="4062984" cy="246888"/>
          </a:xfrm>
          <a:prstGeom prst="rect">
            <a:avLst/>
          </a:prstGeom>
          <a:solidFill>
            <a:srgbClr val="AA5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35695" y="1325880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ACHIEVEMENTS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35695" y="1591056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Software license compliance at </a:t>
            </a:r>
            <a:r>
              <a:rPr sz="750" b="1">
                <a:solidFill>
                  <a:srgbClr val="8B4500"/>
                </a:solidFill>
              </a:rPr>
              <a:t>97%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8B4500"/>
                </a:solidFill>
              </a:rPr>
              <a:t>2</a:t>
            </a:r>
            <a:r>
              <a:rPr sz="750" b="0">
                <a:solidFill>
                  <a:srgbClr val="222222"/>
                </a:solidFill>
              </a:rPr>
              <a:t> unused Oracle license sets reclaimed saving £</a:t>
            </a:r>
            <a:r>
              <a:rPr sz="750" b="1">
                <a:solidFill>
                  <a:srgbClr val="8B4500"/>
                </a:solidFill>
              </a:rPr>
              <a:t>18</a:t>
            </a:r>
            <a:r>
              <a:rPr sz="750" b="0">
                <a:solidFill>
                  <a:srgbClr val="222222"/>
                </a:solidFill>
              </a:rPr>
              <a:t>k annually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25968" y="2602992"/>
            <a:ext cx="4062984" cy="1322832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125968" y="2602992"/>
            <a:ext cx="4062984" cy="246888"/>
          </a:xfrm>
          <a:prstGeom prst="rect">
            <a:avLst/>
          </a:prstGeom>
          <a:solidFill>
            <a:srgbClr val="AA5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35695" y="2648712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35695" y="2913888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Adobe Creative Cloud audit pending since last quarter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AWS reserved instance reconciliation overdue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25968" y="3925823"/>
            <a:ext cx="4062984" cy="1322832"/>
          </a:xfrm>
          <a:prstGeom prst="rect">
            <a:avLst/>
          </a:prstGeom>
          <a:solidFill>
            <a:srgbClr val="F5F0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125968" y="3925823"/>
            <a:ext cx="4062984" cy="246888"/>
          </a:xfrm>
          <a:prstGeom prst="rect">
            <a:avLst/>
          </a:prstGeom>
          <a:solidFill>
            <a:srgbClr val="AA5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35695" y="3971543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5695" y="4236720"/>
            <a:ext cx="3861816" cy="984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Submit Adobe audit results to procurement by Friday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Complete AWS reserved instance review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5321808"/>
            <a:ext cx="12188952" cy="621792"/>
          </a:xfrm>
          <a:prstGeom prst="rect">
            <a:avLst/>
          </a:prstGeom>
          <a:solidFill>
            <a:srgbClr val="F2F5FA"/>
          </a:solidFill>
          <a:ln w="952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0" y="5321808"/>
            <a:ext cx="12188952" cy="2468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28016" y="5358384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TIMELINE  &amp;  KEY UPDATES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016" y="5596128"/>
            <a:ext cx="1193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222222"/>
                </a:solidFill>
              </a:defRPr>
            </a:pPr>
            <a:r>
              <a:t>Week 1: CMDB audit kickoff — baseline accuracy 97.5% | Week 2: HAM EoL review initiated — 12 servers flagged | Week 3: SAM license reclaim completed — 2 Oracle sets returned | Week 4: Quarterly audit report submitted to CIO; CMDB accuracy 97.7%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Total CIs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number of Configuration Items in ServiceNow CMDB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All active CI records across all classes and environments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CIs Verified This Week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CIs verified and validated during the reporting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CIs reviewed by CI owners and confirmed as accurate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CI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Percentage of CIs with accurate and up-to-date attribute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Verified through quarterly CMDB audit and weekly spot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Orphan CIs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CIs with no parent relationship or service linkage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CIs not linked to any business service or application in CMDB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NOC  |  3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78408"/>
            <a:ext cx="7315200" cy="2286000"/>
          </a:xfrm>
          <a:prstGeom prst="rect">
            <a:avLst/>
          </a:prstGeom>
          <a:solidFill>
            <a:srgbClr val="EDFBF3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978408"/>
            <a:ext cx="7315200" cy="310896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" y="103327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" y="135331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" y="135331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596" y="141732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Auto-resolution rate reached </a:t>
            </a:r>
            <a:r>
              <a:rPr sz="800" b="1">
                <a:solidFill>
                  <a:srgbClr val="0A5030"/>
                </a:solidFill>
              </a:rPr>
              <a:t>85%</a:t>
            </a:r>
            <a:r>
              <a:rPr sz="800" b="0">
                <a:solidFill>
                  <a:srgbClr val="1A3A28"/>
                </a:solidFill>
              </a:rPr>
              <a:t>, highest this quarter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" y="199339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" y="199339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6596" y="205740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P1 incidents resolved in avg </a:t>
            </a:r>
            <a:r>
              <a:rPr sz="800" b="1">
                <a:solidFill>
                  <a:srgbClr val="0A5030"/>
                </a:solidFill>
              </a:rPr>
              <a:t>1.4</a:t>
            </a:r>
            <a:r>
              <a:rPr sz="800" b="0">
                <a:solidFill>
                  <a:srgbClr val="1A3A28"/>
                </a:solidFill>
              </a:rPr>
              <a:t> hrs, well within </a:t>
            </a:r>
            <a:r>
              <a:rPr sz="800" b="1">
                <a:solidFill>
                  <a:srgbClr val="0A5030"/>
                </a:solidFill>
              </a:rPr>
              <a:t>2</a:t>
            </a:r>
            <a:r>
              <a:rPr sz="800" b="0">
                <a:solidFill>
                  <a:srgbClr val="1A3A28"/>
                </a:solidFill>
              </a:rPr>
              <a:t>-hr target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" y="263347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" y="263347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6596" y="269748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New runbook deployed for DB alert cluster reducing false positives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355848"/>
            <a:ext cx="7315200" cy="165506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335584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" y="341071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" y="37307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" y="373075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6596" y="37947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Expand auto-remediation scripts to cover network alert category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" y="437083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" y="437083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96596" y="443484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Review P2 escalation path to reduce MTTR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102352"/>
            <a:ext cx="7315200" cy="841247"/>
          </a:xfrm>
          <a:prstGeom prst="rect">
            <a:avLst/>
          </a:prstGeom>
          <a:solidFill>
            <a:srgbClr val="EFF4FA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5102352"/>
            <a:ext cx="731520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8016" y="5148072"/>
            <a:ext cx="71506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" y="5440680"/>
            <a:ext cx="7059168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1">
                <a:solidFill>
                  <a:srgbClr val="3A3A3A"/>
                </a:solidFill>
              </a:rPr>
              <a:t>▸  </a:t>
            </a:r>
            <a:r>
              <a:rPr sz="850" b="1">
                <a:solidFill>
                  <a:srgbClr val="CC0000"/>
                </a:solidFill>
              </a:rPr>
              <a:t>2</a:t>
            </a:r>
            <a:r>
              <a:rPr sz="850" b="0">
                <a:solidFill>
                  <a:srgbClr val="3A3A3A"/>
                </a:solidFill>
              </a:rPr>
              <a:t> P1 incidents detected this week, trend needs monitoring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1">
                <a:solidFill>
                  <a:srgbClr val="3A3A3A"/>
                </a:solidFill>
              </a:rPr>
              <a:t>▸  MTTR at </a:t>
            </a:r>
            <a:r>
              <a:rPr sz="850" b="1">
                <a:solidFill>
                  <a:srgbClr val="CC0000"/>
                </a:solidFill>
              </a:rPr>
              <a:t>1.7</a:t>
            </a:r>
            <a:r>
              <a:rPr sz="850" b="0">
                <a:solidFill>
                  <a:srgbClr val="3A3A3A"/>
                </a:solidFill>
              </a:rPr>
              <a:t> hrs for P2 incidents, slightly above </a:t>
            </a:r>
            <a:r>
              <a:rPr sz="850" b="1">
                <a:solidFill>
                  <a:srgbClr val="CC0000"/>
                </a:solidFill>
              </a:rPr>
              <a:t>2</a:t>
            </a:r>
            <a:r>
              <a:rPr sz="850" b="0">
                <a:solidFill>
                  <a:srgbClr val="3A3A3A"/>
                </a:solidFill>
              </a:rPr>
              <a:t>-hr target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Alerts Received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number of monitoring alerts received by NOC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Includes all severity levels from all monitored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Alerts Auto-Resolved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alerts automatically resolved without NOC intervention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Auto-remediation scripts and rules resolving alerts without manual action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P1 Incidents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1 incidents detected and managed by NOC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Critical outages requiring immediate NOC escalation to MIM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P2 Incidents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2 incidents detected and managed by NOC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High severity alerts requiring prompt NOC investigation and response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0" y="566928"/>
          <a:ext cx="12188946" cy="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Alerts Received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Alerts Auto-Resolved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P1 Incidents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P2 Incidents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MTTR Hours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SLA Compliance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1890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1610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97%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7452360" y="978408"/>
          <a:ext cx="45262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7452360" y="3474720"/>
          <a:ext cx="45262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ServiceNow  |  3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Overall: AMBER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78408"/>
            <a:ext cx="7315200" cy="2286000"/>
          </a:xfrm>
          <a:prstGeom prst="rect">
            <a:avLst/>
          </a:prstGeom>
          <a:solidFill>
            <a:srgbClr val="EDFBF3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978408"/>
            <a:ext cx="7315200" cy="310896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" y="103327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" y="135331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" y="135331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596" y="141732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CSAT improved to </a:t>
            </a:r>
            <a:r>
              <a:rPr sz="800" b="1">
                <a:solidFill>
                  <a:srgbClr val="0A5030"/>
                </a:solidFill>
              </a:rPr>
              <a:t>4.4</a:t>
            </a:r>
            <a:r>
              <a:rPr sz="800" b="0">
                <a:solidFill>
                  <a:srgbClr val="1A3A28"/>
                </a:solidFill>
              </a:rPr>
              <a:t> out of </a:t>
            </a:r>
            <a:r>
              <a:rPr sz="800" b="1">
                <a:solidFill>
                  <a:srgbClr val="0A5030"/>
                </a:solidFill>
              </a:rPr>
              <a:t>5,</a:t>
            </a:r>
            <a:r>
              <a:rPr sz="800" b="0">
                <a:solidFill>
                  <a:srgbClr val="1A3A28"/>
                </a:solidFill>
              </a:rPr>
              <a:t> best score this quarter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" y="199339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" y="199339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6596" y="205740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FCR consistently above </a:t>
            </a:r>
            <a:r>
              <a:rPr sz="800" b="1">
                <a:solidFill>
                  <a:srgbClr val="0A5030"/>
                </a:solidFill>
              </a:rPr>
              <a:t>84%</a:t>
            </a:r>
            <a:r>
              <a:rPr sz="800" b="0">
                <a:solidFill>
                  <a:srgbClr val="1A3A28"/>
                </a:solidFill>
              </a:rPr>
              <a:t> for third consecutive week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" y="263347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" y="263347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6596" y="269748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Escalations reduced </a:t>
            </a:r>
            <a:r>
              <a:rPr sz="800" b="1">
                <a:solidFill>
                  <a:srgbClr val="0A5030"/>
                </a:solidFill>
              </a:rPr>
              <a:t>25%</a:t>
            </a:r>
            <a:r>
              <a:rPr sz="800" b="0">
                <a:solidFill>
                  <a:srgbClr val="1A3A28"/>
                </a:solidFill>
              </a:rPr>
              <a:t> versus prior week through knowledge base improvements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355848"/>
            <a:ext cx="7315200" cy="165506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335584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" y="341071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" y="37307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" y="373075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6596" y="37947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Investigate root cause of borderline resolution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" y="437083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" y="437083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96596" y="443484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Publish </a:t>
            </a:r>
            <a:r>
              <a:rPr sz="800" b="1">
                <a:solidFill>
                  <a:srgbClr val="0D47A1"/>
                </a:solidFill>
              </a:rPr>
              <a:t>10</a:t>
            </a:r>
            <a:r>
              <a:rPr sz="800" b="0">
                <a:solidFill>
                  <a:srgbClr val="1F3864"/>
                </a:solidFill>
              </a:rPr>
              <a:t> additional knowledge articles for common request types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102352"/>
            <a:ext cx="7315200" cy="841247"/>
          </a:xfrm>
          <a:prstGeom prst="rect">
            <a:avLst/>
          </a:prstGeom>
          <a:solidFill>
            <a:srgbClr val="EFF4FA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5102352"/>
            <a:ext cx="731520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8016" y="5148072"/>
            <a:ext cx="71506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" y="5440680"/>
            <a:ext cx="7059168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3A3A3A"/>
                </a:solidFill>
              </a:rPr>
              <a:t>Resolution rate at </a:t>
            </a:r>
            <a:r>
              <a:rPr sz="850" b="1">
                <a:solidFill>
                  <a:srgbClr val="CC0000"/>
                </a:solidFill>
              </a:rPr>
              <a:t>95.2%</a:t>
            </a:r>
            <a:r>
              <a:rPr sz="850" b="0">
                <a:solidFill>
                  <a:srgbClr val="3A3A3A"/>
                </a:solidFill>
              </a:rPr>
              <a:t>, borderline against </a:t>
            </a:r>
            <a:r>
              <a:rPr sz="850" b="1">
                <a:solidFill>
                  <a:srgbClr val="CC0000"/>
                </a:solidFill>
              </a:rPr>
              <a:t>95%</a:t>
            </a:r>
            <a:r>
              <a:rPr sz="850" b="0">
                <a:solidFill>
                  <a:srgbClr val="3A3A3A"/>
                </a:solidFill>
              </a:rPr>
              <a:t> target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Total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service requests and incidents logged in ServiceNow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Includes all request types and categories processed through the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Tickets 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tickets moved to resolved status in the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Resolved tickets pending user confirmation closure after 5 days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Escalated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tickets escalated to L2 or L3 support teams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Tickets that could not be resolved by first-line ServiceNow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Resolution Rate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Percentage of tickets resolved within agreed SLA target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Calculated against resolution time targets by ticket category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0" y="566928"/>
          <a:ext cx="12188946" cy="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Total Tickets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Tickets Resolved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Escalated Tickets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Resolution Rate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CSAT Score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First Call Resolution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230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219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4.4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84%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7452360" y="978408"/>
          <a:ext cx="45262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7452360" y="3474720"/>
          <a:ext cx="45262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Service Desk  |  3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Overall: AMBER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78408"/>
            <a:ext cx="7315200" cy="2286000"/>
          </a:xfrm>
          <a:prstGeom prst="rect">
            <a:avLst/>
          </a:prstGeom>
          <a:solidFill>
            <a:srgbClr val="EDFBF3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978408"/>
            <a:ext cx="7315200" cy="310896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" y="103327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" y="135331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" y="135331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6596" y="141732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Handle time reduced to </a:t>
            </a:r>
            <a:r>
              <a:rPr sz="800" b="1">
                <a:solidFill>
                  <a:srgbClr val="0A5030"/>
                </a:solidFill>
              </a:rPr>
              <a:t>8.4</a:t>
            </a:r>
            <a:r>
              <a:rPr sz="800" b="0">
                <a:solidFill>
                  <a:srgbClr val="1A3A28"/>
                </a:solidFill>
              </a:rPr>
              <a:t> mins against </a:t>
            </a:r>
            <a:r>
              <a:rPr sz="800" b="1">
                <a:solidFill>
                  <a:srgbClr val="0A5030"/>
                </a:solidFill>
              </a:rPr>
              <a:t>10</a:t>
            </a:r>
            <a:r>
              <a:rPr sz="800" b="0">
                <a:solidFill>
                  <a:srgbClr val="1A3A28"/>
                </a:solidFill>
              </a:rPr>
              <a:t>-min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" y="199339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" y="199339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6596" y="205740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</a:t>
            </a:r>
            <a:r>
              <a:rPr sz="800" b="1">
                <a:solidFill>
                  <a:srgbClr val="0A5030"/>
                </a:solidFill>
              </a:rPr>
              <a:t>12</a:t>
            </a:r>
            <a:r>
              <a:rPr sz="800" b="0">
                <a:solidFill>
                  <a:srgbClr val="1A3A28"/>
                </a:solidFill>
              </a:rPr>
              <a:t> new knowledge articles published this week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" y="263347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" y="2633472"/>
            <a:ext cx="59436" cy="57607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96596" y="269748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A3A28"/>
                </a:solidFill>
              </a:rPr>
              <a:t>✓  Abandoned calls at </a:t>
            </a:r>
            <a:r>
              <a:rPr sz="800" b="1">
                <a:solidFill>
                  <a:srgbClr val="0A5030"/>
                </a:solidFill>
              </a:rPr>
              <a:t>14,</a:t>
            </a:r>
            <a:r>
              <a:rPr sz="800" b="0">
                <a:solidFill>
                  <a:srgbClr val="1A3A28"/>
                </a:solidFill>
              </a:rPr>
              <a:t> lowest point this month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355848"/>
            <a:ext cx="7315200" cy="165506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3355848"/>
            <a:ext cx="7315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" y="3410712"/>
            <a:ext cx="7150608" cy="265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" y="373075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" y="373075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6596" y="379476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Deploy new chatbot for tier-</a:t>
            </a:r>
            <a:r>
              <a:rPr sz="800" b="1">
                <a:solidFill>
                  <a:srgbClr val="0D47A1"/>
                </a:solidFill>
              </a:rPr>
              <a:t>1</a:t>
            </a:r>
            <a:r>
              <a:rPr sz="800" b="0">
                <a:solidFill>
                  <a:srgbClr val="1F3864"/>
                </a:solidFill>
              </a:rPr>
              <a:t> queries to improve FCR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" y="4370832"/>
            <a:ext cx="7168896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B0C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" y="4370832"/>
            <a:ext cx="59436" cy="5760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96596" y="4434840"/>
            <a:ext cx="70180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1F3864"/>
                </a:solidFill>
              </a:rPr>
              <a:t>✓  Review call routing rules to reduce abandonment 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102352"/>
            <a:ext cx="7315200" cy="841247"/>
          </a:xfrm>
          <a:prstGeom prst="rect">
            <a:avLst/>
          </a:prstGeom>
          <a:solidFill>
            <a:srgbClr val="EFF4FA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0" y="5102352"/>
            <a:ext cx="7315200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8016" y="5148072"/>
            <a:ext cx="71506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" y="5440680"/>
            <a:ext cx="7059168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1">
                <a:solidFill>
                  <a:srgbClr val="3A3A3A"/>
                </a:solidFill>
              </a:rPr>
              <a:t>▸  FCR at </a:t>
            </a:r>
            <a:r>
              <a:rPr sz="850" b="1">
                <a:solidFill>
                  <a:srgbClr val="CC0000"/>
                </a:solidFill>
              </a:rPr>
              <a:t>82.9%</a:t>
            </a:r>
            <a:r>
              <a:rPr sz="850" b="0">
                <a:solidFill>
                  <a:srgbClr val="3A3A3A"/>
                </a:solidFill>
              </a:rPr>
              <a:t>, slightly below internal </a:t>
            </a:r>
            <a:r>
              <a:rPr sz="850" b="1">
                <a:solidFill>
                  <a:srgbClr val="CC0000"/>
                </a:solidFill>
              </a:rPr>
              <a:t>85%</a:t>
            </a:r>
            <a:r>
              <a:rPr sz="850" b="0">
                <a:solidFill>
                  <a:srgbClr val="3A3A3A"/>
                </a:solidFill>
              </a:rPr>
              <a:t> target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50" b="1">
                <a:solidFill>
                  <a:srgbClr val="3A3A3A"/>
                </a:solidFill>
              </a:rPr>
              <a:t>▸  Abandoned calls still above sub-</a:t>
            </a:r>
            <a:r>
              <a:rPr sz="850" b="1">
                <a:solidFill>
                  <a:srgbClr val="CC0000"/>
                </a:solidFill>
              </a:rPr>
              <a:t>10</a:t>
            </a:r>
            <a:r>
              <a:rPr sz="850" b="0">
                <a:solidFill>
                  <a:srgbClr val="3A3A3A"/>
                </a:solidFill>
              </a:rPr>
              <a:t> goal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00" b="1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Calls Received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inbound contacts handled by Service Desk in the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Includes voice calls, chat sessions and email contacts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Calls 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Total contacts resolved by first-line Service Desk agents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Direct resolution without L2/L3 escalation required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Abandoned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Number of contacts abandoned before being answered by an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Key measure of queue management and staffing adequacy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defRPr sz="550" b="1">
                          <a:solidFill>
                            <a:srgbClr val="1F3864"/>
                          </a:solidFill>
                        </a:defRPr>
                      </a:pPr>
                      <a:r>
                        <a:t>FCR Rate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Percentage of contacts resolved on first contact without escalation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550">
                          <a:solidFill>
                            <a:srgbClr val="333333"/>
                          </a:solidFill>
                        </a:defRPr>
                      </a:pPr>
                      <a:r>
                        <a:t>Primary measure of Service Desk effectiveness and knowledge quality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0" y="566928"/>
          <a:ext cx="12188946" cy="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Calls Received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Calls Resolved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Abandoned Calls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FCR Rate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Avg Handle Time Mins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</a:defRPr>
                      </a:pPr>
                      <a:r>
                        <a:t>SLA Compliance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310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288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33333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83%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96%</a:t>
                      </a:r>
                    </a:p>
                  </a:txBody>
                  <a:tcPr>
                    <a:solidFill>
                      <a:srgbClr val="1A73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7452360" y="978408"/>
          <a:ext cx="45262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6" name="Chart 35"/>
          <p:cNvGraphicFramePr>
            <a:graphicFrameLocks noGrp="1"/>
          </p:cNvGraphicFramePr>
          <p:nvPr/>
        </p:nvGraphicFramePr>
        <p:xfrm>
          <a:off x="7452360" y="3474720"/>
          <a:ext cx="45262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1653</Words>
  <Application>Microsoft Office PowerPoint</Application>
  <PresentationFormat>Custom</PresentationFormat>
  <Paragraphs>345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Gupta</cp:lastModifiedBy>
  <cp:revision>2</cp:revision>
  <dcterms:created xsi:type="dcterms:W3CDTF">2013-01-27T09:14:16Z</dcterms:created>
  <dcterms:modified xsi:type="dcterms:W3CDTF">2026-05-03T07:44:51Z</dcterms:modified>
  <cp:category/>
</cp:coreProperties>
</file>