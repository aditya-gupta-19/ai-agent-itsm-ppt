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005840"/>
            <a:ext cx="12188952" cy="914400"/>
          </a:xfrm>
          <a:prstGeom prst="rect">
            <a:avLst/>
          </a:prstGeom>
          <a:noFill/>
        </p:spPr>
        <p:txBody>
          <a:bodyPr wrap="none">
            <a:spAutoFit/>
          </a:bodyPr>
          <a:lstStyle/>
          <a:p>
            <a:pPr algn="ctr">
              <a:defRPr sz="2520" b="1">
                <a:solidFill>
                  <a:srgbClr val="1F3864"/>
                </a:solidFill>
              </a:defRPr>
            </a:pPr>
            <a:r>
              <a:t>ITSM Weekly Report — 22 Apr 2026</a:t>
            </a:r>
          </a:p>
        </p:txBody>
      </p:sp>
      <p:sp>
        <p:nvSpPr>
          <p:cNvPr id="4" name="TextBox 3"/>
          <p:cNvSpPr txBox="1"/>
          <p:nvPr/>
        </p:nvSpPr>
        <p:spPr>
          <a:xfrm>
            <a:off x="0" y="1828800"/>
            <a:ext cx="12188952" cy="548640"/>
          </a:xfrm>
          <a:prstGeom prst="rect">
            <a:avLst/>
          </a:prstGeom>
          <a:noFill/>
        </p:spPr>
        <p:txBody>
          <a:bodyPr wrap="none">
            <a:spAutoFit/>
          </a:bodyPr>
          <a:lstStyle/>
          <a:p>
            <a:pPr algn="ctr">
              <a:defRPr sz="1296">
                <a:solidFill>
                  <a:srgbClr val="2E75B6"/>
                </a:solidFill>
              </a:defRPr>
            </a:pPr>
            <a:r>
              <a:t>Auto-generated | 7 groups | AI-powered insights</a:t>
            </a:r>
          </a:p>
        </p:txBody>
      </p:sp>
      <p:sp>
        <p:nvSpPr>
          <p:cNvPr id="5" name="TextBox 4"/>
          <p:cNvSpPr txBox="1"/>
          <p:nvPr/>
        </p:nvSpPr>
        <p:spPr>
          <a:xfrm>
            <a:off x="0" y="6309360"/>
            <a:ext cx="12188952" cy="365760"/>
          </a:xfrm>
          <a:prstGeom prst="rect">
            <a:avLst/>
          </a:prstGeom>
          <a:noFill/>
        </p:spPr>
        <p:txBody>
          <a:bodyPr wrap="none">
            <a:spAutoFit/>
          </a:bodyPr>
          <a:lstStyle/>
          <a:p>
            <a:pPr algn="ctr">
              <a:defRPr sz="936">
                <a:solidFill>
                  <a:srgbClr val="333333"/>
                </a:solidFill>
              </a:defRPr>
            </a:pPr>
            <a:r>
              <a:t>Generated by ITSM Automation Agent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MIM  |  22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Sprint 14 at MUFG demonstrated a strong performance with all KPIs meeting or exceeding the target, except for SLA compliance which was slightly below. Zero Priority 1 incidents were reported this sprint.</a:t>
            </a:r>
          </a:p>
        </p:txBody>
      </p:sp>
      <p:graphicFrame>
        <p:nvGraphicFramePr>
          <p:cNvPr id="6" name="Table 5"/>
          <p:cNvGraphicFramePr>
            <a:graphicFrameLocks noGrp="1"/>
          </p:cNvGraphicFramePr>
          <p:nvPr/>
        </p:nvGraphicFramePr>
        <p:xfrm>
          <a:off x="0" y="2185416"/>
          <a:ext cx="5943600" cy="3328416"/>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100% Adherence to the MIM process</a:t>
                      </a:r>
                    </a:p>
                  </a:txBody>
                  <a:tcPr>
                    <a:solidFill>
                      <a:srgbClr val="FFFFFF"/>
                    </a:solidFill>
                  </a:tcPr>
                </a:tc>
                <a:tc>
                  <a:txBody>
                    <a:bodyPr/>
                    <a:lstStyle/>
                    <a:p>
                      <a:pPr>
                        <a:defRPr sz="700">
                          <a:solidFill>
                            <a:srgbClr val="333333"/>
                          </a:solidFill>
                        </a:defRPr>
                      </a:pPr>
                      <a:r>
                        <a:t>100.0%</a:t>
                      </a:r>
                    </a:p>
                  </a:txBody>
                  <a:tcPr>
                    <a:solidFill>
                      <a:srgbClr val="FFFFFF"/>
                    </a:solidFill>
                  </a:tcPr>
                </a:tc>
                <a:tc>
                  <a:txBody>
                    <a:bodyPr/>
                    <a:lstStyle/>
                    <a:p>
                      <a:pPr>
                        <a:defRPr sz="700">
                          <a:solidFill>
                            <a:srgbClr val="333333"/>
                          </a:solidFill>
                        </a:defRPr>
                      </a:pPr>
                      <a:r>
                        <a:t>&gt;99.0%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Accurate stakeholder communications</a:t>
                      </a:r>
                    </a:p>
                  </a:txBody>
                  <a:tcPr>
                    <a:solidFill>
                      <a:srgbClr val="F2F2F2"/>
                    </a:solidFill>
                  </a:tcPr>
                </a:tc>
                <a:tc>
                  <a:txBody>
                    <a:bodyPr/>
                    <a:lstStyle/>
                    <a:p>
                      <a:pPr>
                        <a:defRPr sz="700">
                          <a:solidFill>
                            <a:srgbClr val="333333"/>
                          </a:solidFill>
                        </a:defRPr>
                      </a:pPr>
                      <a:r>
                        <a:t>100.0%</a:t>
                      </a:r>
                    </a:p>
                  </a:txBody>
                  <a:tcPr>
                    <a:solidFill>
                      <a:srgbClr val="F2F2F2"/>
                    </a:solidFill>
                  </a:tcPr>
                </a:tc>
                <a:tc>
                  <a:txBody>
                    <a:bodyPr/>
                    <a:lstStyle/>
                    <a:p>
                      <a:pPr>
                        <a:defRPr sz="700">
                          <a:solidFill>
                            <a:srgbClr val="333333"/>
                          </a:solidFill>
                        </a:defRPr>
                      </a:pPr>
                      <a:r>
                        <a:t>&gt;99.0%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Consistency in the Service now fields</a:t>
                      </a:r>
                    </a:p>
                  </a:txBody>
                  <a:tcPr>
                    <a:solidFill>
                      <a:srgbClr val="FFFFFF"/>
                    </a:solidFill>
                  </a:tcPr>
                </a:tc>
                <a:tc>
                  <a:txBody>
                    <a:bodyPr/>
                    <a:lstStyle/>
                    <a:p>
                      <a:pPr>
                        <a:defRPr sz="700">
                          <a:solidFill>
                            <a:srgbClr val="333333"/>
                          </a:solidFill>
                        </a:defRPr>
                      </a:pPr>
                      <a:r>
                        <a:t>100</a:t>
                      </a:r>
                    </a:p>
                  </a:txBody>
                  <a:tcPr>
                    <a:solidFill>
                      <a:srgbClr val="FFFFFF"/>
                    </a:solidFill>
                  </a:tcPr>
                </a:tc>
                <a:tc>
                  <a:txBody>
                    <a:bodyPr/>
                    <a:lstStyle/>
                    <a:p>
                      <a:pPr>
                        <a:defRPr sz="700">
                          <a:solidFill>
                            <a:srgbClr val="333333"/>
                          </a:solidFill>
                        </a:defRPr>
                      </a:pPr>
                      <a:r>
                        <a:t>&gt;99.0%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MIR Timeline</a:t>
                      </a:r>
                    </a:p>
                  </a:txBody>
                  <a:tcPr>
                    <a:solidFill>
                      <a:srgbClr val="F2F2F2"/>
                    </a:solidFill>
                  </a:tcPr>
                </a:tc>
                <a:tc>
                  <a:txBody>
                    <a:bodyPr/>
                    <a:lstStyle/>
                    <a:p>
                      <a:pPr>
                        <a:defRPr sz="700">
                          <a:solidFill>
                            <a:srgbClr val="333333"/>
                          </a:solidFill>
                        </a:defRPr>
                      </a:pPr>
                      <a:r>
                        <a:t>100</a:t>
                      </a:r>
                    </a:p>
                  </a:txBody>
                  <a:tcPr>
                    <a:solidFill>
                      <a:srgbClr val="F2F2F2"/>
                    </a:solidFill>
                  </a:tcPr>
                </a:tc>
                <a:tc>
                  <a:txBody>
                    <a:bodyPr/>
                    <a:lstStyle/>
                    <a:p>
                      <a:pPr>
                        <a:defRPr sz="700">
                          <a:solidFill>
                            <a:srgbClr val="333333"/>
                          </a:solidFill>
                        </a:defRPr>
                      </a:pPr>
                      <a:r>
                        <a:t>&gt;99.0%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SLA compliance P1/P2</a:t>
                      </a:r>
                    </a:p>
                  </a:txBody>
                  <a:tcPr>
                    <a:solidFill>
                      <a:srgbClr val="FFFFFF"/>
                    </a:solidFill>
                  </a:tcPr>
                </a:tc>
                <a:tc>
                  <a:txBody>
                    <a:bodyPr/>
                    <a:lstStyle/>
                    <a:p>
                      <a:pPr>
                        <a:defRPr sz="700">
                          <a:solidFill>
                            <a:srgbClr val="333333"/>
                          </a:solidFill>
                        </a:defRPr>
                      </a:pPr>
                      <a:r>
                        <a:t>100.0%</a:t>
                      </a:r>
                    </a:p>
                  </a:txBody>
                  <a:tcPr>
                    <a:solidFill>
                      <a:srgbClr val="FFFFFF"/>
                    </a:solidFill>
                  </a:tcPr>
                </a:tc>
                <a:tc>
                  <a:txBody>
                    <a:bodyPr/>
                    <a:lstStyle/>
                    <a:p>
                      <a:pPr>
                        <a:defRPr sz="700">
                          <a:solidFill>
                            <a:srgbClr val="333333"/>
                          </a:solidFill>
                        </a:defRPr>
                      </a:pPr>
                      <a:r>
                        <a:t>&gt;95.0%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SMS within 20 min P1/P2</a:t>
                      </a:r>
                    </a:p>
                  </a:txBody>
                  <a:tcPr>
                    <a:solidFill>
                      <a:srgbClr val="F2F2F2"/>
                    </a:solidFill>
                  </a:tcPr>
                </a:tc>
                <a:tc>
                  <a:txBody>
                    <a:bodyPr/>
                    <a:lstStyle/>
                    <a:p>
                      <a:pPr>
                        <a:defRPr sz="700">
                          <a:solidFill>
                            <a:srgbClr val="333333"/>
                          </a:solidFill>
                        </a:defRPr>
                      </a:pPr>
                      <a:r>
                        <a:t>100</a:t>
                      </a:r>
                    </a:p>
                  </a:txBody>
                  <a:tcPr>
                    <a:solidFill>
                      <a:srgbClr val="F2F2F2"/>
                    </a:solidFill>
                  </a:tcPr>
                </a:tc>
                <a:tc>
                  <a:txBody>
                    <a:bodyPr/>
                    <a:lstStyle/>
                    <a:p>
                      <a:pPr>
                        <a:defRPr sz="700">
                          <a:solidFill>
                            <a:srgbClr val="333333"/>
                          </a:solidFill>
                        </a:defRPr>
                      </a:pPr>
                      <a:r>
                        <a:t>&gt;99.0%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Email within 20 min engaged</a:t>
                      </a:r>
                    </a:p>
                  </a:txBody>
                  <a:tcPr>
                    <a:solidFill>
                      <a:srgbClr val="FFFFFF"/>
                    </a:solidFill>
                  </a:tcPr>
                </a:tc>
                <a:tc>
                  <a:txBody>
                    <a:bodyPr/>
                    <a:lstStyle/>
                    <a:p>
                      <a:pPr>
                        <a:defRPr sz="700">
                          <a:solidFill>
                            <a:srgbClr val="333333"/>
                          </a:solidFill>
                        </a:defRPr>
                      </a:pPr>
                      <a:r>
                        <a:t>100</a:t>
                      </a:r>
                    </a:p>
                  </a:txBody>
                  <a:tcPr>
                    <a:solidFill>
                      <a:srgbClr val="FFFFFF"/>
                    </a:solidFill>
                  </a:tcPr>
                </a:tc>
                <a:tc>
                  <a:txBody>
                    <a:bodyPr/>
                    <a:lstStyle/>
                    <a:p>
                      <a:pPr>
                        <a:defRPr sz="700">
                          <a:solidFill>
                            <a:srgbClr val="333333"/>
                          </a:solidFill>
                        </a:defRPr>
                      </a:pPr>
                      <a:r>
                        <a:t>&gt;99.0%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Update cadence P1 30m P2 60m</a:t>
                      </a:r>
                    </a:p>
                  </a:txBody>
                  <a:tcPr>
                    <a:solidFill>
                      <a:srgbClr val="F2F2F2"/>
                    </a:solidFill>
                  </a:tcPr>
                </a:tc>
                <a:tc>
                  <a:txBody>
                    <a:bodyPr/>
                    <a:lstStyle/>
                    <a:p>
                      <a:pPr>
                        <a:defRPr sz="700">
                          <a:solidFill>
                            <a:srgbClr val="333333"/>
                          </a:solidFill>
                        </a:defRPr>
                      </a:pPr>
                      <a:r>
                        <a:t>100</a:t>
                      </a:r>
                    </a:p>
                  </a:txBody>
                  <a:tcPr>
                    <a:solidFill>
                      <a:srgbClr val="F2F2F2"/>
                    </a:solidFill>
                  </a:tcPr>
                </a:tc>
                <a:tc>
                  <a:txBody>
                    <a:bodyPr/>
                    <a:lstStyle/>
                    <a:p>
                      <a:pPr>
                        <a:defRPr sz="700">
                          <a:solidFill>
                            <a:srgbClr val="333333"/>
                          </a:solidFill>
                        </a:defRPr>
                      </a:pPr>
                      <a:r>
                        <a:t>&gt;99.0%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MI whiteboard accuracy</a:t>
                      </a:r>
                    </a:p>
                  </a:txBody>
                  <a:tcPr>
                    <a:solidFill>
                      <a:srgbClr val="FFFFFF"/>
                    </a:solidFill>
                  </a:tcPr>
                </a:tc>
                <a:tc>
                  <a:txBody>
                    <a:bodyPr/>
                    <a:lstStyle/>
                    <a:p>
                      <a:pPr>
                        <a:defRPr sz="700">
                          <a:solidFill>
                            <a:srgbClr val="333333"/>
                          </a:solidFill>
                        </a:defRPr>
                      </a:pPr>
                      <a:r>
                        <a:t>100.0%</a:t>
                      </a:r>
                    </a:p>
                  </a:txBody>
                  <a:tcPr>
                    <a:solidFill>
                      <a:srgbClr val="FFFFFF"/>
                    </a:solidFill>
                  </a:tcPr>
                </a:tc>
                <a:tc>
                  <a:txBody>
                    <a:bodyPr/>
                    <a:lstStyle/>
                    <a:p>
                      <a:pPr>
                        <a:defRPr sz="700">
                          <a:solidFill>
                            <a:srgbClr val="333333"/>
                          </a:solidFill>
                        </a:defRPr>
                      </a:pPr>
                      <a:r>
                        <a:t>&gt;99.0%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Effective handover for RCA</a:t>
                      </a:r>
                    </a:p>
                  </a:txBody>
                  <a:tcPr>
                    <a:solidFill>
                      <a:srgbClr val="F2F2F2"/>
                    </a:solidFill>
                  </a:tcPr>
                </a:tc>
                <a:tc>
                  <a:txBody>
                    <a:bodyPr/>
                    <a:lstStyle/>
                    <a:p>
                      <a:pPr>
                        <a:defRPr sz="700">
                          <a:solidFill>
                            <a:srgbClr val="333333"/>
                          </a:solidFill>
                        </a:defRPr>
                      </a:pPr>
                      <a:r>
                        <a:t>100</a:t>
                      </a:r>
                    </a:p>
                  </a:txBody>
                  <a:tcPr>
                    <a:solidFill>
                      <a:srgbClr val="F2F2F2"/>
                    </a:solidFill>
                  </a:tcPr>
                </a:tc>
                <a:tc>
                  <a:txBody>
                    <a:bodyPr/>
                    <a:lstStyle/>
                    <a:p>
                      <a:pPr>
                        <a:defRPr sz="700">
                          <a:solidFill>
                            <a:srgbClr val="333333"/>
                          </a:solidFill>
                        </a:defRPr>
                      </a:pPr>
                      <a:r>
                        <a:t>&gt;99.0%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Total MI</a:t>
                      </a:r>
                    </a:p>
                  </a:txBody>
                  <a:tcPr>
                    <a:solidFill>
                      <a:srgbClr val="FFFFFF"/>
                    </a:solidFill>
                  </a:tcPr>
                </a:tc>
                <a:tc>
                  <a:txBody>
                    <a:bodyPr/>
                    <a:lstStyle/>
                    <a:p>
                      <a:pPr>
                        <a:defRPr sz="700">
                          <a:solidFill>
                            <a:srgbClr val="333333"/>
                          </a:solidFill>
                        </a:defRPr>
                      </a:pPr>
                      <a:r>
                        <a:t>2</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MIR Conducted</a:t>
                      </a:r>
                    </a:p>
                  </a:txBody>
                  <a:tcPr>
                    <a:solidFill>
                      <a:srgbClr val="F2F2F2"/>
                    </a:solidFill>
                  </a:tcPr>
                </a:tc>
                <a:tc>
                  <a:txBody>
                    <a:bodyPr/>
                    <a:lstStyle/>
                    <a:p>
                      <a:pPr>
                        <a:defRPr sz="700">
                          <a:solidFill>
                            <a:srgbClr val="333333"/>
                          </a:solidFill>
                        </a:defRPr>
                      </a:pPr>
                      <a:r>
                        <a:t>5</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 of P2</a:t>
                      </a:r>
                    </a:p>
                  </a:txBody>
                  <a:tcPr>
                    <a:solidFill>
                      <a:srgbClr val="FFFFFF"/>
                    </a:solidFill>
                  </a:tcPr>
                </a:tc>
                <a:tc>
                  <a:txBody>
                    <a:bodyPr/>
                    <a:lstStyle/>
                    <a:p>
                      <a:pPr>
                        <a:defRPr sz="700">
                          <a:solidFill>
                            <a:srgbClr val="333333"/>
                          </a:solidFill>
                        </a:defRPr>
                      </a:pPr>
                      <a:r>
                        <a:t>2</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b="1">
                          <a:solidFill>
                            <a:srgbClr val="333333"/>
                          </a:solidFill>
                        </a:defRPr>
                      </a:pPr>
                      <a:r>
                        <a:t>Overall Performance</a:t>
                      </a:r>
                    </a:p>
                  </a:txBody>
                  <a:tcPr>
                    <a:solidFill>
                      <a:srgbClr val="F2F2F2"/>
                    </a:solidFill>
                  </a:tcPr>
                </a:tc>
                <a:tc>
                  <a:txBody>
                    <a:bodyPr/>
                    <a:lstStyle/>
                    <a:p>
                      <a:pPr>
                        <a:defRPr sz="700" b="1">
                          <a:solidFill>
                            <a:srgbClr val="333333"/>
                          </a:solidFill>
                        </a:defRPr>
                      </a:pPr>
                      <a:r>
                        <a:t>GREEN</a:t>
                      </a:r>
                    </a:p>
                  </a:txBody>
                  <a:tcPr>
                    <a:solidFill>
                      <a:srgbClr val="F2F2F2"/>
                    </a:solidFill>
                  </a:tcPr>
                </a:tc>
                <a:tc>
                  <a:txBody>
                    <a:bodyPr/>
                    <a:lstStyle/>
                    <a:p>
                      <a:pPr>
                        <a:defRPr sz="700" b="1">
                          <a:solidFill>
                            <a:srgbClr val="333333"/>
                          </a:solidFill>
                        </a:defRPr>
                      </a:pPr>
                      <a:r>
                        <a:t>—</a:t>
                      </a:r>
                    </a:p>
                  </a:txBody>
                  <a:tcPr>
                    <a:solidFill>
                      <a:srgbClr val="F2F2F2"/>
                    </a:solidFill>
                  </a:tcPr>
                </a:tc>
                <a:tc>
                  <a:txBody>
                    <a:bodyPr/>
                    <a:lstStyle/>
                    <a:p>
                      <a:pPr>
                        <a:defRPr b="1" sz="700">
                          <a:solidFill>
                            <a:srgbClr val="FFFFFF"/>
                          </a:solidFill>
                        </a:defRPr>
                      </a:pPr>
                      <a:r>
                        <a:t>GREEN</a:t>
                      </a:r>
                    </a:p>
                  </a:txBody>
                  <a:tcPr>
                    <a:solidFill>
                      <a:srgbClr val="1E5C2E"/>
                    </a:solidFill>
                  </a:tcPr>
                </a:tc>
              </a:tr>
            </a:tbl>
          </a:graphicData>
        </a:graphic>
      </p:graphicFrame>
      <p:sp>
        <p:nvSpPr>
          <p:cNvPr id="7" name="Rectangle 6"/>
          <p:cNvSpPr/>
          <p:nvPr/>
        </p:nvSpPr>
        <p:spPr>
          <a:xfrm>
            <a:off x="0" y="5586984"/>
            <a:ext cx="5760720" cy="365760"/>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5660136"/>
            <a:ext cx="5486400" cy="256032"/>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{'MI Conducted': 5, 'SLA compliance Rate for Priority incidents (&gt;95%)': 1.0}</a:t>
            </a:r>
          </a:p>
          <a:p>
            <a:pPr>
              <a:defRPr sz="700">
                <a:solidFill>
                  <a:srgbClr val="1E5C2E"/>
                </a:solidFill>
              </a:defRPr>
            </a:pPr>
            <a:r>
              <a:t>✔  {'MIR Timeline Adherence': 1.0}</a:t>
            </a:r>
          </a:p>
          <a:p>
            <a:pPr>
              <a:defRPr b="1" sz="750">
                <a:solidFill>
                  <a:srgbClr val="C00000"/>
                </a:solidFill>
              </a:defRPr>
            </a:pPr>
            <a:r>
              <a:t>Actions:</a:t>
            </a:r>
          </a:p>
          <a:p>
            <a:pPr>
              <a:defRPr sz="700">
                <a:solidFill>
                  <a:srgbClr val="333333"/>
                </a:solidFill>
              </a:defRPr>
            </a:pPr>
            <a:r>
              <a:t>→  To further improve SLA compliance rates next week.</a:t>
            </a:r>
          </a:p>
          <a:p>
            <a:pPr>
              <a:defRPr sz="700">
                <a:solidFill>
                  <a:srgbClr val="333333"/>
                </a:solidFill>
              </a:defRPr>
            </a:pPr>
            <a:r>
              <a:t>→  Continue focusing on maintaining the MIM process adherence and communication accuracy.</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{'MI Conducted': 5, 'SLA compliance Rate for Priority incidents (&gt;95%)': 1.0}</a:t>
            </a:r>
          </a:p>
          <a:p>
            <a:pPr>
              <a:defRPr sz="800">
                <a:solidFill>
                  <a:srgbClr val="333333"/>
                </a:solidFill>
              </a:defRPr>
            </a:pPr>
            <a:r>
              <a:t>• {'MIR Timeline Adherence': 1.0}</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4427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44272">
                <a:tc>
                  <a:txBody>
                    <a:bodyPr wrap="square"/>
                    <a:lstStyle/>
                    <a:p>
                      <a:pPr>
                        <a:defRPr sz="650" b="1">
                          <a:solidFill>
                            <a:srgbClr val="1F3864"/>
                          </a:solidFill>
                        </a:defRPr>
                      </a:pPr>
                      <a:r>
                        <a:t>Total MI</a:t>
                      </a:r>
                    </a:p>
                  </a:txBody>
                  <a:tcPr>
                    <a:solidFill>
                      <a:srgbClr val="FFFFFF"/>
                    </a:solidFill>
                  </a:tcPr>
                </a:tc>
                <a:tc>
                  <a:txBody>
                    <a:bodyPr wrap="square"/>
                    <a:lstStyle/>
                    <a:p>
                      <a:pPr>
                        <a:defRPr sz="650">
                          <a:solidFill>
                            <a:srgbClr val="333333"/>
                          </a:solidFill>
                        </a:defRPr>
                      </a:pPr>
                      <a:r>
                        <a:t>Total no. of Major Incidents reported in period</a:t>
                      </a:r>
                    </a:p>
                  </a:txBody>
                  <a:tcPr>
                    <a:solidFill>
                      <a:srgbClr val="FFFFFF"/>
                    </a:solidFill>
                  </a:tcPr>
                </a:tc>
                <a:tc>
                  <a:txBody>
                    <a:bodyPr wrap="square"/>
                    <a:lstStyle/>
                    <a:p>
                      <a:pPr>
                        <a:defRPr sz="650">
                          <a:solidFill>
                            <a:srgbClr val="333333"/>
                          </a:solidFill>
                        </a:defRPr>
                      </a:pPr>
                      <a:r>
                        <a:t>Includes P1 and P2 incidents raised in ServiceNow</a:t>
                      </a:r>
                    </a:p>
                  </a:txBody>
                  <a:tcPr>
                    <a:solidFill>
                      <a:srgbClr val="FFFFFF"/>
                    </a:solidFill>
                  </a:tcPr>
                </a:tc>
              </a:tr>
              <a:tr h="144272">
                <a:tc>
                  <a:txBody>
                    <a:bodyPr wrap="square"/>
                    <a:lstStyle/>
                    <a:p>
                      <a:pPr>
                        <a:defRPr sz="650" b="1">
                          <a:solidFill>
                            <a:srgbClr val="1F3864"/>
                          </a:solidFill>
                        </a:defRPr>
                      </a:pPr>
                      <a:r>
                        <a:t>MIR Conducted</a:t>
                      </a:r>
                    </a:p>
                  </a:txBody>
                  <a:tcPr>
                    <a:solidFill>
                      <a:srgbClr val="E9F0F8"/>
                    </a:solidFill>
                  </a:tcPr>
                </a:tc>
                <a:tc>
                  <a:txBody>
                    <a:bodyPr wrap="square"/>
                    <a:lstStyle/>
                    <a:p>
                      <a:pPr>
                        <a:defRPr sz="650">
                          <a:solidFill>
                            <a:srgbClr val="333333"/>
                          </a:solidFill>
                        </a:defRPr>
                      </a:pPr>
                      <a:r>
                        <a:t>Major Incident Review conducted after each P1/P2</a:t>
                      </a:r>
                    </a:p>
                  </a:txBody>
                  <a:tcPr>
                    <a:solidFill>
                      <a:srgbClr val="E9F0F8"/>
                    </a:solidFill>
                  </a:tcPr>
                </a:tc>
                <a:tc>
                  <a:txBody>
                    <a:bodyPr wrap="square"/>
                    <a:lstStyle/>
                    <a:p>
                      <a:pPr>
                        <a:defRPr sz="650">
                          <a:solidFill>
                            <a:srgbClr val="333333"/>
                          </a:solidFill>
                        </a:defRPr>
                      </a:pPr>
                      <a:r>
                        <a:t>Post-incident review to identify root cause and corrective actions</a:t>
                      </a:r>
                    </a:p>
                  </a:txBody>
                  <a:tcPr>
                    <a:solidFill>
                      <a:srgbClr val="E9F0F8"/>
                    </a:solidFill>
                  </a:tcPr>
                </a:tc>
              </a:tr>
              <a:tr h="144272">
                <a:tc>
                  <a:txBody>
                    <a:bodyPr wrap="square"/>
                    <a:lstStyle/>
                    <a:p>
                      <a:pPr>
                        <a:defRPr sz="650" b="1">
                          <a:solidFill>
                            <a:srgbClr val="1F3864"/>
                          </a:solidFill>
                        </a:defRPr>
                      </a:pPr>
                      <a:r>
                        <a:t># of P1</a:t>
                      </a:r>
                    </a:p>
                  </a:txBody>
                  <a:tcPr>
                    <a:solidFill>
                      <a:srgbClr val="FFFFFF"/>
                    </a:solidFill>
                  </a:tcPr>
                </a:tc>
                <a:tc>
                  <a:txBody>
                    <a:bodyPr wrap="square"/>
                    <a:lstStyle/>
                    <a:p>
                      <a:pPr>
                        <a:defRPr sz="650">
                          <a:solidFill>
                            <a:srgbClr val="333333"/>
                          </a:solidFill>
                        </a:defRPr>
                      </a:pPr>
                      <a:r>
                        <a:t>Number of Priority 1 incidents in the period</a:t>
                      </a:r>
                    </a:p>
                  </a:txBody>
                  <a:tcPr>
                    <a:solidFill>
                      <a:srgbClr val="FFFFFF"/>
                    </a:solidFill>
                  </a:tcPr>
                </a:tc>
                <a:tc>
                  <a:txBody>
                    <a:bodyPr wrap="square"/>
                    <a:lstStyle/>
                    <a:p>
                      <a:pPr>
                        <a:defRPr sz="650">
                          <a:solidFill>
                            <a:srgbClr val="333333"/>
                          </a:solidFill>
                        </a:defRPr>
                      </a:pPr>
                      <a:r>
                        <a:t>Critical incidents requiring immediate escalation to senior management</a:t>
                      </a:r>
                    </a:p>
                  </a:txBody>
                  <a:tcPr>
                    <a:solidFill>
                      <a:srgbClr val="FFFFFF"/>
                    </a:solidFill>
                  </a:tcPr>
                </a:tc>
              </a:tr>
              <a:tr h="144272">
                <a:tc>
                  <a:txBody>
                    <a:bodyPr wrap="square"/>
                    <a:lstStyle/>
                    <a:p>
                      <a:pPr>
                        <a:defRPr sz="650" b="1">
                          <a:solidFill>
                            <a:srgbClr val="1F3864"/>
                          </a:solidFill>
                        </a:defRPr>
                      </a:pPr>
                      <a:r>
                        <a:t># of P2</a:t>
                      </a:r>
                    </a:p>
                  </a:txBody>
                  <a:tcPr>
                    <a:solidFill>
                      <a:srgbClr val="E9F0F8"/>
                    </a:solidFill>
                  </a:tcPr>
                </a:tc>
                <a:tc>
                  <a:txBody>
                    <a:bodyPr wrap="square"/>
                    <a:lstStyle/>
                    <a:p>
                      <a:pPr>
                        <a:defRPr sz="650">
                          <a:solidFill>
                            <a:srgbClr val="333333"/>
                          </a:solidFill>
                        </a:defRPr>
                      </a:pPr>
                      <a:r>
                        <a:t>Number of Priority 2 incidents in the period</a:t>
                      </a:r>
                    </a:p>
                  </a:txBody>
                  <a:tcPr>
                    <a:solidFill>
                      <a:srgbClr val="E9F0F8"/>
                    </a:solidFill>
                  </a:tcPr>
                </a:tc>
                <a:tc>
                  <a:txBody>
                    <a:bodyPr wrap="square"/>
                    <a:lstStyle/>
                    <a:p>
                      <a:pPr>
                        <a:defRPr sz="650">
                          <a:solidFill>
                            <a:srgbClr val="333333"/>
                          </a:solidFill>
                        </a:defRPr>
                      </a:pPr>
                      <a:r>
                        <a:t>High priority incidents requiring prompt resolution within 8 hours</a:t>
                      </a:r>
                    </a:p>
                  </a:txBody>
                  <a:tcPr>
                    <a:solidFill>
                      <a:srgbClr val="E9F0F8"/>
                    </a:solidFill>
                  </a:tcPr>
                </a:tc>
              </a:tr>
              <a:tr h="144272">
                <a:tc>
                  <a:txBody>
                    <a:bodyPr wrap="square"/>
                    <a:lstStyle/>
                    <a:p>
                      <a:pPr>
                        <a:defRPr sz="650" b="1">
                          <a:solidFill>
                            <a:srgbClr val="1F3864"/>
                          </a:solidFill>
                        </a:defRPr>
                      </a:pPr>
                      <a:r>
                        <a:t>100% Adherence to the MIM process</a:t>
                      </a:r>
                    </a:p>
                  </a:txBody>
                  <a:tcPr>
                    <a:solidFill>
                      <a:srgbClr val="FFFFFF"/>
                    </a:solidFill>
                  </a:tcPr>
                </a:tc>
                <a:tc>
                  <a:txBody>
                    <a:bodyPr wrap="square"/>
                    <a:lstStyle/>
                    <a:p>
                      <a:pPr>
                        <a:defRPr sz="650">
                          <a:solidFill>
                            <a:srgbClr val="333333"/>
                          </a:solidFill>
                        </a:defRPr>
                      </a:pPr>
                      <a:r>
                        <a:t>Every step of the MIM workflow is followed exactly as defined</a:t>
                      </a:r>
                    </a:p>
                  </a:txBody>
                  <a:tcPr>
                    <a:solidFill>
                      <a:srgbClr val="FFFFFF"/>
                    </a:solidFill>
                  </a:tcPr>
                </a:tc>
                <a:tc>
                  <a:txBody>
                    <a:bodyPr wrap="square"/>
                    <a:lstStyle/>
                    <a:p>
                      <a:pPr>
                        <a:defRPr sz="650">
                          <a:solidFill>
                            <a:srgbClr val="333333"/>
                          </a:solidFill>
                        </a:defRPr>
                      </a:pPr>
                      <a:r>
                        <a:t>Includes logging, escalation, communication and closure steps</a:t>
                      </a:r>
                    </a:p>
                  </a:txBody>
                  <a:tcPr>
                    <a:solidFill>
                      <a:srgbClr val="FFFFFF"/>
                    </a:solidFill>
                  </a:tcPr>
                </a:tc>
              </a:tr>
              <a:tr h="144272">
                <a:tc>
                  <a:txBody>
                    <a:bodyPr wrap="square"/>
                    <a:lstStyle/>
                    <a:p>
                      <a:pPr>
                        <a:defRPr sz="650" b="1">
                          <a:solidFill>
                            <a:srgbClr val="1F3864"/>
                          </a:solidFill>
                        </a:defRPr>
                      </a:pPr>
                      <a:r>
                        <a:t>Accurate stakeholder communications</a:t>
                      </a:r>
                    </a:p>
                  </a:txBody>
                  <a:tcPr>
                    <a:solidFill>
                      <a:srgbClr val="E9F0F8"/>
                    </a:solidFill>
                  </a:tcPr>
                </a:tc>
                <a:tc>
                  <a:txBody>
                    <a:bodyPr wrap="square"/>
                    <a:lstStyle/>
                    <a:p>
                      <a:pPr>
                        <a:defRPr sz="650">
                          <a:solidFill>
                            <a:srgbClr val="333333"/>
                          </a:solidFill>
                        </a:defRPr>
                      </a:pPr>
                      <a:r>
                        <a:t>Timely and accurate notifications sent to all relevant stakeholders</a:t>
                      </a:r>
                    </a:p>
                  </a:txBody>
                  <a:tcPr>
                    <a:solidFill>
                      <a:srgbClr val="E9F0F8"/>
                    </a:solidFill>
                  </a:tcPr>
                </a:tc>
                <a:tc>
                  <a:txBody>
                    <a:bodyPr wrap="square"/>
                    <a:lstStyle/>
                    <a:p>
                      <a:pPr>
                        <a:defRPr sz="650">
                          <a:solidFill>
                            <a:srgbClr val="333333"/>
                          </a:solidFill>
                        </a:defRPr>
                      </a:pPr>
                      <a:r>
                        <a:t>Communication covers P1/P2 declaration, updates and resolution</a:t>
                      </a:r>
                    </a:p>
                  </a:txBody>
                  <a:tcPr>
                    <a:solidFill>
                      <a:srgbClr val="E9F0F8"/>
                    </a:solidFill>
                  </a:tcPr>
                </a:tc>
              </a:tr>
              <a:tr h="144272">
                <a:tc>
                  <a:txBody>
                    <a:bodyPr wrap="square"/>
                    <a:lstStyle/>
                    <a:p>
                      <a:pPr>
                        <a:defRPr sz="650" b="1">
                          <a:solidFill>
                            <a:srgbClr val="1F3864"/>
                          </a:solidFill>
                        </a:defRPr>
                      </a:pPr>
                      <a:r>
                        <a:t>Consistency in the Service now fields</a:t>
                      </a:r>
                    </a:p>
                  </a:txBody>
                  <a:tcPr>
                    <a:solidFill>
                      <a:srgbClr val="FFFFFF"/>
                    </a:solidFill>
                  </a:tcPr>
                </a:tc>
                <a:tc>
                  <a:txBody>
                    <a:bodyPr wrap="square"/>
                    <a:lstStyle/>
                    <a:p>
                      <a:pPr>
                        <a:defRPr sz="650">
                          <a:solidFill>
                            <a:srgbClr val="333333"/>
                          </a:solidFill>
                        </a:defRPr>
                      </a:pPr>
                      <a:r>
                        <a:t>Correct categorization and sub-categorization in ServiceNow</a:t>
                      </a:r>
                    </a:p>
                  </a:txBody>
                  <a:tcPr>
                    <a:solidFill>
                      <a:srgbClr val="FFFFFF"/>
                    </a:solidFill>
                  </a:tcPr>
                </a:tc>
                <a:tc>
                  <a:txBody>
                    <a:bodyPr wrap="square"/>
                    <a:lstStyle/>
                    <a:p>
                      <a:pPr>
                        <a:defRPr sz="650">
                          <a:solidFill>
                            <a:srgbClr val="333333"/>
                          </a:solidFill>
                        </a:defRPr>
                      </a:pPr>
                      <a:r>
                        <a:t>All mandatory incident fields populated correctly and consistently</a:t>
                      </a:r>
                    </a:p>
                  </a:txBody>
                  <a:tcPr>
                    <a:solidFill>
                      <a:srgbClr val="FFFFFF"/>
                    </a:solidFill>
                  </a:tcPr>
                </a:tc>
              </a:tr>
              <a:tr h="144272">
                <a:tc>
                  <a:txBody>
                    <a:bodyPr wrap="square"/>
                    <a:lstStyle/>
                    <a:p>
                      <a:pPr>
                        <a:defRPr sz="650" b="1">
                          <a:solidFill>
                            <a:srgbClr val="1F3864"/>
                          </a:solidFill>
                        </a:defRPr>
                      </a:pPr>
                      <a:r>
                        <a:t>MIR Timeline</a:t>
                      </a:r>
                    </a:p>
                  </a:txBody>
                  <a:tcPr>
                    <a:solidFill>
                      <a:srgbClr val="E9F0F8"/>
                    </a:solidFill>
                  </a:tcPr>
                </a:tc>
                <a:tc>
                  <a:txBody>
                    <a:bodyPr wrap="square"/>
                    <a:lstStyle/>
                    <a:p>
                      <a:pPr>
                        <a:defRPr sz="650">
                          <a:solidFill>
                            <a:srgbClr val="333333"/>
                          </a:solidFill>
                        </a:defRPr>
                      </a:pPr>
                      <a:r>
                        <a:t>MIR completed within agreed timeframe after resolving MI</a:t>
                      </a:r>
                    </a:p>
                  </a:txBody>
                  <a:tcPr>
                    <a:solidFill>
                      <a:srgbClr val="E9F0F8"/>
                    </a:solidFill>
                  </a:tcPr>
                </a:tc>
                <a:tc>
                  <a:txBody>
                    <a:bodyPr wrap="square"/>
                    <a:lstStyle/>
                    <a:p>
                      <a:pPr>
                        <a:defRPr sz="650">
                          <a:solidFill>
                            <a:srgbClr val="333333"/>
                          </a:solidFill>
                        </a:defRPr>
                      </a:pPr>
                      <a:r>
                        <a:t>MIR must be completed within 5 business days of incident closure</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870639"/>
                <a:gridCol w="870639"/>
                <a:gridCol w="870639"/>
                <a:gridCol w="870639"/>
                <a:gridCol w="870639"/>
                <a:gridCol w="870639"/>
                <a:gridCol w="870639"/>
                <a:gridCol w="870639"/>
                <a:gridCol w="870639"/>
                <a:gridCol w="870639"/>
                <a:gridCol w="870639"/>
                <a:gridCol w="870639"/>
                <a:gridCol w="870639"/>
                <a:gridCol w="870639"/>
              </a:tblGrid>
              <a:tr h="347472">
                <a:tc>
                  <a:txBody>
                    <a:bodyPr wrap="square"/>
                    <a:lstStyle/>
                    <a:p>
                      <a:pPr algn="ctr">
                        <a:defRPr b="1" sz="650">
                          <a:solidFill>
                            <a:srgbClr val="FFFFFF"/>
                          </a:solidFill>
                        </a:defRPr>
                      </a:pPr>
                      <a:r>
                        <a:t>Sprint No</a:t>
                      </a:r>
                    </a:p>
                  </a:txBody>
                  <a:tcPr>
                    <a:solidFill>
                      <a:srgbClr val="2E75B6"/>
                    </a:solidFill>
                  </a:tcPr>
                </a:tc>
                <a:tc>
                  <a:txBody>
                    <a:bodyPr wrap="square"/>
                    <a:lstStyle/>
                    <a:p>
                      <a:pPr algn="ctr">
                        <a:defRPr b="1" sz="650">
                          <a:solidFill>
                            <a:srgbClr val="FFFFFF"/>
                          </a:solidFill>
                        </a:defRPr>
                      </a:pPr>
                      <a:r>
                        <a:t>Total MI</a:t>
                      </a:r>
                    </a:p>
                  </a:txBody>
                  <a:tcPr>
                    <a:solidFill>
                      <a:srgbClr val="2E75B6"/>
                    </a:solidFill>
                  </a:tcPr>
                </a:tc>
                <a:tc>
                  <a:txBody>
                    <a:bodyPr wrap="square"/>
                    <a:lstStyle/>
                    <a:p>
                      <a:pPr algn="ctr">
                        <a:defRPr b="1" sz="650">
                          <a:solidFill>
                            <a:srgbClr val="FFFFFF"/>
                          </a:solidFill>
                        </a:defRPr>
                      </a:pPr>
                      <a:r>
                        <a:t>MIR Conducted</a:t>
                      </a:r>
                    </a:p>
                  </a:txBody>
                  <a:tcPr>
                    <a:solidFill>
                      <a:srgbClr val="2E75B6"/>
                    </a:solidFill>
                  </a:tcPr>
                </a:tc>
                <a:tc>
                  <a:txBody>
                    <a:bodyPr wrap="square"/>
                    <a:lstStyle/>
                    <a:p>
                      <a:pPr algn="ctr">
                        <a:defRPr b="1" sz="650">
                          <a:solidFill>
                            <a:srgbClr val="FFFFFF"/>
                          </a:solidFill>
                        </a:defRPr>
                      </a:pPr>
                      <a:r>
                        <a:t># of P1</a:t>
                      </a:r>
                    </a:p>
                  </a:txBody>
                  <a:tcPr>
                    <a:solidFill>
                      <a:srgbClr val="2E75B6"/>
                    </a:solidFill>
                  </a:tcPr>
                </a:tc>
                <a:tc>
                  <a:txBody>
                    <a:bodyPr wrap="square"/>
                    <a:lstStyle/>
                    <a:p>
                      <a:pPr algn="ctr">
                        <a:defRPr b="1" sz="650">
                          <a:solidFill>
                            <a:srgbClr val="FFFFFF"/>
                          </a:solidFill>
                        </a:defRPr>
                      </a:pPr>
                      <a:r>
                        <a:t># of P2</a:t>
                      </a:r>
                    </a:p>
                  </a:txBody>
                  <a:tcPr>
                    <a:solidFill>
                      <a:srgbClr val="2E75B6"/>
                    </a:solidFill>
                  </a:tcPr>
                </a:tc>
                <a:tc>
                  <a:txBody>
                    <a:bodyPr wrap="square"/>
                    <a:lstStyle/>
                    <a:p>
                      <a:pPr algn="ctr">
                        <a:defRPr b="1" sz="650">
                          <a:solidFill>
                            <a:srgbClr val="FFFFFF"/>
                          </a:solidFill>
                        </a:defRPr>
                      </a:pPr>
                      <a:r>
                        <a:t>100% Adherence to the MIM process</a:t>
                      </a:r>
                    </a:p>
                  </a:txBody>
                  <a:tcPr>
                    <a:solidFill>
                      <a:srgbClr val="2E75B6"/>
                    </a:solidFill>
                  </a:tcPr>
                </a:tc>
                <a:tc>
                  <a:txBody>
                    <a:bodyPr wrap="square"/>
                    <a:lstStyle/>
                    <a:p>
                      <a:pPr algn="ctr">
                        <a:defRPr b="1" sz="650">
                          <a:solidFill>
                            <a:srgbClr val="FFFFFF"/>
                          </a:solidFill>
                        </a:defRPr>
                      </a:pPr>
                      <a:r>
                        <a:t>Accurate stakeholder communications</a:t>
                      </a:r>
                    </a:p>
                  </a:txBody>
                  <a:tcPr>
                    <a:solidFill>
                      <a:srgbClr val="2E75B6"/>
                    </a:solidFill>
                  </a:tcPr>
                </a:tc>
                <a:tc>
                  <a:txBody>
                    <a:bodyPr wrap="square"/>
                    <a:lstStyle/>
                    <a:p>
                      <a:pPr algn="ctr">
                        <a:defRPr b="1" sz="650">
                          <a:solidFill>
                            <a:srgbClr val="FFFFFF"/>
                          </a:solidFill>
                        </a:defRPr>
                      </a:pPr>
                      <a:r>
                        <a:t>Consistency in the Service now fields</a:t>
                      </a:r>
                    </a:p>
                  </a:txBody>
                  <a:tcPr>
                    <a:solidFill>
                      <a:srgbClr val="2E75B6"/>
                    </a:solidFill>
                  </a:tcPr>
                </a:tc>
                <a:tc>
                  <a:txBody>
                    <a:bodyPr wrap="square"/>
                    <a:lstStyle/>
                    <a:p>
                      <a:pPr algn="ctr">
                        <a:defRPr b="1" sz="650">
                          <a:solidFill>
                            <a:srgbClr val="FFFFFF"/>
                          </a:solidFill>
                        </a:defRPr>
                      </a:pPr>
                      <a:r>
                        <a:t>MIR Timeline</a:t>
                      </a:r>
                    </a:p>
                  </a:txBody>
                  <a:tcPr>
                    <a:solidFill>
                      <a:srgbClr val="2E75B6"/>
                    </a:solidFill>
                  </a:tcPr>
                </a:tc>
                <a:tc>
                  <a:txBody>
                    <a:bodyPr wrap="square"/>
                    <a:lstStyle/>
                    <a:p>
                      <a:pPr algn="ctr">
                        <a:defRPr b="1" sz="650">
                          <a:solidFill>
                            <a:srgbClr val="FFFFFF"/>
                          </a:solidFill>
                        </a:defRPr>
                      </a:pPr>
                      <a:r>
                        <a:t>SLA compliance P1/P2</a:t>
                      </a:r>
                    </a:p>
                  </a:txBody>
                  <a:tcPr>
                    <a:solidFill>
                      <a:srgbClr val="2E75B6"/>
                    </a:solidFill>
                  </a:tcPr>
                </a:tc>
                <a:tc>
                  <a:txBody>
                    <a:bodyPr wrap="square"/>
                    <a:lstStyle/>
                    <a:p>
                      <a:pPr algn="ctr">
                        <a:defRPr b="1" sz="650">
                          <a:solidFill>
                            <a:srgbClr val="FFFFFF"/>
                          </a:solidFill>
                        </a:defRPr>
                      </a:pPr>
                      <a:r>
                        <a:t>SMS within 20 min P1/P2</a:t>
                      </a:r>
                    </a:p>
                  </a:txBody>
                  <a:tcPr>
                    <a:solidFill>
                      <a:srgbClr val="2E75B6"/>
                    </a:solidFill>
                  </a:tcPr>
                </a:tc>
                <a:tc>
                  <a:txBody>
                    <a:bodyPr wrap="square"/>
                    <a:lstStyle/>
                    <a:p>
                      <a:pPr algn="ctr">
                        <a:defRPr b="1" sz="650">
                          <a:solidFill>
                            <a:srgbClr val="FFFFFF"/>
                          </a:solidFill>
                        </a:defRPr>
                      </a:pPr>
                      <a:r>
                        <a:t>Email within 20 min engaged</a:t>
                      </a:r>
                    </a:p>
                  </a:txBody>
                  <a:tcPr>
                    <a:solidFill>
                      <a:srgbClr val="2E75B6"/>
                    </a:solidFill>
                  </a:tcPr>
                </a:tc>
                <a:tc>
                  <a:txBody>
                    <a:bodyPr wrap="square"/>
                    <a:lstStyle/>
                    <a:p>
                      <a:pPr algn="ctr">
                        <a:defRPr b="1" sz="650">
                          <a:solidFill>
                            <a:srgbClr val="FFFFFF"/>
                          </a:solidFill>
                        </a:defRPr>
                      </a:pPr>
                      <a:r>
                        <a:t>MI whiteboard accuracy</a:t>
                      </a:r>
                    </a:p>
                  </a:txBody>
                  <a:tcPr>
                    <a:solidFill>
                      <a:srgbClr val="2E75B6"/>
                    </a:solidFill>
                  </a:tcPr>
                </a:tc>
                <a:tc>
                  <a:txBody>
                    <a:bodyPr wrap="square"/>
                    <a:lstStyle/>
                    <a:p>
                      <a:pPr algn="ctr">
                        <a:defRPr b="1" sz="650">
                          <a:solidFill>
                            <a:srgbClr val="FFFFFF"/>
                          </a:solidFill>
                        </a:defRPr>
                      </a:pPr>
                      <a:r>
                        <a:t>Effective handover for RCA</a:t>
                      </a:r>
                    </a:p>
                  </a:txBody>
                  <a:tcPr>
                    <a:solidFill>
                      <a:srgbClr val="2E75B6"/>
                    </a:solidFill>
                  </a:tcPr>
                </a:tc>
              </a:tr>
              <a:tr h="411479">
                <a:tc>
                  <a:txBody>
                    <a:bodyPr/>
                    <a:lstStyle/>
                    <a:p>
                      <a:pPr algn="ctr">
                        <a:defRPr sz="800" b="1">
                          <a:solidFill>
                            <a:srgbClr val="333333"/>
                          </a:solidFill>
                        </a:defRPr>
                      </a:pPr>
                      <a:r>
                        <a:t>Sprint 14</a:t>
                      </a:r>
                    </a:p>
                  </a:txBody>
                  <a:tcPr>
                    <a:solidFill>
                      <a:srgbClr val="F2F2F2"/>
                    </a:solidFill>
                  </a:tcPr>
                </a:tc>
                <a:tc>
                  <a:txBody>
                    <a:bodyPr/>
                    <a:lstStyle/>
                    <a:p>
                      <a:pPr algn="ctr">
                        <a:defRPr sz="800" b="1">
                          <a:solidFill>
                            <a:srgbClr val="333333"/>
                          </a:solidFill>
                        </a:defRPr>
                      </a:pPr>
                      <a:r>
                        <a:t>2</a:t>
                      </a:r>
                    </a:p>
                  </a:txBody>
                  <a:tcPr>
                    <a:solidFill>
                      <a:srgbClr val="F2F2F2"/>
                    </a:solidFill>
                  </a:tcPr>
                </a:tc>
                <a:tc>
                  <a:txBody>
                    <a:bodyPr/>
                    <a:lstStyle/>
                    <a:p>
                      <a:pPr algn="ctr">
                        <a:defRPr sz="800" b="1">
                          <a:solidFill>
                            <a:srgbClr val="333333"/>
                          </a:solidFill>
                        </a:defRPr>
                      </a:pPr>
                      <a:r>
                        <a:t>5</a:t>
                      </a:r>
                    </a:p>
                  </a:txBody>
                  <a:tcPr>
                    <a:solidFill>
                      <a:srgbClr val="F2F2F2"/>
                    </a:solidFill>
                  </a:tcPr>
                </a:tc>
                <a:tc>
                  <a:txBody>
                    <a:bodyPr/>
                    <a:lstStyle/>
                    <a:p>
                      <a:pPr algn="ctr">
                        <a:defRPr sz="800" b="1">
                          <a:solidFill>
                            <a:srgbClr val="333333"/>
                          </a:solidFill>
                        </a:defRPr>
                      </a:pPr>
                      <a:r>
                        <a:t>0</a:t>
                      </a:r>
                    </a:p>
                  </a:txBody>
                  <a:tcPr>
                    <a:solidFill>
                      <a:srgbClr val="F2F2F2"/>
                    </a:solidFill>
                  </a:tcPr>
                </a:tc>
                <a:tc>
                  <a:txBody>
                    <a:bodyPr/>
                    <a:lstStyle/>
                    <a:p>
                      <a:pPr algn="ctr">
                        <a:defRPr sz="800" b="1">
                          <a:solidFill>
                            <a:srgbClr val="333333"/>
                          </a:solidFill>
                        </a:defRPr>
                      </a:pPr>
                      <a:r>
                        <a:t>2</a:t>
                      </a:r>
                    </a:p>
                  </a:txBody>
                  <a:tcPr>
                    <a:solidFill>
                      <a:srgbClr val="F2F2F2"/>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r>
            </a:tbl>
          </a:graphicData>
        </a:graphic>
      </p:graphicFrame>
      <p:pic>
        <p:nvPicPr>
          <p:cNvPr id="12" name="Picture 11" descr="image.png"/>
          <p:cNvPicPr>
            <a:picLocks noChangeAspect="1"/>
          </p:cNvPicPr>
          <p:nvPr/>
        </p:nvPicPr>
        <p:blipFill>
          <a:blip r:embed="rId4"/>
          <a:stretch>
            <a:fillRect/>
          </a:stretch>
        </p:blipFill>
        <p:spPr>
          <a:xfrm>
            <a:off x="5943600" y="1353312"/>
            <a:ext cx="6245352" cy="1287560"/>
          </a:xfrm>
          <a:prstGeom prst="rect">
            <a:avLst/>
          </a:prstGeom>
        </p:spPr>
      </p:pic>
      <p:pic>
        <p:nvPicPr>
          <p:cNvPr id="13" name="Picture 12" descr="image.png"/>
          <p:cNvPicPr>
            <a:picLocks noChangeAspect="1"/>
          </p:cNvPicPr>
          <p:nvPr/>
        </p:nvPicPr>
        <p:blipFill>
          <a:blip r:embed="rId5"/>
          <a:stretch>
            <a:fillRect/>
          </a:stretch>
        </p:blipFill>
        <p:spPr>
          <a:xfrm>
            <a:off x="5943600" y="2695735"/>
            <a:ext cx="6245352" cy="1296724"/>
          </a:xfrm>
          <a:prstGeom prst="rect">
            <a:avLst/>
          </a:prstGeom>
        </p:spPr>
      </p:pic>
      <p:pic>
        <p:nvPicPr>
          <p:cNvPr id="14" name="Picture 13" descr="image.png"/>
          <p:cNvPicPr>
            <a:picLocks noChangeAspect="1"/>
          </p:cNvPicPr>
          <p:nvPr/>
        </p:nvPicPr>
        <p:blipFill>
          <a:blip r:embed="rId6"/>
          <a:stretch>
            <a:fillRect/>
          </a:stretch>
        </p:blipFill>
        <p:spPr>
          <a:xfrm>
            <a:off x="5943600" y="4047323"/>
            <a:ext cx="6245352" cy="129214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Change  |  22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ITSM team successfully implemented all changes within the approved window for Week 4, maintaining a perfect change success rate of over 99% and zero incidents causing major impact. However, there was an increase in unauthorized changes to less than 1%, which is concerning.</a:t>
            </a:r>
          </a:p>
        </p:txBody>
      </p:sp>
      <p:graphicFrame>
        <p:nvGraphicFramePr>
          <p:cNvPr id="6" name="Table 5"/>
          <p:cNvGraphicFramePr>
            <a:graphicFrameLocks noGrp="1"/>
          </p:cNvGraphicFramePr>
          <p:nvPr/>
        </p:nvGraphicFramePr>
        <p:xfrm>
          <a:off x="0" y="2185416"/>
          <a:ext cx="5943600" cy="1792224"/>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Change Success Ratio</a:t>
                      </a:r>
                    </a:p>
                  </a:txBody>
                  <a:tcPr>
                    <a:solidFill>
                      <a:srgbClr val="FFFFFF"/>
                    </a:solidFill>
                  </a:tcPr>
                </a:tc>
                <a:tc>
                  <a:txBody>
                    <a:bodyPr/>
                    <a:lstStyle/>
                    <a:p>
                      <a:pPr>
                        <a:defRPr sz="700">
                          <a:solidFill>
                            <a:srgbClr val="333333"/>
                          </a:solidFill>
                        </a:defRPr>
                      </a:pPr>
                      <a:r>
                        <a:t>100.0%</a:t>
                      </a:r>
                    </a:p>
                  </a:txBody>
                  <a:tcPr>
                    <a:solidFill>
                      <a:srgbClr val="FFFFFF"/>
                    </a:solidFill>
                  </a:tcPr>
                </a:tc>
                <a:tc>
                  <a:txBody>
                    <a:bodyPr/>
                    <a:lstStyle/>
                    <a:p>
                      <a:pPr>
                        <a:defRPr sz="700">
                          <a:solidFill>
                            <a:srgbClr val="333333"/>
                          </a:solidFill>
                        </a:defRPr>
                      </a:pPr>
                      <a:r>
                        <a:t>&gt;99.0%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Change Causing MI</a:t>
                      </a:r>
                    </a:p>
                  </a:txBody>
                  <a:tcPr>
                    <a:solidFill>
                      <a:srgbClr val="F2F2F2"/>
                    </a:solidFill>
                  </a:tcPr>
                </a:tc>
                <a:tc>
                  <a:txBody>
                    <a:bodyPr/>
                    <a:lstStyle/>
                    <a:p>
                      <a:pPr>
                        <a:defRPr sz="700">
                          <a:solidFill>
                            <a:srgbClr val="333333"/>
                          </a:solidFill>
                        </a:defRPr>
                      </a:pPr>
                      <a:r>
                        <a:t>0</a:t>
                      </a:r>
                    </a:p>
                  </a:txBody>
                  <a:tcPr>
                    <a:solidFill>
                      <a:srgbClr val="F2F2F2"/>
                    </a:solidFill>
                  </a:tcPr>
                </a:tc>
                <a:tc>
                  <a:txBody>
                    <a:bodyPr/>
                    <a:lstStyle/>
                    <a:p>
                      <a:pPr>
                        <a:defRPr sz="700">
                          <a:solidFill>
                            <a:srgbClr val="333333"/>
                          </a:solidFill>
                        </a:defRPr>
                      </a:pPr>
                      <a:r>
                        <a:t>&lt;5.0%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Failed Change Ratio</a:t>
                      </a:r>
                    </a:p>
                  </a:txBody>
                  <a:tcPr>
                    <a:solidFill>
                      <a:srgbClr val="FFFFFF"/>
                    </a:solidFill>
                  </a:tcPr>
                </a:tc>
                <a:tc>
                  <a:txBody>
                    <a:bodyPr/>
                    <a:lstStyle/>
                    <a:p>
                      <a:pPr>
                        <a:defRPr sz="700">
                          <a:solidFill>
                            <a:srgbClr val="333333"/>
                          </a:solidFill>
                        </a:defRPr>
                      </a:pPr>
                      <a:r>
                        <a:t>0.0%</a:t>
                      </a:r>
                    </a:p>
                  </a:txBody>
                  <a:tcPr>
                    <a:solidFill>
                      <a:srgbClr val="FFFFFF"/>
                    </a:solidFill>
                  </a:tcPr>
                </a:tc>
                <a:tc>
                  <a:txBody>
                    <a:bodyPr/>
                    <a:lstStyle/>
                    <a:p>
                      <a:pPr>
                        <a:defRPr sz="700">
                          <a:solidFill>
                            <a:srgbClr val="333333"/>
                          </a:solidFill>
                        </a:defRPr>
                      </a:pPr>
                      <a:r>
                        <a:t>&lt;1.0%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Unauthorised Change rate</a:t>
                      </a:r>
                    </a:p>
                  </a:txBody>
                  <a:tcPr>
                    <a:solidFill>
                      <a:srgbClr val="F2F2F2"/>
                    </a:solidFill>
                  </a:tcPr>
                </a:tc>
                <a:tc>
                  <a:txBody>
                    <a:bodyPr/>
                    <a:lstStyle/>
                    <a:p>
                      <a:pPr>
                        <a:defRPr sz="700">
                          <a:solidFill>
                            <a:srgbClr val="333333"/>
                          </a:solidFill>
                        </a:defRPr>
                      </a:pPr>
                      <a:r>
                        <a:t>0.6%</a:t>
                      </a:r>
                    </a:p>
                  </a:txBody>
                  <a:tcPr>
                    <a:solidFill>
                      <a:srgbClr val="F2F2F2"/>
                    </a:solidFill>
                  </a:tcPr>
                </a:tc>
                <a:tc>
                  <a:txBody>
                    <a:bodyPr/>
                    <a:lstStyle/>
                    <a:p>
                      <a:pPr>
                        <a:defRPr sz="700">
                          <a:solidFill>
                            <a:srgbClr val="333333"/>
                          </a:solidFill>
                        </a:defRPr>
                      </a:pPr>
                      <a:r>
                        <a:t>&lt;1.0%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Total Changes</a:t>
                      </a:r>
                    </a:p>
                  </a:txBody>
                  <a:tcPr>
                    <a:solidFill>
                      <a:srgbClr val="FFFFFF"/>
                    </a:solidFill>
                  </a:tcPr>
                </a:tc>
                <a:tc>
                  <a:txBody>
                    <a:bodyPr/>
                    <a:lstStyle/>
                    <a:p>
                      <a:pPr>
                        <a:defRPr sz="700">
                          <a:solidFill>
                            <a:srgbClr val="333333"/>
                          </a:solidFill>
                        </a:defRPr>
                      </a:pPr>
                      <a:r>
                        <a:t>50</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Emergency Changes</a:t>
                      </a:r>
                    </a:p>
                  </a:txBody>
                  <a:tcPr>
                    <a:solidFill>
                      <a:srgbClr val="F2F2F2"/>
                    </a:solidFill>
                  </a:tcPr>
                </a:tc>
                <a:tc>
                  <a:txBody>
                    <a:bodyPr/>
                    <a:lstStyle/>
                    <a:p>
                      <a:pPr>
                        <a:defRPr sz="700">
                          <a:solidFill>
                            <a:srgbClr val="333333"/>
                          </a:solidFill>
                        </a:defRPr>
                      </a:pPr>
                      <a:r>
                        <a:t>2</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b="1">
                          <a:solidFill>
                            <a:srgbClr val="333333"/>
                          </a:solidFill>
                        </a:defRPr>
                      </a:pPr>
                      <a:r>
                        <a:t>Overall Performance</a:t>
                      </a:r>
                    </a:p>
                  </a:txBody>
                  <a:tcPr>
                    <a:solidFill>
                      <a:srgbClr val="FFFFFF"/>
                    </a:solidFill>
                  </a:tcPr>
                </a:tc>
                <a:tc>
                  <a:txBody>
                    <a:bodyPr/>
                    <a:lstStyle/>
                    <a:p>
                      <a:pPr>
                        <a:defRPr sz="700" b="1">
                          <a:solidFill>
                            <a:srgbClr val="333333"/>
                          </a:solidFill>
                        </a:defRPr>
                      </a:pPr>
                      <a:r>
                        <a:t>GREEN</a:t>
                      </a:r>
                    </a:p>
                  </a:txBody>
                  <a:tcPr>
                    <a:solidFill>
                      <a:srgbClr val="FFFFFF"/>
                    </a:solidFill>
                  </a:tcPr>
                </a:tc>
                <a:tc>
                  <a:txBody>
                    <a:bodyPr/>
                    <a:lstStyle/>
                    <a:p>
                      <a:pPr>
                        <a:defRPr sz="700" b="1">
                          <a:solidFill>
                            <a:srgbClr val="333333"/>
                          </a:solidFill>
                        </a:defRPr>
                      </a:pPr>
                      <a:r>
                        <a:t>—</a:t>
                      </a:r>
                    </a:p>
                  </a:txBody>
                  <a:tcPr>
                    <a:solidFill>
                      <a:srgbClr val="FFFFFF"/>
                    </a:solidFill>
                  </a:tcPr>
                </a:tc>
                <a:tc>
                  <a:txBody>
                    <a:bodyPr/>
                    <a:lstStyle/>
                    <a:p>
                      <a:pPr>
                        <a:defRPr b="1" sz="700">
                          <a:solidFill>
                            <a:srgbClr val="FFFFFF"/>
                          </a:solidFill>
                        </a:defRPr>
                      </a:pPr>
                      <a:r>
                        <a:t>GREEN</a:t>
                      </a:r>
                    </a:p>
                  </a:txBody>
                  <a:tcPr>
                    <a:solidFill>
                      <a:srgbClr val="1E5C2E"/>
                    </a:solidFill>
                  </a:tcPr>
                </a:tc>
              </a:tr>
            </a:tbl>
          </a:graphicData>
        </a:graphic>
      </p:graphicFrame>
      <p:sp>
        <p:nvSpPr>
          <p:cNvPr id="7" name="Rectangle 6"/>
          <p:cNvSpPr/>
          <p:nvPr/>
        </p:nvSpPr>
        <p:spPr>
          <a:xfrm>
            <a:off x="0" y="4050792"/>
            <a:ext cx="5760720" cy="1133856"/>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4123944"/>
            <a:ext cx="5486400" cy="1024128"/>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{'Week No': 'Week 3 and Week 4', 'Total Changes Implemented Without Incident': 90}</a:t>
            </a:r>
          </a:p>
          <a:p>
            <a:pPr>
              <a:defRPr sz="700">
                <a:solidFill>
                  <a:srgbClr val="1E5C2E"/>
                </a:solidFill>
              </a:defRPr>
            </a:pPr>
            <a:r>
              <a:t>✔  {'Emergency Change Response Time': '2 hrs or less'}</a:t>
            </a:r>
          </a:p>
          <a:p>
            <a:pPr>
              <a:defRPr sz="700">
                <a:solidFill>
                  <a:srgbClr val="1E5C2E"/>
                </a:solidFill>
              </a:defRPr>
            </a:pPr>
            <a:r>
              <a:t>✔  {'Unauthorized Changes Detected': '&lt;1%'}</a:t>
            </a:r>
          </a:p>
          <a:p>
            <a:pPr>
              <a:defRPr b="1" sz="750">
                <a:solidFill>
                  <a:srgbClr val="C00000"/>
                </a:solidFill>
              </a:defRPr>
            </a:pPr>
            <a:r>
              <a:t>Actions:</a:t>
            </a:r>
          </a:p>
          <a:p>
            <a:pPr>
              <a:defRPr sz="700">
                <a:solidFill>
                  <a:srgbClr val="333333"/>
                </a:solidFill>
              </a:defRPr>
            </a:pPr>
            <a:r>
              <a:t>→  Implement stricter controls to prevent unauthorized changes.</a:t>
            </a:r>
          </a:p>
          <a:p>
            <a:pPr>
              <a:defRPr sz="700">
                <a:solidFill>
                  <a:srgbClr val="333333"/>
                </a:solidFill>
              </a:defRPr>
            </a:pPr>
            <a:r>
              <a:t>→  Review and possibly tighten the criteria for emergency change approvals.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{'Week No': 'Week 3 and Week 4', 'Total Changes Implemented Without Incident': 90}</a:t>
            </a:r>
          </a:p>
          <a:p>
            <a:pPr>
              <a:defRPr sz="800">
                <a:solidFill>
                  <a:srgbClr val="333333"/>
                </a:solidFill>
              </a:defRPr>
            </a:pPr>
            <a:r>
              <a:t>• {'Emergency Change Response Time': '2 hrs or less'}</a:t>
            </a:r>
          </a:p>
          <a:p>
            <a:pPr>
              <a:defRPr sz="800">
                <a:solidFill>
                  <a:srgbClr val="333333"/>
                </a:solidFill>
              </a:defRPr>
            </a:pPr>
            <a:r>
              <a:t>• {'Unauthorized Changes Detected': '&lt;1%'}</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Total Changes</a:t>
                      </a:r>
                    </a:p>
                  </a:txBody>
                  <a:tcPr>
                    <a:solidFill>
                      <a:srgbClr val="FFFFFF"/>
                    </a:solidFill>
                  </a:tcPr>
                </a:tc>
                <a:tc>
                  <a:txBody>
                    <a:bodyPr wrap="square"/>
                    <a:lstStyle/>
                    <a:p>
                      <a:pPr>
                        <a:defRPr sz="650">
                          <a:solidFill>
                            <a:srgbClr val="333333"/>
                          </a:solidFill>
                        </a:defRPr>
                      </a:pPr>
                      <a:r>
                        <a:t>Total number of change requests raised in the period</a:t>
                      </a:r>
                    </a:p>
                  </a:txBody>
                  <a:tcPr>
                    <a:solidFill>
                      <a:srgbClr val="FFFFFF"/>
                    </a:solidFill>
                  </a:tcPr>
                </a:tc>
                <a:tc>
                  <a:txBody>
                    <a:bodyPr wrap="square"/>
                    <a:lstStyle/>
                    <a:p>
                      <a:pPr>
                        <a:defRPr sz="650">
                          <a:solidFill>
                            <a:srgbClr val="333333"/>
                          </a:solidFill>
                        </a:defRPr>
                      </a:pPr>
                      <a:r>
                        <a:t>Includes standard, normal and emergency change types</a:t>
                      </a:r>
                    </a:p>
                  </a:txBody>
                  <a:tcPr>
                    <a:solidFill>
                      <a:srgbClr val="FFFFFF"/>
                    </a:solidFill>
                  </a:tcPr>
                </a:tc>
              </a:tr>
              <a:tr h="185492">
                <a:tc>
                  <a:txBody>
                    <a:bodyPr wrap="square"/>
                    <a:lstStyle/>
                    <a:p>
                      <a:pPr>
                        <a:defRPr sz="650" b="1">
                          <a:solidFill>
                            <a:srgbClr val="1F3864"/>
                          </a:solidFill>
                        </a:defRPr>
                      </a:pPr>
                      <a:r>
                        <a:t>Emergency Changes</a:t>
                      </a:r>
                    </a:p>
                  </a:txBody>
                  <a:tcPr>
                    <a:solidFill>
                      <a:srgbClr val="E9F0F8"/>
                    </a:solidFill>
                  </a:tcPr>
                </a:tc>
                <a:tc>
                  <a:txBody>
                    <a:bodyPr wrap="square"/>
                    <a:lstStyle/>
                    <a:p>
                      <a:pPr>
                        <a:defRPr sz="650">
                          <a:solidFill>
                            <a:srgbClr val="333333"/>
                          </a:solidFill>
                        </a:defRPr>
                      </a:pPr>
                      <a:r>
                        <a:t>Number of emergency change requests raised</a:t>
                      </a:r>
                    </a:p>
                  </a:txBody>
                  <a:tcPr>
                    <a:solidFill>
                      <a:srgbClr val="E9F0F8"/>
                    </a:solidFill>
                  </a:tcPr>
                </a:tc>
                <a:tc>
                  <a:txBody>
                    <a:bodyPr wrap="square"/>
                    <a:lstStyle/>
                    <a:p>
                      <a:pPr>
                        <a:defRPr sz="650">
                          <a:solidFill>
                            <a:srgbClr val="333333"/>
                          </a:solidFill>
                        </a:defRPr>
                      </a:pPr>
                      <a:r>
                        <a:t>Changes bypassing standard CAB approval due to urgency</a:t>
                      </a:r>
                    </a:p>
                  </a:txBody>
                  <a:tcPr>
                    <a:solidFill>
                      <a:srgbClr val="E9F0F8"/>
                    </a:solidFill>
                  </a:tcPr>
                </a:tc>
              </a:tr>
              <a:tr h="185492">
                <a:tc>
                  <a:txBody>
                    <a:bodyPr wrap="square"/>
                    <a:lstStyle/>
                    <a:p>
                      <a:pPr>
                        <a:defRPr sz="650" b="1">
                          <a:solidFill>
                            <a:srgbClr val="1F3864"/>
                          </a:solidFill>
                        </a:defRPr>
                      </a:pPr>
                      <a:r>
                        <a:t>Change Success Ratio</a:t>
                      </a:r>
                    </a:p>
                  </a:txBody>
                  <a:tcPr>
                    <a:solidFill>
                      <a:srgbClr val="FFFFFF"/>
                    </a:solidFill>
                  </a:tcPr>
                </a:tc>
                <a:tc>
                  <a:txBody>
                    <a:bodyPr wrap="square"/>
                    <a:lstStyle/>
                    <a:p>
                      <a:pPr>
                        <a:defRPr sz="650">
                          <a:solidFill>
                            <a:srgbClr val="333333"/>
                          </a:solidFill>
                        </a:defRPr>
                      </a:pPr>
                      <a:r>
                        <a:t>Percentage of changes implemented successfully without incident</a:t>
                      </a:r>
                    </a:p>
                  </a:txBody>
                  <a:tcPr>
                    <a:solidFill>
                      <a:srgbClr val="FFFFFF"/>
                    </a:solidFill>
                  </a:tcPr>
                </a:tc>
                <a:tc>
                  <a:txBody>
                    <a:bodyPr wrap="square"/>
                    <a:lstStyle/>
                    <a:p>
                      <a:pPr>
                        <a:defRPr sz="650">
                          <a:solidFill>
                            <a:srgbClr val="333333"/>
                          </a:solidFill>
                        </a:defRPr>
                      </a:pPr>
                      <a:r>
                        <a:t>Change passes CAB, executes within planned window, no rollback</a:t>
                      </a:r>
                    </a:p>
                  </a:txBody>
                  <a:tcPr>
                    <a:solidFill>
                      <a:srgbClr val="FFFFFF"/>
                    </a:solidFill>
                  </a:tcPr>
                </a:tc>
              </a:tr>
              <a:tr h="185492">
                <a:tc>
                  <a:txBody>
                    <a:bodyPr wrap="square"/>
                    <a:lstStyle/>
                    <a:p>
                      <a:pPr>
                        <a:defRPr sz="650" b="1">
                          <a:solidFill>
                            <a:srgbClr val="1F3864"/>
                          </a:solidFill>
                        </a:defRPr>
                      </a:pPr>
                      <a:r>
                        <a:t>Change Causing MI</a:t>
                      </a:r>
                    </a:p>
                  </a:txBody>
                  <a:tcPr>
                    <a:solidFill>
                      <a:srgbClr val="E9F0F8"/>
                    </a:solidFill>
                  </a:tcPr>
                </a:tc>
                <a:tc>
                  <a:txBody>
                    <a:bodyPr wrap="square"/>
                    <a:lstStyle/>
                    <a:p>
                      <a:pPr>
                        <a:defRPr sz="650">
                          <a:solidFill>
                            <a:srgbClr val="333333"/>
                          </a:solidFill>
                        </a:defRPr>
                      </a:pPr>
                      <a:r>
                        <a:t>Percentage of changes that caused a Major Incident</a:t>
                      </a:r>
                    </a:p>
                  </a:txBody>
                  <a:tcPr>
                    <a:solidFill>
                      <a:srgbClr val="E9F0F8"/>
                    </a:solidFill>
                  </a:tcPr>
                </a:tc>
                <a:tc>
                  <a:txBody>
                    <a:bodyPr wrap="square"/>
                    <a:lstStyle/>
                    <a:p>
                      <a:pPr>
                        <a:defRPr sz="650">
                          <a:solidFill>
                            <a:srgbClr val="333333"/>
                          </a:solidFill>
                        </a:defRPr>
                      </a:pPr>
                      <a:r>
                        <a:t>Changes that directly triggered a P1 or P2 incident post-implementation</a:t>
                      </a:r>
                    </a:p>
                  </a:txBody>
                  <a:tcPr>
                    <a:solidFill>
                      <a:srgbClr val="E9F0F8"/>
                    </a:solidFill>
                  </a:tcPr>
                </a:tc>
              </a:tr>
              <a:tr h="185492">
                <a:tc>
                  <a:txBody>
                    <a:bodyPr wrap="square"/>
                    <a:lstStyle/>
                    <a:p>
                      <a:pPr>
                        <a:defRPr sz="650" b="1">
                          <a:solidFill>
                            <a:srgbClr val="1F3864"/>
                          </a:solidFill>
                        </a:defRPr>
                      </a:pPr>
                      <a:r>
                        <a:t>Failed Change Ratio</a:t>
                      </a:r>
                    </a:p>
                  </a:txBody>
                  <a:tcPr>
                    <a:solidFill>
                      <a:srgbClr val="FFFFFF"/>
                    </a:solidFill>
                  </a:tcPr>
                </a:tc>
                <a:tc>
                  <a:txBody>
                    <a:bodyPr wrap="square"/>
                    <a:lstStyle/>
                    <a:p>
                      <a:pPr>
                        <a:defRPr sz="650">
                          <a:solidFill>
                            <a:srgbClr val="333333"/>
                          </a:solidFill>
                        </a:defRPr>
                      </a:pPr>
                      <a:r>
                        <a:t>Percentage of changes that failed and required rollback</a:t>
                      </a:r>
                    </a:p>
                  </a:txBody>
                  <a:tcPr>
                    <a:solidFill>
                      <a:srgbClr val="FFFFFF"/>
                    </a:solidFill>
                  </a:tcPr>
                </a:tc>
                <a:tc>
                  <a:txBody>
                    <a:bodyPr wrap="square"/>
                    <a:lstStyle/>
                    <a:p>
                      <a:pPr>
                        <a:defRPr sz="650">
                          <a:solidFill>
                            <a:srgbClr val="333333"/>
                          </a:solidFill>
                        </a:defRPr>
                      </a:pPr>
                      <a:r>
                        <a:t>Changes that could not complete and were rolled back to previous state</a:t>
                      </a:r>
                    </a:p>
                  </a:txBody>
                  <a:tcPr>
                    <a:solidFill>
                      <a:srgbClr val="FFFFFF"/>
                    </a:solidFill>
                  </a:tcPr>
                </a:tc>
              </a:tr>
              <a:tr h="185496">
                <a:tc>
                  <a:txBody>
                    <a:bodyPr wrap="square"/>
                    <a:lstStyle/>
                    <a:p>
                      <a:pPr>
                        <a:defRPr sz="650" b="1">
                          <a:solidFill>
                            <a:srgbClr val="1F3864"/>
                          </a:solidFill>
                        </a:defRPr>
                      </a:pPr>
                      <a:r>
                        <a:t>Unauthorised Change rate</a:t>
                      </a:r>
                    </a:p>
                  </a:txBody>
                  <a:tcPr>
                    <a:solidFill>
                      <a:srgbClr val="E9F0F8"/>
                    </a:solidFill>
                  </a:tcPr>
                </a:tc>
                <a:tc>
                  <a:txBody>
                    <a:bodyPr wrap="square"/>
                    <a:lstStyle/>
                    <a:p>
                      <a:pPr>
                        <a:defRPr sz="650">
                          <a:solidFill>
                            <a:srgbClr val="333333"/>
                          </a:solidFill>
                        </a:defRPr>
                      </a:pPr>
                      <a:r>
                        <a:t>Percentage of changes implemented without proper CAB approval</a:t>
                      </a:r>
                    </a:p>
                  </a:txBody>
                  <a:tcPr>
                    <a:solidFill>
                      <a:srgbClr val="E9F0F8"/>
                    </a:solidFill>
                  </a:tcPr>
                </a:tc>
                <a:tc>
                  <a:txBody>
                    <a:bodyPr wrap="square"/>
                    <a:lstStyle/>
                    <a:p>
                      <a:pPr>
                        <a:defRPr sz="650">
                          <a:solidFill>
                            <a:srgbClr val="333333"/>
                          </a:solidFill>
                        </a:defRPr>
                      </a:pPr>
                      <a:r>
                        <a:t>Emergency changes without timely post-implementation CAB review</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Total Changes</a:t>
                      </a:r>
                    </a:p>
                  </a:txBody>
                  <a:tcPr>
                    <a:solidFill>
                      <a:srgbClr val="2E75B6"/>
                    </a:solidFill>
                  </a:tcPr>
                </a:tc>
                <a:tc>
                  <a:txBody>
                    <a:bodyPr wrap="square"/>
                    <a:lstStyle/>
                    <a:p>
                      <a:pPr algn="ctr">
                        <a:defRPr b="1" sz="650">
                          <a:solidFill>
                            <a:srgbClr val="FFFFFF"/>
                          </a:solidFill>
                        </a:defRPr>
                      </a:pPr>
                      <a:r>
                        <a:t>Emergency Changes</a:t>
                      </a:r>
                    </a:p>
                  </a:txBody>
                  <a:tcPr>
                    <a:solidFill>
                      <a:srgbClr val="2E75B6"/>
                    </a:solidFill>
                  </a:tcPr>
                </a:tc>
                <a:tc>
                  <a:txBody>
                    <a:bodyPr wrap="square"/>
                    <a:lstStyle/>
                    <a:p>
                      <a:pPr algn="ctr">
                        <a:defRPr b="1" sz="650">
                          <a:solidFill>
                            <a:srgbClr val="FFFFFF"/>
                          </a:solidFill>
                        </a:defRPr>
                      </a:pPr>
                      <a:r>
                        <a:t>Change Success Ratio</a:t>
                      </a:r>
                    </a:p>
                  </a:txBody>
                  <a:tcPr>
                    <a:solidFill>
                      <a:srgbClr val="2E75B6"/>
                    </a:solidFill>
                  </a:tcPr>
                </a:tc>
                <a:tc>
                  <a:txBody>
                    <a:bodyPr wrap="square"/>
                    <a:lstStyle/>
                    <a:p>
                      <a:pPr algn="ctr">
                        <a:defRPr b="1" sz="650">
                          <a:solidFill>
                            <a:srgbClr val="FFFFFF"/>
                          </a:solidFill>
                        </a:defRPr>
                      </a:pPr>
                      <a:r>
                        <a:t>Change Causing MI</a:t>
                      </a:r>
                    </a:p>
                  </a:txBody>
                  <a:tcPr>
                    <a:solidFill>
                      <a:srgbClr val="2E75B6"/>
                    </a:solidFill>
                  </a:tcPr>
                </a:tc>
                <a:tc>
                  <a:txBody>
                    <a:bodyPr wrap="square"/>
                    <a:lstStyle/>
                    <a:p>
                      <a:pPr algn="ctr">
                        <a:defRPr b="1" sz="650">
                          <a:solidFill>
                            <a:srgbClr val="FFFFFF"/>
                          </a:solidFill>
                        </a:defRPr>
                      </a:pPr>
                      <a:r>
                        <a:t>Failed Change Ratio</a:t>
                      </a:r>
                    </a:p>
                  </a:txBody>
                  <a:tcPr>
                    <a:solidFill>
                      <a:srgbClr val="2E75B6"/>
                    </a:solidFill>
                  </a:tcPr>
                </a:tc>
                <a:tc>
                  <a:txBody>
                    <a:bodyPr wrap="square"/>
                    <a:lstStyle/>
                    <a:p>
                      <a:pPr algn="ctr">
                        <a:defRPr b="1" sz="650">
                          <a:solidFill>
                            <a:srgbClr val="FFFFFF"/>
                          </a:solidFill>
                        </a:defRPr>
                      </a:pPr>
                      <a:r>
                        <a:t>Unauthorised Change rate</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50</a:t>
                      </a:r>
                    </a:p>
                  </a:txBody>
                  <a:tcPr>
                    <a:solidFill>
                      <a:srgbClr val="F2F2F2"/>
                    </a:solidFill>
                  </a:tcPr>
                </a:tc>
                <a:tc>
                  <a:txBody>
                    <a:bodyPr/>
                    <a:lstStyle/>
                    <a:p>
                      <a:pPr algn="ctr">
                        <a:defRPr sz="800" b="1">
                          <a:solidFill>
                            <a:srgbClr val="333333"/>
                          </a:solidFill>
                        </a:defRPr>
                      </a:pPr>
                      <a:r>
                        <a:t>2</a:t>
                      </a:r>
                    </a:p>
                  </a:txBody>
                  <a:tcPr>
                    <a:solidFill>
                      <a:srgbClr val="F2F2F2"/>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0</a:t>
                      </a:r>
                    </a:p>
                  </a:txBody>
                  <a:tcPr>
                    <a:solidFill>
                      <a:srgbClr val="00B050"/>
                    </a:solidFill>
                  </a:tcPr>
                </a:tc>
                <a:tc>
                  <a:txBody>
                    <a:bodyPr/>
                    <a:lstStyle/>
                    <a:p>
                      <a:pPr algn="ctr">
                        <a:defRPr sz="800" b="1">
                          <a:solidFill>
                            <a:srgbClr val="FFFFFF"/>
                          </a:solidFill>
                        </a:defRPr>
                      </a:pPr>
                      <a:r>
                        <a:t>0</a:t>
                      </a:r>
                    </a:p>
                  </a:txBody>
                  <a:tcPr>
                    <a:solidFill>
                      <a:srgbClr val="00B050"/>
                    </a:solidFill>
                  </a:tcPr>
                </a:tc>
                <a:tc>
                  <a:txBody>
                    <a:bodyPr/>
                    <a:lstStyle/>
                    <a:p>
                      <a:pPr algn="ctr">
                        <a:defRPr sz="800" b="1">
                          <a:solidFill>
                            <a:srgbClr val="FFFFFF"/>
                          </a:solidFill>
                        </a:defRPr>
                      </a:pPr>
                      <a:r>
                        <a:t>1%</a:t>
                      </a:r>
                    </a:p>
                  </a:txBody>
                  <a:tcPr>
                    <a:solidFill>
                      <a:srgbClr val="00B050"/>
                    </a:solidFill>
                  </a:tcPr>
                </a:tc>
              </a:tr>
            </a:tbl>
          </a:graphicData>
        </a:graphic>
      </p:graphicFrame>
      <p:pic>
        <p:nvPicPr>
          <p:cNvPr id="12" name="Picture 11" descr="image.png"/>
          <p:cNvPicPr>
            <a:picLocks noChangeAspect="1"/>
          </p:cNvPicPr>
          <p:nvPr/>
        </p:nvPicPr>
        <p:blipFill>
          <a:blip r:embed="rId5"/>
          <a:stretch>
            <a:fillRect/>
          </a:stretch>
        </p:blipFill>
        <p:spPr>
          <a:xfrm>
            <a:off x="5943600" y="1353312"/>
            <a:ext cx="6245352" cy="1861360"/>
          </a:xfrm>
          <a:prstGeom prst="rect">
            <a:avLst/>
          </a:prstGeom>
        </p:spPr>
      </p:pic>
      <p:pic>
        <p:nvPicPr>
          <p:cNvPr id="13" name="Picture 12" descr="image.png"/>
          <p:cNvPicPr>
            <a:picLocks noChangeAspect="1"/>
          </p:cNvPicPr>
          <p:nvPr/>
        </p:nvPicPr>
        <p:blipFill>
          <a:blip r:embed="rId6"/>
          <a:stretch>
            <a:fillRect/>
          </a:stretch>
        </p:blipFill>
        <p:spPr>
          <a:xfrm>
            <a:off x="5943600" y="3269535"/>
            <a:ext cx="6245352" cy="146519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Problem  |  22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ITSM team successfully closed a total of 16 problems this week, maintaining an average resolution time under five days and addressing recurring issues. Despite resolving most open items from the previous weeks, there is still work to be done on aged problem records.</a:t>
            </a:r>
          </a:p>
        </p:txBody>
      </p:sp>
      <p:graphicFrame>
        <p:nvGraphicFramePr>
          <p:cNvPr id="6" name="Table 5"/>
          <p:cNvGraphicFramePr>
            <a:graphicFrameLocks noGrp="1"/>
          </p:cNvGraphicFramePr>
          <p:nvPr/>
        </p:nvGraphicFramePr>
        <p:xfrm>
          <a:off x="0" y="2185416"/>
          <a:ext cx="5943600" cy="1792224"/>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Avg Resolution Days</a:t>
                      </a:r>
                    </a:p>
                  </a:txBody>
                  <a:tcPr>
                    <a:solidFill>
                      <a:srgbClr val="FFFFFF"/>
                    </a:solidFill>
                  </a:tcPr>
                </a:tc>
                <a:tc>
                  <a:txBody>
                    <a:bodyPr/>
                    <a:lstStyle/>
                    <a:p>
                      <a:pPr>
                        <a:defRPr sz="700">
                          <a:solidFill>
                            <a:srgbClr val="333333"/>
                          </a:solidFill>
                        </a:defRPr>
                      </a:pPr>
                      <a:r>
                        <a:t>4.2%</a:t>
                      </a:r>
                    </a:p>
                  </a:txBody>
                  <a:tcPr>
                    <a:solidFill>
                      <a:srgbClr val="FFFFFF"/>
                    </a:solidFill>
                  </a:tcPr>
                </a:tc>
                <a:tc>
                  <a:txBody>
                    <a:bodyPr/>
                    <a:lstStyle/>
                    <a:p>
                      <a:pPr>
                        <a:defRPr sz="700">
                          <a:solidFill>
                            <a:srgbClr val="333333"/>
                          </a:solidFill>
                        </a:defRPr>
                      </a:pPr>
                      <a:r>
                        <a:t>&lt;5.0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Recurring Issues</a:t>
                      </a:r>
                    </a:p>
                  </a:txBody>
                  <a:tcPr>
                    <a:solidFill>
                      <a:srgbClr val="F2F2F2"/>
                    </a:solidFill>
                  </a:tcPr>
                </a:tc>
                <a:tc>
                  <a:txBody>
                    <a:bodyPr/>
                    <a:lstStyle/>
                    <a:p>
                      <a:pPr>
                        <a:defRPr sz="700">
                          <a:solidFill>
                            <a:srgbClr val="333333"/>
                          </a:solidFill>
                        </a:defRPr>
                      </a:pPr>
                      <a:r>
                        <a:t>2</a:t>
                      </a:r>
                    </a:p>
                  </a:txBody>
                  <a:tcPr>
                    <a:solidFill>
                      <a:srgbClr val="F2F2F2"/>
                    </a:solidFill>
                  </a:tcPr>
                </a:tc>
                <a:tc>
                  <a:txBody>
                    <a:bodyPr/>
                    <a:lstStyle/>
                    <a:p>
                      <a:pPr>
                        <a:defRPr sz="700">
                          <a:solidFill>
                            <a:srgbClr val="333333"/>
                          </a:solidFill>
                        </a:defRPr>
                      </a:pPr>
                      <a:r>
                        <a:t>&lt;3.0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Problems Aged &gt;30 days</a:t>
                      </a:r>
                    </a:p>
                  </a:txBody>
                  <a:tcPr>
                    <a:solidFill>
                      <a:srgbClr val="FFFFFF"/>
                    </a:solidFill>
                  </a:tcPr>
                </a:tc>
                <a:tc>
                  <a:txBody>
                    <a:bodyPr/>
                    <a:lstStyle/>
                    <a:p>
                      <a:pPr>
                        <a:defRPr sz="700">
                          <a:solidFill>
                            <a:srgbClr val="333333"/>
                          </a:solidFill>
                        </a:defRPr>
                      </a:pPr>
                      <a:r>
                        <a:t>2</a:t>
                      </a:r>
                    </a:p>
                  </a:txBody>
                  <a:tcPr>
                    <a:solidFill>
                      <a:srgbClr val="FFFFFF"/>
                    </a:solidFill>
                  </a:tcPr>
                </a:tc>
                <a:tc>
                  <a:txBody>
                    <a:bodyPr/>
                    <a:lstStyle/>
                    <a:p>
                      <a:pPr>
                        <a:defRPr sz="700">
                          <a:solidFill>
                            <a:srgbClr val="333333"/>
                          </a:solidFill>
                        </a:defRPr>
                      </a:pPr>
                      <a:r>
                        <a:t>&lt;5.0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Open Problems</a:t>
                      </a:r>
                    </a:p>
                  </a:txBody>
                  <a:tcPr>
                    <a:solidFill>
                      <a:srgbClr val="F2F2F2"/>
                    </a:solidFill>
                  </a:tcPr>
                </a:tc>
                <a:tc>
                  <a:txBody>
                    <a:bodyPr/>
                    <a:lstStyle/>
                    <a:p>
                      <a:pPr>
                        <a:defRPr sz="700">
                          <a:solidFill>
                            <a:srgbClr val="333333"/>
                          </a:solidFill>
                        </a:defRPr>
                      </a:pPr>
                      <a:r>
                        <a:t>11</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Problems Resolved</a:t>
                      </a:r>
                    </a:p>
                  </a:txBody>
                  <a:tcPr>
                    <a:solidFill>
                      <a:srgbClr val="FFFFFF"/>
                    </a:solidFill>
                  </a:tcPr>
                </a:tc>
                <a:tc>
                  <a:txBody>
                    <a:bodyPr/>
                    <a:lstStyle/>
                    <a:p>
                      <a:pPr>
                        <a:defRPr sz="700">
                          <a:solidFill>
                            <a:srgbClr val="333333"/>
                          </a:solidFill>
                        </a:defRPr>
                      </a:pPr>
                      <a:r>
                        <a:t>8</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New Problems Raised</a:t>
                      </a:r>
                    </a:p>
                  </a:txBody>
                  <a:tcPr>
                    <a:solidFill>
                      <a:srgbClr val="F2F2F2"/>
                    </a:solidFill>
                  </a:tcPr>
                </a:tc>
                <a:tc>
                  <a:txBody>
                    <a:bodyPr/>
                    <a:lstStyle/>
                    <a:p>
                      <a:pPr>
                        <a:defRPr sz="700">
                          <a:solidFill>
                            <a:srgbClr val="333333"/>
                          </a:solidFill>
                        </a:defRPr>
                      </a:pPr>
                      <a:r>
                        <a:t>3</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4050792"/>
            <a:ext cx="5760720" cy="1133856"/>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4123944"/>
            <a:ext cx="5486400" cy="1024128"/>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{'Achievement': 'Closed aged problems.', 'Number Closed': 3}</a:t>
            </a:r>
          </a:p>
          <a:p>
            <a:pPr>
              <a:defRPr sz="700">
                <a:solidFill>
                  <a:srgbClr val="1E5C2E"/>
                </a:solidFill>
              </a:defRPr>
            </a:pPr>
            <a:r>
              <a:t>✔  {'Achievement': 'Submitted Root Cause Analysis (RCA) for P1s', 'Number Submitted': 2}</a:t>
            </a:r>
          </a:p>
          <a:p>
            <a:pPr>
              <a:defRPr b="1" sz="750">
                <a:solidFill>
                  <a:srgbClr val="C00000"/>
                </a:solidFill>
              </a:defRPr>
            </a:pPr>
            <a:r>
              <a:t>Actions:</a:t>
            </a:r>
          </a:p>
          <a:p>
            <a:pPr>
              <a:defRPr sz="700">
                <a:solidFill>
                  <a:srgbClr val="333333"/>
                </a:solidFill>
              </a:defRPr>
            </a:pPr>
            <a:r>
              <a:t>→  Implement additional proactive monitoring to prevent repeat incidents.</a:t>
            </a:r>
          </a:p>
          <a:p>
            <a:pPr>
              <a:defRPr sz="700">
                <a:solidFill>
                  <a:srgbClr val="333333"/>
                </a:solidFill>
              </a:defRPr>
            </a:pPr>
            <a:r>
              <a:t>→  Focus on reducing the average resolution time, particularly for aged problems.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{'Achievement': 'Closed aged problems.', 'Number Closed': 3}</a:t>
            </a:r>
          </a:p>
          <a:p>
            <a:pPr>
              <a:defRPr sz="800">
                <a:solidFill>
                  <a:srgbClr val="333333"/>
                </a:solidFill>
              </a:defRPr>
            </a:pPr>
            <a:r>
              <a:t>• {'Achievement': 'Submitted Root Cause Analysis (RCA) for P1s', 'Number Submitted': 2}</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Open Problems</a:t>
                      </a:r>
                    </a:p>
                  </a:txBody>
                  <a:tcPr>
                    <a:solidFill>
                      <a:srgbClr val="FFFFFF"/>
                    </a:solidFill>
                  </a:tcPr>
                </a:tc>
                <a:tc>
                  <a:txBody>
                    <a:bodyPr wrap="square"/>
                    <a:lstStyle/>
                    <a:p>
                      <a:pPr>
                        <a:defRPr sz="650">
                          <a:solidFill>
                            <a:srgbClr val="333333"/>
                          </a:solidFill>
                        </a:defRPr>
                      </a:pPr>
                      <a:r>
                        <a:t>Total number of open problem records in ServiceNow</a:t>
                      </a:r>
                    </a:p>
                  </a:txBody>
                  <a:tcPr>
                    <a:solidFill>
                      <a:srgbClr val="FFFFFF"/>
                    </a:solidFill>
                  </a:tcPr>
                </a:tc>
                <a:tc>
                  <a:txBody>
                    <a:bodyPr wrap="square"/>
                    <a:lstStyle/>
                    <a:p>
                      <a:pPr>
                        <a:defRPr sz="650">
                          <a:solidFill>
                            <a:srgbClr val="333333"/>
                          </a:solidFill>
                        </a:defRPr>
                      </a:pPr>
                      <a:r>
                        <a:t>All active problem records regardless of priority or age</a:t>
                      </a:r>
                    </a:p>
                  </a:txBody>
                  <a:tcPr>
                    <a:solidFill>
                      <a:srgbClr val="FFFFFF"/>
                    </a:solidFill>
                  </a:tcPr>
                </a:tc>
              </a:tr>
              <a:tr h="185492">
                <a:tc>
                  <a:txBody>
                    <a:bodyPr wrap="square"/>
                    <a:lstStyle/>
                    <a:p>
                      <a:pPr>
                        <a:defRPr sz="650" b="1">
                          <a:solidFill>
                            <a:srgbClr val="1F3864"/>
                          </a:solidFill>
                        </a:defRPr>
                      </a:pPr>
                      <a:r>
                        <a:t>Problems Resolved</a:t>
                      </a:r>
                    </a:p>
                  </a:txBody>
                  <a:tcPr>
                    <a:solidFill>
                      <a:srgbClr val="E9F0F8"/>
                    </a:solidFill>
                  </a:tcPr>
                </a:tc>
                <a:tc>
                  <a:txBody>
                    <a:bodyPr wrap="square"/>
                    <a:lstStyle/>
                    <a:p>
                      <a:pPr>
                        <a:defRPr sz="650">
                          <a:solidFill>
                            <a:srgbClr val="333333"/>
                          </a:solidFill>
                        </a:defRPr>
                      </a:pPr>
                      <a:r>
                        <a:t>Number of problems closed during the reporting period</a:t>
                      </a:r>
                    </a:p>
                  </a:txBody>
                  <a:tcPr>
                    <a:solidFill>
                      <a:srgbClr val="E9F0F8"/>
                    </a:solidFill>
                  </a:tcPr>
                </a:tc>
                <a:tc>
                  <a:txBody>
                    <a:bodyPr wrap="square"/>
                    <a:lstStyle/>
                    <a:p>
                      <a:pPr>
                        <a:defRPr sz="650">
                          <a:solidFill>
                            <a:srgbClr val="333333"/>
                          </a:solidFill>
                        </a:defRPr>
                      </a:pPr>
                      <a:r>
                        <a:t>Problems moved to resolved or closed status this week</a:t>
                      </a:r>
                    </a:p>
                  </a:txBody>
                  <a:tcPr>
                    <a:solidFill>
                      <a:srgbClr val="E9F0F8"/>
                    </a:solidFill>
                  </a:tcPr>
                </a:tc>
              </a:tr>
              <a:tr h="185492">
                <a:tc>
                  <a:txBody>
                    <a:bodyPr wrap="square"/>
                    <a:lstStyle/>
                    <a:p>
                      <a:pPr>
                        <a:defRPr sz="650" b="1">
                          <a:solidFill>
                            <a:srgbClr val="1F3864"/>
                          </a:solidFill>
                        </a:defRPr>
                      </a:pPr>
                      <a:r>
                        <a:t>New Problems Raised</a:t>
                      </a:r>
                    </a:p>
                  </a:txBody>
                  <a:tcPr>
                    <a:solidFill>
                      <a:srgbClr val="FFFFFF"/>
                    </a:solidFill>
                  </a:tcPr>
                </a:tc>
                <a:tc>
                  <a:txBody>
                    <a:bodyPr wrap="square"/>
                    <a:lstStyle/>
                    <a:p>
                      <a:pPr>
                        <a:defRPr sz="650">
                          <a:solidFill>
                            <a:srgbClr val="333333"/>
                          </a:solidFill>
                        </a:defRPr>
                      </a:pPr>
                      <a:r>
                        <a:t>Number of new problem records opened this period</a:t>
                      </a:r>
                    </a:p>
                  </a:txBody>
                  <a:tcPr>
                    <a:solidFill>
                      <a:srgbClr val="FFFFFF"/>
                    </a:solidFill>
                  </a:tcPr>
                </a:tc>
                <a:tc>
                  <a:txBody>
                    <a:bodyPr wrap="square"/>
                    <a:lstStyle/>
                    <a:p>
                      <a:pPr>
                        <a:defRPr sz="650">
                          <a:solidFill>
                            <a:srgbClr val="333333"/>
                          </a:solidFill>
                        </a:defRPr>
                      </a:pPr>
                      <a:r>
                        <a:t>Problems raised from incident trends or proactive analysis</a:t>
                      </a:r>
                    </a:p>
                  </a:txBody>
                  <a:tcPr>
                    <a:solidFill>
                      <a:srgbClr val="FFFFFF"/>
                    </a:solidFill>
                  </a:tcPr>
                </a:tc>
              </a:tr>
              <a:tr h="185492">
                <a:tc>
                  <a:txBody>
                    <a:bodyPr wrap="square"/>
                    <a:lstStyle/>
                    <a:p>
                      <a:pPr>
                        <a:defRPr sz="650" b="1">
                          <a:solidFill>
                            <a:srgbClr val="1F3864"/>
                          </a:solidFill>
                        </a:defRPr>
                      </a:pPr>
                      <a:r>
                        <a:t>Avg Resolution Days</a:t>
                      </a:r>
                    </a:p>
                  </a:txBody>
                  <a:tcPr>
                    <a:solidFill>
                      <a:srgbClr val="E9F0F8"/>
                    </a:solidFill>
                  </a:tcPr>
                </a:tc>
                <a:tc>
                  <a:txBody>
                    <a:bodyPr wrap="square"/>
                    <a:lstStyle/>
                    <a:p>
                      <a:pPr>
                        <a:defRPr sz="650">
                          <a:solidFill>
                            <a:srgbClr val="333333"/>
                          </a:solidFill>
                        </a:defRPr>
                      </a:pPr>
                      <a:r>
                        <a:t>Average calendar days from problem creation to closure</a:t>
                      </a:r>
                    </a:p>
                  </a:txBody>
                  <a:tcPr>
                    <a:solidFill>
                      <a:srgbClr val="E9F0F8"/>
                    </a:solidFill>
                  </a:tcPr>
                </a:tc>
                <a:tc>
                  <a:txBody>
                    <a:bodyPr wrap="square"/>
                    <a:lstStyle/>
                    <a:p>
                      <a:pPr>
                        <a:defRPr sz="650">
                          <a:solidFill>
                            <a:srgbClr val="333333"/>
                          </a:solidFill>
                        </a:defRPr>
                      </a:pPr>
                      <a:r>
                        <a:t>Measured from problem record creation date to closure date</a:t>
                      </a:r>
                    </a:p>
                  </a:txBody>
                  <a:tcPr>
                    <a:solidFill>
                      <a:srgbClr val="E9F0F8"/>
                    </a:solidFill>
                  </a:tcPr>
                </a:tc>
              </a:tr>
              <a:tr h="185492">
                <a:tc>
                  <a:txBody>
                    <a:bodyPr wrap="square"/>
                    <a:lstStyle/>
                    <a:p>
                      <a:pPr>
                        <a:defRPr sz="650" b="1">
                          <a:solidFill>
                            <a:srgbClr val="1F3864"/>
                          </a:solidFill>
                        </a:defRPr>
                      </a:pPr>
                      <a:r>
                        <a:t>Recurring Issues</a:t>
                      </a:r>
                    </a:p>
                  </a:txBody>
                  <a:tcPr>
                    <a:solidFill>
                      <a:srgbClr val="FFFFFF"/>
                    </a:solidFill>
                  </a:tcPr>
                </a:tc>
                <a:tc>
                  <a:txBody>
                    <a:bodyPr wrap="square"/>
                    <a:lstStyle/>
                    <a:p>
                      <a:pPr>
                        <a:defRPr sz="650">
                          <a:solidFill>
                            <a:srgbClr val="333333"/>
                          </a:solidFill>
                        </a:defRPr>
                      </a:pPr>
                      <a:r>
                        <a:t>Number of issues recurring more than once in the period</a:t>
                      </a:r>
                    </a:p>
                  </a:txBody>
                  <a:tcPr>
                    <a:solidFill>
                      <a:srgbClr val="FFFFFF"/>
                    </a:solidFill>
                  </a:tcPr>
                </a:tc>
                <a:tc>
                  <a:txBody>
                    <a:bodyPr wrap="square"/>
                    <a:lstStyle/>
                    <a:p>
                      <a:pPr>
                        <a:defRPr sz="650">
                          <a:solidFill>
                            <a:srgbClr val="333333"/>
                          </a:solidFill>
                        </a:defRPr>
                      </a:pPr>
                      <a:r>
                        <a:t>Incidents with same root cause appearing repeatedly; trend indicator</a:t>
                      </a:r>
                    </a:p>
                  </a:txBody>
                  <a:tcPr>
                    <a:solidFill>
                      <a:srgbClr val="FFFFFF"/>
                    </a:solidFill>
                  </a:tcPr>
                </a:tc>
              </a:tr>
              <a:tr h="185496">
                <a:tc>
                  <a:txBody>
                    <a:bodyPr wrap="square"/>
                    <a:lstStyle/>
                    <a:p>
                      <a:pPr>
                        <a:defRPr sz="650" b="1">
                          <a:solidFill>
                            <a:srgbClr val="1F3864"/>
                          </a:solidFill>
                        </a:defRPr>
                      </a:pPr>
                      <a:r>
                        <a:t>Problems Aged &gt;30 days</a:t>
                      </a:r>
                    </a:p>
                  </a:txBody>
                  <a:tcPr>
                    <a:solidFill>
                      <a:srgbClr val="E9F0F8"/>
                    </a:solidFill>
                  </a:tcPr>
                </a:tc>
                <a:tc>
                  <a:txBody>
                    <a:bodyPr wrap="square"/>
                    <a:lstStyle/>
                    <a:p>
                      <a:pPr>
                        <a:defRPr sz="650">
                          <a:solidFill>
                            <a:srgbClr val="333333"/>
                          </a:solidFill>
                        </a:defRPr>
                      </a:pPr>
                      <a:r>
                        <a:t>Number of open problems older than 30 calendar days</a:t>
                      </a:r>
                    </a:p>
                  </a:txBody>
                  <a:tcPr>
                    <a:solidFill>
                      <a:srgbClr val="E9F0F8"/>
                    </a:solidFill>
                  </a:tcPr>
                </a:tc>
                <a:tc>
                  <a:txBody>
                    <a:bodyPr wrap="square"/>
                    <a:lstStyle/>
                    <a:p>
                      <a:pPr>
                        <a:defRPr sz="650">
                          <a:solidFill>
                            <a:srgbClr val="333333"/>
                          </a:solidFill>
                        </a:defRPr>
                      </a:pPr>
                      <a:r>
                        <a:t>Aged problems requiring escalation and management review</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Open Problems</a:t>
                      </a:r>
                    </a:p>
                  </a:txBody>
                  <a:tcPr>
                    <a:solidFill>
                      <a:srgbClr val="2E75B6"/>
                    </a:solidFill>
                  </a:tcPr>
                </a:tc>
                <a:tc>
                  <a:txBody>
                    <a:bodyPr wrap="square"/>
                    <a:lstStyle/>
                    <a:p>
                      <a:pPr algn="ctr">
                        <a:defRPr b="1" sz="650">
                          <a:solidFill>
                            <a:srgbClr val="FFFFFF"/>
                          </a:solidFill>
                        </a:defRPr>
                      </a:pPr>
                      <a:r>
                        <a:t>Problems Resolved</a:t>
                      </a:r>
                    </a:p>
                  </a:txBody>
                  <a:tcPr>
                    <a:solidFill>
                      <a:srgbClr val="2E75B6"/>
                    </a:solidFill>
                  </a:tcPr>
                </a:tc>
                <a:tc>
                  <a:txBody>
                    <a:bodyPr wrap="square"/>
                    <a:lstStyle/>
                    <a:p>
                      <a:pPr algn="ctr">
                        <a:defRPr b="1" sz="650">
                          <a:solidFill>
                            <a:srgbClr val="FFFFFF"/>
                          </a:solidFill>
                        </a:defRPr>
                      </a:pPr>
                      <a:r>
                        <a:t>New Problems Raised</a:t>
                      </a:r>
                    </a:p>
                  </a:txBody>
                  <a:tcPr>
                    <a:solidFill>
                      <a:srgbClr val="2E75B6"/>
                    </a:solidFill>
                  </a:tcPr>
                </a:tc>
                <a:tc>
                  <a:txBody>
                    <a:bodyPr wrap="square"/>
                    <a:lstStyle/>
                    <a:p>
                      <a:pPr algn="ctr">
                        <a:defRPr b="1" sz="650">
                          <a:solidFill>
                            <a:srgbClr val="FFFFFF"/>
                          </a:solidFill>
                        </a:defRPr>
                      </a:pPr>
                      <a:r>
                        <a:t>Avg Resolution Days</a:t>
                      </a:r>
                    </a:p>
                  </a:txBody>
                  <a:tcPr>
                    <a:solidFill>
                      <a:srgbClr val="2E75B6"/>
                    </a:solidFill>
                  </a:tcPr>
                </a:tc>
                <a:tc>
                  <a:txBody>
                    <a:bodyPr wrap="square"/>
                    <a:lstStyle/>
                    <a:p>
                      <a:pPr algn="ctr">
                        <a:defRPr b="1" sz="650">
                          <a:solidFill>
                            <a:srgbClr val="FFFFFF"/>
                          </a:solidFill>
                        </a:defRPr>
                      </a:pPr>
                      <a:r>
                        <a:t>Recurring Issues</a:t>
                      </a:r>
                    </a:p>
                  </a:txBody>
                  <a:tcPr>
                    <a:solidFill>
                      <a:srgbClr val="2E75B6"/>
                    </a:solidFill>
                  </a:tcPr>
                </a:tc>
                <a:tc>
                  <a:txBody>
                    <a:bodyPr wrap="square"/>
                    <a:lstStyle/>
                    <a:p>
                      <a:pPr algn="ctr">
                        <a:defRPr b="1" sz="650">
                          <a:solidFill>
                            <a:srgbClr val="FFFFFF"/>
                          </a:solidFill>
                        </a:defRPr>
                      </a:pPr>
                      <a:r>
                        <a:t>Problems Aged &gt;30 days</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11</a:t>
                      </a:r>
                    </a:p>
                  </a:txBody>
                  <a:tcPr>
                    <a:solidFill>
                      <a:srgbClr val="F2F2F2"/>
                    </a:solidFill>
                  </a:tcPr>
                </a:tc>
                <a:tc>
                  <a:txBody>
                    <a:bodyPr/>
                    <a:lstStyle/>
                    <a:p>
                      <a:pPr algn="ctr">
                        <a:defRPr sz="800" b="1">
                          <a:solidFill>
                            <a:srgbClr val="333333"/>
                          </a:solidFill>
                        </a:defRPr>
                      </a:pPr>
                      <a:r>
                        <a:t>8</a:t>
                      </a:r>
                    </a:p>
                  </a:txBody>
                  <a:tcPr>
                    <a:solidFill>
                      <a:srgbClr val="F2F2F2"/>
                    </a:solidFill>
                  </a:tcPr>
                </a:tc>
                <a:tc>
                  <a:txBody>
                    <a:bodyPr/>
                    <a:lstStyle/>
                    <a:p>
                      <a:pPr algn="ctr">
                        <a:defRPr sz="800" b="1">
                          <a:solidFill>
                            <a:srgbClr val="333333"/>
                          </a:solidFill>
                        </a:defRPr>
                      </a:pPr>
                      <a:r>
                        <a:t>3</a:t>
                      </a:r>
                    </a:p>
                  </a:txBody>
                  <a:tcPr>
                    <a:solidFill>
                      <a:srgbClr val="F2F2F2"/>
                    </a:solidFill>
                  </a:tcPr>
                </a:tc>
                <a:tc>
                  <a:txBody>
                    <a:bodyPr/>
                    <a:lstStyle/>
                    <a:p>
                      <a:pPr algn="ctr">
                        <a:defRPr sz="800" b="1">
                          <a:solidFill>
                            <a:srgbClr val="FFFFFF"/>
                          </a:solidFill>
                        </a:defRPr>
                      </a:pPr>
                      <a:r>
                        <a:t>4.2</a:t>
                      </a:r>
                    </a:p>
                  </a:txBody>
                  <a:tcPr>
                    <a:solidFill>
                      <a:srgbClr val="00B050"/>
                    </a:solidFill>
                  </a:tcPr>
                </a:tc>
                <a:tc>
                  <a:txBody>
                    <a:bodyPr/>
                    <a:lstStyle/>
                    <a:p>
                      <a:pPr algn="ctr">
                        <a:defRPr sz="800" b="1">
                          <a:solidFill>
                            <a:srgbClr val="FFFFFF"/>
                          </a:solidFill>
                        </a:defRPr>
                      </a:pPr>
                      <a:r>
                        <a:t>2</a:t>
                      </a:r>
                    </a:p>
                  </a:txBody>
                  <a:tcPr>
                    <a:solidFill>
                      <a:srgbClr val="00B050"/>
                    </a:solidFill>
                  </a:tcPr>
                </a:tc>
                <a:tc>
                  <a:txBody>
                    <a:bodyPr/>
                    <a:lstStyle/>
                    <a:p>
                      <a:pPr algn="ctr">
                        <a:defRPr sz="800" b="1">
                          <a:solidFill>
                            <a:srgbClr val="FFFFFF"/>
                          </a:solidFill>
                        </a:defRPr>
                      </a:pPr>
                      <a:r>
                        <a:t>2</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292142"/>
          </a:xfrm>
          <a:prstGeom prst="rect">
            <a:avLst/>
          </a:prstGeom>
        </p:spPr>
      </p:pic>
      <p:pic>
        <p:nvPicPr>
          <p:cNvPr id="13" name="Picture 12" descr="image.png"/>
          <p:cNvPicPr>
            <a:picLocks noChangeAspect="1"/>
          </p:cNvPicPr>
          <p:nvPr/>
        </p:nvPicPr>
        <p:blipFill>
          <a:blip r:embed="rId3"/>
          <a:stretch>
            <a:fillRect/>
          </a:stretch>
        </p:blipFill>
        <p:spPr>
          <a:xfrm>
            <a:off x="5943600" y="2700317"/>
            <a:ext cx="6245352" cy="1292142"/>
          </a:xfrm>
          <a:prstGeom prst="rect">
            <a:avLst/>
          </a:prstGeom>
        </p:spPr>
      </p:pic>
      <p:pic>
        <p:nvPicPr>
          <p:cNvPr id="14" name="Picture 13" descr="image.png"/>
          <p:cNvPicPr>
            <a:picLocks noChangeAspect="1"/>
          </p:cNvPicPr>
          <p:nvPr/>
        </p:nvPicPr>
        <p:blipFill>
          <a:blip r:embed="rId4"/>
          <a:stretch>
            <a:fillRect/>
          </a:stretch>
        </p:blipFill>
        <p:spPr>
          <a:xfrm>
            <a:off x="5943600" y="4047323"/>
            <a:ext cx="6245352" cy="129214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CMDB  |  22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CMDB team has 4 data record(s) in the current reporting window. Performance highlights indicate Audit Compliance (&gt;98%): 99.2%, CI Accuracy (&gt;95%): 97.7%. Potential risk areas include CI Accuracy (&gt;95%): 97.7%, Audit Compliance (&gt;98%): 99.2%.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85416"/>
          <a:ext cx="5943600" cy="1572768"/>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CI Accuracy</a:t>
                      </a:r>
                    </a:p>
                  </a:txBody>
                  <a:tcPr>
                    <a:solidFill>
                      <a:srgbClr val="FFFFFF"/>
                    </a:solidFill>
                  </a:tcPr>
                </a:tc>
                <a:tc>
                  <a:txBody>
                    <a:bodyPr/>
                    <a:lstStyle/>
                    <a:p>
                      <a:pPr>
                        <a:defRPr sz="700">
                          <a:solidFill>
                            <a:srgbClr val="333333"/>
                          </a:solidFill>
                        </a:defRPr>
                      </a:pPr>
                      <a:r>
                        <a:t>97.7%</a:t>
                      </a:r>
                    </a:p>
                  </a:txBody>
                  <a:tcPr>
                    <a:solidFill>
                      <a:srgbClr val="FFFFFF"/>
                    </a:solidFill>
                  </a:tcPr>
                </a:tc>
                <a:tc>
                  <a:txBody>
                    <a:bodyPr/>
                    <a:lstStyle/>
                    <a:p>
                      <a:pPr>
                        <a:defRPr sz="700">
                          <a:solidFill>
                            <a:srgbClr val="333333"/>
                          </a:solidFill>
                        </a:defRPr>
                      </a:pPr>
                      <a:r>
                        <a:t>&gt;95.0%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Orphan CIs</a:t>
                      </a:r>
                    </a:p>
                  </a:txBody>
                  <a:tcPr>
                    <a:solidFill>
                      <a:srgbClr val="F2F2F2"/>
                    </a:solidFill>
                  </a:tcPr>
                </a:tc>
                <a:tc>
                  <a:txBody>
                    <a:bodyPr/>
                    <a:lstStyle/>
                    <a:p>
                      <a:pPr>
                        <a:defRPr sz="700">
                          <a:solidFill>
                            <a:srgbClr val="333333"/>
                          </a:solidFill>
                        </a:defRPr>
                      </a:pPr>
                      <a:r>
                        <a:t>7</a:t>
                      </a:r>
                    </a:p>
                  </a:txBody>
                  <a:tcPr>
                    <a:solidFill>
                      <a:srgbClr val="F2F2F2"/>
                    </a:solidFill>
                  </a:tcPr>
                </a:tc>
                <a:tc>
                  <a:txBody>
                    <a:bodyPr/>
                    <a:lstStyle/>
                    <a:p>
                      <a:pPr>
                        <a:defRPr sz="700">
                          <a:solidFill>
                            <a:srgbClr val="333333"/>
                          </a:solidFill>
                        </a:defRPr>
                      </a:pPr>
                      <a:r>
                        <a:t>&lt;10.0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Stale Records</a:t>
                      </a:r>
                    </a:p>
                  </a:txBody>
                  <a:tcPr>
                    <a:solidFill>
                      <a:srgbClr val="FFFFFF"/>
                    </a:solidFill>
                  </a:tcPr>
                </a:tc>
                <a:tc>
                  <a:txBody>
                    <a:bodyPr/>
                    <a:lstStyle/>
                    <a:p>
                      <a:pPr>
                        <a:defRPr sz="700">
                          <a:solidFill>
                            <a:srgbClr val="333333"/>
                          </a:solidFill>
                        </a:defRPr>
                      </a:pPr>
                      <a:r>
                        <a:t>12</a:t>
                      </a:r>
                    </a:p>
                  </a:txBody>
                  <a:tcPr>
                    <a:solidFill>
                      <a:srgbClr val="FFFFFF"/>
                    </a:solidFill>
                  </a:tcPr>
                </a:tc>
                <a:tc>
                  <a:txBody>
                    <a:bodyPr/>
                    <a:lstStyle/>
                    <a:p>
                      <a:pPr>
                        <a:defRPr sz="700">
                          <a:solidFill>
                            <a:srgbClr val="333333"/>
                          </a:solidFill>
                        </a:defRPr>
                      </a:pPr>
                      <a:r>
                        <a:t>&lt;20.0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Audit Compliance</a:t>
                      </a:r>
                    </a:p>
                  </a:txBody>
                  <a:tcPr>
                    <a:solidFill>
                      <a:srgbClr val="F2F2F2"/>
                    </a:solidFill>
                  </a:tcPr>
                </a:tc>
                <a:tc>
                  <a:txBody>
                    <a:bodyPr/>
                    <a:lstStyle/>
                    <a:p>
                      <a:pPr>
                        <a:defRPr sz="700">
                          <a:solidFill>
                            <a:srgbClr val="333333"/>
                          </a:solidFill>
                        </a:defRPr>
                      </a:pPr>
                      <a:r>
                        <a:t>99.2%</a:t>
                      </a:r>
                    </a:p>
                  </a:txBody>
                  <a:tcPr>
                    <a:solidFill>
                      <a:srgbClr val="F2F2F2"/>
                    </a:solidFill>
                  </a:tcPr>
                </a:tc>
                <a:tc>
                  <a:txBody>
                    <a:bodyPr/>
                    <a:lstStyle/>
                    <a:p>
                      <a:pPr>
                        <a:defRPr sz="700">
                          <a:solidFill>
                            <a:srgbClr val="333333"/>
                          </a:solidFill>
                        </a:defRPr>
                      </a:pPr>
                      <a:r>
                        <a:t>&gt;98.0%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Total CIs</a:t>
                      </a:r>
                    </a:p>
                  </a:txBody>
                  <a:tcPr>
                    <a:solidFill>
                      <a:srgbClr val="FFFFFF"/>
                    </a:solidFill>
                  </a:tcPr>
                </a:tc>
                <a:tc>
                  <a:txBody>
                    <a:bodyPr/>
                    <a:lstStyle/>
                    <a:p>
                      <a:pPr>
                        <a:defRPr sz="700">
                          <a:solidFill>
                            <a:srgbClr val="333333"/>
                          </a:solidFill>
                        </a:defRPr>
                      </a:pPr>
                      <a:r>
                        <a:t>12524</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2F2F2"/>
                    </a:solidFill>
                  </a:tcPr>
                </a:tc>
                <a:tc>
                  <a:txBody>
                    <a:bodyPr/>
                    <a:lstStyle/>
                    <a:p>
                      <a:pPr>
                        <a:defRPr sz="700">
                          <a:solidFill>
                            <a:srgbClr val="333333"/>
                          </a:solidFill>
                        </a:defRPr>
                      </a:pPr>
                      <a:r>
                        <a:t>AMBER</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3831336"/>
            <a:ext cx="5760720" cy="1353312"/>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3904488"/>
            <a:ext cx="5486400" cy="1243584"/>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CMDB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CMDB data was processed successfully.</a:t>
            </a:r>
          </a:p>
          <a:p>
            <a:pPr>
              <a:defRPr sz="800">
                <a:solidFill>
                  <a:srgbClr val="333333"/>
                </a:solidFill>
              </a:defRPr>
            </a:pPr>
            <a:r>
              <a:t>• Automated KPI snapshot generated for this period.</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Total CIs</a:t>
                      </a:r>
                    </a:p>
                  </a:txBody>
                  <a:tcPr>
                    <a:solidFill>
                      <a:srgbClr val="FFFFFF"/>
                    </a:solidFill>
                  </a:tcPr>
                </a:tc>
                <a:tc>
                  <a:txBody>
                    <a:bodyPr wrap="square"/>
                    <a:lstStyle/>
                    <a:p>
                      <a:pPr>
                        <a:defRPr sz="650">
                          <a:solidFill>
                            <a:srgbClr val="333333"/>
                          </a:solidFill>
                        </a:defRPr>
                      </a:pPr>
                      <a:r>
                        <a:t>Total number of Configuration Items in ServiceNow CMDB</a:t>
                      </a:r>
                    </a:p>
                  </a:txBody>
                  <a:tcPr>
                    <a:solidFill>
                      <a:srgbClr val="FFFFFF"/>
                    </a:solidFill>
                  </a:tcPr>
                </a:tc>
                <a:tc>
                  <a:txBody>
                    <a:bodyPr wrap="square"/>
                    <a:lstStyle/>
                    <a:p>
                      <a:pPr>
                        <a:defRPr sz="650">
                          <a:solidFill>
                            <a:srgbClr val="333333"/>
                          </a:solidFill>
                        </a:defRPr>
                      </a:pPr>
                      <a:r>
                        <a:t>All active CI records across all classes and environments</a:t>
                      </a:r>
                    </a:p>
                  </a:txBody>
                  <a:tcPr>
                    <a:solidFill>
                      <a:srgbClr val="FFFFFF"/>
                    </a:solidFill>
                  </a:tcPr>
                </a:tc>
              </a:tr>
              <a:tr h="185492">
                <a:tc>
                  <a:txBody>
                    <a:bodyPr wrap="square"/>
                    <a:lstStyle/>
                    <a:p>
                      <a:pPr>
                        <a:defRPr sz="650" b="1">
                          <a:solidFill>
                            <a:srgbClr val="1F3864"/>
                          </a:solidFill>
                        </a:defRPr>
                      </a:pPr>
                      <a:r>
                        <a:t>CIs Verified This Week</a:t>
                      </a:r>
                    </a:p>
                  </a:txBody>
                  <a:tcPr>
                    <a:solidFill>
                      <a:srgbClr val="E9F0F8"/>
                    </a:solidFill>
                  </a:tcPr>
                </a:tc>
                <a:tc>
                  <a:txBody>
                    <a:bodyPr wrap="square"/>
                    <a:lstStyle/>
                    <a:p>
                      <a:pPr>
                        <a:defRPr sz="650">
                          <a:solidFill>
                            <a:srgbClr val="333333"/>
                          </a:solidFill>
                        </a:defRPr>
                      </a:pPr>
                      <a:r>
                        <a:t>Number of CIs verified and validated during the reporting period</a:t>
                      </a:r>
                    </a:p>
                  </a:txBody>
                  <a:tcPr>
                    <a:solidFill>
                      <a:srgbClr val="E9F0F8"/>
                    </a:solidFill>
                  </a:tcPr>
                </a:tc>
                <a:tc>
                  <a:txBody>
                    <a:bodyPr wrap="square"/>
                    <a:lstStyle/>
                    <a:p>
                      <a:pPr>
                        <a:defRPr sz="650">
                          <a:solidFill>
                            <a:srgbClr val="333333"/>
                          </a:solidFill>
                        </a:defRPr>
                      </a:pPr>
                      <a:r>
                        <a:t>CIs reviewed by CI owners and confirmed as accurate</a:t>
                      </a:r>
                    </a:p>
                  </a:txBody>
                  <a:tcPr>
                    <a:solidFill>
                      <a:srgbClr val="E9F0F8"/>
                    </a:solidFill>
                  </a:tcPr>
                </a:tc>
              </a:tr>
              <a:tr h="185492">
                <a:tc>
                  <a:txBody>
                    <a:bodyPr wrap="square"/>
                    <a:lstStyle/>
                    <a:p>
                      <a:pPr>
                        <a:defRPr sz="650" b="1">
                          <a:solidFill>
                            <a:srgbClr val="1F3864"/>
                          </a:solidFill>
                        </a:defRPr>
                      </a:pPr>
                      <a:r>
                        <a:t>CI Accuracy</a:t>
                      </a:r>
                    </a:p>
                  </a:txBody>
                  <a:tcPr>
                    <a:solidFill>
                      <a:srgbClr val="FFFFFF"/>
                    </a:solidFill>
                  </a:tcPr>
                </a:tc>
                <a:tc>
                  <a:txBody>
                    <a:bodyPr wrap="square"/>
                    <a:lstStyle/>
                    <a:p>
                      <a:pPr>
                        <a:defRPr sz="650">
                          <a:solidFill>
                            <a:srgbClr val="333333"/>
                          </a:solidFill>
                        </a:defRPr>
                      </a:pPr>
                      <a:r>
                        <a:t>Percentage of CIs with accurate and up-to-date attribute data</a:t>
                      </a:r>
                    </a:p>
                  </a:txBody>
                  <a:tcPr>
                    <a:solidFill>
                      <a:srgbClr val="FFFFFF"/>
                    </a:solidFill>
                  </a:tcPr>
                </a:tc>
                <a:tc>
                  <a:txBody>
                    <a:bodyPr wrap="square"/>
                    <a:lstStyle/>
                    <a:p>
                      <a:pPr>
                        <a:defRPr sz="650">
                          <a:solidFill>
                            <a:srgbClr val="333333"/>
                          </a:solidFill>
                        </a:defRPr>
                      </a:pPr>
                      <a:r>
                        <a:t>Verified through quarterly CMDB audit and weekly spot checks</a:t>
                      </a:r>
                    </a:p>
                  </a:txBody>
                  <a:tcPr>
                    <a:solidFill>
                      <a:srgbClr val="FFFFFF"/>
                    </a:solidFill>
                  </a:tcPr>
                </a:tc>
              </a:tr>
              <a:tr h="185492">
                <a:tc>
                  <a:txBody>
                    <a:bodyPr wrap="square"/>
                    <a:lstStyle/>
                    <a:p>
                      <a:pPr>
                        <a:defRPr sz="650" b="1">
                          <a:solidFill>
                            <a:srgbClr val="1F3864"/>
                          </a:solidFill>
                        </a:defRPr>
                      </a:pPr>
                      <a:r>
                        <a:t>Orphan CIs</a:t>
                      </a:r>
                    </a:p>
                  </a:txBody>
                  <a:tcPr>
                    <a:solidFill>
                      <a:srgbClr val="E9F0F8"/>
                    </a:solidFill>
                  </a:tcPr>
                </a:tc>
                <a:tc>
                  <a:txBody>
                    <a:bodyPr wrap="square"/>
                    <a:lstStyle/>
                    <a:p>
                      <a:pPr>
                        <a:defRPr sz="650">
                          <a:solidFill>
                            <a:srgbClr val="333333"/>
                          </a:solidFill>
                        </a:defRPr>
                      </a:pPr>
                      <a:r>
                        <a:t>Number of CIs with no parent relationship or service linkage</a:t>
                      </a:r>
                    </a:p>
                  </a:txBody>
                  <a:tcPr>
                    <a:solidFill>
                      <a:srgbClr val="E9F0F8"/>
                    </a:solidFill>
                  </a:tcPr>
                </a:tc>
                <a:tc>
                  <a:txBody>
                    <a:bodyPr wrap="square"/>
                    <a:lstStyle/>
                    <a:p>
                      <a:pPr>
                        <a:defRPr sz="650">
                          <a:solidFill>
                            <a:srgbClr val="333333"/>
                          </a:solidFill>
                        </a:defRPr>
                      </a:pPr>
                      <a:r>
                        <a:t>CIs not linked to any business service or application in CMDB</a:t>
                      </a:r>
                    </a:p>
                  </a:txBody>
                  <a:tcPr>
                    <a:solidFill>
                      <a:srgbClr val="E9F0F8"/>
                    </a:solidFill>
                  </a:tcPr>
                </a:tc>
              </a:tr>
              <a:tr h="185492">
                <a:tc>
                  <a:txBody>
                    <a:bodyPr wrap="square"/>
                    <a:lstStyle/>
                    <a:p>
                      <a:pPr>
                        <a:defRPr sz="650" b="1">
                          <a:solidFill>
                            <a:srgbClr val="1F3864"/>
                          </a:solidFill>
                        </a:defRPr>
                      </a:pPr>
                      <a:r>
                        <a:t>Stale Records</a:t>
                      </a:r>
                    </a:p>
                  </a:txBody>
                  <a:tcPr>
                    <a:solidFill>
                      <a:srgbClr val="FFFFFF"/>
                    </a:solidFill>
                  </a:tcPr>
                </a:tc>
                <a:tc>
                  <a:txBody>
                    <a:bodyPr wrap="square"/>
                    <a:lstStyle/>
                    <a:p>
                      <a:pPr>
                        <a:defRPr sz="650">
                          <a:solidFill>
                            <a:srgbClr val="333333"/>
                          </a:solidFill>
                        </a:defRPr>
                      </a:pPr>
                      <a:r>
                        <a:t>Number of CI records not updated or validated in over 30 days</a:t>
                      </a:r>
                    </a:p>
                  </a:txBody>
                  <a:tcPr>
                    <a:solidFill>
                      <a:srgbClr val="FFFFFF"/>
                    </a:solidFill>
                  </a:tcPr>
                </a:tc>
                <a:tc>
                  <a:txBody>
                    <a:bodyPr wrap="square"/>
                    <a:lstStyle/>
                    <a:p>
                      <a:pPr>
                        <a:defRPr sz="650">
                          <a:solidFill>
                            <a:srgbClr val="333333"/>
                          </a:solidFill>
                        </a:defRPr>
                      </a:pPr>
                      <a:r>
                        <a:t>Records requiring review and revalidation by CI owners</a:t>
                      </a:r>
                    </a:p>
                  </a:txBody>
                  <a:tcPr>
                    <a:solidFill>
                      <a:srgbClr val="FFFFFF"/>
                    </a:solidFill>
                  </a:tcPr>
                </a:tc>
              </a:tr>
              <a:tr h="185496">
                <a:tc>
                  <a:txBody>
                    <a:bodyPr wrap="square"/>
                    <a:lstStyle/>
                    <a:p>
                      <a:pPr>
                        <a:defRPr sz="650" b="1">
                          <a:solidFill>
                            <a:srgbClr val="1F3864"/>
                          </a:solidFill>
                        </a:defRPr>
                      </a:pPr>
                      <a:r>
                        <a:t>Audit Compliance</a:t>
                      </a:r>
                    </a:p>
                  </a:txBody>
                  <a:tcPr>
                    <a:solidFill>
                      <a:srgbClr val="E9F0F8"/>
                    </a:solidFill>
                  </a:tcPr>
                </a:tc>
                <a:tc>
                  <a:txBody>
                    <a:bodyPr wrap="square"/>
                    <a:lstStyle/>
                    <a:p>
                      <a:pPr>
                        <a:defRPr sz="650">
                          <a:solidFill>
                            <a:srgbClr val="333333"/>
                          </a:solidFill>
                        </a:defRPr>
                      </a:pPr>
                      <a:r>
                        <a:t>Percentage compliance score from monthly CMDB audit</a:t>
                      </a:r>
                    </a:p>
                  </a:txBody>
                  <a:tcPr>
                    <a:solidFill>
                      <a:srgbClr val="E9F0F8"/>
                    </a:solidFill>
                  </a:tcPr>
                </a:tc>
                <a:tc>
                  <a:txBody>
                    <a:bodyPr wrap="square"/>
                    <a:lstStyle/>
                    <a:p>
                      <a:pPr>
                        <a:defRPr sz="650">
                          <a:solidFill>
                            <a:srgbClr val="333333"/>
                          </a:solidFill>
                        </a:defRPr>
                      </a:pPr>
                      <a:r>
                        <a:t>Based on audit checklist covering completeness and accuracy</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Total CIs</a:t>
                      </a:r>
                    </a:p>
                  </a:txBody>
                  <a:tcPr>
                    <a:solidFill>
                      <a:srgbClr val="2E75B6"/>
                    </a:solidFill>
                  </a:tcPr>
                </a:tc>
                <a:tc>
                  <a:txBody>
                    <a:bodyPr wrap="square"/>
                    <a:lstStyle/>
                    <a:p>
                      <a:pPr algn="ctr">
                        <a:defRPr b="1" sz="650">
                          <a:solidFill>
                            <a:srgbClr val="FFFFFF"/>
                          </a:solidFill>
                        </a:defRPr>
                      </a:pPr>
                      <a:r>
                        <a:t>CIs Verified This Week</a:t>
                      </a:r>
                    </a:p>
                  </a:txBody>
                  <a:tcPr>
                    <a:solidFill>
                      <a:srgbClr val="2E75B6"/>
                    </a:solidFill>
                  </a:tcPr>
                </a:tc>
                <a:tc>
                  <a:txBody>
                    <a:bodyPr wrap="square"/>
                    <a:lstStyle/>
                    <a:p>
                      <a:pPr algn="ctr">
                        <a:defRPr b="1" sz="650">
                          <a:solidFill>
                            <a:srgbClr val="FFFFFF"/>
                          </a:solidFill>
                        </a:defRPr>
                      </a:pPr>
                      <a:r>
                        <a:t>CI Accuracy</a:t>
                      </a:r>
                    </a:p>
                  </a:txBody>
                  <a:tcPr>
                    <a:solidFill>
                      <a:srgbClr val="2E75B6"/>
                    </a:solidFill>
                  </a:tcPr>
                </a:tc>
                <a:tc>
                  <a:txBody>
                    <a:bodyPr wrap="square"/>
                    <a:lstStyle/>
                    <a:p>
                      <a:pPr algn="ctr">
                        <a:defRPr b="1" sz="650">
                          <a:solidFill>
                            <a:srgbClr val="FFFFFF"/>
                          </a:solidFill>
                        </a:defRPr>
                      </a:pPr>
                      <a:r>
                        <a:t>Orphan CIs</a:t>
                      </a:r>
                    </a:p>
                  </a:txBody>
                  <a:tcPr>
                    <a:solidFill>
                      <a:srgbClr val="2E75B6"/>
                    </a:solidFill>
                  </a:tcPr>
                </a:tc>
                <a:tc>
                  <a:txBody>
                    <a:bodyPr wrap="square"/>
                    <a:lstStyle/>
                    <a:p>
                      <a:pPr algn="ctr">
                        <a:defRPr b="1" sz="650">
                          <a:solidFill>
                            <a:srgbClr val="FFFFFF"/>
                          </a:solidFill>
                        </a:defRPr>
                      </a:pPr>
                      <a:r>
                        <a:t>Stale Records</a:t>
                      </a:r>
                    </a:p>
                  </a:txBody>
                  <a:tcPr>
                    <a:solidFill>
                      <a:srgbClr val="2E75B6"/>
                    </a:solidFill>
                  </a:tcPr>
                </a:tc>
                <a:tc>
                  <a:txBody>
                    <a:bodyPr wrap="square"/>
                    <a:lstStyle/>
                    <a:p>
                      <a:pPr algn="ctr">
                        <a:defRPr b="1" sz="650">
                          <a:solidFill>
                            <a:srgbClr val="FFFFFF"/>
                          </a:solidFill>
                        </a:defRPr>
                      </a:pPr>
                      <a:r>
                        <a:t>Audit Compliance</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12524</a:t>
                      </a:r>
                    </a:p>
                  </a:txBody>
                  <a:tcPr>
                    <a:solidFill>
                      <a:srgbClr val="F2F2F2"/>
                    </a:solidFill>
                  </a:tcPr>
                </a:tc>
                <a:tc>
                  <a:txBody>
                    <a:bodyPr/>
                    <a:lstStyle/>
                    <a:p>
                      <a:pPr algn="ctr">
                        <a:defRPr sz="800" b="1">
                          <a:solidFill>
                            <a:srgbClr val="333333"/>
                          </a:solidFill>
                        </a:defRPr>
                      </a:pPr>
                      <a:r>
                        <a:t>141</a:t>
                      </a:r>
                    </a:p>
                  </a:txBody>
                  <a:tcPr>
                    <a:solidFill>
                      <a:srgbClr val="F2F2F2"/>
                    </a:solidFill>
                  </a:tcPr>
                </a:tc>
                <a:tc>
                  <a:txBody>
                    <a:bodyPr/>
                    <a:lstStyle/>
                    <a:p>
                      <a:pPr algn="ctr">
                        <a:defRPr sz="800" b="1">
                          <a:solidFill>
                            <a:srgbClr val="FFFFFF"/>
                          </a:solidFill>
                        </a:defRPr>
                      </a:pPr>
                      <a:r>
                        <a:t>98%</a:t>
                      </a:r>
                    </a:p>
                  </a:txBody>
                  <a:tcPr>
                    <a:solidFill>
                      <a:srgbClr val="00B050"/>
                    </a:solidFill>
                  </a:tcPr>
                </a:tc>
                <a:tc>
                  <a:txBody>
                    <a:bodyPr/>
                    <a:lstStyle/>
                    <a:p>
                      <a:pPr algn="ctr">
                        <a:defRPr sz="800" b="1">
                          <a:solidFill>
                            <a:srgbClr val="FFFFFF"/>
                          </a:solidFill>
                        </a:defRPr>
                      </a:pPr>
                      <a:r>
                        <a:t>7</a:t>
                      </a:r>
                    </a:p>
                  </a:txBody>
                  <a:tcPr>
                    <a:solidFill>
                      <a:srgbClr val="00B050"/>
                    </a:solidFill>
                  </a:tcPr>
                </a:tc>
                <a:tc>
                  <a:txBody>
                    <a:bodyPr/>
                    <a:lstStyle/>
                    <a:p>
                      <a:pPr algn="ctr">
                        <a:defRPr sz="800" b="1">
                          <a:solidFill>
                            <a:srgbClr val="FFFFFF"/>
                          </a:solidFill>
                        </a:defRPr>
                      </a:pPr>
                      <a:r>
                        <a:t>12</a:t>
                      </a:r>
                    </a:p>
                  </a:txBody>
                  <a:tcPr>
                    <a:solidFill>
                      <a:srgbClr val="00B050"/>
                    </a:solidFill>
                  </a:tcPr>
                </a:tc>
                <a:tc>
                  <a:txBody>
                    <a:bodyPr/>
                    <a:lstStyle/>
                    <a:p>
                      <a:pPr algn="ctr">
                        <a:defRPr sz="800" b="1">
                          <a:solidFill>
                            <a:srgbClr val="FFFFFF"/>
                          </a:solidFill>
                        </a:defRPr>
                      </a:pPr>
                      <a:r>
                        <a:t>99%</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85751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NOC  |  22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NOC team maintained a strong SLA Compliance rate of over 97% for the fourth consecutive week, with an auto-resolution rate at 85%. The average MTTR was consistent around 1.6 hours.</a:t>
            </a:r>
          </a:p>
        </p:txBody>
      </p:sp>
      <p:graphicFrame>
        <p:nvGraphicFramePr>
          <p:cNvPr id="6" name="Table 5"/>
          <p:cNvGraphicFramePr>
            <a:graphicFrameLocks noGrp="1"/>
          </p:cNvGraphicFramePr>
          <p:nvPr/>
        </p:nvGraphicFramePr>
        <p:xfrm>
          <a:off x="0" y="2185416"/>
          <a:ext cx="5943600" cy="1792224"/>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P1 Incidents</a:t>
                      </a:r>
                    </a:p>
                  </a:txBody>
                  <a:tcPr>
                    <a:solidFill>
                      <a:srgbClr val="FFFFFF"/>
                    </a:solidFill>
                  </a:tcPr>
                </a:tc>
                <a:tc>
                  <a:txBody>
                    <a:bodyPr/>
                    <a:lstStyle/>
                    <a:p>
                      <a:pPr>
                        <a:defRPr sz="700">
                          <a:solidFill>
                            <a:srgbClr val="333333"/>
                          </a:solidFill>
                        </a:defRPr>
                      </a:pPr>
                      <a:r>
                        <a:t>2</a:t>
                      </a:r>
                    </a:p>
                  </a:txBody>
                  <a:tcPr>
                    <a:solidFill>
                      <a:srgbClr val="FFFFFF"/>
                    </a:solidFill>
                  </a:tcPr>
                </a:tc>
                <a:tc>
                  <a:txBody>
                    <a:bodyPr/>
                    <a:lstStyle/>
                    <a:p>
                      <a:pPr>
                        <a:defRPr sz="700">
                          <a:solidFill>
                            <a:srgbClr val="333333"/>
                          </a:solidFill>
                        </a:defRPr>
                      </a:pPr>
                      <a:r>
                        <a:t>&lt;3.0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P2 Incidents</a:t>
                      </a:r>
                    </a:p>
                  </a:txBody>
                  <a:tcPr>
                    <a:solidFill>
                      <a:srgbClr val="F2F2F2"/>
                    </a:solidFill>
                  </a:tcPr>
                </a:tc>
                <a:tc>
                  <a:txBody>
                    <a:bodyPr/>
                    <a:lstStyle/>
                    <a:p>
                      <a:pPr>
                        <a:defRPr sz="700">
                          <a:solidFill>
                            <a:srgbClr val="333333"/>
                          </a:solidFill>
                        </a:defRPr>
                      </a:pPr>
                      <a:r>
                        <a:t>5</a:t>
                      </a:r>
                    </a:p>
                  </a:txBody>
                  <a:tcPr>
                    <a:solidFill>
                      <a:srgbClr val="F2F2F2"/>
                    </a:solidFill>
                  </a:tcPr>
                </a:tc>
                <a:tc>
                  <a:txBody>
                    <a:bodyPr/>
                    <a:lstStyle/>
                    <a:p>
                      <a:pPr>
                        <a:defRPr sz="700">
                          <a:solidFill>
                            <a:srgbClr val="333333"/>
                          </a:solidFill>
                        </a:defRPr>
                      </a:pPr>
                      <a:r>
                        <a:t>&lt;8.0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MTTR Hours</a:t>
                      </a:r>
                    </a:p>
                  </a:txBody>
                  <a:tcPr>
                    <a:solidFill>
                      <a:srgbClr val="FFFFFF"/>
                    </a:solidFill>
                  </a:tcPr>
                </a:tc>
                <a:tc>
                  <a:txBody>
                    <a:bodyPr/>
                    <a:lstStyle/>
                    <a:p>
                      <a:pPr>
                        <a:defRPr sz="700">
                          <a:solidFill>
                            <a:srgbClr val="333333"/>
                          </a:solidFill>
                        </a:defRPr>
                      </a:pPr>
                      <a:r>
                        <a:t>1.7</a:t>
                      </a:r>
                    </a:p>
                  </a:txBody>
                  <a:tcPr>
                    <a:solidFill>
                      <a:srgbClr val="FFFFFF"/>
                    </a:solidFill>
                  </a:tcPr>
                </a:tc>
                <a:tc>
                  <a:txBody>
                    <a:bodyPr/>
                    <a:lstStyle/>
                    <a:p>
                      <a:pPr>
                        <a:defRPr sz="700">
                          <a:solidFill>
                            <a:srgbClr val="333333"/>
                          </a:solidFill>
                        </a:defRPr>
                      </a:pPr>
                      <a:r>
                        <a:t>&lt;2.0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SLA Compliance</a:t>
                      </a:r>
                    </a:p>
                  </a:txBody>
                  <a:tcPr>
                    <a:solidFill>
                      <a:srgbClr val="F2F2F2"/>
                    </a:solidFill>
                  </a:tcPr>
                </a:tc>
                <a:tc>
                  <a:txBody>
                    <a:bodyPr/>
                    <a:lstStyle/>
                    <a:p>
                      <a:pPr>
                        <a:defRPr sz="700">
                          <a:solidFill>
                            <a:srgbClr val="333333"/>
                          </a:solidFill>
                        </a:defRPr>
                      </a:pPr>
                      <a:r>
                        <a:t>97.4%</a:t>
                      </a:r>
                    </a:p>
                  </a:txBody>
                  <a:tcPr>
                    <a:solidFill>
                      <a:srgbClr val="F2F2F2"/>
                    </a:solidFill>
                  </a:tcPr>
                </a:tc>
                <a:tc>
                  <a:txBody>
                    <a:bodyPr/>
                    <a:lstStyle/>
                    <a:p>
                      <a:pPr>
                        <a:defRPr sz="700">
                          <a:solidFill>
                            <a:srgbClr val="333333"/>
                          </a:solidFill>
                        </a:defRPr>
                      </a:pPr>
                      <a:r>
                        <a:t>&gt;95.0%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Alerts Received</a:t>
                      </a:r>
                    </a:p>
                  </a:txBody>
                  <a:tcPr>
                    <a:solidFill>
                      <a:srgbClr val="FFFFFF"/>
                    </a:solidFill>
                  </a:tcPr>
                </a:tc>
                <a:tc>
                  <a:txBody>
                    <a:bodyPr/>
                    <a:lstStyle/>
                    <a:p>
                      <a:pPr>
                        <a:defRPr sz="700">
                          <a:solidFill>
                            <a:srgbClr val="333333"/>
                          </a:solidFill>
                        </a:defRPr>
                      </a:pPr>
                      <a:r>
                        <a:t>1890</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Alerts Auto-Resolved</a:t>
                      </a:r>
                    </a:p>
                  </a:txBody>
                  <a:tcPr>
                    <a:solidFill>
                      <a:srgbClr val="F2F2F2"/>
                    </a:solidFill>
                  </a:tcPr>
                </a:tc>
                <a:tc>
                  <a:txBody>
                    <a:bodyPr/>
                    <a:lstStyle/>
                    <a:p>
                      <a:pPr>
                        <a:defRPr sz="700">
                          <a:solidFill>
                            <a:srgbClr val="333333"/>
                          </a:solidFill>
                        </a:defRPr>
                      </a:pPr>
                      <a:r>
                        <a:t>1610</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b="1">
                          <a:solidFill>
                            <a:srgbClr val="333333"/>
                          </a:solidFill>
                        </a:defRPr>
                      </a:pPr>
                      <a:r>
                        <a:t>Overall Performance</a:t>
                      </a:r>
                    </a:p>
                  </a:txBody>
                  <a:tcPr>
                    <a:solidFill>
                      <a:srgbClr val="FFFFFF"/>
                    </a:solidFill>
                  </a:tcPr>
                </a:tc>
                <a:tc>
                  <a:txBody>
                    <a:bodyPr/>
                    <a:lstStyle/>
                    <a:p>
                      <a:pPr>
                        <a:defRPr sz="700" b="1">
                          <a:solidFill>
                            <a:srgbClr val="333333"/>
                          </a:solidFill>
                        </a:defRPr>
                      </a:pPr>
                      <a:r>
                        <a:t>GREEN</a:t>
                      </a:r>
                    </a:p>
                  </a:txBody>
                  <a:tcPr>
                    <a:solidFill>
                      <a:srgbClr val="FFFFFF"/>
                    </a:solidFill>
                  </a:tcPr>
                </a:tc>
                <a:tc>
                  <a:txBody>
                    <a:bodyPr/>
                    <a:lstStyle/>
                    <a:p>
                      <a:pPr>
                        <a:defRPr sz="700" b="1">
                          <a:solidFill>
                            <a:srgbClr val="333333"/>
                          </a:solidFill>
                        </a:defRPr>
                      </a:pPr>
                      <a:r>
                        <a:t>—</a:t>
                      </a:r>
                    </a:p>
                  </a:txBody>
                  <a:tcPr>
                    <a:solidFill>
                      <a:srgbClr val="FFFFFF"/>
                    </a:solidFill>
                  </a:tcPr>
                </a:tc>
                <a:tc>
                  <a:txBody>
                    <a:bodyPr/>
                    <a:lstStyle/>
                    <a:p>
                      <a:pPr>
                        <a:defRPr b="1" sz="700">
                          <a:solidFill>
                            <a:srgbClr val="FFFFFF"/>
                          </a:solidFill>
                        </a:defRPr>
                      </a:pPr>
                      <a:r>
                        <a:t>GREEN</a:t>
                      </a:r>
                    </a:p>
                  </a:txBody>
                  <a:tcPr>
                    <a:solidFill>
                      <a:srgbClr val="1E5C2E"/>
                    </a:solidFill>
                  </a:tcPr>
                </a:tc>
              </a:tr>
            </a:tbl>
          </a:graphicData>
        </a:graphic>
      </p:graphicFrame>
      <p:sp>
        <p:nvSpPr>
          <p:cNvPr id="7" name="Rectangle 6"/>
          <p:cNvSpPr/>
          <p:nvPr/>
        </p:nvSpPr>
        <p:spPr>
          <a:xfrm>
            <a:off x="0" y="4050792"/>
            <a:ext cx="5760720" cy="1133856"/>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4123944"/>
            <a:ext cx="5486400" cy="1024128"/>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{'Week No': 'Week 4', 'Auto-resolution rate': '85%'}</a:t>
            </a:r>
          </a:p>
          <a:p>
            <a:pPr>
              <a:defRPr sz="700">
                <a:solidFill>
                  <a:srgbClr val="1E5C2E"/>
                </a:solidFill>
              </a:defRPr>
            </a:pPr>
            <a:r>
              <a:t>✔  {'Achievement': 'Deployed new runbook for DB alert cluster'}</a:t>
            </a:r>
          </a:p>
          <a:p>
            <a:pPr>
              <a:defRPr b="1" sz="750">
                <a:solidFill>
                  <a:srgbClr val="C00000"/>
                </a:solidFill>
              </a:defRPr>
            </a:pPr>
            <a:r>
              <a:t>Actions:</a:t>
            </a:r>
          </a:p>
          <a:p>
            <a:pPr>
              <a:defRPr sz="700">
                <a:solidFill>
                  <a:srgbClr val="333333"/>
                </a:solidFill>
              </a:defRPr>
            </a:pPr>
            <a:r>
              <a:t>→  Investigate the discrep0n between Alerts Received and Auto-Resolved to identify bottlenecks.</a:t>
            </a:r>
          </a:p>
          <a:p>
            <a:pPr>
              <a:defRPr sz="700">
                <a:solidFill>
                  <a:srgbClr val="333333"/>
                </a:solidFill>
              </a:defRPr>
            </a:pPr>
            <a:r>
              <a:t>→  Monitor P2 incidents closely, as they are nearing weekly threshold.</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{'Week No': 'Week 4', 'Auto-resolution rate': '85%'}</a:t>
            </a:r>
          </a:p>
          <a:p>
            <a:pPr>
              <a:defRPr sz="800">
                <a:solidFill>
                  <a:srgbClr val="333333"/>
                </a:solidFill>
              </a:defRPr>
            </a:pPr>
            <a:r>
              <a:t>• {'Achievement': 'Deployed new runbook for DB alert cluster'}</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Alerts Received</a:t>
                      </a:r>
                    </a:p>
                  </a:txBody>
                  <a:tcPr>
                    <a:solidFill>
                      <a:srgbClr val="FFFFFF"/>
                    </a:solidFill>
                  </a:tcPr>
                </a:tc>
                <a:tc>
                  <a:txBody>
                    <a:bodyPr wrap="square"/>
                    <a:lstStyle/>
                    <a:p>
                      <a:pPr>
                        <a:defRPr sz="650">
                          <a:solidFill>
                            <a:srgbClr val="333333"/>
                          </a:solidFill>
                        </a:defRPr>
                      </a:pPr>
                      <a:r>
                        <a:t>Total number of monitoring alerts received by NOC team</a:t>
                      </a:r>
                    </a:p>
                  </a:txBody>
                  <a:tcPr>
                    <a:solidFill>
                      <a:srgbClr val="FFFFFF"/>
                    </a:solidFill>
                  </a:tcPr>
                </a:tc>
                <a:tc>
                  <a:txBody>
                    <a:bodyPr wrap="square"/>
                    <a:lstStyle/>
                    <a:p>
                      <a:pPr>
                        <a:defRPr sz="650">
                          <a:solidFill>
                            <a:srgbClr val="333333"/>
                          </a:solidFill>
                        </a:defRPr>
                      </a:pPr>
                      <a:r>
                        <a:t>Includes all severity levels from all monitored infrastructure</a:t>
                      </a:r>
                    </a:p>
                  </a:txBody>
                  <a:tcPr>
                    <a:solidFill>
                      <a:srgbClr val="FFFFFF"/>
                    </a:solidFill>
                  </a:tcPr>
                </a:tc>
              </a:tr>
              <a:tr h="185492">
                <a:tc>
                  <a:txBody>
                    <a:bodyPr wrap="square"/>
                    <a:lstStyle/>
                    <a:p>
                      <a:pPr>
                        <a:defRPr sz="650" b="1">
                          <a:solidFill>
                            <a:srgbClr val="1F3864"/>
                          </a:solidFill>
                        </a:defRPr>
                      </a:pPr>
                      <a:r>
                        <a:t>Alerts Auto-Resolved</a:t>
                      </a:r>
                    </a:p>
                  </a:txBody>
                  <a:tcPr>
                    <a:solidFill>
                      <a:srgbClr val="E9F0F8"/>
                    </a:solidFill>
                  </a:tcPr>
                </a:tc>
                <a:tc>
                  <a:txBody>
                    <a:bodyPr wrap="square"/>
                    <a:lstStyle/>
                    <a:p>
                      <a:pPr>
                        <a:defRPr sz="650">
                          <a:solidFill>
                            <a:srgbClr val="333333"/>
                          </a:solidFill>
                        </a:defRPr>
                      </a:pPr>
                      <a:r>
                        <a:t>Number of alerts automatically resolved without NOC intervention</a:t>
                      </a:r>
                    </a:p>
                  </a:txBody>
                  <a:tcPr>
                    <a:solidFill>
                      <a:srgbClr val="E9F0F8"/>
                    </a:solidFill>
                  </a:tcPr>
                </a:tc>
                <a:tc>
                  <a:txBody>
                    <a:bodyPr wrap="square"/>
                    <a:lstStyle/>
                    <a:p>
                      <a:pPr>
                        <a:defRPr sz="650">
                          <a:solidFill>
                            <a:srgbClr val="333333"/>
                          </a:solidFill>
                        </a:defRPr>
                      </a:pPr>
                      <a:r>
                        <a:t>Auto-remediation scripts and rules resolving alerts without manual action</a:t>
                      </a:r>
                    </a:p>
                  </a:txBody>
                  <a:tcPr>
                    <a:solidFill>
                      <a:srgbClr val="E9F0F8"/>
                    </a:solidFill>
                  </a:tcPr>
                </a:tc>
              </a:tr>
              <a:tr h="185492">
                <a:tc>
                  <a:txBody>
                    <a:bodyPr wrap="square"/>
                    <a:lstStyle/>
                    <a:p>
                      <a:pPr>
                        <a:defRPr sz="650" b="1">
                          <a:solidFill>
                            <a:srgbClr val="1F3864"/>
                          </a:solidFill>
                        </a:defRPr>
                      </a:pPr>
                      <a:r>
                        <a:t>P1 Incidents</a:t>
                      </a:r>
                    </a:p>
                  </a:txBody>
                  <a:tcPr>
                    <a:solidFill>
                      <a:srgbClr val="FFFFFF"/>
                    </a:solidFill>
                  </a:tcPr>
                </a:tc>
                <a:tc>
                  <a:txBody>
                    <a:bodyPr wrap="square"/>
                    <a:lstStyle/>
                    <a:p>
                      <a:pPr>
                        <a:defRPr sz="650">
                          <a:solidFill>
                            <a:srgbClr val="333333"/>
                          </a:solidFill>
                        </a:defRPr>
                      </a:pPr>
                      <a:r>
                        <a:t>Number of Priority 1 incidents detected and managed by NOC</a:t>
                      </a:r>
                    </a:p>
                  </a:txBody>
                  <a:tcPr>
                    <a:solidFill>
                      <a:srgbClr val="FFFFFF"/>
                    </a:solidFill>
                  </a:tcPr>
                </a:tc>
                <a:tc>
                  <a:txBody>
                    <a:bodyPr wrap="square"/>
                    <a:lstStyle/>
                    <a:p>
                      <a:pPr>
                        <a:defRPr sz="650">
                          <a:solidFill>
                            <a:srgbClr val="333333"/>
                          </a:solidFill>
                        </a:defRPr>
                      </a:pPr>
                      <a:r>
                        <a:t>Critical outages requiring immediate NOC escalation to MIM team</a:t>
                      </a:r>
                    </a:p>
                  </a:txBody>
                  <a:tcPr>
                    <a:solidFill>
                      <a:srgbClr val="FFFFFF"/>
                    </a:solidFill>
                  </a:tcPr>
                </a:tc>
              </a:tr>
              <a:tr h="185492">
                <a:tc>
                  <a:txBody>
                    <a:bodyPr wrap="square"/>
                    <a:lstStyle/>
                    <a:p>
                      <a:pPr>
                        <a:defRPr sz="650" b="1">
                          <a:solidFill>
                            <a:srgbClr val="1F3864"/>
                          </a:solidFill>
                        </a:defRPr>
                      </a:pPr>
                      <a:r>
                        <a:t>P2 Incidents</a:t>
                      </a:r>
                    </a:p>
                  </a:txBody>
                  <a:tcPr>
                    <a:solidFill>
                      <a:srgbClr val="E9F0F8"/>
                    </a:solidFill>
                  </a:tcPr>
                </a:tc>
                <a:tc>
                  <a:txBody>
                    <a:bodyPr wrap="square"/>
                    <a:lstStyle/>
                    <a:p>
                      <a:pPr>
                        <a:defRPr sz="650">
                          <a:solidFill>
                            <a:srgbClr val="333333"/>
                          </a:solidFill>
                        </a:defRPr>
                      </a:pPr>
                      <a:r>
                        <a:t>Number of Priority 2 incidents detected and managed by NOC</a:t>
                      </a:r>
                    </a:p>
                  </a:txBody>
                  <a:tcPr>
                    <a:solidFill>
                      <a:srgbClr val="E9F0F8"/>
                    </a:solidFill>
                  </a:tcPr>
                </a:tc>
                <a:tc>
                  <a:txBody>
                    <a:bodyPr wrap="square"/>
                    <a:lstStyle/>
                    <a:p>
                      <a:pPr>
                        <a:defRPr sz="650">
                          <a:solidFill>
                            <a:srgbClr val="333333"/>
                          </a:solidFill>
                        </a:defRPr>
                      </a:pPr>
                      <a:r>
                        <a:t>High severity alerts requiring prompt NOC investigation and response</a:t>
                      </a:r>
                    </a:p>
                  </a:txBody>
                  <a:tcPr>
                    <a:solidFill>
                      <a:srgbClr val="E9F0F8"/>
                    </a:solidFill>
                  </a:tcPr>
                </a:tc>
              </a:tr>
              <a:tr h="185492">
                <a:tc>
                  <a:txBody>
                    <a:bodyPr wrap="square"/>
                    <a:lstStyle/>
                    <a:p>
                      <a:pPr>
                        <a:defRPr sz="650" b="1">
                          <a:solidFill>
                            <a:srgbClr val="1F3864"/>
                          </a:solidFill>
                        </a:defRPr>
                      </a:pPr>
                      <a:r>
                        <a:t>MTTR Hours</a:t>
                      </a:r>
                    </a:p>
                  </a:txBody>
                  <a:tcPr>
                    <a:solidFill>
                      <a:srgbClr val="FFFFFF"/>
                    </a:solidFill>
                  </a:tcPr>
                </a:tc>
                <a:tc>
                  <a:txBody>
                    <a:bodyPr wrap="square"/>
                    <a:lstStyle/>
                    <a:p>
                      <a:pPr>
                        <a:defRPr sz="650">
                          <a:solidFill>
                            <a:srgbClr val="333333"/>
                          </a:solidFill>
                        </a:defRPr>
                      </a:pPr>
                      <a:r>
                        <a:t>Mean Time To Restore service — average hours from alert to resolution</a:t>
                      </a:r>
                    </a:p>
                  </a:txBody>
                  <a:tcPr>
                    <a:solidFill>
                      <a:srgbClr val="FFFFFF"/>
                    </a:solidFill>
                  </a:tcPr>
                </a:tc>
                <a:tc>
                  <a:txBody>
                    <a:bodyPr wrap="square"/>
                    <a:lstStyle/>
                    <a:p>
                      <a:pPr>
                        <a:defRPr sz="650">
                          <a:solidFill>
                            <a:srgbClr val="333333"/>
                          </a:solidFill>
                        </a:defRPr>
                      </a:pPr>
                      <a:r>
                        <a:t>Measured from alert trigger time to confirmed service restoration</a:t>
                      </a:r>
                    </a:p>
                  </a:txBody>
                  <a:tcPr>
                    <a:solidFill>
                      <a:srgbClr val="FFFFFF"/>
                    </a:solidFill>
                  </a:tcPr>
                </a:tc>
              </a:tr>
              <a:tr h="185496">
                <a:tc>
                  <a:txBody>
                    <a:bodyPr wrap="square"/>
                    <a:lstStyle/>
                    <a:p>
                      <a:pPr>
                        <a:defRPr sz="650" b="1">
                          <a:solidFill>
                            <a:srgbClr val="1F3864"/>
                          </a:solidFill>
                        </a:defRPr>
                      </a:pPr>
                      <a:r>
                        <a:t>SLA Compliance</a:t>
                      </a:r>
                    </a:p>
                  </a:txBody>
                  <a:tcPr>
                    <a:solidFill>
                      <a:srgbClr val="E9F0F8"/>
                    </a:solidFill>
                  </a:tcPr>
                </a:tc>
                <a:tc>
                  <a:txBody>
                    <a:bodyPr wrap="square"/>
                    <a:lstStyle/>
                    <a:p>
                      <a:pPr>
                        <a:defRPr sz="650">
                          <a:solidFill>
                            <a:srgbClr val="333333"/>
                          </a:solidFill>
                        </a:defRPr>
                      </a:pPr>
                      <a:r>
                        <a:t>Percentage of incidents resolved within agreed SLA timeframe</a:t>
                      </a:r>
                    </a:p>
                  </a:txBody>
                  <a:tcPr>
                    <a:solidFill>
                      <a:srgbClr val="E9F0F8"/>
                    </a:solidFill>
                  </a:tcPr>
                </a:tc>
                <a:tc>
                  <a:txBody>
                    <a:bodyPr wrap="square"/>
                    <a:lstStyle/>
                    <a:p>
                      <a:pPr>
                        <a:defRPr sz="650">
                          <a:solidFill>
                            <a:srgbClr val="333333"/>
                          </a:solidFill>
                        </a:defRPr>
                      </a:pPr>
                      <a:r>
                        <a:t>P1 &lt; 4 hrs and P2 &lt; 8 hrs resolution targets</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Alerts Received</a:t>
                      </a:r>
                    </a:p>
                  </a:txBody>
                  <a:tcPr>
                    <a:solidFill>
                      <a:srgbClr val="2E75B6"/>
                    </a:solidFill>
                  </a:tcPr>
                </a:tc>
                <a:tc>
                  <a:txBody>
                    <a:bodyPr wrap="square"/>
                    <a:lstStyle/>
                    <a:p>
                      <a:pPr algn="ctr">
                        <a:defRPr b="1" sz="650">
                          <a:solidFill>
                            <a:srgbClr val="FFFFFF"/>
                          </a:solidFill>
                        </a:defRPr>
                      </a:pPr>
                      <a:r>
                        <a:t>Alerts Auto-Resolved</a:t>
                      </a:r>
                    </a:p>
                  </a:txBody>
                  <a:tcPr>
                    <a:solidFill>
                      <a:srgbClr val="2E75B6"/>
                    </a:solidFill>
                  </a:tcPr>
                </a:tc>
                <a:tc>
                  <a:txBody>
                    <a:bodyPr wrap="square"/>
                    <a:lstStyle/>
                    <a:p>
                      <a:pPr algn="ctr">
                        <a:defRPr b="1" sz="650">
                          <a:solidFill>
                            <a:srgbClr val="FFFFFF"/>
                          </a:solidFill>
                        </a:defRPr>
                      </a:pPr>
                      <a:r>
                        <a:t>P1 Incidents</a:t>
                      </a:r>
                    </a:p>
                  </a:txBody>
                  <a:tcPr>
                    <a:solidFill>
                      <a:srgbClr val="2E75B6"/>
                    </a:solidFill>
                  </a:tcPr>
                </a:tc>
                <a:tc>
                  <a:txBody>
                    <a:bodyPr wrap="square"/>
                    <a:lstStyle/>
                    <a:p>
                      <a:pPr algn="ctr">
                        <a:defRPr b="1" sz="650">
                          <a:solidFill>
                            <a:srgbClr val="FFFFFF"/>
                          </a:solidFill>
                        </a:defRPr>
                      </a:pPr>
                      <a:r>
                        <a:t>P2 Incidents</a:t>
                      </a:r>
                    </a:p>
                  </a:txBody>
                  <a:tcPr>
                    <a:solidFill>
                      <a:srgbClr val="2E75B6"/>
                    </a:solidFill>
                  </a:tcPr>
                </a:tc>
                <a:tc>
                  <a:txBody>
                    <a:bodyPr wrap="square"/>
                    <a:lstStyle/>
                    <a:p>
                      <a:pPr algn="ctr">
                        <a:defRPr b="1" sz="650">
                          <a:solidFill>
                            <a:srgbClr val="FFFFFF"/>
                          </a:solidFill>
                        </a:defRPr>
                      </a:pPr>
                      <a:r>
                        <a:t>MTTR Hours</a:t>
                      </a:r>
                    </a:p>
                  </a:txBody>
                  <a:tcPr>
                    <a:solidFill>
                      <a:srgbClr val="2E75B6"/>
                    </a:solidFill>
                  </a:tcPr>
                </a:tc>
                <a:tc>
                  <a:txBody>
                    <a:bodyPr wrap="square"/>
                    <a:lstStyle/>
                    <a:p>
                      <a:pPr algn="ctr">
                        <a:defRPr b="1" sz="650">
                          <a:solidFill>
                            <a:srgbClr val="FFFFFF"/>
                          </a:solidFill>
                        </a:defRPr>
                      </a:pPr>
                      <a:r>
                        <a:t>SLA Compliance</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1890</a:t>
                      </a:r>
                    </a:p>
                  </a:txBody>
                  <a:tcPr>
                    <a:solidFill>
                      <a:srgbClr val="F2F2F2"/>
                    </a:solidFill>
                  </a:tcPr>
                </a:tc>
                <a:tc>
                  <a:txBody>
                    <a:bodyPr/>
                    <a:lstStyle/>
                    <a:p>
                      <a:pPr algn="ctr">
                        <a:defRPr sz="800" b="1">
                          <a:solidFill>
                            <a:srgbClr val="333333"/>
                          </a:solidFill>
                        </a:defRPr>
                      </a:pPr>
                      <a:r>
                        <a:t>1610</a:t>
                      </a:r>
                    </a:p>
                  </a:txBody>
                  <a:tcPr>
                    <a:solidFill>
                      <a:srgbClr val="F2F2F2"/>
                    </a:solidFill>
                  </a:tcPr>
                </a:tc>
                <a:tc>
                  <a:txBody>
                    <a:bodyPr/>
                    <a:lstStyle/>
                    <a:p>
                      <a:pPr algn="ctr">
                        <a:defRPr sz="800" b="1">
                          <a:solidFill>
                            <a:srgbClr val="FFFFFF"/>
                          </a:solidFill>
                        </a:defRPr>
                      </a:pPr>
                      <a:r>
                        <a:t>2</a:t>
                      </a:r>
                    </a:p>
                  </a:txBody>
                  <a:tcPr>
                    <a:solidFill>
                      <a:srgbClr val="00B050"/>
                    </a:solidFill>
                  </a:tcPr>
                </a:tc>
                <a:tc>
                  <a:txBody>
                    <a:bodyPr/>
                    <a:lstStyle/>
                    <a:p>
                      <a:pPr algn="ctr">
                        <a:defRPr sz="800" b="1">
                          <a:solidFill>
                            <a:srgbClr val="FFFFFF"/>
                          </a:solidFill>
                        </a:defRPr>
                      </a:pPr>
                      <a:r>
                        <a:t>5</a:t>
                      </a:r>
                    </a:p>
                  </a:txBody>
                  <a:tcPr>
                    <a:solidFill>
                      <a:srgbClr val="00B050"/>
                    </a:solidFill>
                  </a:tcPr>
                </a:tc>
                <a:tc>
                  <a:txBody>
                    <a:bodyPr/>
                    <a:lstStyle/>
                    <a:p>
                      <a:pPr algn="ctr">
                        <a:defRPr sz="800" b="1">
                          <a:solidFill>
                            <a:srgbClr val="FFFFFF"/>
                          </a:solidFill>
                        </a:defRPr>
                      </a:pPr>
                      <a:r>
                        <a:t>1.7</a:t>
                      </a:r>
                    </a:p>
                  </a:txBody>
                  <a:tcPr>
                    <a:solidFill>
                      <a:srgbClr val="00B050"/>
                    </a:solidFill>
                  </a:tcPr>
                </a:tc>
                <a:tc>
                  <a:txBody>
                    <a:bodyPr/>
                    <a:lstStyle/>
                    <a:p>
                      <a:pPr algn="ctr">
                        <a:defRPr sz="800" b="1">
                          <a:solidFill>
                            <a:srgbClr val="FFFFFF"/>
                          </a:solidFill>
                        </a:defRPr>
                      </a:pPr>
                      <a:r>
                        <a:t>97%</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819965"/>
          </a:xfrm>
          <a:prstGeom prst="rect">
            <a:avLst/>
          </a:prstGeom>
        </p:spPr>
      </p:pic>
      <p:pic>
        <p:nvPicPr>
          <p:cNvPr id="13" name="Picture 12" descr="image.png"/>
          <p:cNvPicPr>
            <a:picLocks noChangeAspect="1"/>
          </p:cNvPicPr>
          <p:nvPr/>
        </p:nvPicPr>
        <p:blipFill>
          <a:blip r:embed="rId3"/>
          <a:stretch>
            <a:fillRect/>
          </a:stretch>
        </p:blipFill>
        <p:spPr>
          <a:xfrm>
            <a:off x="5943600" y="3228140"/>
            <a:ext cx="6245352" cy="185751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ServiceNow  |  22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ITSM team at MUFG has demonstrated strong performance in Week 4, with a resolution rate of over 95% and an impressive CSAT score increase to 4.4 out of 5.</a:t>
            </a:r>
          </a:p>
        </p:txBody>
      </p:sp>
      <p:graphicFrame>
        <p:nvGraphicFramePr>
          <p:cNvPr id="6" name="Table 5"/>
          <p:cNvGraphicFramePr>
            <a:graphicFrameLocks noGrp="1"/>
          </p:cNvGraphicFramePr>
          <p:nvPr/>
        </p:nvGraphicFramePr>
        <p:xfrm>
          <a:off x="0" y="2185416"/>
          <a:ext cx="5943600" cy="1792224"/>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Resolution Rate</a:t>
                      </a:r>
                    </a:p>
                  </a:txBody>
                  <a:tcPr>
                    <a:solidFill>
                      <a:srgbClr val="FFFFFF"/>
                    </a:solidFill>
                  </a:tcPr>
                </a:tc>
                <a:tc>
                  <a:txBody>
                    <a:bodyPr/>
                    <a:lstStyle/>
                    <a:p>
                      <a:pPr>
                        <a:defRPr sz="700">
                          <a:solidFill>
                            <a:srgbClr val="333333"/>
                          </a:solidFill>
                        </a:defRPr>
                      </a:pPr>
                      <a:r>
                        <a:t>95.2%</a:t>
                      </a:r>
                    </a:p>
                  </a:txBody>
                  <a:tcPr>
                    <a:solidFill>
                      <a:srgbClr val="FFFFFF"/>
                    </a:solidFill>
                  </a:tcPr>
                </a:tc>
                <a:tc>
                  <a:txBody>
                    <a:bodyPr/>
                    <a:lstStyle/>
                    <a:p>
                      <a:pPr>
                        <a:defRPr sz="700">
                          <a:solidFill>
                            <a:srgbClr val="333333"/>
                          </a:solidFill>
                        </a:defRPr>
                      </a:pPr>
                      <a:r>
                        <a:t>&gt;95.0%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First Call Resolution</a:t>
                      </a:r>
                    </a:p>
                  </a:txBody>
                  <a:tcPr>
                    <a:solidFill>
                      <a:srgbClr val="F2F2F2"/>
                    </a:solidFill>
                  </a:tcPr>
                </a:tc>
                <a:tc>
                  <a:txBody>
                    <a:bodyPr/>
                    <a:lstStyle/>
                    <a:p>
                      <a:pPr>
                        <a:defRPr sz="700">
                          <a:solidFill>
                            <a:srgbClr val="333333"/>
                          </a:solidFill>
                        </a:defRPr>
                      </a:pPr>
                      <a:r>
                        <a:t>84.0%</a:t>
                      </a:r>
                    </a:p>
                  </a:txBody>
                  <a:tcPr>
                    <a:solidFill>
                      <a:srgbClr val="F2F2F2"/>
                    </a:solidFill>
                  </a:tcPr>
                </a:tc>
                <a:tc>
                  <a:txBody>
                    <a:bodyPr/>
                    <a:lstStyle/>
                    <a:p>
                      <a:pPr>
                        <a:defRPr sz="700">
                          <a:solidFill>
                            <a:srgbClr val="333333"/>
                          </a:solidFill>
                        </a:defRPr>
                      </a:pPr>
                      <a:r>
                        <a:t>&gt;80.0%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Total Tickets</a:t>
                      </a:r>
                    </a:p>
                  </a:txBody>
                  <a:tcPr>
                    <a:solidFill>
                      <a:srgbClr val="FFFFFF"/>
                    </a:solidFill>
                  </a:tcPr>
                </a:tc>
                <a:tc>
                  <a:txBody>
                    <a:bodyPr/>
                    <a:lstStyle/>
                    <a:p>
                      <a:pPr>
                        <a:defRPr sz="700">
                          <a:solidFill>
                            <a:srgbClr val="333333"/>
                          </a:solidFill>
                        </a:defRPr>
                      </a:pPr>
                      <a:r>
                        <a:t>230</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Tickets Resolved</a:t>
                      </a:r>
                    </a:p>
                  </a:txBody>
                  <a:tcPr>
                    <a:solidFill>
                      <a:srgbClr val="F2F2F2"/>
                    </a:solidFill>
                  </a:tcPr>
                </a:tc>
                <a:tc>
                  <a:txBody>
                    <a:bodyPr/>
                    <a:lstStyle/>
                    <a:p>
                      <a:pPr>
                        <a:defRPr sz="700">
                          <a:solidFill>
                            <a:srgbClr val="333333"/>
                          </a:solidFill>
                        </a:defRPr>
                      </a:pPr>
                      <a:r>
                        <a:t>219</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Escalated Tickets</a:t>
                      </a:r>
                    </a:p>
                  </a:txBody>
                  <a:tcPr>
                    <a:solidFill>
                      <a:srgbClr val="FFFFFF"/>
                    </a:solidFill>
                  </a:tcPr>
                </a:tc>
                <a:tc>
                  <a:txBody>
                    <a:bodyPr/>
                    <a:lstStyle/>
                    <a:p>
                      <a:pPr>
                        <a:defRPr sz="700">
                          <a:solidFill>
                            <a:srgbClr val="333333"/>
                          </a:solidFill>
                        </a:defRPr>
                      </a:pPr>
                      <a:r>
                        <a:t>9</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CSAT Score (&gt;4.0 out of 5)</a:t>
                      </a:r>
                    </a:p>
                  </a:txBody>
                  <a:tcPr>
                    <a:solidFill>
                      <a:srgbClr val="F2F2F2"/>
                    </a:solidFill>
                  </a:tcPr>
                </a:tc>
                <a:tc>
                  <a:txBody>
                    <a:bodyPr/>
                    <a:lstStyle/>
                    <a:p>
                      <a:pPr>
                        <a:defRPr sz="700">
                          <a:solidFill>
                            <a:srgbClr val="333333"/>
                          </a:solidFill>
                        </a:defRPr>
                      </a:pPr>
                      <a:r>
                        <a:t>4.4</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b="1">
                          <a:solidFill>
                            <a:srgbClr val="333333"/>
                          </a:solidFill>
                        </a:defRPr>
                      </a:pPr>
                      <a:r>
                        <a:t>Overall Performance</a:t>
                      </a:r>
                    </a:p>
                  </a:txBody>
                  <a:tcPr>
                    <a:solidFill>
                      <a:srgbClr val="FFFFFF"/>
                    </a:solidFill>
                  </a:tcPr>
                </a:tc>
                <a:tc>
                  <a:txBody>
                    <a:bodyPr/>
                    <a:lstStyle/>
                    <a:p>
                      <a:pPr>
                        <a:defRPr sz="700" b="1">
                          <a:solidFill>
                            <a:srgbClr val="333333"/>
                          </a:solidFill>
                        </a:defRPr>
                      </a:pPr>
                      <a:r>
                        <a:t>GREEN</a:t>
                      </a:r>
                    </a:p>
                  </a:txBody>
                  <a:tcPr>
                    <a:solidFill>
                      <a:srgbClr val="FFFFFF"/>
                    </a:solidFill>
                  </a:tcPr>
                </a:tc>
                <a:tc>
                  <a:txBody>
                    <a:bodyPr/>
                    <a:lstStyle/>
                    <a:p>
                      <a:pPr>
                        <a:defRPr sz="700" b="1">
                          <a:solidFill>
                            <a:srgbClr val="333333"/>
                          </a:solidFill>
                        </a:defRPr>
                      </a:pPr>
                      <a:r>
                        <a:t>—</a:t>
                      </a:r>
                    </a:p>
                  </a:txBody>
                  <a:tcPr>
                    <a:solidFill>
                      <a:srgbClr val="FFFFFF"/>
                    </a:solidFill>
                  </a:tcPr>
                </a:tc>
                <a:tc>
                  <a:txBody>
                    <a:bodyPr/>
                    <a:lstStyle/>
                    <a:p>
                      <a:pPr>
                        <a:defRPr b="1" sz="700">
                          <a:solidFill>
                            <a:srgbClr val="FFFFFF"/>
                          </a:solidFill>
                        </a:defRPr>
                      </a:pPr>
                      <a:r>
                        <a:t>GREEN</a:t>
                      </a:r>
                    </a:p>
                  </a:txBody>
                  <a:tcPr>
                    <a:solidFill>
                      <a:srgbClr val="1E5C2E"/>
                    </a:solidFill>
                  </a:tcPr>
                </a:tc>
              </a:tr>
            </a:tbl>
          </a:graphicData>
        </a:graphic>
      </p:graphicFrame>
      <p:sp>
        <p:nvSpPr>
          <p:cNvPr id="7" name="Rectangle 6"/>
          <p:cNvSpPr/>
          <p:nvPr/>
        </p:nvSpPr>
        <p:spPr>
          <a:xfrm>
            <a:off x="0" y="4050792"/>
            <a:ext cx="5760720" cy="1133856"/>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4123944"/>
            <a:ext cx="5486400" cy="1024128"/>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{'week': 'Week 4', 'total_tickets': 230, 'resolved_tickets': 219}</a:t>
            </a:r>
          </a:p>
          <a:p>
            <a:pPr>
              <a:defRPr sz="700">
                <a:solidFill>
                  <a:srgbClr val="1E5C2E"/>
                </a:solidFill>
              </a:defRPr>
            </a:pPr>
            <a:r>
              <a:t>✔  {'week': 'Week 4', 'escalated_tickets': 9, 'reduction_percentage': '25% vs prior week'}</a:t>
            </a:r>
          </a:p>
          <a:p>
            <a:pPr>
              <a:defRPr b="1" sz="750">
                <a:solidFill>
                  <a:srgbClr val="C00000"/>
                </a:solidFill>
              </a:defRPr>
            </a:pPr>
            <a:r>
              <a:t>Actions:</a:t>
            </a:r>
          </a:p>
          <a:p>
            <a:pPr>
              <a:defRPr sz="700">
                <a:solidFill>
                  <a:srgbClr val="333333"/>
                </a:solidFill>
              </a:defRPr>
            </a:pPr>
            <a:r>
              <a:t>→  Maintain the high resolution rate and CSAT score.</a:t>
            </a:r>
          </a:p>
          <a:p>
            <a:pPr>
              <a:defRPr sz="700">
                <a:solidFill>
                  <a:srgbClr val="333333"/>
                </a:solidFill>
              </a:defRPr>
            </a:pPr>
            <a:r>
              <a:t>→  Continue to focus on reducing escalations.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{'week': 'Week 4', 'total_tickets': 230, 'resolved_tickets': 219}</a:t>
            </a:r>
          </a:p>
          <a:p>
            <a:pPr>
              <a:defRPr sz="800">
                <a:solidFill>
                  <a:srgbClr val="333333"/>
                </a:solidFill>
              </a:defRPr>
            </a:pPr>
            <a:r>
              <a:t>• {'week': 'Week 4', 'escalated_tickets': 9, 'reduction_percentage': '25% vs prior week'}</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Total Tickets</a:t>
                      </a:r>
                    </a:p>
                  </a:txBody>
                  <a:tcPr>
                    <a:solidFill>
                      <a:srgbClr val="FFFFFF"/>
                    </a:solidFill>
                  </a:tcPr>
                </a:tc>
                <a:tc>
                  <a:txBody>
                    <a:bodyPr wrap="square"/>
                    <a:lstStyle/>
                    <a:p>
                      <a:pPr>
                        <a:defRPr sz="650">
                          <a:solidFill>
                            <a:srgbClr val="333333"/>
                          </a:solidFill>
                        </a:defRPr>
                      </a:pPr>
                      <a:r>
                        <a:t>Total service requests and incidents logged in ServiceNow</a:t>
                      </a:r>
                    </a:p>
                  </a:txBody>
                  <a:tcPr>
                    <a:solidFill>
                      <a:srgbClr val="FFFFFF"/>
                    </a:solidFill>
                  </a:tcPr>
                </a:tc>
                <a:tc>
                  <a:txBody>
                    <a:bodyPr wrap="square"/>
                    <a:lstStyle/>
                    <a:p>
                      <a:pPr>
                        <a:defRPr sz="650">
                          <a:solidFill>
                            <a:srgbClr val="333333"/>
                          </a:solidFill>
                        </a:defRPr>
                      </a:pPr>
                      <a:r>
                        <a:t>Includes all request types and categories processed through the platform</a:t>
                      </a:r>
                    </a:p>
                  </a:txBody>
                  <a:tcPr>
                    <a:solidFill>
                      <a:srgbClr val="FFFFFF"/>
                    </a:solidFill>
                  </a:tcPr>
                </a:tc>
              </a:tr>
              <a:tr h="185492">
                <a:tc>
                  <a:txBody>
                    <a:bodyPr wrap="square"/>
                    <a:lstStyle/>
                    <a:p>
                      <a:pPr>
                        <a:defRPr sz="650" b="1">
                          <a:solidFill>
                            <a:srgbClr val="1F3864"/>
                          </a:solidFill>
                        </a:defRPr>
                      </a:pPr>
                      <a:r>
                        <a:t>Tickets Resolved</a:t>
                      </a:r>
                    </a:p>
                  </a:txBody>
                  <a:tcPr>
                    <a:solidFill>
                      <a:srgbClr val="E9F0F8"/>
                    </a:solidFill>
                  </a:tcPr>
                </a:tc>
                <a:tc>
                  <a:txBody>
                    <a:bodyPr wrap="square"/>
                    <a:lstStyle/>
                    <a:p>
                      <a:pPr>
                        <a:defRPr sz="650">
                          <a:solidFill>
                            <a:srgbClr val="333333"/>
                          </a:solidFill>
                        </a:defRPr>
                      </a:pPr>
                      <a:r>
                        <a:t>Number of tickets moved to resolved status in the period</a:t>
                      </a:r>
                    </a:p>
                  </a:txBody>
                  <a:tcPr>
                    <a:solidFill>
                      <a:srgbClr val="E9F0F8"/>
                    </a:solidFill>
                  </a:tcPr>
                </a:tc>
                <a:tc>
                  <a:txBody>
                    <a:bodyPr wrap="square"/>
                    <a:lstStyle/>
                    <a:p>
                      <a:pPr>
                        <a:defRPr sz="650">
                          <a:solidFill>
                            <a:srgbClr val="333333"/>
                          </a:solidFill>
                        </a:defRPr>
                      </a:pPr>
                      <a:r>
                        <a:t>Resolved tickets pending user confirmation closure after 5 days</a:t>
                      </a:r>
                    </a:p>
                  </a:txBody>
                  <a:tcPr>
                    <a:solidFill>
                      <a:srgbClr val="E9F0F8"/>
                    </a:solidFill>
                  </a:tcPr>
                </a:tc>
              </a:tr>
              <a:tr h="185492">
                <a:tc>
                  <a:txBody>
                    <a:bodyPr wrap="square"/>
                    <a:lstStyle/>
                    <a:p>
                      <a:pPr>
                        <a:defRPr sz="650" b="1">
                          <a:solidFill>
                            <a:srgbClr val="1F3864"/>
                          </a:solidFill>
                        </a:defRPr>
                      </a:pPr>
                      <a:r>
                        <a:t>Escalated Tickets</a:t>
                      </a:r>
                    </a:p>
                  </a:txBody>
                  <a:tcPr>
                    <a:solidFill>
                      <a:srgbClr val="FFFFFF"/>
                    </a:solidFill>
                  </a:tcPr>
                </a:tc>
                <a:tc>
                  <a:txBody>
                    <a:bodyPr wrap="square"/>
                    <a:lstStyle/>
                    <a:p>
                      <a:pPr>
                        <a:defRPr sz="650">
                          <a:solidFill>
                            <a:srgbClr val="333333"/>
                          </a:solidFill>
                        </a:defRPr>
                      </a:pPr>
                      <a:r>
                        <a:t>Number of tickets escalated to L2 or L3 support teams</a:t>
                      </a:r>
                    </a:p>
                  </a:txBody>
                  <a:tcPr>
                    <a:solidFill>
                      <a:srgbClr val="FFFFFF"/>
                    </a:solidFill>
                  </a:tcPr>
                </a:tc>
                <a:tc>
                  <a:txBody>
                    <a:bodyPr wrap="square"/>
                    <a:lstStyle/>
                    <a:p>
                      <a:pPr>
                        <a:defRPr sz="650">
                          <a:solidFill>
                            <a:srgbClr val="333333"/>
                          </a:solidFill>
                        </a:defRPr>
                      </a:pPr>
                      <a:r>
                        <a:t>Tickets that could not be resolved by first-line ServiceNow team</a:t>
                      </a:r>
                    </a:p>
                  </a:txBody>
                  <a:tcPr>
                    <a:solidFill>
                      <a:srgbClr val="FFFFFF"/>
                    </a:solidFill>
                  </a:tcPr>
                </a:tc>
              </a:tr>
              <a:tr h="185492">
                <a:tc>
                  <a:txBody>
                    <a:bodyPr wrap="square"/>
                    <a:lstStyle/>
                    <a:p>
                      <a:pPr>
                        <a:defRPr sz="650" b="1">
                          <a:solidFill>
                            <a:srgbClr val="1F3864"/>
                          </a:solidFill>
                        </a:defRPr>
                      </a:pPr>
                      <a:r>
                        <a:t>Resolution Rate</a:t>
                      </a:r>
                    </a:p>
                  </a:txBody>
                  <a:tcPr>
                    <a:solidFill>
                      <a:srgbClr val="E9F0F8"/>
                    </a:solidFill>
                  </a:tcPr>
                </a:tc>
                <a:tc>
                  <a:txBody>
                    <a:bodyPr wrap="square"/>
                    <a:lstStyle/>
                    <a:p>
                      <a:pPr>
                        <a:defRPr sz="650">
                          <a:solidFill>
                            <a:srgbClr val="333333"/>
                          </a:solidFill>
                        </a:defRPr>
                      </a:pPr>
                      <a:r>
                        <a:t>Percentage of tickets resolved within agreed SLA target</a:t>
                      </a:r>
                    </a:p>
                  </a:txBody>
                  <a:tcPr>
                    <a:solidFill>
                      <a:srgbClr val="E9F0F8"/>
                    </a:solidFill>
                  </a:tcPr>
                </a:tc>
                <a:tc>
                  <a:txBody>
                    <a:bodyPr wrap="square"/>
                    <a:lstStyle/>
                    <a:p>
                      <a:pPr>
                        <a:defRPr sz="650">
                          <a:solidFill>
                            <a:srgbClr val="333333"/>
                          </a:solidFill>
                        </a:defRPr>
                      </a:pPr>
                      <a:r>
                        <a:t>Calculated against resolution time targets by ticket category</a:t>
                      </a:r>
                    </a:p>
                  </a:txBody>
                  <a:tcPr>
                    <a:solidFill>
                      <a:srgbClr val="E9F0F8"/>
                    </a:solidFill>
                  </a:tcPr>
                </a:tc>
              </a:tr>
              <a:tr h="185492">
                <a:tc>
                  <a:txBody>
                    <a:bodyPr wrap="square"/>
                    <a:lstStyle/>
                    <a:p>
                      <a:pPr>
                        <a:defRPr sz="650" b="1">
                          <a:solidFill>
                            <a:srgbClr val="1F3864"/>
                          </a:solidFill>
                        </a:defRPr>
                      </a:pPr>
                      <a:r>
                        <a:t>CSAT Score</a:t>
                      </a:r>
                    </a:p>
                  </a:txBody>
                  <a:tcPr>
                    <a:solidFill>
                      <a:srgbClr val="FFFFFF"/>
                    </a:solidFill>
                  </a:tcPr>
                </a:tc>
                <a:tc>
                  <a:txBody>
                    <a:bodyPr wrap="square"/>
                    <a:lstStyle/>
                    <a:p>
                      <a:pPr>
                        <a:defRPr sz="650">
                          <a:solidFill>
                            <a:srgbClr val="333333"/>
                          </a:solidFill>
                        </a:defRPr>
                      </a:pPr>
                      <a:r>
                        <a:t>Average customer satisfaction score from post-resolution surveys</a:t>
                      </a:r>
                    </a:p>
                  </a:txBody>
                  <a:tcPr>
                    <a:solidFill>
                      <a:srgbClr val="FFFFFF"/>
                    </a:solidFill>
                  </a:tcPr>
                </a:tc>
                <a:tc>
                  <a:txBody>
                    <a:bodyPr wrap="square"/>
                    <a:lstStyle/>
                    <a:p>
                      <a:pPr>
                        <a:defRPr sz="650">
                          <a:solidFill>
                            <a:srgbClr val="333333"/>
                          </a:solidFill>
                        </a:defRPr>
                      </a:pPr>
                      <a:r>
                        <a:t>Automated survey sent to users upon ticket closure; scored 1-5</a:t>
                      </a:r>
                    </a:p>
                  </a:txBody>
                  <a:tcPr>
                    <a:solidFill>
                      <a:srgbClr val="FFFFFF"/>
                    </a:solidFill>
                  </a:tcPr>
                </a:tc>
              </a:tr>
              <a:tr h="185496">
                <a:tc>
                  <a:txBody>
                    <a:bodyPr wrap="square"/>
                    <a:lstStyle/>
                    <a:p>
                      <a:pPr>
                        <a:defRPr sz="650" b="1">
                          <a:solidFill>
                            <a:srgbClr val="1F3864"/>
                          </a:solidFill>
                        </a:defRPr>
                      </a:pPr>
                      <a:r>
                        <a:t>First Call Resolution</a:t>
                      </a:r>
                    </a:p>
                  </a:txBody>
                  <a:tcPr>
                    <a:solidFill>
                      <a:srgbClr val="E9F0F8"/>
                    </a:solidFill>
                  </a:tcPr>
                </a:tc>
                <a:tc>
                  <a:txBody>
                    <a:bodyPr wrap="square"/>
                    <a:lstStyle/>
                    <a:p>
                      <a:pPr>
                        <a:defRPr sz="650">
                          <a:solidFill>
                            <a:srgbClr val="333333"/>
                          </a:solidFill>
                        </a:defRPr>
                      </a:pPr>
                      <a:r>
                        <a:t>Percentage of tickets resolved without requiring any reassignment</a:t>
                      </a:r>
                    </a:p>
                  </a:txBody>
                  <a:tcPr>
                    <a:solidFill>
                      <a:srgbClr val="E9F0F8"/>
                    </a:solidFill>
                  </a:tcPr>
                </a:tc>
                <a:tc>
                  <a:txBody>
                    <a:bodyPr wrap="square"/>
                    <a:lstStyle/>
                    <a:p>
                      <a:pPr>
                        <a:defRPr sz="650">
                          <a:solidFill>
                            <a:srgbClr val="333333"/>
                          </a:solidFill>
                        </a:defRPr>
                      </a:pPr>
                      <a:r>
                        <a:t>Single-touch resolution without escalation to other teams or groups</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Total Tickets</a:t>
                      </a:r>
                    </a:p>
                  </a:txBody>
                  <a:tcPr>
                    <a:solidFill>
                      <a:srgbClr val="2E75B6"/>
                    </a:solidFill>
                  </a:tcPr>
                </a:tc>
                <a:tc>
                  <a:txBody>
                    <a:bodyPr wrap="square"/>
                    <a:lstStyle/>
                    <a:p>
                      <a:pPr algn="ctr">
                        <a:defRPr b="1" sz="650">
                          <a:solidFill>
                            <a:srgbClr val="FFFFFF"/>
                          </a:solidFill>
                        </a:defRPr>
                      </a:pPr>
                      <a:r>
                        <a:t>Tickets Resolved</a:t>
                      </a:r>
                    </a:p>
                  </a:txBody>
                  <a:tcPr>
                    <a:solidFill>
                      <a:srgbClr val="2E75B6"/>
                    </a:solidFill>
                  </a:tcPr>
                </a:tc>
                <a:tc>
                  <a:txBody>
                    <a:bodyPr wrap="square"/>
                    <a:lstStyle/>
                    <a:p>
                      <a:pPr algn="ctr">
                        <a:defRPr b="1" sz="650">
                          <a:solidFill>
                            <a:srgbClr val="FFFFFF"/>
                          </a:solidFill>
                        </a:defRPr>
                      </a:pPr>
                      <a:r>
                        <a:t>Escalated Tickets</a:t>
                      </a:r>
                    </a:p>
                  </a:txBody>
                  <a:tcPr>
                    <a:solidFill>
                      <a:srgbClr val="2E75B6"/>
                    </a:solidFill>
                  </a:tcPr>
                </a:tc>
                <a:tc>
                  <a:txBody>
                    <a:bodyPr wrap="square"/>
                    <a:lstStyle/>
                    <a:p>
                      <a:pPr algn="ctr">
                        <a:defRPr b="1" sz="650">
                          <a:solidFill>
                            <a:srgbClr val="FFFFFF"/>
                          </a:solidFill>
                        </a:defRPr>
                      </a:pPr>
                      <a:r>
                        <a:t>Resolution Rate</a:t>
                      </a:r>
                    </a:p>
                  </a:txBody>
                  <a:tcPr>
                    <a:solidFill>
                      <a:srgbClr val="2E75B6"/>
                    </a:solidFill>
                  </a:tcPr>
                </a:tc>
                <a:tc>
                  <a:txBody>
                    <a:bodyPr wrap="square"/>
                    <a:lstStyle/>
                    <a:p>
                      <a:pPr algn="ctr">
                        <a:defRPr b="1" sz="650">
                          <a:solidFill>
                            <a:srgbClr val="FFFFFF"/>
                          </a:solidFill>
                        </a:defRPr>
                      </a:pPr>
                      <a:r>
                        <a:t>CSAT Score</a:t>
                      </a:r>
                    </a:p>
                  </a:txBody>
                  <a:tcPr>
                    <a:solidFill>
                      <a:srgbClr val="2E75B6"/>
                    </a:solidFill>
                  </a:tcPr>
                </a:tc>
                <a:tc>
                  <a:txBody>
                    <a:bodyPr wrap="square"/>
                    <a:lstStyle/>
                    <a:p>
                      <a:pPr algn="ctr">
                        <a:defRPr b="1" sz="650">
                          <a:solidFill>
                            <a:srgbClr val="FFFFFF"/>
                          </a:solidFill>
                        </a:defRPr>
                      </a:pPr>
                      <a:r>
                        <a:t>First Call Resolution</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230</a:t>
                      </a:r>
                    </a:p>
                  </a:txBody>
                  <a:tcPr>
                    <a:solidFill>
                      <a:srgbClr val="F2F2F2"/>
                    </a:solidFill>
                  </a:tcPr>
                </a:tc>
                <a:tc>
                  <a:txBody>
                    <a:bodyPr/>
                    <a:lstStyle/>
                    <a:p>
                      <a:pPr algn="ctr">
                        <a:defRPr sz="800" b="1">
                          <a:solidFill>
                            <a:srgbClr val="333333"/>
                          </a:solidFill>
                        </a:defRPr>
                      </a:pPr>
                      <a:r>
                        <a:t>219</a:t>
                      </a:r>
                    </a:p>
                  </a:txBody>
                  <a:tcPr>
                    <a:solidFill>
                      <a:srgbClr val="F2F2F2"/>
                    </a:solidFill>
                  </a:tcPr>
                </a:tc>
                <a:tc>
                  <a:txBody>
                    <a:bodyPr/>
                    <a:lstStyle/>
                    <a:p>
                      <a:pPr algn="ctr">
                        <a:defRPr sz="800" b="1">
                          <a:solidFill>
                            <a:srgbClr val="333333"/>
                          </a:solidFill>
                        </a:defRPr>
                      </a:pPr>
                      <a:r>
                        <a:t>9</a:t>
                      </a:r>
                    </a:p>
                  </a:txBody>
                  <a:tcPr>
                    <a:solidFill>
                      <a:srgbClr val="F2F2F2"/>
                    </a:solidFill>
                  </a:tcPr>
                </a:tc>
                <a:tc>
                  <a:txBody>
                    <a:bodyPr/>
                    <a:lstStyle/>
                    <a:p>
                      <a:pPr algn="ctr">
                        <a:defRPr sz="800" b="1">
                          <a:solidFill>
                            <a:srgbClr val="FFFFFF"/>
                          </a:solidFill>
                        </a:defRPr>
                      </a:pPr>
                      <a:r>
                        <a:t>95%</a:t>
                      </a:r>
                    </a:p>
                  </a:txBody>
                  <a:tcPr>
                    <a:solidFill>
                      <a:srgbClr val="00B050"/>
                    </a:solidFill>
                  </a:tcPr>
                </a:tc>
                <a:tc>
                  <a:txBody>
                    <a:bodyPr/>
                    <a:lstStyle/>
                    <a:p>
                      <a:pPr algn="ctr">
                        <a:defRPr sz="800" b="1">
                          <a:solidFill>
                            <a:srgbClr val="333333"/>
                          </a:solidFill>
                        </a:defRPr>
                      </a:pPr>
                      <a:r>
                        <a:t>4.4</a:t>
                      </a:r>
                    </a:p>
                  </a:txBody>
                  <a:tcPr>
                    <a:solidFill>
                      <a:srgbClr val="F2F2F2"/>
                    </a:solidFill>
                  </a:tcPr>
                </a:tc>
                <a:tc>
                  <a:txBody>
                    <a:bodyPr/>
                    <a:lstStyle/>
                    <a:p>
                      <a:pPr algn="ctr">
                        <a:defRPr sz="800" b="1">
                          <a:solidFill>
                            <a:srgbClr val="FFFFFF"/>
                          </a:solidFill>
                        </a:defRPr>
                      </a:pPr>
                      <a:r>
                        <a:t>84%</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841143"/>
          </a:xfrm>
          <a:prstGeom prst="rect">
            <a:avLst/>
          </a:prstGeom>
        </p:spPr>
      </p:pic>
      <p:pic>
        <p:nvPicPr>
          <p:cNvPr id="13" name="Picture 12" descr="image.png"/>
          <p:cNvPicPr>
            <a:picLocks noChangeAspect="1"/>
          </p:cNvPicPr>
          <p:nvPr/>
        </p:nvPicPr>
        <p:blipFill>
          <a:blip r:embed="rId3"/>
          <a:stretch>
            <a:fillRect/>
          </a:stretch>
        </p:blipFill>
        <p:spPr>
          <a:xfrm>
            <a:off x="5943600" y="3249319"/>
            <a:ext cx="6245352" cy="184114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Service Desk  |  22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Service Desk team has 4 data record(s) in the current reporting window. Performance highlights indicate SLA Compliance (&gt;95%): 96.5%, FCR Rate (&gt;80%): 82.9%. Potential risk areas include FCR Rate (&gt;80%): 82.9%, SLA Compliance (&gt;95%): 96.5%.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85416"/>
          <a:ext cx="5943600" cy="1792224"/>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FCR Rate</a:t>
                      </a:r>
                    </a:p>
                  </a:txBody>
                  <a:tcPr>
                    <a:solidFill>
                      <a:srgbClr val="FFFFFF"/>
                    </a:solidFill>
                  </a:tcPr>
                </a:tc>
                <a:tc>
                  <a:txBody>
                    <a:bodyPr/>
                    <a:lstStyle/>
                    <a:p>
                      <a:pPr>
                        <a:defRPr sz="700">
                          <a:solidFill>
                            <a:srgbClr val="333333"/>
                          </a:solidFill>
                        </a:defRPr>
                      </a:pPr>
                      <a:r>
                        <a:t>82.9%</a:t>
                      </a:r>
                    </a:p>
                  </a:txBody>
                  <a:tcPr>
                    <a:solidFill>
                      <a:srgbClr val="FFFFFF"/>
                    </a:solidFill>
                  </a:tcPr>
                </a:tc>
                <a:tc>
                  <a:txBody>
                    <a:bodyPr/>
                    <a:lstStyle/>
                    <a:p>
                      <a:pPr>
                        <a:defRPr sz="700">
                          <a:solidFill>
                            <a:srgbClr val="333333"/>
                          </a:solidFill>
                        </a:defRPr>
                      </a:pPr>
                      <a:r>
                        <a:t>&gt;80.0%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Avg Handle Time Mins</a:t>
                      </a:r>
                    </a:p>
                  </a:txBody>
                  <a:tcPr>
                    <a:solidFill>
                      <a:srgbClr val="F2F2F2"/>
                    </a:solidFill>
                  </a:tcPr>
                </a:tc>
                <a:tc>
                  <a:txBody>
                    <a:bodyPr/>
                    <a:lstStyle/>
                    <a:p>
                      <a:pPr>
                        <a:defRPr sz="700">
                          <a:solidFill>
                            <a:srgbClr val="333333"/>
                          </a:solidFill>
                        </a:defRPr>
                      </a:pPr>
                      <a:r>
                        <a:t>8.4</a:t>
                      </a:r>
                    </a:p>
                  </a:txBody>
                  <a:tcPr>
                    <a:solidFill>
                      <a:srgbClr val="F2F2F2"/>
                    </a:solidFill>
                  </a:tcPr>
                </a:tc>
                <a:tc>
                  <a:txBody>
                    <a:bodyPr/>
                    <a:lstStyle/>
                    <a:p>
                      <a:pPr>
                        <a:defRPr sz="700">
                          <a:solidFill>
                            <a:srgbClr val="333333"/>
                          </a:solidFill>
                        </a:defRPr>
                      </a:pPr>
                      <a:r>
                        <a:t>&lt;10.0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SLA Compliance</a:t>
                      </a:r>
                    </a:p>
                  </a:txBody>
                  <a:tcPr>
                    <a:solidFill>
                      <a:srgbClr val="FFFFFF"/>
                    </a:solidFill>
                  </a:tcPr>
                </a:tc>
                <a:tc>
                  <a:txBody>
                    <a:bodyPr/>
                    <a:lstStyle/>
                    <a:p>
                      <a:pPr>
                        <a:defRPr sz="700">
                          <a:solidFill>
                            <a:srgbClr val="333333"/>
                          </a:solidFill>
                        </a:defRPr>
                      </a:pPr>
                      <a:r>
                        <a:t>96.5%</a:t>
                      </a:r>
                    </a:p>
                  </a:txBody>
                  <a:tcPr>
                    <a:solidFill>
                      <a:srgbClr val="FFFFFF"/>
                    </a:solidFill>
                  </a:tcPr>
                </a:tc>
                <a:tc>
                  <a:txBody>
                    <a:bodyPr/>
                    <a:lstStyle/>
                    <a:p>
                      <a:pPr>
                        <a:defRPr sz="700">
                          <a:solidFill>
                            <a:srgbClr val="333333"/>
                          </a:solidFill>
                        </a:defRPr>
                      </a:pPr>
                      <a:r>
                        <a:t>&gt;95.0%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Calls Received</a:t>
                      </a:r>
                    </a:p>
                  </a:txBody>
                  <a:tcPr>
                    <a:solidFill>
                      <a:srgbClr val="F2F2F2"/>
                    </a:solidFill>
                  </a:tcPr>
                </a:tc>
                <a:tc>
                  <a:txBody>
                    <a:bodyPr/>
                    <a:lstStyle/>
                    <a:p>
                      <a:pPr>
                        <a:defRPr sz="700">
                          <a:solidFill>
                            <a:srgbClr val="333333"/>
                          </a:solidFill>
                        </a:defRPr>
                      </a:pPr>
                      <a:r>
                        <a:t>310</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Calls Resolved</a:t>
                      </a:r>
                    </a:p>
                  </a:txBody>
                  <a:tcPr>
                    <a:solidFill>
                      <a:srgbClr val="FFFFFF"/>
                    </a:solidFill>
                  </a:tcPr>
                </a:tc>
                <a:tc>
                  <a:txBody>
                    <a:bodyPr/>
                    <a:lstStyle/>
                    <a:p>
                      <a:pPr>
                        <a:defRPr sz="700">
                          <a:solidFill>
                            <a:srgbClr val="333333"/>
                          </a:solidFill>
                        </a:defRPr>
                      </a:pPr>
                      <a:r>
                        <a:t>288</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Abandoned Calls</a:t>
                      </a:r>
                    </a:p>
                  </a:txBody>
                  <a:tcPr>
                    <a:solidFill>
                      <a:srgbClr val="F2F2F2"/>
                    </a:solidFill>
                  </a:tcPr>
                </a:tc>
                <a:tc>
                  <a:txBody>
                    <a:bodyPr/>
                    <a:lstStyle/>
                    <a:p>
                      <a:pPr>
                        <a:defRPr sz="700">
                          <a:solidFill>
                            <a:srgbClr val="333333"/>
                          </a:solidFill>
                        </a:defRPr>
                      </a:pPr>
                      <a:r>
                        <a:t>14</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4050792"/>
            <a:ext cx="5760720" cy="1133856"/>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4123944"/>
            <a:ext cx="5486400" cy="1024128"/>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Service Desk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Service Desk data was processed successfully.</a:t>
            </a:r>
          </a:p>
          <a:p>
            <a:pPr>
              <a:defRPr sz="800">
                <a:solidFill>
                  <a:srgbClr val="333333"/>
                </a:solidFill>
              </a:defRPr>
            </a:pPr>
            <a:r>
              <a:t>• Automated KPI snapshot generated for this period.</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Calls Received</a:t>
                      </a:r>
                    </a:p>
                  </a:txBody>
                  <a:tcPr>
                    <a:solidFill>
                      <a:srgbClr val="FFFFFF"/>
                    </a:solidFill>
                  </a:tcPr>
                </a:tc>
                <a:tc>
                  <a:txBody>
                    <a:bodyPr wrap="square"/>
                    <a:lstStyle/>
                    <a:p>
                      <a:pPr>
                        <a:defRPr sz="650">
                          <a:solidFill>
                            <a:srgbClr val="333333"/>
                          </a:solidFill>
                        </a:defRPr>
                      </a:pPr>
                      <a:r>
                        <a:t>Total inbound contacts handled by Service Desk in the period</a:t>
                      </a:r>
                    </a:p>
                  </a:txBody>
                  <a:tcPr>
                    <a:solidFill>
                      <a:srgbClr val="FFFFFF"/>
                    </a:solidFill>
                  </a:tcPr>
                </a:tc>
                <a:tc>
                  <a:txBody>
                    <a:bodyPr wrap="square"/>
                    <a:lstStyle/>
                    <a:p>
                      <a:pPr>
                        <a:defRPr sz="650">
                          <a:solidFill>
                            <a:srgbClr val="333333"/>
                          </a:solidFill>
                        </a:defRPr>
                      </a:pPr>
                      <a:r>
                        <a:t>Includes voice calls, chat sessions and email contacts</a:t>
                      </a:r>
                    </a:p>
                  </a:txBody>
                  <a:tcPr>
                    <a:solidFill>
                      <a:srgbClr val="FFFFFF"/>
                    </a:solidFill>
                  </a:tcPr>
                </a:tc>
              </a:tr>
              <a:tr h="185492">
                <a:tc>
                  <a:txBody>
                    <a:bodyPr wrap="square"/>
                    <a:lstStyle/>
                    <a:p>
                      <a:pPr>
                        <a:defRPr sz="650" b="1">
                          <a:solidFill>
                            <a:srgbClr val="1F3864"/>
                          </a:solidFill>
                        </a:defRPr>
                      </a:pPr>
                      <a:r>
                        <a:t>Calls Resolved</a:t>
                      </a:r>
                    </a:p>
                  </a:txBody>
                  <a:tcPr>
                    <a:solidFill>
                      <a:srgbClr val="E9F0F8"/>
                    </a:solidFill>
                  </a:tcPr>
                </a:tc>
                <a:tc>
                  <a:txBody>
                    <a:bodyPr wrap="square"/>
                    <a:lstStyle/>
                    <a:p>
                      <a:pPr>
                        <a:defRPr sz="650">
                          <a:solidFill>
                            <a:srgbClr val="333333"/>
                          </a:solidFill>
                        </a:defRPr>
                      </a:pPr>
                      <a:r>
                        <a:t>Total contacts resolved by first-line Service Desk agents</a:t>
                      </a:r>
                    </a:p>
                  </a:txBody>
                  <a:tcPr>
                    <a:solidFill>
                      <a:srgbClr val="E9F0F8"/>
                    </a:solidFill>
                  </a:tcPr>
                </a:tc>
                <a:tc>
                  <a:txBody>
                    <a:bodyPr wrap="square"/>
                    <a:lstStyle/>
                    <a:p>
                      <a:pPr>
                        <a:defRPr sz="650">
                          <a:solidFill>
                            <a:srgbClr val="333333"/>
                          </a:solidFill>
                        </a:defRPr>
                      </a:pPr>
                      <a:r>
                        <a:t>Direct resolution without L2/L3 escalation required</a:t>
                      </a:r>
                    </a:p>
                  </a:txBody>
                  <a:tcPr>
                    <a:solidFill>
                      <a:srgbClr val="E9F0F8"/>
                    </a:solidFill>
                  </a:tcPr>
                </a:tc>
              </a:tr>
              <a:tr h="185492">
                <a:tc>
                  <a:txBody>
                    <a:bodyPr wrap="square"/>
                    <a:lstStyle/>
                    <a:p>
                      <a:pPr>
                        <a:defRPr sz="650" b="1">
                          <a:solidFill>
                            <a:srgbClr val="1F3864"/>
                          </a:solidFill>
                        </a:defRPr>
                      </a:pPr>
                      <a:r>
                        <a:t>Abandoned Calls</a:t>
                      </a:r>
                    </a:p>
                  </a:txBody>
                  <a:tcPr>
                    <a:solidFill>
                      <a:srgbClr val="FFFFFF"/>
                    </a:solidFill>
                  </a:tcPr>
                </a:tc>
                <a:tc>
                  <a:txBody>
                    <a:bodyPr wrap="square"/>
                    <a:lstStyle/>
                    <a:p>
                      <a:pPr>
                        <a:defRPr sz="650">
                          <a:solidFill>
                            <a:srgbClr val="333333"/>
                          </a:solidFill>
                        </a:defRPr>
                      </a:pPr>
                      <a:r>
                        <a:t>Number of contacts abandoned before being answered by an agent</a:t>
                      </a:r>
                    </a:p>
                  </a:txBody>
                  <a:tcPr>
                    <a:solidFill>
                      <a:srgbClr val="FFFFFF"/>
                    </a:solidFill>
                  </a:tcPr>
                </a:tc>
                <a:tc>
                  <a:txBody>
                    <a:bodyPr wrap="square"/>
                    <a:lstStyle/>
                    <a:p>
                      <a:pPr>
                        <a:defRPr sz="650">
                          <a:solidFill>
                            <a:srgbClr val="333333"/>
                          </a:solidFill>
                        </a:defRPr>
                      </a:pPr>
                      <a:r>
                        <a:t>Key measure of queue management and staffing adequacy</a:t>
                      </a:r>
                    </a:p>
                  </a:txBody>
                  <a:tcPr>
                    <a:solidFill>
                      <a:srgbClr val="FFFFFF"/>
                    </a:solidFill>
                  </a:tcPr>
                </a:tc>
              </a:tr>
              <a:tr h="185492">
                <a:tc>
                  <a:txBody>
                    <a:bodyPr wrap="square"/>
                    <a:lstStyle/>
                    <a:p>
                      <a:pPr>
                        <a:defRPr sz="650" b="1">
                          <a:solidFill>
                            <a:srgbClr val="1F3864"/>
                          </a:solidFill>
                        </a:defRPr>
                      </a:pPr>
                      <a:r>
                        <a:t>FCR Rate</a:t>
                      </a:r>
                    </a:p>
                  </a:txBody>
                  <a:tcPr>
                    <a:solidFill>
                      <a:srgbClr val="E9F0F8"/>
                    </a:solidFill>
                  </a:tcPr>
                </a:tc>
                <a:tc>
                  <a:txBody>
                    <a:bodyPr wrap="square"/>
                    <a:lstStyle/>
                    <a:p>
                      <a:pPr>
                        <a:defRPr sz="650">
                          <a:solidFill>
                            <a:srgbClr val="333333"/>
                          </a:solidFill>
                        </a:defRPr>
                      </a:pPr>
                      <a:r>
                        <a:t>Percentage of contacts resolved on first contact without escalation</a:t>
                      </a:r>
                    </a:p>
                  </a:txBody>
                  <a:tcPr>
                    <a:solidFill>
                      <a:srgbClr val="E9F0F8"/>
                    </a:solidFill>
                  </a:tcPr>
                </a:tc>
                <a:tc>
                  <a:txBody>
                    <a:bodyPr wrap="square"/>
                    <a:lstStyle/>
                    <a:p>
                      <a:pPr>
                        <a:defRPr sz="650">
                          <a:solidFill>
                            <a:srgbClr val="333333"/>
                          </a:solidFill>
                        </a:defRPr>
                      </a:pPr>
                      <a:r>
                        <a:t>Primary measure of Service Desk effectiveness and knowledge quality</a:t>
                      </a:r>
                    </a:p>
                  </a:txBody>
                  <a:tcPr>
                    <a:solidFill>
                      <a:srgbClr val="E9F0F8"/>
                    </a:solidFill>
                  </a:tcPr>
                </a:tc>
              </a:tr>
              <a:tr h="185492">
                <a:tc>
                  <a:txBody>
                    <a:bodyPr wrap="square"/>
                    <a:lstStyle/>
                    <a:p>
                      <a:pPr>
                        <a:defRPr sz="650" b="1">
                          <a:solidFill>
                            <a:srgbClr val="1F3864"/>
                          </a:solidFill>
                        </a:defRPr>
                      </a:pPr>
                      <a:r>
                        <a:t>Avg Handle Time Mins</a:t>
                      </a:r>
                    </a:p>
                  </a:txBody>
                  <a:tcPr>
                    <a:solidFill>
                      <a:srgbClr val="FFFFFF"/>
                    </a:solidFill>
                  </a:tcPr>
                </a:tc>
                <a:tc>
                  <a:txBody>
                    <a:bodyPr wrap="square"/>
                    <a:lstStyle/>
                    <a:p>
                      <a:pPr>
                        <a:defRPr sz="650">
                          <a:solidFill>
                            <a:srgbClr val="333333"/>
                          </a:solidFill>
                        </a:defRPr>
                      </a:pPr>
                      <a:r>
                        <a:t>Average time in minutes to handle each contact end-to-end</a:t>
                      </a:r>
                    </a:p>
                  </a:txBody>
                  <a:tcPr>
                    <a:solidFill>
                      <a:srgbClr val="FFFFFF"/>
                    </a:solidFill>
                  </a:tcPr>
                </a:tc>
                <a:tc>
                  <a:txBody>
                    <a:bodyPr wrap="square"/>
                    <a:lstStyle/>
                    <a:p>
                      <a:pPr>
                        <a:defRPr sz="650">
                          <a:solidFill>
                            <a:srgbClr val="333333"/>
                          </a:solidFill>
                        </a:defRPr>
                      </a:pPr>
                      <a:r>
                        <a:t>From contact start to documented resolution and system update</a:t>
                      </a:r>
                    </a:p>
                  </a:txBody>
                  <a:tcPr>
                    <a:solidFill>
                      <a:srgbClr val="FFFFFF"/>
                    </a:solidFill>
                  </a:tcPr>
                </a:tc>
              </a:tr>
              <a:tr h="185496">
                <a:tc>
                  <a:txBody>
                    <a:bodyPr wrap="square"/>
                    <a:lstStyle/>
                    <a:p>
                      <a:pPr>
                        <a:defRPr sz="650" b="1">
                          <a:solidFill>
                            <a:srgbClr val="1F3864"/>
                          </a:solidFill>
                        </a:defRPr>
                      </a:pPr>
                      <a:r>
                        <a:t>SLA Compliance</a:t>
                      </a:r>
                    </a:p>
                  </a:txBody>
                  <a:tcPr>
                    <a:solidFill>
                      <a:srgbClr val="E9F0F8"/>
                    </a:solidFill>
                  </a:tcPr>
                </a:tc>
                <a:tc>
                  <a:txBody>
                    <a:bodyPr wrap="square"/>
                    <a:lstStyle/>
                    <a:p>
                      <a:pPr>
                        <a:defRPr sz="650">
                          <a:solidFill>
                            <a:srgbClr val="333333"/>
                          </a:solidFill>
                        </a:defRPr>
                      </a:pPr>
                      <a:r>
                        <a:t>Percentage of contacts responded to within agreed response times</a:t>
                      </a:r>
                    </a:p>
                  </a:txBody>
                  <a:tcPr>
                    <a:solidFill>
                      <a:srgbClr val="E9F0F8"/>
                    </a:solidFill>
                  </a:tcPr>
                </a:tc>
                <a:tc>
                  <a:txBody>
                    <a:bodyPr wrap="square"/>
                    <a:lstStyle/>
                    <a:p>
                      <a:pPr>
                        <a:defRPr sz="650">
                          <a:solidFill>
                            <a:srgbClr val="333333"/>
                          </a:solidFill>
                        </a:defRPr>
                      </a:pPr>
                      <a:r>
                        <a:t>Based on agreed response targets by contact type and priority</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Calls Received</a:t>
                      </a:r>
                    </a:p>
                  </a:txBody>
                  <a:tcPr>
                    <a:solidFill>
                      <a:srgbClr val="2E75B6"/>
                    </a:solidFill>
                  </a:tcPr>
                </a:tc>
                <a:tc>
                  <a:txBody>
                    <a:bodyPr wrap="square"/>
                    <a:lstStyle/>
                    <a:p>
                      <a:pPr algn="ctr">
                        <a:defRPr b="1" sz="650">
                          <a:solidFill>
                            <a:srgbClr val="FFFFFF"/>
                          </a:solidFill>
                        </a:defRPr>
                      </a:pPr>
                      <a:r>
                        <a:t>Calls Resolved</a:t>
                      </a:r>
                    </a:p>
                  </a:txBody>
                  <a:tcPr>
                    <a:solidFill>
                      <a:srgbClr val="2E75B6"/>
                    </a:solidFill>
                  </a:tcPr>
                </a:tc>
                <a:tc>
                  <a:txBody>
                    <a:bodyPr wrap="square"/>
                    <a:lstStyle/>
                    <a:p>
                      <a:pPr algn="ctr">
                        <a:defRPr b="1" sz="650">
                          <a:solidFill>
                            <a:srgbClr val="FFFFFF"/>
                          </a:solidFill>
                        </a:defRPr>
                      </a:pPr>
                      <a:r>
                        <a:t>Abandoned Calls</a:t>
                      </a:r>
                    </a:p>
                  </a:txBody>
                  <a:tcPr>
                    <a:solidFill>
                      <a:srgbClr val="2E75B6"/>
                    </a:solidFill>
                  </a:tcPr>
                </a:tc>
                <a:tc>
                  <a:txBody>
                    <a:bodyPr wrap="square"/>
                    <a:lstStyle/>
                    <a:p>
                      <a:pPr algn="ctr">
                        <a:defRPr b="1" sz="650">
                          <a:solidFill>
                            <a:srgbClr val="FFFFFF"/>
                          </a:solidFill>
                        </a:defRPr>
                      </a:pPr>
                      <a:r>
                        <a:t>FCR Rate</a:t>
                      </a:r>
                    </a:p>
                  </a:txBody>
                  <a:tcPr>
                    <a:solidFill>
                      <a:srgbClr val="2E75B6"/>
                    </a:solidFill>
                  </a:tcPr>
                </a:tc>
                <a:tc>
                  <a:txBody>
                    <a:bodyPr wrap="square"/>
                    <a:lstStyle/>
                    <a:p>
                      <a:pPr algn="ctr">
                        <a:defRPr b="1" sz="650">
                          <a:solidFill>
                            <a:srgbClr val="FFFFFF"/>
                          </a:solidFill>
                        </a:defRPr>
                      </a:pPr>
                      <a:r>
                        <a:t>Avg Handle Time Mins</a:t>
                      </a:r>
                    </a:p>
                  </a:txBody>
                  <a:tcPr>
                    <a:solidFill>
                      <a:srgbClr val="2E75B6"/>
                    </a:solidFill>
                  </a:tcPr>
                </a:tc>
                <a:tc>
                  <a:txBody>
                    <a:bodyPr wrap="square"/>
                    <a:lstStyle/>
                    <a:p>
                      <a:pPr algn="ctr">
                        <a:defRPr b="1" sz="650">
                          <a:solidFill>
                            <a:srgbClr val="FFFFFF"/>
                          </a:solidFill>
                        </a:defRPr>
                      </a:pPr>
                      <a:r>
                        <a:t>SLA Compliance</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310</a:t>
                      </a:r>
                    </a:p>
                  </a:txBody>
                  <a:tcPr>
                    <a:solidFill>
                      <a:srgbClr val="F2F2F2"/>
                    </a:solidFill>
                  </a:tcPr>
                </a:tc>
                <a:tc>
                  <a:txBody>
                    <a:bodyPr/>
                    <a:lstStyle/>
                    <a:p>
                      <a:pPr algn="ctr">
                        <a:defRPr sz="800" b="1">
                          <a:solidFill>
                            <a:srgbClr val="333333"/>
                          </a:solidFill>
                        </a:defRPr>
                      </a:pPr>
                      <a:r>
                        <a:t>288</a:t>
                      </a:r>
                    </a:p>
                  </a:txBody>
                  <a:tcPr>
                    <a:solidFill>
                      <a:srgbClr val="F2F2F2"/>
                    </a:solidFill>
                  </a:tcPr>
                </a:tc>
                <a:tc>
                  <a:txBody>
                    <a:bodyPr/>
                    <a:lstStyle/>
                    <a:p>
                      <a:pPr algn="ctr">
                        <a:defRPr sz="800" b="1">
                          <a:solidFill>
                            <a:srgbClr val="333333"/>
                          </a:solidFill>
                        </a:defRPr>
                      </a:pPr>
                      <a:r>
                        <a:t>14</a:t>
                      </a:r>
                    </a:p>
                  </a:txBody>
                  <a:tcPr>
                    <a:solidFill>
                      <a:srgbClr val="F2F2F2"/>
                    </a:solidFill>
                  </a:tcPr>
                </a:tc>
                <a:tc>
                  <a:txBody>
                    <a:bodyPr/>
                    <a:lstStyle/>
                    <a:p>
                      <a:pPr algn="ctr">
                        <a:defRPr sz="800" b="1">
                          <a:solidFill>
                            <a:srgbClr val="FFFFFF"/>
                          </a:solidFill>
                        </a:defRPr>
                      </a:pPr>
                      <a:r>
                        <a:t>83%</a:t>
                      </a:r>
                    </a:p>
                  </a:txBody>
                  <a:tcPr>
                    <a:solidFill>
                      <a:srgbClr val="00B050"/>
                    </a:solidFill>
                  </a:tcPr>
                </a:tc>
                <a:tc>
                  <a:txBody>
                    <a:bodyPr/>
                    <a:lstStyle/>
                    <a:p>
                      <a:pPr algn="ctr">
                        <a:defRPr sz="800" b="1">
                          <a:solidFill>
                            <a:srgbClr val="FFFFFF"/>
                          </a:solidFill>
                        </a:defRPr>
                      </a:pPr>
                      <a:r>
                        <a:t>8.4</a:t>
                      </a:r>
                    </a:p>
                  </a:txBody>
                  <a:tcPr>
                    <a:solidFill>
                      <a:srgbClr val="00B050"/>
                    </a:solidFill>
                  </a:tcPr>
                </a:tc>
                <a:tc>
                  <a:txBody>
                    <a:bodyPr/>
                    <a:lstStyle/>
                    <a:p>
                      <a:pPr algn="ctr">
                        <a:defRPr sz="800" b="1">
                          <a:solidFill>
                            <a:srgbClr val="FFFFFF"/>
                          </a:solidFill>
                        </a:defRPr>
                      </a:pPr>
                      <a:r>
                        <a:t>96%</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857517"/>
          </a:xfrm>
          <a:prstGeom prst="rect">
            <a:avLst/>
          </a:prstGeom>
        </p:spPr>
      </p:pic>
      <p:pic>
        <p:nvPicPr>
          <p:cNvPr id="13" name="Picture 12" descr="image.png"/>
          <p:cNvPicPr>
            <a:picLocks noChangeAspect="1"/>
          </p:cNvPicPr>
          <p:nvPr/>
        </p:nvPicPr>
        <p:blipFill>
          <a:blip r:embed="rId3"/>
          <a:stretch>
            <a:fillRect/>
          </a:stretch>
        </p:blipFill>
        <p:spPr>
          <a:xfrm>
            <a:off x="5943600" y="3265692"/>
            <a:ext cx="6245352" cy="18411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